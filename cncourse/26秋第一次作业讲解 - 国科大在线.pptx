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7" r:id="rId3"/>
    <p:sldId id="530" r:id="rId5"/>
    <p:sldId id="536" r:id="rId6"/>
    <p:sldId id="537" r:id="rId7"/>
    <p:sldId id="540" r:id="rId8"/>
    <p:sldId id="541" r:id="rId9"/>
    <p:sldId id="548" r:id="rId10"/>
    <p:sldId id="549" r:id="rId11"/>
    <p:sldId id="562" r:id="rId12"/>
    <p:sldId id="563" r:id="rId13"/>
    <p:sldId id="552" r:id="rId14"/>
    <p:sldId id="571" r:id="rId15"/>
    <p:sldId id="576" r:id="rId16"/>
    <p:sldId id="577" r:id="rId17"/>
    <p:sldId id="578" r:id="rId18"/>
  </p:sldIdLst>
  <p:sldSz cx="9144000" cy="6858000" type="screen4x3"/>
  <p:notesSz cx="7103745" cy="10234295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E5"/>
    <a:srgbClr val="FF3300"/>
    <a:srgbClr val="B2B2B2"/>
    <a:srgbClr val="202020"/>
    <a:srgbClr val="323232"/>
    <a:srgbClr val="CC3300"/>
    <a:srgbClr val="CC00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7197" autoAdjust="0"/>
  </p:normalViewPr>
  <p:slideViewPr>
    <p:cSldViewPr snapToGrid="0" showGuides="1">
      <p:cViewPr varScale="1">
        <p:scale>
          <a:sx n="140" d="100"/>
          <a:sy n="140" d="100"/>
        </p:scale>
        <p:origin x="1690" y="82"/>
      </p:cViewPr>
      <p:guideLst>
        <p:guide orient="horz" pos="220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4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9892" y="1279525"/>
            <a:ext cx="460586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kern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7225" cy="2398712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3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1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1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6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1" y="2324106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4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8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/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/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6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0A3781D2-0FC0-429B-B9FE-5030B6E54291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defRPr sz="2400" b="0" baseline="0">
                <a:latin typeface="Calibri" panose="020F0502020204030204" charset="0"/>
                <a:ea typeface="黑体" panose="02010609060101010101" pitchFamily="49" charset="-122"/>
              </a:defRPr>
            </a:lvl1pPr>
            <a:lvl2pPr>
              <a:defRPr sz="2000" b="0" baseline="0">
                <a:latin typeface="Calibri" panose="020F0502020204030204" charset="0"/>
                <a:ea typeface="黑体" panose="02010609060101010101" pitchFamily="49" charset="-122"/>
              </a:defRPr>
            </a:lvl2pPr>
            <a:lvl3pPr>
              <a:defRPr sz="1800" b="0" baseline="0">
                <a:latin typeface="Calibri" panose="020F0502020204030204" charset="0"/>
                <a:ea typeface="黑体" panose="02010609060101010101" pitchFamily="49" charset="-122"/>
              </a:defRPr>
            </a:lvl3pPr>
            <a:lvl4pPr>
              <a:defRPr sz="1600" b="0" baseline="0">
                <a:latin typeface="Calibri" panose="020F0502020204030204" charset="0"/>
                <a:ea typeface="黑体" panose="02010609060101010101" pitchFamily="49" charset="-122"/>
              </a:defRPr>
            </a:lvl4pPr>
            <a:lvl5pPr>
              <a:defRPr sz="1600" b="0" baseline="0">
                <a:latin typeface="Calibri" panose="020F050202020403020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</p:spPr>
        <p:txBody>
          <a:bodyPr lIns="0" tIns="0" rIns="0" bIns="0"/>
          <a:lstStyle>
            <a:lvl1pPr>
              <a:defRPr baseline="0">
                <a:latin typeface="Calibri" panose="020F0502020204030204" charset="0"/>
              </a:defRPr>
            </a:lvl1pPr>
          </a:lstStyle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3DAE9093-A4E2-4ED4-AAFA-F803B756B8DD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EED3EE5A-7480-4B4A-838B-B5929882DECF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760C815E-B128-4FAE-9EDE-FEA89F6F958C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E86C8468-6983-4678-9AAB-4D2ABEF84341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922D5C6D-787B-474F-BCC3-F53F5951B20A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E93B29B9-1B90-4121-8663-FE563B07C9D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04397EA2-195E-4D7E-B5BC-907A7C70C3E2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0EF8BEF2-D925-49E7-9561-3704E2CF9A2D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EDAEF739-1766-471D-BA9F-A4322C6F8843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57922407-BCB3-4B2A-B7F9-3492D5F65C0B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3642891A-AB75-4714-BBBF-90ED55B80069}" type="datetime1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2246" y="2028036"/>
            <a:ext cx="7560840" cy="201056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作业讲解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924"/>
    </mc:Choice>
    <mc:Fallback>
      <p:transition spd="slow" advTm="4592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9420" y="623570"/>
            <a:ext cx="8229600" cy="1925320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zh-CN" alt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1.通信链路带宽为20</a:t>
            </a:r>
            <a:r>
              <a:rPr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Mb/s，</a:t>
            </a:r>
            <a:r>
              <a:rPr lang="zh-CN" alt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两个主机之间需要传输一个大小为40 </a:t>
            </a:r>
            <a:r>
              <a:rPr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Mb</a:t>
            </a:r>
            <a:r>
              <a:rPr lang="zh-CN" alt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的文件。方案</a:t>
            </a:r>
            <a:r>
              <a:rPr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采用电路交换方式，专用通信链路建立连接需要1 </a:t>
            </a:r>
            <a:r>
              <a:rPr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s，</a:t>
            </a:r>
            <a:r>
              <a:rPr lang="zh-CN" alt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链路建立后独占全部带宽；方案</a:t>
            </a:r>
            <a:r>
              <a:rPr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</a:t>
            </a:r>
            <a:r>
              <a:rPr lang="zh-CN" alt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采用分组交换方式，将文件划分为多个分组进行传输，两主机之间经过一个路由器，不考虑排队延迟，每个分组大小为1</a:t>
            </a:r>
            <a:r>
              <a:rPr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Mb。</a:t>
            </a:r>
            <a:r>
              <a:rPr lang="zh-CN" alt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求采用两种方案分别传输完成所需时间。</a:t>
            </a:r>
            <a:endParaRPr lang="zh-CN" altLang="en-US" sz="2000" dirty="0">
              <a:solidFill>
                <a:schemeClr val="bg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灯片编号占位符 3"/>
          <p:cNvSpPr>
            <a:spLocks noGrp="1"/>
          </p:cNvSpPr>
          <p:nvPr>
            <p:ph type="sldNum" sz="quarter" idx="11"/>
            <p:custDataLst>
              <p:tags r:id="rId1"/>
            </p:custDataLst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8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7255" y="2299335"/>
            <a:ext cx="7287260" cy="2138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spcBef>
                <a:spcPts val="600"/>
              </a:spcBef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电路交换：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fontAlgn="auto">
              <a:spcBef>
                <a:spcPts val="600"/>
              </a:spcBef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建立专用链路：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1s</a:t>
            </a: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fontAlgn="auto">
              <a:spcBef>
                <a:spcPts val="600"/>
              </a:spcBef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建立连接后：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457200" fontAlgn="auto">
              <a:spcBef>
                <a:spcPts val="600"/>
              </a:spcBef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独占20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Mb/s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带宽，传输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40Mb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fontAlgn="auto">
              <a:spcBef>
                <a:spcPts val="600"/>
              </a:spcBef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传输时间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=40/20 = 2s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fontAlgn="auto">
              <a:spcBef>
                <a:spcPts val="600"/>
              </a:spcBef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总时间：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3s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7255" y="4437380"/>
            <a:ext cx="7287260" cy="2138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spcBef>
                <a:spcPts val="600"/>
              </a:spcBef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分组交换：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分组大小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1Mb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，分组个数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= 40/1 = 40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每个分组在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Mb/s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带宽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链路上的发送时间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1/20 = 0.05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1 --&gt;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跳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路由器可以在接收第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i+1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个分组的同时，向主机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发送第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个分组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总时间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2.05s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673100"/>
            <a:ext cx="8838565" cy="1866900"/>
          </a:xfrm>
        </p:spPr>
        <p:txBody>
          <a:bodyPr>
            <a:noAutofit/>
          </a:bodyPr>
          <a:lstStyle/>
          <a:p>
            <a:pPr marL="457200" lvl="1" algn="l">
              <a:lnSpc>
                <a:spcPct val="100000"/>
              </a:lnSpc>
              <a:buNone/>
            </a:pPr>
            <a:r>
              <a:rPr lang="zh-CN" altLang="en-US" sz="175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2.某在线视频系统有两种设计方案，一是所有用户从中心服务器下载视频，二是用户之间可以互相上传已经缓存的视频片段，同时服务器只负责管理。</a:t>
            </a:r>
            <a:endParaRPr lang="zh-CN" altLang="en-US" sz="1750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75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(1) 两种方案分别属于哪种服务模式(CS/P2P)？</a:t>
            </a:r>
            <a:endParaRPr lang="zh-CN" altLang="en-US" sz="1750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75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(2) 比较两种设计的主要特点。</a:t>
            </a:r>
            <a:endParaRPr lang="zh-CN" altLang="en-US" sz="1750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75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(3) 如果用户数量从1000增加到100万，哪种方案扩展能力更强？为什么？</a:t>
            </a:r>
            <a:endParaRPr lang="zh-CN" altLang="en-US" sz="1750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1800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+mn-ea"/>
              </a:rPr>
            </a:fld>
            <a:endParaRPr lang="zh-CN" altLang="en-US" sz="1800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5435" y="2313940"/>
            <a:ext cx="7180580" cy="58356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/>
              <a:buNone/>
            </a:pPr>
            <a:r>
              <a:rPr lang="en-US" altLang="zh-CN" sz="1600"/>
              <a:t>(1)</a:t>
            </a:r>
            <a:r>
              <a:rPr lang="zh-CN" altLang="en-US" sz="1600"/>
              <a:t>方案一</a:t>
            </a:r>
            <a:r>
              <a:rPr lang="en-US" altLang="zh-CN" sz="1600"/>
              <a:t>CS</a:t>
            </a:r>
            <a:r>
              <a:rPr lang="zh-CN" altLang="en-US" sz="1600"/>
              <a:t>模式</a:t>
            </a:r>
            <a:r>
              <a:rPr lang="en-US" altLang="zh-CN" sz="1600"/>
              <a:t>;</a:t>
            </a:r>
            <a:r>
              <a:rPr lang="zh-CN" altLang="en-US" sz="1600"/>
              <a:t>方案二</a:t>
            </a:r>
            <a:r>
              <a:rPr lang="en-US" altLang="zh-CN" sz="1600"/>
              <a:t>P2P</a:t>
            </a:r>
            <a:r>
              <a:rPr lang="zh-CN" altLang="en-US" sz="1600"/>
              <a:t>模式</a:t>
            </a:r>
            <a:endParaRPr lang="zh-CN" altLang="en-US" sz="1600"/>
          </a:p>
          <a:p>
            <a:pPr indent="0">
              <a:buFont typeface="Arial" panose="020B0604020202020204"/>
              <a:buNone/>
            </a:pPr>
            <a:r>
              <a:rPr lang="en-US" altLang="zh-CN" sz="1600"/>
              <a:t>(2)</a:t>
            </a:r>
            <a:endParaRPr lang="en-US" altLang="zh-CN" sz="1600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49910" y="2897505"/>
          <a:ext cx="8397875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460"/>
                <a:gridCol w="3251835"/>
                <a:gridCol w="3878580"/>
              </a:tblGrid>
              <a:tr h="3352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CS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P2P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1"/>
                        <a:t>数据传输</a:t>
                      </a:r>
                      <a:endParaRPr lang="zh-CN" altLang="en-US" sz="16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服务器向用户提供</a:t>
                      </a:r>
                      <a:r>
                        <a:rPr lang="zh-CN" altLang="en-US" sz="1600"/>
                        <a:t>服务</a:t>
                      </a: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服务器与用户、用户与用户之间共同</a:t>
                      </a:r>
                      <a:r>
                        <a:rPr lang="zh-CN" altLang="en-US" sz="1600"/>
                        <a:t>服务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1"/>
                        <a:t>资源利用</a:t>
                      </a:r>
                      <a:endParaRPr lang="zh-CN" altLang="en-US" sz="16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主要依赖服务器的带宽和存储资源</a:t>
                      </a: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可以利用用户的带宽和缓存资源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1"/>
                        <a:t>管理难度</a:t>
                      </a:r>
                      <a:endParaRPr lang="zh-CN" altLang="en-US" sz="16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相对简单，集中管理</a:t>
                      </a: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相对复杂，需要节点发现、调度和协同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  <a:tr h="4914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1"/>
                        <a:t>服务器负载</a:t>
                      </a:r>
                      <a:endParaRPr lang="zh-CN" altLang="en-US" sz="16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较高，承担主要的数据</a:t>
                      </a:r>
                      <a:r>
                        <a:rPr lang="zh-CN" altLang="en-US" sz="1600"/>
                        <a:t>传输压力</a:t>
                      </a: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较低，主要承担管理和协调任务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1"/>
                        <a:t>服务稳定性</a:t>
                      </a:r>
                      <a:endParaRPr lang="zh-CN" altLang="en-US" sz="16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服务器故障可能影响大量用户</a:t>
                      </a: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部分节点退出通常不会导致整个系统失效，但仍依赖服务器的管理能力及其他可用节点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9910" y="6040755"/>
            <a:ext cx="7180580" cy="33718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/>
              <a:buNone/>
            </a:pPr>
            <a:r>
              <a:rPr lang="zh-CN" sz="1600"/>
              <a:t>（</a:t>
            </a:r>
            <a:r>
              <a:rPr lang="en-US" altLang="zh-CN" sz="1600"/>
              <a:t>3</a:t>
            </a:r>
            <a:r>
              <a:rPr lang="zh-CN" sz="1600"/>
              <a:t>）</a:t>
            </a:r>
            <a:r>
              <a:rPr lang="en-US" altLang="zh-CN" sz="1600"/>
              <a:t>P2P </a:t>
            </a:r>
            <a:r>
              <a:rPr lang="zh-CN" altLang="en-US" sz="1600"/>
              <a:t>模式的扩展能力通常更强</a:t>
            </a:r>
            <a:endParaRPr lang="zh-CN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673100"/>
            <a:ext cx="8838565" cy="1866900"/>
          </a:xfrm>
        </p:spPr>
        <p:txBody>
          <a:bodyPr>
            <a:noAutofit/>
          </a:bodyPr>
          <a:lstStyle/>
          <a:p>
            <a:pPr marL="457200" lvl="1" algn="l">
              <a:lnSpc>
                <a:spcPct val="100000"/>
              </a:lnSpc>
              <a:buNone/>
            </a:pPr>
            <a:r>
              <a:rPr lang="zh-CN" altLang="en-US" sz="175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2.某在线视频系统有两种设计方案，一是所有用户从中心服务器下载视频，二是用户之间可以互相上传已经缓存的视频片段，同时服务器只负责管理。</a:t>
            </a:r>
            <a:endParaRPr lang="zh-CN" altLang="en-US" sz="1750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75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(1) 两种方案分别属于哪种服务模式(CS/P2P)？</a:t>
            </a:r>
            <a:endParaRPr lang="zh-CN" altLang="en-US" sz="1750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75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(2) 比较两种设计的主要特点。</a:t>
            </a:r>
            <a:endParaRPr lang="zh-CN" altLang="en-US" sz="1750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75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(3) 如果用户数量从1000增加到100万，哪种方案扩展能力更强？为什么？</a:t>
            </a:r>
            <a:endParaRPr lang="zh-CN" altLang="en-US" sz="1750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1800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+mn-ea"/>
              </a:rPr>
            </a:fld>
            <a:endParaRPr lang="zh-CN" altLang="en-US" sz="1800" b="1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7985" y="2625090"/>
            <a:ext cx="7874635" cy="332295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/>
              <a:buNone/>
            </a:pPr>
            <a:r>
              <a:rPr lang="zh-CN" sz="1600"/>
              <a:t>（</a:t>
            </a:r>
            <a:r>
              <a:rPr lang="en-US" altLang="zh-CN" sz="1600"/>
              <a:t>3</a:t>
            </a:r>
            <a:r>
              <a:rPr lang="zh-CN" sz="1600"/>
              <a:t>）</a:t>
            </a:r>
            <a:r>
              <a:rPr lang="en-US" altLang="zh-CN" sz="1600"/>
              <a:t>P2P </a:t>
            </a:r>
            <a:r>
              <a:rPr lang="zh-CN" altLang="en-US" sz="1600"/>
              <a:t>模式的扩展能力通常更强</a:t>
            </a:r>
            <a:endParaRPr lang="zh-CN" altLang="en-US" sz="1600"/>
          </a:p>
          <a:p>
            <a:pPr lvl="1" indent="0" fontAlgn="auto">
              <a:spcBef>
                <a:spcPts val="1200"/>
              </a:spcBef>
              <a:buFont typeface="Arial" panose="020B0604020202020204"/>
              <a:buNone/>
            </a:pPr>
            <a:r>
              <a:rPr lang="en-US" altLang="zh-CN" sz="1600"/>
              <a:t>CS </a:t>
            </a:r>
            <a:r>
              <a:rPr lang="zh-CN" altLang="en-US" sz="1600"/>
              <a:t>模式依赖中心服务器提供主要服务，结构简单、易于管理；</a:t>
            </a:r>
            <a:endParaRPr lang="zh-CN" altLang="en-US" sz="1600"/>
          </a:p>
          <a:p>
            <a:pPr lvl="1" indent="0" fontAlgn="auto">
              <a:spcBef>
                <a:spcPts val="1200"/>
              </a:spcBef>
              <a:buFont typeface="Arial" panose="020B0604020202020204"/>
              <a:buNone/>
            </a:pPr>
            <a:r>
              <a:rPr lang="en-US" altLang="zh-CN" sz="1600"/>
              <a:t>P2P </a:t>
            </a:r>
            <a:r>
              <a:rPr lang="zh-CN" altLang="en-US" sz="1600"/>
              <a:t>模式通过共享节点资源分担服务压力，在大规模用户场景下通常具有更好的可扩展性</a:t>
            </a:r>
            <a:endParaRPr lang="zh-CN" altLang="en-US" sz="1600" b="1"/>
          </a:p>
          <a:p>
            <a:pPr lvl="1" indent="0" fontAlgn="auto">
              <a:spcBef>
                <a:spcPts val="1200"/>
              </a:spcBef>
              <a:buFont typeface="Arial" panose="020B0604020202020204"/>
              <a:buNone/>
            </a:pPr>
            <a:r>
              <a:rPr lang="zh-CN" altLang="en-US" sz="1600" b="1"/>
              <a:t>服务器负载</a:t>
            </a:r>
            <a:r>
              <a:rPr lang="zh-CN" altLang="en-US" sz="1600"/>
              <a:t>： </a:t>
            </a:r>
            <a:r>
              <a:rPr lang="en-US" altLang="zh-CN" sz="1600"/>
              <a:t>CS</a:t>
            </a:r>
            <a:r>
              <a:rPr lang="zh-CN" altLang="en-US" sz="1600"/>
              <a:t>模式下，用户越多，服务器需要承担的视频上传流量通常越大，容易出现带宽瓶颈</a:t>
            </a:r>
            <a:endParaRPr lang="en-US" altLang="zh-CN" sz="1600"/>
          </a:p>
          <a:p>
            <a:pPr lvl="1" indent="0" fontAlgn="auto">
              <a:spcBef>
                <a:spcPts val="1200"/>
              </a:spcBef>
              <a:buFont typeface="Arial" panose="020B0604020202020204"/>
              <a:buNone/>
            </a:pPr>
            <a:r>
              <a:rPr lang="zh-CN" altLang="en-US" sz="1600" b="1"/>
              <a:t>资源利用：</a:t>
            </a:r>
            <a:r>
              <a:rPr lang="zh-CN" altLang="en-US" sz="1600"/>
              <a:t> </a:t>
            </a:r>
            <a:r>
              <a:rPr lang="en-US" altLang="zh-CN" sz="1600"/>
              <a:t>P2P</a:t>
            </a:r>
            <a:r>
              <a:rPr lang="zh-CN" altLang="en-US" sz="1600"/>
              <a:t>模式下，新增用户不仅会产生下载需求，也可能贡献上传带宽和缓存资源，使系统的总体服务能力随参与节点增加而提升</a:t>
            </a:r>
            <a:endParaRPr lang="en-US" altLang="zh-CN" sz="1600"/>
          </a:p>
          <a:p>
            <a:pPr lvl="1" indent="0" fontAlgn="auto">
              <a:spcBef>
                <a:spcPts val="1200"/>
              </a:spcBef>
              <a:buFont typeface="Arial" panose="020B0604020202020204"/>
              <a:buNone/>
            </a:pPr>
            <a:r>
              <a:rPr lang="zh-CN" altLang="en-US" sz="1600" b="1"/>
              <a:t>服务器压力</a:t>
            </a:r>
            <a:r>
              <a:rPr lang="zh-CN" altLang="en-US" sz="1600"/>
              <a:t>： 服务器不必独自承担全部视频数据的传输任务，可以将更多资源用于节点管理和任务协调</a:t>
            </a:r>
            <a:endParaRPr lang="zh-CN" alt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673100"/>
            <a:ext cx="8838565" cy="1159510"/>
          </a:xfrm>
        </p:spPr>
        <p:txBody>
          <a:bodyPr>
            <a:noAutofit/>
          </a:bodyPr>
          <a:lstStyle/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3.主机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A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向主机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B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发送一个大小为8 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Mb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的数据包。已知链路带宽4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Mb/s， 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两主机距离600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km，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信号在媒体中的传播速度2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x10^8m/s，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忽略排队时延。求发送时延和传播时延。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+mn-ea"/>
              </a:rPr>
            </a:fld>
            <a:endParaRPr lang="zh-CN" altLang="en-US" sz="1800" b="1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79270" y="3114040"/>
            <a:ext cx="5207635" cy="33718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/>
              <a:buNone/>
            </a:pPr>
            <a:r>
              <a:rPr lang="zh-CN" altLang="en-US" sz="1600"/>
              <a:t>发送时延</a:t>
            </a:r>
            <a:r>
              <a:rPr lang="en-US" altLang="zh-CN" sz="1600"/>
              <a:t> = </a:t>
            </a:r>
            <a:r>
              <a:rPr lang="zh-CN" altLang="en-US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8 </a:t>
            </a:r>
            <a:r>
              <a:rPr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Mb / </a:t>
            </a:r>
            <a:r>
              <a:rPr lang="zh-CN" altLang="en-US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4</a:t>
            </a:r>
            <a:r>
              <a:rPr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Mb/s = 2</a:t>
            </a:r>
            <a:r>
              <a:rPr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s </a:t>
            </a:r>
            <a:endParaRPr lang="en-US" altLang="zh-CN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780031" y="1603630"/>
                <a:ext cx="5205985" cy="908531"/>
              </a:xfrm>
              <a:prstGeom prst="rect">
                <a:avLst/>
              </a:prstGeom>
              <a:solidFill>
                <a:srgbClr val="E5E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charset="0"/>
                    <a:ea typeface="黑体" panose="02010609060101010101" pitchFamily="49" charset="-122"/>
                  </a:rPr>
                  <a:t>发送时延 </a:t>
                </a:r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charset="0"/>
                    <a:ea typeface="黑体" panose="02010609060101010101" pitchFamily="49" charset="-12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数据块长度</m:t>
                        </m:r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zh-CN" alt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发送速率</m:t>
                        </m:r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(</m:t>
                        </m:r>
                        <m:f>
                          <m:fPr>
                            <m:type m:val="lin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𝑠</m:t>
                            </m:r>
                          </m:den>
                        </m:f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dirty="0">
                  <a:solidFill>
                    <a:schemeClr val="tx1"/>
                  </a:solidFill>
                  <a:latin typeface="Calibri" panose="020F0502020204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031" y="1603630"/>
                <a:ext cx="5205985" cy="908531"/>
              </a:xfrm>
              <a:prstGeom prst="rect">
                <a:avLst/>
              </a:prstGeom>
              <a:blipFill rotWithShape="1">
                <a:blip r:embed="rId1"/>
                <a:stretch>
                  <a:fillRect l="-2" t="-28" r="7" b="1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1780031" y="3800223"/>
                <a:ext cx="5547361" cy="908531"/>
              </a:xfrm>
              <a:prstGeom prst="rect">
                <a:avLst/>
              </a:prstGeom>
              <a:solidFill>
                <a:srgbClr val="E5E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charset="0"/>
                    <a:ea typeface="黑体" panose="02010609060101010101" pitchFamily="49" charset="-122"/>
                  </a:rPr>
                  <a:t>传播时延 </a:t>
                </a:r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charset="0"/>
                    <a:ea typeface="黑体" panose="02010609060101010101" pitchFamily="49" charset="-12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信道</m:t>
                        </m:r>
                        <m:r>
                          <a:rPr lang="zh-CN" alt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长度</m:t>
                        </m:r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信号在信道上的传播速率</m:t>
                        </m:r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f>
                          <m:fPr>
                            <m:type m:val="lin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m</m:t>
                            </m:r>
                          </m:num>
                          <m:den>
                            <m: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𝑠</m:t>
                            </m:r>
                          </m:den>
                        </m:f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dirty="0">
                  <a:solidFill>
                    <a:schemeClr val="tx1"/>
                  </a:solidFill>
                  <a:latin typeface="Calibri" panose="020F0502020204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031" y="3800223"/>
                <a:ext cx="5547361" cy="908531"/>
              </a:xfrm>
              <a:prstGeom prst="rect">
                <a:avLst/>
              </a:prstGeom>
              <a:blipFill rotWithShape="1">
                <a:blip r:embed="rId2"/>
                <a:stretch>
                  <a:fillRect l="-2" t="-42" r="2" b="2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1778635" y="5057775"/>
            <a:ext cx="5207635" cy="33718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/>
              <a:buNone/>
            </a:pPr>
            <a:r>
              <a:rPr lang="zh-CN" altLang="en-US" sz="1600"/>
              <a:t>发送时延</a:t>
            </a:r>
            <a:r>
              <a:rPr lang="en-US" altLang="zh-CN" sz="1600"/>
              <a:t> = 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600km</a:t>
            </a:r>
            <a:r>
              <a:rPr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/ </a:t>
            </a:r>
            <a:r>
              <a:rPr lang="zh-CN" altLang="en-US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2</a:t>
            </a:r>
            <a:r>
              <a:rPr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x10^8m/s</a:t>
            </a:r>
            <a:r>
              <a:rPr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= 3ms </a:t>
            </a:r>
            <a:endParaRPr lang="en-US" altLang="zh-CN" sz="1600"/>
          </a:p>
        </p:txBody>
      </p:sp>
      <p:sp>
        <p:nvSpPr>
          <p:cNvPr id="8" name="文本框 7"/>
          <p:cNvSpPr txBox="1"/>
          <p:nvPr/>
        </p:nvSpPr>
        <p:spPr>
          <a:xfrm>
            <a:off x="1283335" y="5628005"/>
            <a:ext cx="697992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solidFill>
                  <a:srgbClr val="C00000"/>
                </a:solidFill>
              </a:rPr>
              <a:t>注意区分：</a:t>
            </a:r>
            <a:endParaRPr lang="zh-CN" altLang="en-US" sz="1600" b="1">
              <a:solidFill>
                <a:srgbClr val="C00000"/>
              </a:solidFill>
            </a:endParaRPr>
          </a:p>
          <a:p>
            <a:pPr indent="457200"/>
            <a:r>
              <a:rPr lang="zh-CN" altLang="en-US" sz="1600"/>
              <a:t>发送时延取决于数据包大小和链路带宽</a:t>
            </a:r>
            <a:endParaRPr lang="zh-CN" altLang="en-US" sz="1600"/>
          </a:p>
          <a:p>
            <a:pPr indent="457200"/>
            <a:r>
              <a:rPr lang="zh-CN" altLang="en-US" sz="1600"/>
              <a:t>传播时延取决于传输距离和信号传播速度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7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673100"/>
            <a:ext cx="8838565" cy="1159510"/>
          </a:xfrm>
        </p:spPr>
        <p:txBody>
          <a:bodyPr>
            <a:noAutofit/>
          </a:bodyPr>
          <a:lstStyle/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4.用户需要下载一个大小为600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MB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的文件，数据传输时经过以下三条链路，忽略协议开销和传播延迟，求：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(1)该路径最大吞吐量是多少？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(2)完成下载需要多长时间？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+mn-ea"/>
              </a:rPr>
            </a:fld>
            <a:endParaRPr lang="zh-CN" altLang="en-US" sz="1800" b="1" dirty="0">
              <a:latin typeface="+mn-ea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888365" y="2113280"/>
          <a:ext cx="4249420" cy="1173480"/>
        </p:xfrm>
        <a:graphic>
          <a:graphicData uri="http://schemas.openxmlformats.org/drawingml/2006/table">
            <a:tbl>
              <a:tblPr/>
              <a:tblGrid>
                <a:gridCol w="1903730"/>
                <a:gridCol w="2345690"/>
              </a:tblGrid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链路</a:t>
                      </a:r>
                      <a:endParaRPr lang="zh-CN" sz="1800" b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带宽</a:t>
                      </a:r>
                      <a:endParaRPr lang="zh-CN" sz="1800" b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链路</a:t>
                      </a:r>
                      <a:r>
                        <a:rPr lang="en-US" altLang="zh-CN" sz="180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 Mb/s</a:t>
                      </a:r>
                      <a:endParaRPr lang="en-US" altLang="zh-CN" sz="180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链路</a:t>
                      </a:r>
                      <a:r>
                        <a:rPr lang="en-US" altLang="zh-CN" sz="180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 Mb/s</a:t>
                      </a:r>
                      <a:endParaRPr lang="en-US" altLang="zh-CN" sz="180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33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链路</a:t>
                      </a:r>
                      <a:r>
                        <a:rPr lang="en-US" altLang="zh-CN" sz="180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80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 Mb/s</a:t>
                      </a:r>
                      <a:endParaRPr lang="en-US" altLang="zh-CN" sz="180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80060" y="3567430"/>
            <a:ext cx="7569835" cy="107632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en-US" altLang="zh-CN" sz="1600"/>
              <a:t>(1</a:t>
            </a:r>
            <a:r>
              <a:rPr lang="zh-CN" altLang="en-US" sz="1600"/>
              <a:t>) </a:t>
            </a:r>
            <a:r>
              <a:rPr lang="zh-CN" altLang="en-US" sz="1600">
                <a:sym typeface="+mn-ea"/>
              </a:rPr>
              <a:t>20 Mb/s  </a:t>
            </a:r>
            <a:r>
              <a:rPr lang="zh-CN" altLang="en-US" sz="1600"/>
              <a:t>数据必须依次经过这三条链路，整个路径的最大吞吐量受带宽最小的链路限制。</a:t>
            </a:r>
            <a:endParaRPr lang="zh-CN" altLang="en-US" sz="1600"/>
          </a:p>
          <a:p>
            <a:pPr algn="l">
              <a:buClrTx/>
              <a:buSzTx/>
              <a:buFontTx/>
            </a:pPr>
            <a:r>
              <a:rPr lang="en-US" altLang="zh-CN" sz="1600"/>
              <a:t>(2) </a:t>
            </a:r>
            <a:r>
              <a:rPr lang="zh-CN" altLang="en-US" sz="1600"/>
              <a:t>文件大小为600</a:t>
            </a:r>
            <a:r>
              <a:rPr lang="en-US" altLang="zh-CN" sz="1600"/>
              <a:t>MB = 4800Mb</a:t>
            </a:r>
            <a:endParaRPr lang="en-US" altLang="zh-CN" sz="1600"/>
          </a:p>
          <a:p>
            <a:pPr algn="l">
              <a:buClrTx/>
              <a:buSzTx/>
              <a:buFontTx/>
            </a:pPr>
            <a:r>
              <a:rPr lang="en-US" altLang="zh-CN" sz="1600"/>
              <a:t>     </a:t>
            </a:r>
            <a:r>
              <a:rPr lang="zh-CN" altLang="en-US" sz="1600"/>
              <a:t>下载时间</a:t>
            </a:r>
            <a:r>
              <a:rPr lang="en-US" altLang="zh-CN" sz="1600"/>
              <a:t> = </a:t>
            </a:r>
            <a:r>
              <a:rPr lang="zh-CN" altLang="en-US" sz="1600"/>
              <a:t>文件大小</a:t>
            </a:r>
            <a:r>
              <a:rPr lang="en-US" altLang="zh-CN" sz="1600"/>
              <a:t>/</a:t>
            </a:r>
            <a:r>
              <a:rPr lang="zh-CN" altLang="en-US" sz="1600"/>
              <a:t>吞吐量</a:t>
            </a:r>
            <a:r>
              <a:rPr lang="en-US" altLang="zh-CN" sz="1600"/>
              <a:t> = 240</a:t>
            </a:r>
            <a:r>
              <a:rPr lang="en-US" altLang="zh-CN" sz="1600"/>
              <a:t>s</a:t>
            </a:r>
            <a:endParaRPr lang="en-US" altLang="zh-CN" sz="1600"/>
          </a:p>
        </p:txBody>
      </p:sp>
      <p:sp>
        <p:nvSpPr>
          <p:cNvPr id="11" name="文本框 10"/>
          <p:cNvSpPr txBox="1"/>
          <p:nvPr/>
        </p:nvSpPr>
        <p:spPr>
          <a:xfrm>
            <a:off x="616585" y="5024755"/>
            <a:ext cx="743394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多条串行链路组成的路径，其最大吞吐量由带宽最小的瓶颈链路决定。</a:t>
            </a:r>
            <a:endParaRPr lang="zh-CN" altLang="en-US" sz="1600"/>
          </a:p>
          <a:p>
            <a:r>
              <a:rPr lang="zh-CN" altLang="en-US" sz="1600"/>
              <a:t>计算传输时间时，</a:t>
            </a:r>
            <a:r>
              <a:rPr lang="zh-CN" altLang="en-US" sz="1600"/>
              <a:t>需要注意</a:t>
            </a:r>
            <a:r>
              <a:rPr lang="en-US" altLang="zh-CN" sz="1600"/>
              <a:t>MB</a:t>
            </a:r>
            <a:r>
              <a:rPr lang="zh-CN" altLang="en-US" sz="1600"/>
              <a:t>和</a:t>
            </a:r>
            <a:r>
              <a:rPr lang="en-US" altLang="zh-CN" sz="1600"/>
              <a:t>Mb</a:t>
            </a:r>
            <a:r>
              <a:rPr lang="zh-CN" altLang="en-US" sz="1600"/>
              <a:t>的单位区别。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673100"/>
            <a:ext cx="8838565" cy="1159510"/>
          </a:xfrm>
        </p:spPr>
        <p:txBody>
          <a:bodyPr>
            <a:noAutofit/>
          </a:bodyPr>
          <a:lstStyle/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5.网络系统采用分层结构设计，共包含多个网络功能层，请问为什么计算机网络采用分层体系结构，而不是将所有功能设计在一个复杂模块中？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+mn-ea"/>
              </a:rPr>
            </a:fld>
            <a:endParaRPr lang="zh-CN" altLang="en-US" sz="1800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576070"/>
            <a:ext cx="8693785" cy="33534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0" fontAlgn="auto">
              <a:spcBef>
                <a:spcPts val="1200"/>
              </a:spcBef>
            </a:pPr>
            <a:r>
              <a:rPr lang="zh-CN" altLang="en-US" b="1" dirty="0">
                <a:sym typeface="+mn-ea"/>
              </a:rPr>
              <a:t>各层相互独立</a:t>
            </a:r>
            <a:endParaRPr lang="en-US" altLang="zh-CN" sz="1800" b="1" dirty="0"/>
          </a:p>
          <a:p>
            <a:pPr lvl="2" indent="0" fontAlgn="auto">
              <a:spcBef>
                <a:spcPts val="1200"/>
              </a:spcBef>
            </a:pPr>
            <a:r>
              <a:rPr lang="zh-CN" altLang="en-US" dirty="0">
                <a:sym typeface="+mn-ea"/>
              </a:rPr>
              <a:t>将建造一个网络的问题分解为多个可处理的部分，一层解决一部分问题</a:t>
            </a:r>
            <a:endParaRPr lang="zh-CN" altLang="en-US" dirty="0"/>
          </a:p>
          <a:p>
            <a:pPr lvl="1" indent="0" fontAlgn="auto">
              <a:spcBef>
                <a:spcPts val="1200"/>
              </a:spcBef>
            </a:pPr>
            <a:r>
              <a:rPr lang="zh-CN" altLang="en-US" b="1" dirty="0">
                <a:sym typeface="+mn-ea"/>
              </a:rPr>
              <a:t>灵活性好</a:t>
            </a:r>
            <a:endParaRPr lang="en-US" altLang="zh-CN" sz="1800" b="1" dirty="0"/>
          </a:p>
          <a:p>
            <a:pPr lvl="2" indent="0" fontAlgn="auto">
              <a:spcBef>
                <a:spcPts val="1200"/>
              </a:spcBef>
            </a:pPr>
            <a:r>
              <a:rPr lang="zh-CN" altLang="en-US" dirty="0">
                <a:sym typeface="+mn-ea"/>
              </a:rPr>
              <a:t>任何层发生变化时，只要接口不变，上下层不受影响</a:t>
            </a:r>
            <a:endParaRPr lang="en-US" altLang="zh-CN" dirty="0"/>
          </a:p>
          <a:p>
            <a:pPr lvl="1" indent="0" fontAlgn="auto">
              <a:spcBef>
                <a:spcPts val="1200"/>
              </a:spcBef>
            </a:pPr>
            <a:r>
              <a:rPr lang="zh-CN" altLang="en-US" b="1" dirty="0">
                <a:sym typeface="+mn-ea"/>
              </a:rPr>
              <a:t>结构上可分割开</a:t>
            </a:r>
            <a:endParaRPr lang="en-US" altLang="zh-CN" sz="1800" b="1" dirty="0"/>
          </a:p>
          <a:p>
            <a:pPr lvl="2" indent="0" fontAlgn="auto">
              <a:spcBef>
                <a:spcPts val="1200"/>
              </a:spcBef>
            </a:pPr>
            <a:r>
              <a:rPr lang="zh-CN" altLang="en-US" sz="1600" dirty="0">
                <a:sym typeface="+mn-ea"/>
              </a:rPr>
              <a:t>各层都可以采用最合适的技术实现</a:t>
            </a:r>
            <a:endParaRPr lang="zh-CN" altLang="en-US" sz="1600" dirty="0"/>
          </a:p>
          <a:p>
            <a:pPr lvl="1" indent="0" fontAlgn="auto">
              <a:spcBef>
                <a:spcPts val="1200"/>
              </a:spcBef>
            </a:pPr>
            <a:r>
              <a:rPr lang="zh-CN" altLang="en-US" b="1" dirty="0">
                <a:sym typeface="+mn-ea"/>
              </a:rPr>
              <a:t>易于实现和维护</a:t>
            </a:r>
            <a:endParaRPr lang="zh-CN" altLang="en-US" sz="1600" b="1" dirty="0"/>
          </a:p>
          <a:p>
            <a:pPr lvl="1" indent="0" fontAlgn="auto">
              <a:spcBef>
                <a:spcPts val="1200"/>
              </a:spcBef>
            </a:pPr>
            <a:r>
              <a:rPr lang="zh-CN" altLang="en-US" b="1" dirty="0">
                <a:sym typeface="+mn-ea"/>
              </a:rPr>
              <a:t>能促进标准化工作</a:t>
            </a:r>
            <a:endParaRPr lang="zh-CN" altLang="en-US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673100"/>
            <a:ext cx="8838565" cy="1159510"/>
          </a:xfrm>
        </p:spPr>
        <p:txBody>
          <a:bodyPr>
            <a:noAutofit/>
          </a:bodyPr>
          <a:lstStyle/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6.在网络系统设计时，将通信功能划分为多个相互独立的模块，每个模块通过规定接口与其他模块交互。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(1)这种模块化设计方法在计算机网络中有什么优势？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(2)如果某一模块内部实现方式发生变化，但提供给其他模块的接口保持不变，是否会影响整个网络系统？为什么？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(3)说明网络体系结构中“接口”的作用。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+mn-ea"/>
              </a:rPr>
            </a:fld>
            <a:endParaRPr lang="zh-CN" altLang="en-US" sz="1800" b="1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3390" y="2793365"/>
            <a:ext cx="8209280" cy="292290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spcBef>
                <a:spcPts val="600"/>
              </a:spcBef>
            </a:pPr>
            <a:r>
              <a:rPr lang="zh-CN" altLang="en-US" sz="1600"/>
              <a:t>（</a:t>
            </a:r>
            <a:r>
              <a:rPr lang="en-US" altLang="zh-CN" sz="1600"/>
              <a:t>1</a:t>
            </a:r>
            <a:r>
              <a:rPr lang="zh-CN" altLang="en-US" sz="1600"/>
              <a:t>）</a:t>
            </a:r>
            <a:endParaRPr lang="zh-CN" altLang="en-US" sz="1600"/>
          </a:p>
          <a:p>
            <a:pPr lvl="1" indent="0" fontAlgn="auto">
              <a:spcBef>
                <a:spcPts val="600"/>
              </a:spcBef>
              <a:buFont typeface="Arial" panose="020B0604020202020204"/>
              <a:buNone/>
            </a:pPr>
            <a:r>
              <a:rPr lang="zh-CN" altLang="en-US" sz="1600"/>
              <a:t>降低系统复杂度，便于开发与维护。</a:t>
            </a:r>
            <a:endParaRPr lang="zh-CN" altLang="en-US" sz="1600"/>
          </a:p>
          <a:p>
            <a:pPr lvl="1" indent="0" fontAlgn="auto">
              <a:spcBef>
                <a:spcPts val="600"/>
              </a:spcBef>
              <a:buFont typeface="Arial" panose="020B0604020202020204"/>
              <a:buNone/>
            </a:pPr>
            <a:r>
              <a:rPr lang="zh-CN" altLang="en-US" sz="1600"/>
              <a:t>支持模块独立升级，提高系统灵活性。</a:t>
            </a:r>
            <a:endParaRPr lang="zh-CN" altLang="en-US" sz="1600"/>
          </a:p>
          <a:p>
            <a:pPr indent="0" fontAlgn="auto">
              <a:spcBef>
                <a:spcPts val="600"/>
              </a:spcBef>
            </a:pPr>
            <a:r>
              <a:rPr lang="zh-CN" altLang="en-US" sz="1600"/>
              <a:t>（</a:t>
            </a:r>
            <a:r>
              <a:rPr lang="en-US" altLang="zh-CN" sz="1600"/>
              <a:t>2</a:t>
            </a:r>
            <a:r>
              <a:rPr lang="zh-CN" altLang="en-US" sz="1600"/>
              <a:t>）</a:t>
            </a:r>
            <a:endParaRPr lang="zh-CN" altLang="en-US" sz="1600"/>
          </a:p>
          <a:p>
            <a:pPr lvl="1" indent="0" fontAlgn="auto">
              <a:spcBef>
                <a:spcPts val="600"/>
              </a:spcBef>
              <a:buFont typeface="Arial" panose="020B0604020202020204"/>
              <a:buNone/>
            </a:pPr>
            <a:r>
              <a:rPr lang="zh-CN" altLang="en-US" sz="1600"/>
              <a:t>通常不影响其他模块，只要接口保持不变。</a:t>
            </a:r>
            <a:endParaRPr lang="zh-CN" altLang="en-US" sz="1600"/>
          </a:p>
          <a:p>
            <a:pPr lvl="1" indent="0" fontAlgn="auto">
              <a:spcBef>
                <a:spcPts val="600"/>
              </a:spcBef>
              <a:buFont typeface="Arial" panose="020B0604020202020204"/>
              <a:buNone/>
            </a:pPr>
            <a:r>
              <a:rPr lang="zh-CN" altLang="en-US" sz="1600"/>
              <a:t>若性能或可靠性发生变化，仍可能影响整个系统。</a:t>
            </a:r>
            <a:endParaRPr lang="zh-CN" altLang="en-US" sz="1600"/>
          </a:p>
          <a:p>
            <a:pPr indent="0" fontAlgn="auto">
              <a:spcBef>
                <a:spcPts val="600"/>
              </a:spcBef>
            </a:pPr>
            <a:r>
              <a:rPr lang="zh-CN" altLang="en-US" sz="1600"/>
              <a:t>（</a:t>
            </a:r>
            <a:r>
              <a:rPr lang="en-US" altLang="zh-CN" sz="1600"/>
              <a:t>3</a:t>
            </a:r>
            <a:r>
              <a:rPr lang="zh-CN" altLang="en-US" sz="1600"/>
              <a:t>）</a:t>
            </a:r>
            <a:endParaRPr lang="zh-CN" altLang="en-US" sz="1600"/>
          </a:p>
          <a:p>
            <a:pPr lvl="1" indent="0" fontAlgn="auto">
              <a:spcBef>
                <a:spcPts val="600"/>
              </a:spcBef>
              <a:buFont typeface="Arial" panose="020B0604020202020204"/>
              <a:buNone/>
            </a:pPr>
            <a:r>
              <a:rPr lang="zh-CN" altLang="en-US" sz="1600"/>
              <a:t>规定模块之间的交互方式。</a:t>
            </a:r>
            <a:endParaRPr lang="zh-CN" altLang="en-US" sz="1600"/>
          </a:p>
          <a:p>
            <a:pPr lvl="1" indent="0" fontAlgn="auto">
              <a:spcBef>
                <a:spcPts val="600"/>
              </a:spcBef>
              <a:buFont typeface="Arial" panose="020B0604020202020204"/>
              <a:buNone/>
            </a:pPr>
            <a:r>
              <a:rPr lang="zh-CN" altLang="en-US" sz="1600"/>
              <a:t>隐藏内部实现，实现模块解耦。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673100"/>
            <a:ext cx="8838565" cy="1159510"/>
          </a:xfrm>
        </p:spPr>
        <p:txBody>
          <a:bodyPr>
            <a:noAutofit/>
          </a:bodyPr>
          <a:lstStyle/>
          <a:p>
            <a:pPr marL="457200" lvl="1" algn="l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7.Internet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可以划分为网络边缘和网络核心两个部分，请问：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(1)网络边缘主要包括哪些设备？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(2)网络核心主要完成什么功能？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(3)为什么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Internet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采用“端系统智能、网络核心简单”的设计思想？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+mn-ea"/>
              </a:rPr>
            </a:fld>
            <a:endParaRPr lang="zh-CN" altLang="en-US" sz="1800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1650" y="2279015"/>
            <a:ext cx="7760970" cy="396938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spcBef>
                <a:spcPts val="1200"/>
              </a:spcBef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网络边缘：端系统，即直接运行网络应用、产生或接收数据的设备。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1200"/>
              </a:spcBef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例如：个人电脑、智能手机、服务器、物联网设备等。其中，客户端通常发起请求，服务器通常提供网络服务。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1200"/>
              </a:spcBef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）网络核心：主要由大量路由器及其互连链路组成，核心功能是通过分组交换和路由转发，实现数据在不同端系统之间的传输。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 fontAlgn="auto">
              <a:spcBef>
                <a:spcPts val="1200"/>
              </a:spcBef>
              <a:buFont typeface="Arial" panose="020B0604020202020204"/>
              <a:buNone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路由，根据网络拓扑和路由算法，确定数据分组的传输路径。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 fontAlgn="auto">
              <a:spcBef>
                <a:spcPts val="1200"/>
              </a:spcBef>
              <a:buFont typeface="Arial" panose="020B0604020202020204"/>
              <a:buNone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转发，路由器根据转发表，将收到的分组从合适的输出端口发送出去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1200"/>
              </a:spcBef>
              <a:buNone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降低核心网络的复杂度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：将应用处理、数据处理等复杂功能主要放在端系统，简化网络核心的功能，降低设备设计和维护成本。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1200"/>
              </a:spcBef>
              <a:buNone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提高网络的可扩展性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：核心网络主要负责分组转发，可以更高效地服务海量端系统，适应互联网规模的持续增长。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1200"/>
              </a:spcBef>
              <a:buNone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提高应用开发的灵活性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：端系统可以根据不同应用的需求实现可靠传输、拥塞控制和数据处理等功能，而不必频繁修改网络核心。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673100"/>
            <a:ext cx="8838565" cy="1159510"/>
          </a:xfrm>
        </p:spPr>
        <p:txBody>
          <a:bodyPr>
            <a:noAutofit/>
          </a:bodyPr>
          <a:lstStyle/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8.某办公室使用集线器连接8台计算机。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(1)当一台计算机发送数据时，集线器如何处理该数据？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(2)该网络中所有计算机是否共享同一条链路带宽？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(3)如果两台计算机同时发送数据，会发生什么？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+mn-ea"/>
              </a:rPr>
            </a:fld>
            <a:endParaRPr lang="zh-CN" altLang="en-US" sz="1800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3060" y="2548255"/>
            <a:ext cx="7909560" cy="169164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spcBef>
                <a:spcPts val="1200"/>
              </a:spcBef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）集线器将接收到的信号从其他所有端口转发出去，使其他计算机都能收到该信号，但只有目标计算机会接收并处理相关数据。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1200"/>
              </a:spcBef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（2）是。集线器连接的所有计算机共享同一带宽，不能同时独立占用全部带宽进行有效通信。一台计算机传输数据时，其他计算机也会受到影响。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1200"/>
              </a:spcBef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（3）两台计算机发送的信号可能发生碰撞，导致数据无法正常传输。在传统半双工以太网中，计算机会通过 CSMA/CD 机制检测碰撞，等待随机时间后再尝试重传。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673100"/>
            <a:ext cx="8838565" cy="1159510"/>
          </a:xfrm>
        </p:spPr>
        <p:txBody>
          <a:bodyPr>
            <a:noAutofit/>
          </a:bodyPr>
          <a:lstStyle/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9.网络拓扑中，主机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A、B、C、D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均连接到同一台集线器上，请问：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(1)当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A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向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C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发送数据时，哪些主机会收到该信号？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(2)为什么说集线器无法实现点到点通信？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(3)该网络属于哪种类型的以太网？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+mn-ea"/>
              </a:rPr>
            </a:fld>
            <a:endParaRPr lang="zh-CN" altLang="en-US" sz="18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60490" y="2188845"/>
            <a:ext cx="946785" cy="337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集线器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95290" y="1832610"/>
            <a:ext cx="513080" cy="337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95290" y="2613025"/>
            <a:ext cx="513080" cy="337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B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08925" y="1832610"/>
            <a:ext cx="513080" cy="337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08925" y="2613025"/>
            <a:ext cx="513080" cy="337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9" name="直接连接符 8"/>
          <p:cNvCxnSpPr>
            <a:stCxn id="5" idx="0"/>
            <a:endCxn id="2" idx="1"/>
          </p:cNvCxnSpPr>
          <p:nvPr/>
        </p:nvCxnSpPr>
        <p:spPr>
          <a:xfrm>
            <a:off x="5751830" y="1832610"/>
            <a:ext cx="708660" cy="5251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6" idx="3"/>
            <a:endCxn id="2" idx="1"/>
          </p:cNvCxnSpPr>
          <p:nvPr/>
        </p:nvCxnSpPr>
        <p:spPr>
          <a:xfrm flipV="1">
            <a:off x="6008370" y="2357755"/>
            <a:ext cx="452120" cy="4241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2" idx="3"/>
            <a:endCxn id="7" idx="1"/>
          </p:cNvCxnSpPr>
          <p:nvPr/>
        </p:nvCxnSpPr>
        <p:spPr>
          <a:xfrm flipV="1">
            <a:off x="7407275" y="2001520"/>
            <a:ext cx="501650" cy="3562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8" idx="1"/>
            <a:endCxn id="2" idx="3"/>
          </p:cNvCxnSpPr>
          <p:nvPr/>
        </p:nvCxnSpPr>
        <p:spPr>
          <a:xfrm flipH="1" flipV="1">
            <a:off x="7407275" y="2357755"/>
            <a:ext cx="501650" cy="4241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15290" y="3205480"/>
            <a:ext cx="7745730" cy="2183765"/>
          </a:xfrm>
          <a:prstGeom prst="rect">
            <a:avLst/>
          </a:prstGeom>
        </p:spPr>
        <p:txBody>
          <a:bodyPr wrap="square">
            <a:spAutoFit/>
          </a:bodyPr>
          <a:p>
            <a:pPr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（1）B、C、D 都会收到信号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集线器会将从</a:t>
            </a:r>
            <a:r>
              <a:rPr lang="en-US" altLang="zh-CN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接收到的信号转发到其他所有端口，而不会判断目标地址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</a:t>
            </a:r>
            <a:r>
              <a:rPr lang="en-US" altLang="zh-CN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会接收并处理发给自己的数据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（2）集线器将信号广播到其他所有端口，所有主机共享带宽，不能实现主机之间独占链路的点到点通信。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（3）属于共享式星型以太网，</a:t>
            </a: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通常使用 CSMA/CD机制处理数据碰撞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673100"/>
            <a:ext cx="8838565" cy="1159510"/>
          </a:xfrm>
        </p:spPr>
        <p:txBody>
          <a:bodyPr>
            <a:noAutofit/>
          </a:bodyPr>
          <a:lstStyle/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10.针对数据传输出现的差错问题，请问：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(1)什么是差错检测？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(2)说明检错和纠错两种方法的区别。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为什么计算机网络中通常采用“检错+重传”，而不是完全依靠纠错？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+mn-ea"/>
              </a:rPr>
            </a:fld>
            <a:endParaRPr lang="zh-CN" altLang="en-US" sz="1800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2575" y="2221230"/>
            <a:ext cx="7738745" cy="387667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（1）差错检测是指在数据帧中加入冗余信息来确定是否存在差错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例如：奇偶校验、校验和、循环冗余校验</a:t>
            </a: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（2）检错：判断数据是否发生错误，但通常不能直接确定错误位置并恢复正确数据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纠错：利用冗余信息，不仅能够发现错误，还能够在一定条件下确定错误位置并恢复正确数据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charset="0"/>
              <a:buChar char="Ø"/>
            </a:pP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降低冗余开销：纠错往往需要增加更多冗余比特，而检错编码通常开销较小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charset="0"/>
              <a:buChar char="Ø"/>
            </a:pP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提高可靠性：当检测到错误时，可以请求发送方重新发送数据，避免接收方使用错误的数据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 algn="l" fontAlgn="base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charset="0"/>
              <a:buChar char="Ø"/>
            </a:pPr>
            <a:r>
              <a:rPr lang="zh-CN" altLang="en-US" sz="16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适应不同错误情况：纠错能力有限，错误过多时可能无法正确恢复；检错结合重传能够处理超出纠错能力的错误</a:t>
            </a:r>
            <a:endParaRPr lang="zh-CN" altLang="en-US" sz="16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673100"/>
            <a:ext cx="8838565" cy="1159510"/>
          </a:xfrm>
        </p:spPr>
        <p:txBody>
          <a:bodyPr>
            <a:noAutofit/>
          </a:bodyPr>
          <a:lstStyle/>
          <a:p>
            <a:pPr marL="457200" lvl="1" algn="l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11.数据链路采用偶校验方式进行差错检测，发送的数据1011011，应添加的校验位是多少？最终发送的数据帧是什么？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+mn-ea"/>
              </a:rPr>
            </a:fld>
            <a:endParaRPr lang="zh-CN" altLang="en-US" sz="1800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2445" y="1730375"/>
            <a:ext cx="7377430" cy="193802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spcBef>
                <a:spcPts val="1200"/>
              </a:spcBef>
            </a:pPr>
            <a:r>
              <a:rPr lang="zh-CN" altLang="en-US" sz="1600"/>
              <a:t>原始数据为：</a:t>
            </a:r>
            <a:r>
              <a:rPr lang="en-US" altLang="zh-CN" sz="1600"/>
              <a:t>1011011</a:t>
            </a:r>
            <a:endParaRPr lang="en-US" altLang="zh-CN" sz="1600"/>
          </a:p>
          <a:p>
            <a:pPr indent="0" fontAlgn="auto">
              <a:spcBef>
                <a:spcPts val="1200"/>
              </a:spcBef>
            </a:pPr>
            <a:r>
              <a:rPr lang="zh-CN" altLang="en-US" sz="1600"/>
              <a:t>统计</a:t>
            </a:r>
            <a:r>
              <a:rPr lang="en-US" sz="1600"/>
              <a:t>1</a:t>
            </a:r>
            <a:r>
              <a:rPr lang="zh-CN" altLang="en-US" sz="1600"/>
              <a:t>的个数，有</a:t>
            </a:r>
            <a:r>
              <a:rPr lang="en-US" altLang="zh-CN" sz="1600"/>
              <a:t>5</a:t>
            </a:r>
            <a:r>
              <a:rPr lang="zh-CN" altLang="en-US" sz="1600"/>
              <a:t>个</a:t>
            </a:r>
            <a:r>
              <a:rPr lang="en-US" altLang="zh-CN" sz="1600"/>
              <a:t>1</a:t>
            </a:r>
            <a:r>
              <a:rPr lang="zh-CN" altLang="en-US" sz="1600"/>
              <a:t>，奇数个</a:t>
            </a:r>
            <a:endParaRPr lang="zh-CN" altLang="en-US" sz="1600"/>
          </a:p>
          <a:p>
            <a:pPr indent="0" fontAlgn="auto">
              <a:spcBef>
                <a:spcPts val="1200"/>
              </a:spcBef>
            </a:pPr>
            <a:r>
              <a:rPr lang="zh-CN" altLang="en-US" sz="1600"/>
              <a:t>偶校验要求原始数据和校验位中</a:t>
            </a:r>
            <a:r>
              <a:rPr lang="en-US" sz="1600"/>
              <a:t>1</a:t>
            </a:r>
            <a:r>
              <a:rPr lang="zh-CN" altLang="en-US" sz="1600"/>
              <a:t>的总数为偶数</a:t>
            </a:r>
            <a:endParaRPr lang="zh-CN" altLang="en-US" sz="1600"/>
          </a:p>
          <a:p>
            <a:pPr indent="0" fontAlgn="auto">
              <a:spcBef>
                <a:spcPts val="1200"/>
              </a:spcBef>
            </a:pPr>
            <a:r>
              <a:rPr lang="zh-CN" altLang="en-US" sz="1600"/>
              <a:t>添加校验位 </a:t>
            </a:r>
            <a:r>
              <a:rPr lang="en-US" altLang="zh-CN" sz="1600"/>
              <a:t>1</a:t>
            </a:r>
            <a:r>
              <a:rPr lang="zh-CN" altLang="en-US" sz="1600"/>
              <a:t>，使总数变为 </a:t>
            </a:r>
            <a:r>
              <a:rPr lang="en-US" altLang="zh-CN" sz="1600"/>
              <a:t>6 </a:t>
            </a:r>
            <a:r>
              <a:rPr lang="zh-CN" altLang="en-US" sz="1600"/>
              <a:t>个，即</a:t>
            </a:r>
            <a:r>
              <a:rPr lang="en-US" altLang="zh-CN" sz="1600">
                <a:sym typeface="+mn-ea"/>
              </a:rPr>
              <a:t>10110111</a:t>
            </a:r>
            <a:endParaRPr lang="en-US" altLang="zh-CN" sz="1600"/>
          </a:p>
          <a:p>
            <a:pPr indent="0" fontAlgn="auto">
              <a:spcBef>
                <a:spcPts val="1200"/>
              </a:spcBef>
            </a:pPr>
            <a:endParaRPr lang="en-US" altLang="zh-CN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28650" y="737235"/>
            <a:ext cx="7886700" cy="5784850"/>
          </a:xfrm>
        </p:spPr>
        <p:txBody>
          <a:bodyPr>
            <a:normAutofit lnSpcReduction="20000"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.码分多址（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CDMA）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是一种信道复用技术。假设通信场景中有4个发送站点，分别用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N1、N2、N3、N4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表示，其码片序列分别为</a:t>
            </a:r>
            <a:r>
              <a:rPr lang="en-US" altLang="zh-CN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N1（−1 +1 −1 −1 −1 −1 +1 −1），N2（−1 −1 −1 +1 +1 −1 +1 +1），N3（−1 −1 +1 −1 +1 +1 +1 −1），N4（−1 +1 −1 +1 +1 +1 −1 −1）。</a:t>
            </a:r>
            <a:r>
              <a:rPr lang="zh-CN" alt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假设接收站点收到的码片序列为（−1 −1 −1 −1 −1 −3 +3 +1），请回答四个发送站点发送数据的情况，并给出计算过程？</a:t>
            </a:r>
            <a:endParaRPr lang="zh-CN" altLang="en-US" sz="1800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1800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N1      </a:t>
            </a:r>
            <a:r>
              <a:rPr lang="zh-CN" altLang="en-US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（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−1 ＋1 −1 −1 −1 −1 ＋1 −1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）</a:t>
            </a:r>
            <a:endParaRPr lang="en-US" altLang="zh-CN" sz="1800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  <a:p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N2      </a:t>
            </a:r>
            <a:r>
              <a:rPr lang="zh-CN" altLang="en-US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（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−1 −1 −1 ＋1 ＋1 −1 ＋1 ＋1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）</a:t>
            </a:r>
            <a:endParaRPr lang="en-US" altLang="zh-CN" sz="1800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  <a:p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N3      </a:t>
            </a:r>
            <a:r>
              <a:rPr lang="zh-CN" altLang="en-US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（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−1 −1 ＋1 −1 ＋1 ＋1 ＋1 −1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）</a:t>
            </a:r>
            <a:endParaRPr lang="en-US" altLang="zh-CN" sz="1800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  <a:p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N4      </a:t>
            </a:r>
            <a:r>
              <a:rPr lang="zh-CN" altLang="en-US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（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−1 ＋1 −1 ＋1 ＋1 ＋1 −1 −1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）</a:t>
            </a:r>
            <a:endParaRPr lang="en-US" altLang="zh-CN" sz="1800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  <a:p>
            <a:r>
              <a:rPr lang="en-US" altLang="zh-CN" sz="1800" dirty="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S</a:t>
            </a:r>
            <a:r>
              <a:rPr lang="en-US" altLang="zh-CN" sz="1800" dirty="0">
                <a:solidFill>
                  <a:srgbClr val="FF0000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     </a:t>
            </a:r>
            <a:r>
              <a:rPr lang="zh-CN" altLang="en-US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（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−1 −1 −1 −1 −1 −3 ＋3 ＋1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）</a:t>
            </a:r>
            <a:endParaRPr lang="en-US" altLang="zh-CN" sz="1800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  <a:p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S*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N1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  = (＋1−1＋1＋1＋1＋3＋3−1)/8 = 1     </a:t>
            </a:r>
            <a:r>
              <a:rPr lang="zh-CN" altLang="en-US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节点发送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1</a:t>
            </a:r>
            <a:endParaRPr lang="en-US" altLang="zh-CN" sz="1800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  <a:p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S*N2   = (＋1＋1＋1−1−1＋3＋3＋1)/8=1       </a:t>
            </a:r>
            <a:r>
              <a:rPr lang="zh-CN" altLang="en-US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节点发送1</a:t>
            </a:r>
            <a:endParaRPr lang="en-US" altLang="zh-CN" sz="1800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  <a:p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S*N3   = (＋1−1−3−3＋1−1−1−1)/8=0          </a:t>
            </a:r>
            <a:r>
              <a:rPr lang="zh-CN" altLang="en-US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节点未发送</a:t>
            </a:r>
            <a:endParaRPr lang="en-US" altLang="zh-CN" sz="1800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  <a:p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S*N4   = (＋1＋1＋3＋3＋1−1−1−1)/8=−1       </a:t>
            </a:r>
            <a:r>
              <a:rPr lang="zh-CN" altLang="en-US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节点发送</a:t>
            </a:r>
            <a:r>
              <a:rPr lang="en-US" altLang="zh-CN" sz="18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0</a:t>
            </a:r>
            <a:endParaRPr lang="zh-CN" altLang="en-US" sz="1800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fontAlgn="auto">
              <a:lnSpc>
                <a:spcPct val="100000"/>
              </a:lnSpc>
            </a:pPr>
            <a:endParaRPr lang="zh-CN" altLang="en-US" sz="1800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262851" y="6457891"/>
            <a:ext cx="773903" cy="400110"/>
          </a:xfrm>
        </p:spPr>
        <p:txBody>
          <a:bodyPr/>
          <a:lstStyle/>
          <a:p>
            <a:fld id="{1A7A0873-376A-4A4E-91BA-7081C35D808C}" type="slidenum">
              <a:rPr lang="zh-CN" altLang="en-US" sz="1800" b="1" smtClean="0">
                <a:latin typeface="+mn-ea"/>
              </a:rPr>
            </a:fld>
            <a:endParaRPr lang="zh-CN" altLang="en-US" sz="18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1A7A0873-376A-4A4E-91BA-7081C35D808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0" y="2427605"/>
            <a:ext cx="9144635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感谢！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661*247"/>
  <p:tag name="TABLE_ENDDRAG_RECT" val="43*228*661*247"/>
</p:tagLst>
</file>

<file path=ppt/tags/tag3.xml><?xml version="1.0" encoding="utf-8"?>
<p:tagLst xmlns:p="http://schemas.openxmlformats.org/presentationml/2006/main">
  <p:tag name="TABLE_ENDDRAG_ORIGIN_RECT" val="334*91"/>
  <p:tag name="TABLE_ENDDRAG_RECT" val="69*166*334*91"/>
</p:tagLst>
</file>

<file path=ppt/tags/tag4.xml><?xml version="1.0" encoding="utf-8"?>
<p:tagLst xmlns:p="http://schemas.openxmlformats.org/presentationml/2006/main">
  <p:tag name="COMMONDATA" val="eyJoZGlkIjoiNDI1NGQ4MDY4NjMxYWVlMzc3ODM2NDE0MmU1ODUxYzYifQ=="/>
  <p:tag name="commondata" val="eyJoZGlkIjoiYzljNzIxOTczNjFkMjA4OGVjZjUyNjZjNDUzODA1Zjc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4121</Words>
  <Application>WPS 演示</Application>
  <PresentationFormat>全屏显示(4:3)</PresentationFormat>
  <Paragraphs>252</Paragraphs>
  <Slides>15</Slides>
  <Notes>51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42" baseType="lpstr">
      <vt:lpstr>Arial</vt:lpstr>
      <vt:lpstr>宋体</vt:lpstr>
      <vt:lpstr>Wingdings</vt:lpstr>
      <vt:lpstr>Arial Black</vt:lpstr>
      <vt:lpstr>Times New Roman</vt:lpstr>
      <vt:lpstr>黑体</vt:lpstr>
      <vt:lpstr>Calibri</vt:lpstr>
      <vt:lpstr>Kaiti SC Regular</vt:lpstr>
      <vt:lpstr>Times New Roman Regular</vt:lpstr>
      <vt:lpstr>楷体_GB2312</vt:lpstr>
      <vt:lpstr>新宋体</vt:lpstr>
      <vt:lpstr>楷体</vt:lpstr>
      <vt:lpstr>微软雅黑</vt:lpstr>
      <vt:lpstr>FrutigerNext LT BlackCn</vt:lpstr>
      <vt:lpstr>Arial Narrow</vt:lpstr>
      <vt:lpstr>MS PGothic</vt:lpstr>
      <vt:lpstr>幼圆</vt:lpstr>
      <vt:lpstr>Arial Unicode MS</vt:lpstr>
      <vt:lpstr>Arial</vt:lpstr>
      <vt:lpstr>Cambria Math</vt:lpstr>
      <vt:lpstr>Wingdings 3</vt:lpstr>
      <vt:lpstr>华文楷体</vt:lpstr>
      <vt:lpstr>Symbol</vt:lpstr>
      <vt:lpstr>Wingdings</vt:lpstr>
      <vt:lpstr>KSOF3FB35F8F</vt:lpstr>
      <vt:lpstr>FFont-Family</vt:lpstr>
      <vt:lpstr>Pixel</vt:lpstr>
      <vt:lpstr>作业讲解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mongo</cp:lastModifiedBy>
  <cp:revision>311</cp:revision>
  <dcterms:created xsi:type="dcterms:W3CDTF">2025-11-15T07:28:00Z</dcterms:created>
  <dcterms:modified xsi:type="dcterms:W3CDTF">2026-10-19T13:46:48Z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CD689DD8B0824A9EA7916B98D39CBB1D_13</vt:lpwstr>
  </property>
</Properties>
</file>