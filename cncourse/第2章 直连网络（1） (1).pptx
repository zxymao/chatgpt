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17.xml" ContentType="application/vnd.openxmlformats-officedocument.presentationml.notesSlide+xml"/>
  <Override PartName="/ppt/tags/tag22.xml" ContentType="application/vnd.openxmlformats-officedocument.presentationml.tags+xml"/>
  <Override PartName="/ppt/notesSlides/notesSlide18.xml" ContentType="application/vnd.openxmlformats-officedocument.presentationml.notesSlide+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 id="2147483685" r:id="rId3"/>
    <p:sldMasterId id="2147483698" r:id="rId4"/>
  </p:sldMasterIdLst>
  <p:notesMasterIdLst>
    <p:notesMasterId r:id="rId42"/>
  </p:notesMasterIdLst>
  <p:sldIdLst>
    <p:sldId id="256" r:id="rId5"/>
    <p:sldId id="296" r:id="rId6"/>
    <p:sldId id="405" r:id="rId7"/>
    <p:sldId id="297" r:id="rId8"/>
    <p:sldId id="258" r:id="rId9"/>
    <p:sldId id="303" r:id="rId10"/>
    <p:sldId id="304" r:id="rId11"/>
    <p:sldId id="305" r:id="rId12"/>
    <p:sldId id="391" r:id="rId13"/>
    <p:sldId id="393" r:id="rId14"/>
    <p:sldId id="394" r:id="rId15"/>
    <p:sldId id="395" r:id="rId16"/>
    <p:sldId id="611" r:id="rId17"/>
    <p:sldId id="399" r:id="rId18"/>
    <p:sldId id="389" r:id="rId19"/>
    <p:sldId id="308" r:id="rId20"/>
    <p:sldId id="327" r:id="rId21"/>
    <p:sldId id="309" r:id="rId22"/>
    <p:sldId id="311" r:id="rId23"/>
    <p:sldId id="312" r:id="rId24"/>
    <p:sldId id="594" r:id="rId25"/>
    <p:sldId id="595" r:id="rId26"/>
    <p:sldId id="596" r:id="rId27"/>
    <p:sldId id="597" r:id="rId28"/>
    <p:sldId id="598" r:id="rId29"/>
    <p:sldId id="599" r:id="rId30"/>
    <p:sldId id="600" r:id="rId31"/>
    <p:sldId id="601" r:id="rId32"/>
    <p:sldId id="602" r:id="rId33"/>
    <p:sldId id="603" r:id="rId34"/>
    <p:sldId id="604" r:id="rId35"/>
    <p:sldId id="605" r:id="rId36"/>
    <p:sldId id="606" r:id="rId37"/>
    <p:sldId id="607" r:id="rId38"/>
    <p:sldId id="608" r:id="rId39"/>
    <p:sldId id="609" r:id="rId40"/>
    <p:sldId id="610" r:id="rId4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950770"/>
    <a:srgbClr val="710555"/>
    <a:srgbClr val="000092"/>
    <a:srgbClr val="F2F2F8"/>
    <a:srgbClr val="CCFFFF"/>
    <a:srgbClr val="FFFF99"/>
    <a:srgbClr val="EFEFFF"/>
    <a:srgbClr val="434365"/>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8" autoAdjust="0"/>
    <p:restoredTop sz="77630" autoAdjust="0"/>
  </p:normalViewPr>
  <p:slideViewPr>
    <p:cSldViewPr snapToGrid="0">
      <p:cViewPr varScale="1">
        <p:scale>
          <a:sx n="59" d="100"/>
          <a:sy n="59" d="100"/>
        </p:scale>
        <p:origin x="1432" y="48"/>
      </p:cViewPr>
      <p:guideLst>
        <p:guide orient="horz" pos="2160"/>
        <p:guide pos="2880"/>
      </p:guideLst>
    </p:cSldViewPr>
  </p:slideViewPr>
  <p:notesTextViewPr>
    <p:cViewPr>
      <p:scale>
        <a:sx n="3" d="2"/>
        <a:sy n="3" d="2"/>
      </p:scale>
      <p:origin x="0" y="0"/>
    </p:cViewPr>
  </p:notesTextViewPr>
  <p:notesViewPr>
    <p:cSldViewPr snapToGrid="0">
      <p:cViewPr varScale="1">
        <p:scale>
          <a:sx n="70" d="100"/>
          <a:sy n="70" d="100"/>
        </p:scale>
        <p:origin x="324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5F783-0C0C-4437-971D-53EACF12D7BE}" type="datetimeFigureOut">
              <a:rPr lang="zh-CN" altLang="en-US" smtClean="0"/>
              <a:pPr/>
              <a:t>2026/9/6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DC233E-39C6-4AB0-A67B-6BD0A5E8E2F9}" type="slidenum">
              <a:rPr lang="zh-CN" altLang="en-US" smtClean="0"/>
              <a:pPr/>
              <a:t>‹#›</a:t>
            </a:fld>
            <a:endParaRPr lang="zh-CN" altLang="en-US"/>
          </a:p>
        </p:txBody>
      </p:sp>
    </p:spTree>
    <p:extLst>
      <p:ext uri="{BB962C8B-B14F-4D97-AF65-F5344CB8AC3E}">
        <p14:creationId xmlns:p14="http://schemas.microsoft.com/office/powerpoint/2010/main" val="2753331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a:t>
            </a:fld>
            <a:endParaRPr lang="zh-CN" altLang="en-US"/>
          </a:p>
        </p:txBody>
      </p:sp>
    </p:spTree>
    <p:extLst>
      <p:ext uri="{BB962C8B-B14F-4D97-AF65-F5344CB8AC3E}">
        <p14:creationId xmlns:p14="http://schemas.microsoft.com/office/powerpoint/2010/main" val="585222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solidFill>
                  <a:prstClr val="black"/>
                </a:solidFill>
              </a:rPr>
              <a:pPr/>
              <a:t>3</a:t>
            </a:fld>
            <a:endParaRPr lang="zh-CN" altLang="en-US">
              <a:solidFill>
                <a:prstClr val="black"/>
              </a:solidFill>
            </a:endParaRPr>
          </a:p>
        </p:txBody>
      </p:sp>
    </p:spTree>
    <p:extLst>
      <p:ext uri="{BB962C8B-B14F-4D97-AF65-F5344CB8AC3E}">
        <p14:creationId xmlns:p14="http://schemas.microsoft.com/office/powerpoint/2010/main" val="257291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5</a:t>
            </a:fld>
            <a:endParaRPr lang="zh-CN" altLang="en-US"/>
          </a:p>
        </p:txBody>
      </p:sp>
    </p:spTree>
    <p:extLst>
      <p:ext uri="{BB962C8B-B14F-4D97-AF65-F5344CB8AC3E}">
        <p14:creationId xmlns:p14="http://schemas.microsoft.com/office/powerpoint/2010/main" val="252317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dirty="0"/>
              <a:t>低通：任何信道带宽都是有限的，信号传输过程中面临失真及干扰，传输速率受限。</a:t>
            </a:r>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8</a:t>
            </a:fld>
            <a:endParaRPr lang="zh-CN" altLang="en-US"/>
          </a:p>
        </p:txBody>
      </p:sp>
    </p:spTree>
    <p:extLst>
      <p:ext uri="{BB962C8B-B14F-4D97-AF65-F5344CB8AC3E}">
        <p14:creationId xmlns:p14="http://schemas.microsoft.com/office/powerpoint/2010/main" val="1707876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rgbClr val="FF0000"/>
                </a:solidFill>
              </a:rPr>
              <a:t> </a:t>
            </a:r>
            <a:r>
              <a:rPr lang="zh-CN" altLang="en-US" sz="1200" dirty="0">
                <a:solidFill>
                  <a:srgbClr val="FF0000"/>
                </a:solidFill>
              </a:rPr>
              <a:t>以同样速率发送码元，相同时间传送的信息量提高了</a:t>
            </a:r>
            <a:r>
              <a:rPr lang="en-US" altLang="zh-CN" sz="1200" dirty="0">
                <a:solidFill>
                  <a:srgbClr val="FF0000"/>
                </a:solidFill>
              </a:rPr>
              <a:t>3</a:t>
            </a:r>
            <a:r>
              <a:rPr lang="zh-CN" altLang="en-US" sz="1200" dirty="0">
                <a:solidFill>
                  <a:srgbClr val="FF0000"/>
                </a:solidFill>
              </a:rPr>
              <a:t>倍</a:t>
            </a:r>
            <a:endParaRPr lang="zh-CN" altLang="en-US" dirty="0"/>
          </a:p>
        </p:txBody>
      </p:sp>
      <p:sp>
        <p:nvSpPr>
          <p:cNvPr id="4" name="灯片编号占位符 3"/>
          <p:cNvSpPr>
            <a:spLocks noGrp="1"/>
          </p:cNvSpPr>
          <p:nvPr>
            <p:ph type="sldNum" sz="quarter" idx="5"/>
          </p:nvPr>
        </p:nvSpPr>
        <p:spPr/>
        <p:txBody>
          <a:bodyPr/>
          <a:lstStyle/>
          <a:p>
            <a:fld id="{3CDC233E-39C6-4AB0-A67B-6BD0A5E8E2F9}" type="slidenum">
              <a:rPr lang="zh-CN" altLang="en-US" smtClean="0"/>
              <a:pPr/>
              <a:t>10</a:t>
            </a:fld>
            <a:endParaRPr lang="zh-CN" altLang="en-US"/>
          </a:p>
        </p:txBody>
      </p:sp>
    </p:spTree>
    <p:extLst>
      <p:ext uri="{BB962C8B-B14F-4D97-AF65-F5344CB8AC3E}">
        <p14:creationId xmlns:p14="http://schemas.microsoft.com/office/powerpoint/2010/main" val="4139961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11</a:t>
            </a:fld>
            <a:endParaRPr lang="zh-CN" altLang="en-US"/>
          </a:p>
        </p:txBody>
      </p:sp>
    </p:spTree>
    <p:extLst>
      <p:ext uri="{BB962C8B-B14F-4D97-AF65-F5344CB8AC3E}">
        <p14:creationId xmlns:p14="http://schemas.microsoft.com/office/powerpoint/2010/main" val="1137428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DC233E-39C6-4AB0-A67B-6BD0A5E8E2F9}" type="slidenum">
              <a:rPr lang="zh-CN" altLang="en-US" smtClean="0"/>
              <a:pPr/>
              <a:t>15</a:t>
            </a:fld>
            <a:endParaRPr lang="zh-CN" altLang="en-US"/>
          </a:p>
        </p:txBody>
      </p:sp>
    </p:spTree>
    <p:extLst>
      <p:ext uri="{BB962C8B-B14F-4D97-AF65-F5344CB8AC3E}">
        <p14:creationId xmlns:p14="http://schemas.microsoft.com/office/powerpoint/2010/main" val="3499824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19</a:t>
            </a:fld>
            <a:endParaRPr lang="zh-CN" altLang="en-US"/>
          </a:p>
        </p:txBody>
      </p:sp>
    </p:spTree>
    <p:extLst>
      <p:ext uri="{BB962C8B-B14F-4D97-AF65-F5344CB8AC3E}">
        <p14:creationId xmlns:p14="http://schemas.microsoft.com/office/powerpoint/2010/main" val="1878414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20</a:t>
            </a:fld>
            <a:endParaRPr lang="zh-CN" altLang="en-US"/>
          </a:p>
        </p:txBody>
      </p:sp>
    </p:spTree>
    <p:extLst>
      <p:ext uri="{BB962C8B-B14F-4D97-AF65-F5344CB8AC3E}">
        <p14:creationId xmlns:p14="http://schemas.microsoft.com/office/powerpoint/2010/main" val="1567458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21</a:t>
            </a:fld>
            <a:endParaRPr lang="zh-CN" altLang="en-US"/>
          </a:p>
        </p:txBody>
      </p:sp>
    </p:spTree>
    <p:extLst>
      <p:ext uri="{BB962C8B-B14F-4D97-AF65-F5344CB8AC3E}">
        <p14:creationId xmlns:p14="http://schemas.microsoft.com/office/powerpoint/2010/main" val="36290777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23</a:t>
            </a:fld>
            <a:endParaRPr lang="zh-CN" altLang="en-US"/>
          </a:p>
        </p:txBody>
      </p:sp>
    </p:spTree>
    <p:extLst>
      <p:ext uri="{BB962C8B-B14F-4D97-AF65-F5344CB8AC3E}">
        <p14:creationId xmlns:p14="http://schemas.microsoft.com/office/powerpoint/2010/main" val="21489322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24</a:t>
            </a:fld>
            <a:endParaRPr lang="zh-CN" altLang="en-US"/>
          </a:p>
        </p:txBody>
      </p:sp>
    </p:spTree>
    <p:extLst>
      <p:ext uri="{BB962C8B-B14F-4D97-AF65-F5344CB8AC3E}">
        <p14:creationId xmlns:p14="http://schemas.microsoft.com/office/powerpoint/2010/main" val="29860095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25</a:t>
            </a:fld>
            <a:endParaRPr lang="zh-CN" altLang="en-US"/>
          </a:p>
        </p:txBody>
      </p:sp>
    </p:spTree>
    <p:extLst>
      <p:ext uri="{BB962C8B-B14F-4D97-AF65-F5344CB8AC3E}">
        <p14:creationId xmlns:p14="http://schemas.microsoft.com/office/powerpoint/2010/main" val="3060275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26</a:t>
            </a:fld>
            <a:endParaRPr lang="zh-CN" altLang="en-US"/>
          </a:p>
        </p:txBody>
      </p:sp>
    </p:spTree>
    <p:extLst>
      <p:ext uri="{BB962C8B-B14F-4D97-AF65-F5344CB8AC3E}">
        <p14:creationId xmlns:p14="http://schemas.microsoft.com/office/powerpoint/2010/main" val="38519219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30</a:t>
            </a:fld>
            <a:endParaRPr lang="zh-CN" altLang="en-US"/>
          </a:p>
        </p:txBody>
      </p:sp>
    </p:spTree>
    <p:extLst>
      <p:ext uri="{BB962C8B-B14F-4D97-AF65-F5344CB8AC3E}">
        <p14:creationId xmlns:p14="http://schemas.microsoft.com/office/powerpoint/2010/main" val="2263904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31</a:t>
            </a:fld>
            <a:endParaRPr lang="zh-CN" altLang="en-US"/>
          </a:p>
        </p:txBody>
      </p:sp>
    </p:spTree>
    <p:extLst>
      <p:ext uri="{BB962C8B-B14F-4D97-AF65-F5344CB8AC3E}">
        <p14:creationId xmlns:p14="http://schemas.microsoft.com/office/powerpoint/2010/main" val="6616374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33</a:t>
            </a:fld>
            <a:endParaRPr lang="zh-CN" altLang="en-US"/>
          </a:p>
        </p:txBody>
      </p:sp>
    </p:spTree>
    <p:extLst>
      <p:ext uri="{BB962C8B-B14F-4D97-AF65-F5344CB8AC3E}">
        <p14:creationId xmlns:p14="http://schemas.microsoft.com/office/powerpoint/2010/main" val="560521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DC233E-39C6-4AB0-A67B-6BD0A5E8E2F9}" type="slidenum">
              <a:rPr lang="zh-CN" altLang="en-US" smtClean="0"/>
              <a:pPr/>
              <a:t>35</a:t>
            </a:fld>
            <a:endParaRPr lang="zh-CN" altLang="en-US"/>
          </a:p>
        </p:txBody>
      </p:sp>
    </p:spTree>
    <p:extLst>
      <p:ext uri="{BB962C8B-B14F-4D97-AF65-F5344CB8AC3E}">
        <p14:creationId xmlns:p14="http://schemas.microsoft.com/office/powerpoint/2010/main" val="41201874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3"/>
          <p:cNvSpPr>
            <a:spLocks noChangeArrowheads="1"/>
          </p:cNvSpPr>
          <p:nvPr/>
        </p:nvSpPr>
        <p:spPr bwMode="hidden">
          <a:xfrm>
            <a:off x="0" y="0"/>
            <a:ext cx="3505200" cy="6858000"/>
          </a:xfrm>
          <a:prstGeom prst="rect">
            <a:avLst/>
          </a:prstGeom>
          <a:gradFill rotWithShape="0">
            <a:gsLst>
              <a:gs pos="0">
                <a:srgbClr val="CCECFF"/>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a:latin typeface="Times New Roman" panose="02020603050405020304" pitchFamily="18" charset="0"/>
            </a:endParaRPr>
          </a:p>
        </p:txBody>
      </p:sp>
      <p:sp>
        <p:nvSpPr>
          <p:cNvPr id="5" name="Rectangle 35"/>
          <p:cNvSpPr>
            <a:spLocks noChangeArrowheads="1"/>
          </p:cNvSpPr>
          <p:nvPr/>
        </p:nvSpPr>
        <p:spPr bwMode="auto">
          <a:xfrm>
            <a:off x="1187453" y="1706566"/>
            <a:ext cx="574675" cy="642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6" name="Rectangle 26"/>
          <p:cNvSpPr>
            <a:spLocks noChangeArrowheads="1"/>
          </p:cNvSpPr>
          <p:nvPr/>
        </p:nvSpPr>
        <p:spPr bwMode="auto">
          <a:xfrm>
            <a:off x="573090" y="3582988"/>
            <a:ext cx="576262" cy="64135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pic>
        <p:nvPicPr>
          <p:cNvPr id="7" name="Picture 21" descr="logo－t-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1" y="1700213"/>
            <a:ext cx="795655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7"/>
          <p:cNvSpPr>
            <a:spLocks noChangeArrowheads="1"/>
          </p:cNvSpPr>
          <p:nvPr/>
        </p:nvSpPr>
        <p:spPr bwMode="auto">
          <a:xfrm>
            <a:off x="1187450" y="1690690"/>
            <a:ext cx="1103313" cy="64293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9" name="Rectangle 28"/>
          <p:cNvSpPr>
            <a:spLocks noChangeArrowheads="1"/>
          </p:cNvSpPr>
          <p:nvPr/>
        </p:nvSpPr>
        <p:spPr bwMode="auto">
          <a:xfrm>
            <a:off x="2281241" y="1066800"/>
            <a:ext cx="585787" cy="6350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 name="Rectangle 29"/>
          <p:cNvSpPr>
            <a:spLocks noChangeArrowheads="1"/>
          </p:cNvSpPr>
          <p:nvPr/>
        </p:nvSpPr>
        <p:spPr bwMode="auto">
          <a:xfrm>
            <a:off x="1141413" y="3582988"/>
            <a:ext cx="584200" cy="641350"/>
          </a:xfrm>
          <a:prstGeom prst="rect">
            <a:avLst/>
          </a:prstGeom>
          <a:solidFill>
            <a:srgbClr val="00196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1" name="Rectangle 30"/>
          <p:cNvSpPr>
            <a:spLocks noChangeArrowheads="1"/>
          </p:cNvSpPr>
          <p:nvPr/>
        </p:nvSpPr>
        <p:spPr bwMode="auto">
          <a:xfrm>
            <a:off x="2281241" y="1690690"/>
            <a:ext cx="585787" cy="64293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2" name="Rectangle 31"/>
          <p:cNvSpPr>
            <a:spLocks noChangeArrowheads="1"/>
          </p:cNvSpPr>
          <p:nvPr/>
        </p:nvSpPr>
        <p:spPr bwMode="auto">
          <a:xfrm>
            <a:off x="1141413" y="2324106"/>
            <a:ext cx="584200" cy="6334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3" name="Rectangle 32"/>
          <p:cNvSpPr>
            <a:spLocks noChangeArrowheads="1"/>
          </p:cNvSpPr>
          <p:nvPr/>
        </p:nvSpPr>
        <p:spPr bwMode="auto">
          <a:xfrm>
            <a:off x="1716091" y="2324106"/>
            <a:ext cx="574675" cy="63341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4" name="Rectangle 34"/>
          <p:cNvSpPr>
            <a:spLocks noChangeArrowheads="1"/>
          </p:cNvSpPr>
          <p:nvPr/>
        </p:nvSpPr>
        <p:spPr bwMode="auto">
          <a:xfrm>
            <a:off x="1141413" y="2947994"/>
            <a:ext cx="584200" cy="6445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pic>
        <p:nvPicPr>
          <p:cNvPr id="15" name="图片 2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128" y="6289675"/>
            <a:ext cx="229076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28"/>
          <p:cNvGrpSpPr>
            <a:grpSpLocks/>
          </p:cNvGrpSpPr>
          <p:nvPr/>
        </p:nvGrpSpPr>
        <p:grpSpPr bwMode="auto">
          <a:xfrm>
            <a:off x="339725" y="6335713"/>
            <a:ext cx="1951038" cy="412750"/>
            <a:chOff x="317485" y="6328079"/>
            <a:chExt cx="1950259" cy="413289"/>
          </a:xfrm>
        </p:grpSpPr>
        <p:grpSp>
          <p:nvGrpSpPr>
            <p:cNvPr id="17" name="Group 19"/>
            <p:cNvGrpSpPr>
              <a:grpSpLocks/>
            </p:cNvGrpSpPr>
            <p:nvPr userDrawn="1"/>
          </p:nvGrpSpPr>
          <p:grpSpPr bwMode="auto">
            <a:xfrm>
              <a:off x="317485" y="6328079"/>
              <a:ext cx="504751" cy="413289"/>
              <a:chOff x="249" y="414"/>
              <a:chExt cx="681" cy="586"/>
            </a:xfrm>
          </p:grpSpPr>
          <p:pic>
            <p:nvPicPr>
              <p:cNvPr id="20" name="Picture 20" descr="logo－b"/>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49" y="436"/>
                <a:ext cx="681"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1" descr="logo"/>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249" y="414"/>
                <a:ext cx="681"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 name="Picture 22" descr="logo－zi"/>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916082" y="6386484"/>
              <a:ext cx="974503" cy="203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3" descr="logo－Y-H-1"/>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935831" y="6616168"/>
              <a:ext cx="1331913" cy="6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651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endParaRPr lang="zh-CN" altLang="en-US" noProof="0" dirty="0"/>
          </a:p>
        </p:txBody>
      </p:sp>
      <p:sp>
        <p:nvSpPr>
          <p:cNvPr id="106515" name="Rectangle 19"/>
          <p:cNvSpPr>
            <a:spLocks noGrp="1" noChangeArrowheads="1"/>
          </p:cNvSpPr>
          <p:nvPr>
            <p:ph type="ctrTitle"/>
          </p:nvPr>
        </p:nvSpPr>
        <p:spPr>
          <a:xfrm>
            <a:off x="1547664" y="2028036"/>
            <a:ext cx="7560840" cy="2010569"/>
          </a:xfrm>
        </p:spPr>
        <p:txBody>
          <a:bodyPr/>
          <a:lstStyle>
            <a:lvl1pPr algn="ctr">
              <a:defRPr sz="4000" b="1">
                <a:solidFill>
                  <a:srgbClr val="FFFF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lvl="0"/>
            <a:r>
              <a:rPr lang="zh-CN" altLang="en-US" noProof="0"/>
              <a:t>单击此处编辑母版标题样式</a:t>
            </a:r>
            <a:endParaRPr lang="zh-CN" altLang="en-US" noProof="0" dirty="0"/>
          </a:p>
        </p:txBody>
      </p:sp>
      <p:sp>
        <p:nvSpPr>
          <p:cNvPr id="23" name="Rectangle 17"/>
          <p:cNvSpPr>
            <a:spLocks noGrp="1" noChangeArrowheads="1"/>
          </p:cNvSpPr>
          <p:nvPr>
            <p:ph type="ftr" sz="quarter" idx="10"/>
          </p:nvPr>
        </p:nvSpPr>
        <p:spPr/>
        <p:txBody>
          <a:bodyPr/>
          <a:lstStyle>
            <a:lvl1pPr>
              <a:defRPr/>
            </a:lvl1pPr>
          </a:lstStyle>
          <a:p>
            <a:endParaRPr lang="zh-CN" altLang="en-US"/>
          </a:p>
        </p:txBody>
      </p:sp>
      <p:sp>
        <p:nvSpPr>
          <p:cNvPr id="24" name="Rectangle 18"/>
          <p:cNvSpPr>
            <a:spLocks noGrp="1" noChangeArrowheads="1"/>
          </p:cNvSpPr>
          <p:nvPr>
            <p:ph type="sldNum" sz="quarter" idx="11"/>
          </p:nvPr>
        </p:nvSpPr>
        <p:spPr/>
        <p:txBody>
          <a:bodyPr/>
          <a:lstStyle>
            <a:lvl1pPr>
              <a:defRPr/>
            </a:lvl1pPr>
          </a:lstStyle>
          <a:p>
            <a:fld id="{1A7A0873-376A-4A4E-91BA-7081C35D808C}" type="slidenum">
              <a:rPr lang="zh-CN" altLang="en-US" smtClean="0"/>
              <a:pPr/>
              <a:t>‹#›</a:t>
            </a:fld>
            <a:endParaRPr lang="zh-CN" altLang="en-US"/>
          </a:p>
        </p:txBody>
      </p:sp>
      <p:sp>
        <p:nvSpPr>
          <p:cNvPr id="25" name="Rectangle 16"/>
          <p:cNvSpPr>
            <a:spLocks noGrp="1" noChangeArrowheads="1"/>
          </p:cNvSpPr>
          <p:nvPr>
            <p:ph type="dt" sz="half" idx="12"/>
          </p:nvPr>
        </p:nvSpPr>
        <p:spPr>
          <a:xfrm>
            <a:off x="457200" y="6248400"/>
            <a:ext cx="2133600" cy="457200"/>
          </a:xfrm>
        </p:spPr>
        <p:txBody>
          <a:bodyPr/>
          <a:lstStyle>
            <a:lvl1pPr>
              <a:defRPr/>
            </a:lvl1pPr>
          </a:lstStyle>
          <a:p>
            <a:fld id="{0A3781D2-0FC0-429B-B9FE-5030B6E54291}" type="datetime1">
              <a:rPr lang="zh-CN" altLang="en-US" smtClean="0"/>
              <a:pPr/>
              <a:t>2026/9/6</a:t>
            </a:fld>
            <a:endParaRPr lang="zh-CN" altLang="en-US"/>
          </a:p>
        </p:txBody>
      </p:sp>
    </p:spTree>
    <p:extLst>
      <p:ext uri="{BB962C8B-B14F-4D97-AF65-F5344CB8AC3E}">
        <p14:creationId xmlns:p14="http://schemas.microsoft.com/office/powerpoint/2010/main" val="2145723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811560"/>
          </a:xfrm>
        </p:spPr>
        <p:txBody>
          <a:bodyPr/>
          <a:lstStyle>
            <a:lvl1pPr>
              <a:defRPr sz="3600" b="1">
                <a:effectLst/>
                <a:latin typeface="黑体" panose="02010609060101010101" pitchFamily="49" charset="-122"/>
                <a:ea typeface="黑体" panose="02010609060101010101" pitchFamily="49" charset="-122"/>
              </a:defRPr>
            </a:lvl1pPr>
          </a:lstStyle>
          <a:p>
            <a:r>
              <a:rPr lang="zh-CN" altLang="en-US"/>
              <a:t>单击此处编辑母版标题样式</a:t>
            </a:r>
          </a:p>
        </p:txBody>
      </p:sp>
      <p:sp>
        <p:nvSpPr>
          <p:cNvPr id="3" name="内容占位符 2"/>
          <p:cNvSpPr>
            <a:spLocks noGrp="1"/>
          </p:cNvSpPr>
          <p:nvPr>
            <p:ph idx="1"/>
          </p:nvPr>
        </p:nvSpPr>
        <p:spPr>
          <a:xfrm>
            <a:off x="457200" y="1444978"/>
            <a:ext cx="8229600" cy="5034843"/>
          </a:xfrm>
        </p:spPr>
        <p:txBody>
          <a:bodyPr/>
          <a:lstStyle>
            <a:lvl1pPr>
              <a:lnSpc>
                <a:spcPct val="150000"/>
              </a:lnSpc>
              <a:defRPr sz="2400" b="0" baseline="0">
                <a:latin typeface="Calibri" panose="020F0502020204030204" pitchFamily="34" charset="0"/>
                <a:ea typeface="黑体" panose="02010609060101010101" pitchFamily="49" charset="-122"/>
              </a:defRPr>
            </a:lvl1pPr>
            <a:lvl2pPr>
              <a:defRPr sz="2000" b="0" baseline="0">
                <a:latin typeface="Calibri" panose="020F0502020204030204" pitchFamily="34" charset="0"/>
                <a:ea typeface="黑体" panose="02010609060101010101" pitchFamily="49" charset="-122"/>
              </a:defRPr>
            </a:lvl2pPr>
            <a:lvl3pPr>
              <a:defRPr sz="1800" b="0" baseline="0">
                <a:latin typeface="Calibri" panose="020F0502020204030204" pitchFamily="34" charset="0"/>
                <a:ea typeface="黑体" panose="02010609060101010101" pitchFamily="49" charset="-122"/>
              </a:defRPr>
            </a:lvl3pPr>
            <a:lvl4pPr>
              <a:defRPr sz="1600" b="0" baseline="0">
                <a:latin typeface="Calibri" panose="020F0502020204030204" pitchFamily="34" charset="0"/>
                <a:ea typeface="黑体" panose="02010609060101010101" pitchFamily="49" charset="-122"/>
              </a:defRPr>
            </a:lvl4pPr>
            <a:lvl5pPr>
              <a:defRPr sz="1600" b="0" baseline="0">
                <a:latin typeface="Calibri" panose="020F0502020204030204" pitchFamily="34" charset="0"/>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2"/>
          <p:cNvSpPr>
            <a:spLocks noGrp="1" noChangeArrowheads="1"/>
          </p:cNvSpPr>
          <p:nvPr>
            <p:ph type="ftr" sz="quarter" idx="10"/>
          </p:nvPr>
        </p:nvSpPr>
        <p:spPr>
          <a:ln/>
        </p:spPr>
        <p:txBody>
          <a:bodyPr/>
          <a:lstStyle>
            <a:lvl1pPr>
              <a:defRPr/>
            </a:lvl1pPr>
          </a:lstStyle>
          <a:p>
            <a:endParaRPr lang="zh-CN" altLang="en-US" dirty="0"/>
          </a:p>
        </p:txBody>
      </p:sp>
      <p:sp>
        <p:nvSpPr>
          <p:cNvPr id="5" name="Rectangle 3"/>
          <p:cNvSpPr>
            <a:spLocks noGrp="1" noChangeArrowheads="1"/>
          </p:cNvSpPr>
          <p:nvPr>
            <p:ph type="sldNum" sz="quarter" idx="11"/>
          </p:nvPr>
        </p:nvSpPr>
        <p:spPr>
          <a:xfrm>
            <a:off x="8827911" y="6705599"/>
            <a:ext cx="208843" cy="152401"/>
          </a:xfrm>
          <a:ln/>
        </p:spPr>
        <p:txBody>
          <a:bodyPr lIns="0" tIns="0" rIns="0" bIns="0"/>
          <a:lstStyle>
            <a:lvl1pPr>
              <a:defRPr baseline="0">
                <a:latin typeface="Calibri" panose="020F0502020204030204" pitchFamily="34" charset="0"/>
              </a:defRPr>
            </a:lvl1pPr>
          </a:lstStyle>
          <a:p>
            <a:fld id="{1A7A0873-376A-4A4E-91BA-7081C35D808C}" type="slidenum">
              <a:rPr lang="zh-CN" altLang="en-US" smtClean="0"/>
              <a:pPr/>
              <a:t>‹#›</a:t>
            </a:fld>
            <a:endParaRPr lang="zh-CN" altLang="en-US" dirty="0"/>
          </a:p>
        </p:txBody>
      </p:sp>
      <p:sp>
        <p:nvSpPr>
          <p:cNvPr id="6" name="Rectangle 16"/>
          <p:cNvSpPr>
            <a:spLocks noGrp="1" noChangeArrowheads="1"/>
          </p:cNvSpPr>
          <p:nvPr>
            <p:ph type="dt" sz="half" idx="12"/>
          </p:nvPr>
        </p:nvSpPr>
        <p:spPr>
          <a:ln/>
        </p:spPr>
        <p:txBody>
          <a:bodyPr/>
          <a:lstStyle>
            <a:lvl1pPr>
              <a:defRPr/>
            </a:lvl1pPr>
          </a:lstStyle>
          <a:p>
            <a:fld id="{3DAE9093-A4E2-4ED4-AAFA-F803B756B8DD}" type="datetime1">
              <a:rPr lang="zh-CN" altLang="en-US" smtClean="0"/>
              <a:pPr/>
              <a:t>2026/9/6</a:t>
            </a:fld>
            <a:endParaRPr lang="zh-CN" altLang="en-US"/>
          </a:p>
        </p:txBody>
      </p:sp>
    </p:spTree>
    <p:extLst>
      <p:ext uri="{BB962C8B-B14F-4D97-AF65-F5344CB8AC3E}">
        <p14:creationId xmlns:p14="http://schemas.microsoft.com/office/powerpoint/2010/main" val="1739401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EED3EE5A-7480-4B4A-838B-B5929882DECF}" type="datetime1">
              <a:rPr lang="zh-CN" altLang="en-US" smtClean="0"/>
              <a:pPr/>
              <a:t>2026/9/6</a:t>
            </a:fld>
            <a:endParaRPr lang="zh-CN" altLang="en-US"/>
          </a:p>
        </p:txBody>
      </p:sp>
    </p:spTree>
    <p:extLst>
      <p:ext uri="{BB962C8B-B14F-4D97-AF65-F5344CB8AC3E}">
        <p14:creationId xmlns:p14="http://schemas.microsoft.com/office/powerpoint/2010/main" val="837621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760C815E-B128-4FAE-9EDE-FEA89F6F958C}" type="datetime1">
              <a:rPr lang="zh-CN" altLang="en-US" smtClean="0"/>
              <a:pPr/>
              <a:t>2026/9/6</a:t>
            </a:fld>
            <a:endParaRPr lang="zh-CN" altLang="en-US"/>
          </a:p>
        </p:txBody>
      </p:sp>
    </p:spTree>
    <p:extLst>
      <p:ext uri="{BB962C8B-B14F-4D97-AF65-F5344CB8AC3E}">
        <p14:creationId xmlns:p14="http://schemas.microsoft.com/office/powerpoint/2010/main" val="3123541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endParaRPr lang="zh-CN" altLang="en-US"/>
          </a:p>
        </p:txBody>
      </p:sp>
      <p:sp>
        <p:nvSpPr>
          <p:cNvPr id="8"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9" name="Rectangle 16"/>
          <p:cNvSpPr>
            <a:spLocks noGrp="1" noChangeArrowheads="1"/>
          </p:cNvSpPr>
          <p:nvPr>
            <p:ph type="dt" sz="half" idx="12"/>
          </p:nvPr>
        </p:nvSpPr>
        <p:spPr>
          <a:ln/>
        </p:spPr>
        <p:txBody>
          <a:bodyPr/>
          <a:lstStyle>
            <a:lvl1pPr>
              <a:defRPr/>
            </a:lvl1pPr>
          </a:lstStyle>
          <a:p>
            <a:fld id="{E86C8468-6983-4678-9AAB-4D2ABEF84341}" type="datetime1">
              <a:rPr lang="zh-CN" altLang="en-US" smtClean="0"/>
              <a:pPr/>
              <a:t>2026/9/6</a:t>
            </a:fld>
            <a:endParaRPr lang="zh-CN" altLang="en-US"/>
          </a:p>
        </p:txBody>
      </p:sp>
    </p:spTree>
    <p:extLst>
      <p:ext uri="{BB962C8B-B14F-4D97-AF65-F5344CB8AC3E}">
        <p14:creationId xmlns:p14="http://schemas.microsoft.com/office/powerpoint/2010/main" val="4011057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endParaRPr lang="zh-CN" altLang="en-US"/>
          </a:p>
        </p:txBody>
      </p:sp>
      <p:sp>
        <p:nvSpPr>
          <p:cNvPr id="4"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5" name="Rectangle 16"/>
          <p:cNvSpPr>
            <a:spLocks noGrp="1" noChangeArrowheads="1"/>
          </p:cNvSpPr>
          <p:nvPr>
            <p:ph type="dt" sz="half" idx="12"/>
          </p:nvPr>
        </p:nvSpPr>
        <p:spPr>
          <a:ln/>
        </p:spPr>
        <p:txBody>
          <a:bodyPr/>
          <a:lstStyle>
            <a:lvl1pPr>
              <a:defRPr/>
            </a:lvl1pPr>
          </a:lstStyle>
          <a:p>
            <a:fld id="{922D5C6D-787B-474F-BCC3-F53F5951B20A}" type="datetime1">
              <a:rPr lang="zh-CN" altLang="en-US" smtClean="0"/>
              <a:pPr/>
              <a:t>2026/9/6</a:t>
            </a:fld>
            <a:endParaRPr lang="zh-CN" altLang="en-US"/>
          </a:p>
        </p:txBody>
      </p:sp>
    </p:spTree>
    <p:extLst>
      <p:ext uri="{BB962C8B-B14F-4D97-AF65-F5344CB8AC3E}">
        <p14:creationId xmlns:p14="http://schemas.microsoft.com/office/powerpoint/2010/main" val="3606879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endParaRPr lang="zh-CN" altLang="en-US"/>
          </a:p>
        </p:txBody>
      </p:sp>
      <p:sp>
        <p:nvSpPr>
          <p:cNvPr id="3"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4" name="Rectangle 16"/>
          <p:cNvSpPr>
            <a:spLocks noGrp="1" noChangeArrowheads="1"/>
          </p:cNvSpPr>
          <p:nvPr>
            <p:ph type="dt" sz="half" idx="12"/>
          </p:nvPr>
        </p:nvSpPr>
        <p:spPr>
          <a:ln/>
        </p:spPr>
        <p:txBody>
          <a:bodyPr/>
          <a:lstStyle>
            <a:lvl1pPr>
              <a:defRPr/>
            </a:lvl1pPr>
          </a:lstStyle>
          <a:p>
            <a:fld id="{E93B29B9-1B90-4121-8663-FE563B07C9D8}" type="datetime1">
              <a:rPr lang="zh-CN" altLang="en-US" smtClean="0"/>
              <a:pPr/>
              <a:t>2026/9/6</a:t>
            </a:fld>
            <a:endParaRPr lang="zh-CN" altLang="en-US"/>
          </a:p>
        </p:txBody>
      </p:sp>
    </p:spTree>
    <p:extLst>
      <p:ext uri="{BB962C8B-B14F-4D97-AF65-F5344CB8AC3E}">
        <p14:creationId xmlns:p14="http://schemas.microsoft.com/office/powerpoint/2010/main" val="2952164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6"/>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04397EA2-195E-4D7E-B5BC-907A7C70C3E2}" type="datetime1">
              <a:rPr lang="zh-CN" altLang="en-US" smtClean="0"/>
              <a:pPr/>
              <a:t>2026/9/6</a:t>
            </a:fld>
            <a:endParaRPr lang="zh-CN" altLang="en-US"/>
          </a:p>
        </p:txBody>
      </p:sp>
    </p:spTree>
    <p:extLst>
      <p:ext uri="{BB962C8B-B14F-4D97-AF65-F5344CB8AC3E}">
        <p14:creationId xmlns:p14="http://schemas.microsoft.com/office/powerpoint/2010/main" val="129709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endParaRPr lang="zh-CN" altLang="en-US"/>
          </a:p>
        </p:txBody>
      </p:sp>
      <p:sp>
        <p:nvSpPr>
          <p:cNvPr id="6"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7" name="Rectangle 16"/>
          <p:cNvSpPr>
            <a:spLocks noGrp="1" noChangeArrowheads="1"/>
          </p:cNvSpPr>
          <p:nvPr>
            <p:ph type="dt" sz="half" idx="12"/>
          </p:nvPr>
        </p:nvSpPr>
        <p:spPr>
          <a:ln/>
        </p:spPr>
        <p:txBody>
          <a:bodyPr/>
          <a:lstStyle>
            <a:lvl1pPr>
              <a:defRPr/>
            </a:lvl1pPr>
          </a:lstStyle>
          <a:p>
            <a:fld id="{0EF8BEF2-D925-49E7-9561-3704E2CF9A2D}" type="datetime1">
              <a:rPr lang="zh-CN" altLang="en-US" smtClean="0"/>
              <a:pPr/>
              <a:t>2026/9/6</a:t>
            </a:fld>
            <a:endParaRPr lang="zh-CN" altLang="en-US"/>
          </a:p>
        </p:txBody>
      </p:sp>
    </p:spTree>
    <p:extLst>
      <p:ext uri="{BB962C8B-B14F-4D97-AF65-F5344CB8AC3E}">
        <p14:creationId xmlns:p14="http://schemas.microsoft.com/office/powerpoint/2010/main" val="279697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EDAEF739-1766-471D-BA9F-A4322C6F8843}" type="datetime1">
              <a:rPr lang="zh-CN" altLang="en-US" smtClean="0"/>
              <a:pPr/>
              <a:t>2026/9/6</a:t>
            </a:fld>
            <a:endParaRPr lang="zh-CN" altLang="en-US"/>
          </a:p>
        </p:txBody>
      </p:sp>
    </p:spTree>
    <p:extLst>
      <p:ext uri="{BB962C8B-B14F-4D97-AF65-F5344CB8AC3E}">
        <p14:creationId xmlns:p14="http://schemas.microsoft.com/office/powerpoint/2010/main" val="2475707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endParaRPr lang="zh-CN" altLang="en-US"/>
          </a:p>
        </p:txBody>
      </p:sp>
      <p:sp>
        <p:nvSpPr>
          <p:cNvPr id="5" name="Rectangle 3"/>
          <p:cNvSpPr>
            <a:spLocks noGrp="1" noChangeArrowheads="1"/>
          </p:cNvSpPr>
          <p:nvPr>
            <p:ph type="sldNum" sz="quarter" idx="11"/>
          </p:nvPr>
        </p:nvSpPr>
        <p:spPr>
          <a:ln/>
        </p:spPr>
        <p:txBody>
          <a:bodyPr/>
          <a:lstStyle>
            <a:lvl1pPr>
              <a:defRPr/>
            </a:lvl1pPr>
          </a:lstStyle>
          <a:p>
            <a:fld id="{1A7A0873-376A-4A4E-91BA-7081C35D808C}" type="slidenum">
              <a:rPr lang="zh-CN" altLang="en-US" smtClean="0"/>
              <a:pPr/>
              <a:t>‹#›</a:t>
            </a:fld>
            <a:endParaRPr lang="zh-CN" altLang="en-US"/>
          </a:p>
        </p:txBody>
      </p:sp>
      <p:sp>
        <p:nvSpPr>
          <p:cNvPr id="6" name="Rectangle 16"/>
          <p:cNvSpPr>
            <a:spLocks noGrp="1" noChangeArrowheads="1"/>
          </p:cNvSpPr>
          <p:nvPr>
            <p:ph type="dt" sz="half" idx="12"/>
          </p:nvPr>
        </p:nvSpPr>
        <p:spPr>
          <a:ln/>
        </p:spPr>
        <p:txBody>
          <a:bodyPr/>
          <a:lstStyle>
            <a:lvl1pPr>
              <a:defRPr/>
            </a:lvl1pPr>
          </a:lstStyle>
          <a:p>
            <a:fld id="{57922407-BCB3-4B2A-B7F9-3492D5F65C0B}" type="datetime1">
              <a:rPr lang="zh-CN" altLang="en-US" smtClean="0"/>
              <a:pPr/>
              <a:t>2026/9/6</a:t>
            </a:fld>
            <a:endParaRPr lang="zh-CN" altLang="en-US"/>
          </a:p>
        </p:txBody>
      </p:sp>
    </p:spTree>
    <p:extLst>
      <p:ext uri="{BB962C8B-B14F-4D97-AF65-F5344CB8AC3E}">
        <p14:creationId xmlns:p14="http://schemas.microsoft.com/office/powerpoint/2010/main" val="42132596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4"/>
            <a:ext cx="6858000" cy="1957267"/>
          </a:xfrm>
        </p:spPr>
        <p:txBody>
          <a:bodyPr anchor="b">
            <a:normAutofit/>
          </a:bodyPr>
          <a:lstStyle>
            <a:lvl1pPr algn="ctr">
              <a:defRPr sz="36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143000" y="3717985"/>
            <a:ext cx="6858000" cy="1539815"/>
          </a:xfrm>
        </p:spPr>
        <p:txBody>
          <a:bodyPr>
            <a:normAutofit/>
          </a:bodyPr>
          <a:lstStyle>
            <a:lvl1pPr marL="0" indent="0" algn="ctr">
              <a:buNone/>
              <a:defRPr sz="21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fld id="{1CED036C-30ED-475C-AF32-13C3C17B8B03}"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30777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151201-E2F4-433C-8650-6712FD08D17C}"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74062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2B3EC36-783B-4B7F-9CA0-04709EFBA722}"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65013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FEAC250-9652-46DA-95BA-C2F9287BD97F}"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82042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DE2372F-15A7-45C4-87DB-D1434446AB2B}"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52452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517A9C2-71DD-4310-BBAB-E4D4958B0EF8}"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4320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3892078-E184-453C-8552-860B07676592}"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63179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327BEB-2C37-43CB-8768-1A49ECD4CEA4}"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143622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8F659AD-F653-4BF1-8B95-DD00660FBC89}"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232651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DA5E879-AB21-456C-9121-AD17927CB7B3}"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483464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C466897-8650-4CA3-9E1A-F1B827F867B2}"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988255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日期占位符 2"/>
          <p:cNvSpPr>
            <a:spLocks noGrp="1"/>
          </p:cNvSpPr>
          <p:nvPr>
            <p:ph type="dt" sz="half" idx="10"/>
          </p:nvPr>
        </p:nvSpPr>
        <p:spPr/>
        <p:txBody>
          <a:bodyPr/>
          <a:lstStyle/>
          <a:p>
            <a:fld id="{60AF5F98-A751-4323-93BF-DB3E7A688F2C}"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Rectangle 8"/>
          <p:cNvSpPr>
            <a:spLocks noGrp="1" noChangeArrowheads="1"/>
          </p:cNvSpPr>
          <p:nvPr>
            <p:ph type="body" idx="1"/>
          </p:nvPr>
        </p:nvSpPr>
        <p:spPr bwMode="auto">
          <a:xfrm>
            <a:off x="524056" y="1595887"/>
            <a:ext cx="8184311"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1963683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4"/>
            <a:ext cx="6858000" cy="1957267"/>
          </a:xfrm>
        </p:spPr>
        <p:txBody>
          <a:bodyPr anchor="b">
            <a:normAutofit/>
          </a:bodyPr>
          <a:lstStyle>
            <a:lvl1pPr algn="ctr">
              <a:defRPr sz="36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143000" y="3717985"/>
            <a:ext cx="6858000" cy="1539815"/>
          </a:xfrm>
        </p:spPr>
        <p:txBody>
          <a:bodyPr>
            <a:normAutofit/>
          </a:bodyPr>
          <a:lstStyle>
            <a:lvl1pPr marL="0" indent="0" algn="ctr">
              <a:buNone/>
              <a:defRPr sz="21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fld id="{1CED036C-30ED-475C-AF32-13C3C17B8B03}"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544100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151201-E2F4-433C-8650-6712FD08D17C}"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662743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2B3EC36-783B-4B7F-9CA0-04709EFBA722}"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923953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FEAC250-9652-46DA-95BA-C2F9287BD97F}"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610649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DE2372F-15A7-45C4-87DB-D1434446AB2B}"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915923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517A9C2-71DD-4310-BBAB-E4D4958B0EF8}"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901224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3892078-E184-453C-8552-860B07676592}"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654012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327BEB-2C37-43CB-8768-1A49ECD4CEA4}"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343475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8F659AD-F653-4BF1-8B95-DD00660FBC89}"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818411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DA5E879-AB21-456C-9121-AD17927CB7B3}"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472611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C466897-8650-4CA3-9E1A-F1B827F867B2}"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328777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日期占位符 2"/>
          <p:cNvSpPr>
            <a:spLocks noGrp="1"/>
          </p:cNvSpPr>
          <p:nvPr>
            <p:ph type="dt" sz="half" idx="10"/>
          </p:nvPr>
        </p:nvSpPr>
        <p:spPr/>
        <p:txBody>
          <a:bodyPr/>
          <a:lstStyle/>
          <a:p>
            <a:fld id="{60AF5F98-A751-4323-93BF-DB3E7A688F2C}"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Rectangle 8"/>
          <p:cNvSpPr>
            <a:spLocks noGrp="1" noChangeArrowheads="1"/>
          </p:cNvSpPr>
          <p:nvPr>
            <p:ph type="body" idx="1"/>
          </p:nvPr>
        </p:nvSpPr>
        <p:spPr bwMode="auto">
          <a:xfrm>
            <a:off x="524056" y="1595887"/>
            <a:ext cx="8184311"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41062413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4"/>
            <a:ext cx="6858000" cy="1957267"/>
          </a:xfrm>
        </p:spPr>
        <p:txBody>
          <a:bodyPr anchor="b">
            <a:normAutofit/>
          </a:bodyPr>
          <a:lstStyle>
            <a:lvl1pPr algn="ctr">
              <a:defRPr sz="36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143000" y="3717985"/>
            <a:ext cx="6858000" cy="1539815"/>
          </a:xfrm>
        </p:spPr>
        <p:txBody>
          <a:bodyPr>
            <a:normAutofit/>
          </a:bodyPr>
          <a:lstStyle>
            <a:lvl1pPr marL="0" indent="0" algn="ctr">
              <a:buNone/>
              <a:defRPr sz="21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fld id="{1CED036C-30ED-475C-AF32-13C3C17B8B03}"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805376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151201-E2F4-433C-8650-6712FD08D17C}"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340881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2B3EC36-783B-4B7F-9CA0-04709EFBA722}"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476054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FEAC250-9652-46DA-95BA-C2F9287BD97F}"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84647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DE2372F-15A7-45C4-87DB-D1434446AB2B}"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791128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517A9C2-71DD-4310-BBAB-E4D4958B0EF8}"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269005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3892078-E184-453C-8552-860B07676592}"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801979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327BEB-2C37-43CB-8768-1A49ECD4CEA4}"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979371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8F659AD-F653-4BF1-8B95-DD00660FBC89}"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94844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DA5E879-AB21-456C-9121-AD17927CB7B3}"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638966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C466897-8650-4CA3-9E1A-F1B827F867B2}"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154178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日期占位符 2"/>
          <p:cNvSpPr>
            <a:spLocks noGrp="1"/>
          </p:cNvSpPr>
          <p:nvPr>
            <p:ph type="dt" sz="half" idx="10"/>
          </p:nvPr>
        </p:nvSpPr>
        <p:spPr/>
        <p:txBody>
          <a:bodyPr/>
          <a:lstStyle/>
          <a:p>
            <a:fld id="{60AF5F98-A751-4323-93BF-DB3E7A688F2C}"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Rectangle 8"/>
          <p:cNvSpPr>
            <a:spLocks noGrp="1" noChangeArrowheads="1"/>
          </p:cNvSpPr>
          <p:nvPr>
            <p:ph type="body" idx="1"/>
          </p:nvPr>
        </p:nvSpPr>
        <p:spPr bwMode="auto">
          <a:xfrm>
            <a:off x="524056" y="1595887"/>
            <a:ext cx="8184311"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3861346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ea typeface="宋体" charset="-122"/>
              </a:defRPr>
            </a:lvl1pPr>
          </a:lstStyle>
          <a:p>
            <a:endParaRPr lang="zh-CN" altLang="en-US"/>
          </a:p>
        </p:txBody>
      </p:sp>
      <p:sp>
        <p:nvSpPr>
          <p:cNvPr id="105475"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fld id="{1A7A0873-376A-4A4E-91BA-7081C35D808C}" type="slidenum">
              <a:rPr lang="zh-CN" altLang="en-US" smtClean="0"/>
              <a:pPr/>
              <a:t>‹#›</a:t>
            </a:fld>
            <a:endParaRPr lang="zh-CN" altLang="en-US"/>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5488"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charset="-122"/>
              </a:defRPr>
            </a:lvl1pPr>
          </a:lstStyle>
          <a:p>
            <a:fld id="{3642891A-AB75-4714-BBBF-90ED55B80069}" type="datetime1">
              <a:rPr lang="zh-CN" altLang="en-US" smtClean="0"/>
              <a:pPr/>
              <a:t>2026/9/6</a:t>
            </a:fld>
            <a:endParaRPr lang="zh-CN" altLang="en-US"/>
          </a:p>
        </p:txBody>
      </p:sp>
    </p:spTree>
    <p:extLst>
      <p:ext uri="{BB962C8B-B14F-4D97-AF65-F5344CB8AC3E}">
        <p14:creationId xmlns:p14="http://schemas.microsoft.com/office/powerpoint/2010/main" val="37897377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Arial" charset="0"/>
          <a:ea typeface="宋体" charset="-122"/>
        </a:defRPr>
      </a:lvl2pPr>
      <a:lvl3pPr algn="l" rtl="0" eaLnBrk="1" fontAlgn="base" hangingPunct="1">
        <a:spcBef>
          <a:spcPct val="0"/>
        </a:spcBef>
        <a:spcAft>
          <a:spcPct val="0"/>
        </a:spcAft>
        <a:defRPr sz="4400">
          <a:solidFill>
            <a:schemeClr val="tx1"/>
          </a:solidFill>
          <a:latin typeface="Arial" charset="0"/>
          <a:ea typeface="宋体" charset="-122"/>
        </a:defRPr>
      </a:lvl3pPr>
      <a:lvl4pPr algn="l" rtl="0" eaLnBrk="1" fontAlgn="base" hangingPunct="1">
        <a:spcBef>
          <a:spcPct val="0"/>
        </a:spcBef>
        <a:spcAft>
          <a:spcPct val="0"/>
        </a:spcAft>
        <a:defRPr sz="4400">
          <a:solidFill>
            <a:schemeClr val="tx1"/>
          </a:solidFill>
          <a:latin typeface="Arial" charset="0"/>
          <a:ea typeface="宋体" charset="-122"/>
        </a:defRPr>
      </a:lvl4pPr>
      <a:lvl5pPr algn="l" rtl="0" eaLnBrk="1" fontAlgn="base" hangingPunct="1">
        <a:spcBef>
          <a:spcPct val="0"/>
        </a:spcBef>
        <a:spcAft>
          <a:spcPct val="0"/>
        </a:spcAft>
        <a:defRPr sz="4400">
          <a:solidFill>
            <a:schemeClr val="tx1"/>
          </a:solidFill>
          <a:latin typeface="Arial" charset="0"/>
          <a:ea typeface="宋体" charset="-122"/>
        </a:defRPr>
      </a:lvl5pPr>
      <a:lvl6pPr marL="457189" algn="l" rtl="0" eaLnBrk="1" fontAlgn="base" hangingPunct="1">
        <a:spcBef>
          <a:spcPct val="0"/>
        </a:spcBef>
        <a:spcAft>
          <a:spcPct val="0"/>
        </a:spcAft>
        <a:defRPr sz="4400">
          <a:solidFill>
            <a:schemeClr val="tx1"/>
          </a:solidFill>
          <a:latin typeface="Arial" charset="0"/>
          <a:ea typeface="宋体" charset="-122"/>
        </a:defRPr>
      </a:lvl6pPr>
      <a:lvl7pPr marL="914377" algn="l" rtl="0" eaLnBrk="1" fontAlgn="base" hangingPunct="1">
        <a:spcBef>
          <a:spcPct val="0"/>
        </a:spcBef>
        <a:spcAft>
          <a:spcPct val="0"/>
        </a:spcAft>
        <a:defRPr sz="4400">
          <a:solidFill>
            <a:schemeClr val="tx1"/>
          </a:solidFill>
          <a:latin typeface="Arial" charset="0"/>
          <a:ea typeface="宋体" charset="-122"/>
        </a:defRPr>
      </a:lvl7pPr>
      <a:lvl8pPr marL="1371566" algn="l" rtl="0" eaLnBrk="1" fontAlgn="base" hangingPunct="1">
        <a:spcBef>
          <a:spcPct val="0"/>
        </a:spcBef>
        <a:spcAft>
          <a:spcPct val="0"/>
        </a:spcAft>
        <a:defRPr sz="4400">
          <a:solidFill>
            <a:schemeClr val="tx1"/>
          </a:solidFill>
          <a:latin typeface="Arial" charset="0"/>
          <a:ea typeface="宋体" charset="-122"/>
        </a:defRPr>
      </a:lvl8pPr>
      <a:lvl9pPr marL="1828754" algn="l" rtl="0" eaLnBrk="1" fontAlgn="base" hangingPunct="1">
        <a:spcBef>
          <a:spcPct val="0"/>
        </a:spcBef>
        <a:spcAft>
          <a:spcPct val="0"/>
        </a:spcAft>
        <a:defRPr sz="4400">
          <a:solidFill>
            <a:schemeClr val="tx1"/>
          </a:solidFill>
          <a:latin typeface="Arial" charset="0"/>
          <a:ea typeface="宋体" charset="-122"/>
        </a:defRPr>
      </a:lvl9pPr>
    </p:titleStyle>
    <p:bodyStyle>
      <a:lvl1pPr marL="342891" indent="-342891" algn="l" rtl="0" eaLnBrk="1" fontAlgn="base" hangingPunct="1">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12724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751163"/>
            <a:ext cx="7886700" cy="442580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baseline="0">
                <a:solidFill>
                  <a:schemeClr val="tx1">
                    <a:tint val="75000"/>
                  </a:schemeClr>
                </a:solidFill>
                <a:latin typeface="Calibri" panose="020F0502020204030204" pitchFamily="34" charset="0"/>
                <a:ea typeface="微软雅黑" panose="020B0503020204020204" pitchFamily="34" charset="-122"/>
              </a:defRPr>
            </a:lvl1pPr>
          </a:lstStyle>
          <a:p>
            <a:fld id="{3A97BF3E-1736-4D84-A356-468CCD4E93B7}"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baseline="0">
                <a:solidFill>
                  <a:schemeClr val="tx1">
                    <a:tint val="75000"/>
                  </a:schemeClr>
                </a:solidFill>
                <a:latin typeface="Calibri" panose="020F0502020204030204" pitchFamily="34" charset="0"/>
                <a:ea typeface="微软雅黑" panose="020B0503020204020204" pitchFamily="34"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baseline="0">
                <a:solidFill>
                  <a:schemeClr val="tx1">
                    <a:tint val="75000"/>
                  </a:schemeClr>
                </a:solidFill>
                <a:latin typeface="Calibri" panose="020F0502020204030204" pitchFamily="34" charset="0"/>
                <a:ea typeface="微软雅黑" panose="020B0503020204020204" pitchFamily="34" charset="-122"/>
              </a:defRPr>
            </a:lvl1p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3119979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p:txStyles>
    <p:titleStyle>
      <a:lvl1pPr algn="l" defTabSz="685800" rtl="0" eaLnBrk="1" latinLnBrk="0" hangingPunct="1">
        <a:lnSpc>
          <a:spcPct val="90000"/>
        </a:lnSpc>
        <a:spcBef>
          <a:spcPct val="0"/>
        </a:spcBef>
        <a:buNone/>
        <a:defRPr sz="3000" kern="1200" baseline="0">
          <a:solidFill>
            <a:schemeClr val="tx1"/>
          </a:solidFill>
          <a:latin typeface="Calibri" panose="020F0502020204030204" pitchFamily="34" charset="0"/>
          <a:ea typeface="微软雅黑" panose="020B0503020204020204" pitchFamily="34" charset="-122"/>
          <a:cs typeface="+mj-cs"/>
        </a:defRPr>
      </a:lvl1pPr>
    </p:titleStyle>
    <p:bodyStyle>
      <a:lvl1pPr marL="171450" indent="-171450" algn="l" defTabSz="685800" rtl="0" eaLnBrk="1" latinLnBrk="0" hangingPunct="1">
        <a:lnSpc>
          <a:spcPct val="114000"/>
        </a:lnSpc>
        <a:spcBef>
          <a:spcPts val="750"/>
        </a:spcBef>
        <a:buFont typeface="Arial" panose="020B0604020202020204" pitchFamily="34" charset="0"/>
        <a:buChar char="•"/>
        <a:defRPr sz="2100" kern="1200" baseline="0">
          <a:solidFill>
            <a:schemeClr val="tx1"/>
          </a:solidFill>
          <a:latin typeface="Calibri" panose="020F0502020204030204" pitchFamily="34" charset="0"/>
          <a:ea typeface="微软雅黑" panose="020B0503020204020204" pitchFamily="34"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1800" kern="1200" baseline="0">
          <a:solidFill>
            <a:schemeClr val="tx1"/>
          </a:solidFill>
          <a:latin typeface="Calibri" panose="020F0502020204030204" pitchFamily="34" charset="0"/>
          <a:ea typeface="微软雅黑" panose="020B0503020204020204" pitchFamily="34"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1500" kern="1200" baseline="0">
          <a:solidFill>
            <a:schemeClr val="tx1"/>
          </a:solidFill>
          <a:latin typeface="Calibri" panose="020F0502020204030204" pitchFamily="34" charset="0"/>
          <a:ea typeface="微软雅黑" panose="020B0503020204020204" pitchFamily="34"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12724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751163"/>
            <a:ext cx="7886700" cy="442580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baseline="0">
                <a:solidFill>
                  <a:schemeClr val="tx1">
                    <a:tint val="75000"/>
                  </a:schemeClr>
                </a:solidFill>
                <a:latin typeface="Calibri" panose="020F0502020204030204" pitchFamily="34" charset="0"/>
                <a:ea typeface="微软雅黑" panose="020B0503020204020204" pitchFamily="34" charset="-122"/>
              </a:defRPr>
            </a:lvl1pPr>
          </a:lstStyle>
          <a:p>
            <a:fld id="{3A97BF3E-1736-4D84-A356-468CCD4E93B7}"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baseline="0">
                <a:solidFill>
                  <a:schemeClr val="tx1">
                    <a:tint val="75000"/>
                  </a:schemeClr>
                </a:solidFill>
                <a:latin typeface="Calibri" panose="020F0502020204030204" pitchFamily="34" charset="0"/>
                <a:ea typeface="微软雅黑" panose="020B0503020204020204" pitchFamily="34"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baseline="0">
                <a:solidFill>
                  <a:schemeClr val="tx1">
                    <a:tint val="75000"/>
                  </a:schemeClr>
                </a:solidFill>
                <a:latin typeface="Calibri" panose="020F0502020204030204" pitchFamily="34" charset="0"/>
                <a:ea typeface="微软雅黑" panose="020B0503020204020204" pitchFamily="34" charset="-122"/>
              </a:defRPr>
            </a:lvl1p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9498309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hdr="0" ftr="0"/>
  <p:txStyles>
    <p:titleStyle>
      <a:lvl1pPr algn="l" defTabSz="685800" rtl="0" eaLnBrk="1" latinLnBrk="0" hangingPunct="1">
        <a:lnSpc>
          <a:spcPct val="90000"/>
        </a:lnSpc>
        <a:spcBef>
          <a:spcPct val="0"/>
        </a:spcBef>
        <a:buNone/>
        <a:defRPr sz="3000" kern="1200" baseline="0">
          <a:solidFill>
            <a:schemeClr val="tx1"/>
          </a:solidFill>
          <a:latin typeface="Calibri" panose="020F0502020204030204" pitchFamily="34" charset="0"/>
          <a:ea typeface="微软雅黑" panose="020B0503020204020204" pitchFamily="34" charset="-122"/>
          <a:cs typeface="+mj-cs"/>
        </a:defRPr>
      </a:lvl1pPr>
    </p:titleStyle>
    <p:bodyStyle>
      <a:lvl1pPr marL="171450" indent="-171450" algn="l" defTabSz="685800" rtl="0" eaLnBrk="1" latinLnBrk="0" hangingPunct="1">
        <a:lnSpc>
          <a:spcPct val="114000"/>
        </a:lnSpc>
        <a:spcBef>
          <a:spcPts val="750"/>
        </a:spcBef>
        <a:buFont typeface="Arial" panose="020B0604020202020204" pitchFamily="34" charset="0"/>
        <a:buChar char="•"/>
        <a:defRPr sz="2100" kern="1200" baseline="0">
          <a:solidFill>
            <a:schemeClr val="tx1"/>
          </a:solidFill>
          <a:latin typeface="Calibri" panose="020F0502020204030204" pitchFamily="34" charset="0"/>
          <a:ea typeface="微软雅黑" panose="020B0503020204020204" pitchFamily="34"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1800" kern="1200" baseline="0">
          <a:solidFill>
            <a:schemeClr val="tx1"/>
          </a:solidFill>
          <a:latin typeface="Calibri" panose="020F0502020204030204" pitchFamily="34" charset="0"/>
          <a:ea typeface="微软雅黑" panose="020B0503020204020204" pitchFamily="34"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1500" kern="1200" baseline="0">
          <a:solidFill>
            <a:schemeClr val="tx1"/>
          </a:solidFill>
          <a:latin typeface="Calibri" panose="020F0502020204030204" pitchFamily="34" charset="0"/>
          <a:ea typeface="微软雅黑" panose="020B0503020204020204" pitchFamily="34"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12724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751163"/>
            <a:ext cx="7886700" cy="442580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baseline="0">
                <a:solidFill>
                  <a:schemeClr val="tx1">
                    <a:tint val="75000"/>
                  </a:schemeClr>
                </a:solidFill>
                <a:latin typeface="Calibri" panose="020F0502020204030204" pitchFamily="34" charset="0"/>
                <a:ea typeface="微软雅黑" panose="020B0503020204020204" pitchFamily="34" charset="-122"/>
              </a:defRPr>
            </a:lvl1pPr>
          </a:lstStyle>
          <a:p>
            <a:fld id="{3A97BF3E-1736-4D84-A356-468CCD4E93B7}" type="datetime1">
              <a:rPr lang="zh-CN" altLang="en-US" smtClean="0">
                <a:solidFill>
                  <a:prstClr val="black">
                    <a:tint val="75000"/>
                  </a:prstClr>
                </a:solidFill>
              </a:rPr>
              <a:pPr/>
              <a:t>2026/9/6</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baseline="0">
                <a:solidFill>
                  <a:schemeClr val="tx1">
                    <a:tint val="75000"/>
                  </a:schemeClr>
                </a:solidFill>
                <a:latin typeface="Calibri" panose="020F0502020204030204" pitchFamily="34" charset="0"/>
                <a:ea typeface="微软雅黑" panose="020B0503020204020204" pitchFamily="34"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baseline="0">
                <a:solidFill>
                  <a:schemeClr val="tx1">
                    <a:tint val="75000"/>
                  </a:schemeClr>
                </a:solidFill>
                <a:latin typeface="Calibri" panose="020F0502020204030204" pitchFamily="34" charset="0"/>
                <a:ea typeface="微软雅黑" panose="020B0503020204020204" pitchFamily="34" charset="-122"/>
              </a:defRPr>
            </a:lvl1pPr>
          </a:lstStyle>
          <a:p>
            <a:fld id="{27BA39ED-B879-431C-8E9E-24EA4B8C491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63482673"/>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hf hdr="0" ftr="0"/>
  <p:txStyles>
    <p:titleStyle>
      <a:lvl1pPr algn="l" defTabSz="685800" rtl="0" eaLnBrk="1" latinLnBrk="0" hangingPunct="1">
        <a:lnSpc>
          <a:spcPct val="90000"/>
        </a:lnSpc>
        <a:spcBef>
          <a:spcPct val="0"/>
        </a:spcBef>
        <a:buNone/>
        <a:defRPr sz="3000" kern="1200" baseline="0">
          <a:solidFill>
            <a:schemeClr val="tx1"/>
          </a:solidFill>
          <a:latin typeface="Calibri" panose="020F0502020204030204" pitchFamily="34" charset="0"/>
          <a:ea typeface="微软雅黑" panose="020B0503020204020204" pitchFamily="34" charset="-122"/>
          <a:cs typeface="+mj-cs"/>
        </a:defRPr>
      </a:lvl1pPr>
    </p:titleStyle>
    <p:bodyStyle>
      <a:lvl1pPr marL="171450" indent="-171450" algn="l" defTabSz="685800" rtl="0" eaLnBrk="1" latinLnBrk="0" hangingPunct="1">
        <a:lnSpc>
          <a:spcPct val="114000"/>
        </a:lnSpc>
        <a:spcBef>
          <a:spcPts val="750"/>
        </a:spcBef>
        <a:buFont typeface="Arial" panose="020B0604020202020204" pitchFamily="34" charset="0"/>
        <a:buChar char="•"/>
        <a:defRPr sz="2100" kern="1200" baseline="0">
          <a:solidFill>
            <a:schemeClr val="tx1"/>
          </a:solidFill>
          <a:latin typeface="Calibri" panose="020F0502020204030204" pitchFamily="34" charset="0"/>
          <a:ea typeface="微软雅黑" panose="020B0503020204020204" pitchFamily="34"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1800" kern="1200" baseline="0">
          <a:solidFill>
            <a:schemeClr val="tx1"/>
          </a:solidFill>
          <a:latin typeface="Calibri" panose="020F0502020204030204" pitchFamily="34" charset="0"/>
          <a:ea typeface="微软雅黑" panose="020B0503020204020204" pitchFamily="34"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1500" kern="1200" baseline="0">
          <a:solidFill>
            <a:schemeClr val="tx1"/>
          </a:solidFill>
          <a:latin typeface="Calibri" panose="020F0502020204030204" pitchFamily="34" charset="0"/>
          <a:ea typeface="微软雅黑" panose="020B0503020204020204" pitchFamily="34"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image" Target="../media/image7.wmf"/><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5.xml"/><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vmlDrawing" Target="../drawings/vmlDrawing1.vml"/><Relationship Id="rId5" Type="http://schemas.openxmlformats.org/officeDocument/2006/relationships/image" Target="../media/image19.emf"/><Relationship Id="rId4" Type="http://schemas.openxmlformats.org/officeDocument/2006/relationships/package" Target="../embeddings/Microsoft_Visio_Drawing.vsdx"/></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220.png"/><Relationship Id="rId4" Type="http://schemas.openxmlformats.org/officeDocument/2006/relationships/image" Target="../media/image2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第二章 直连网络</a:t>
            </a:r>
            <a:r>
              <a:rPr lang="en-US" altLang="zh-CN" dirty="0"/>
              <a:t>(1)   </a:t>
            </a:r>
            <a:endParaRPr lang="zh-CN" altLang="en-US" dirty="0"/>
          </a:p>
        </p:txBody>
      </p:sp>
    </p:spTree>
    <p:extLst>
      <p:ext uri="{BB962C8B-B14F-4D97-AF65-F5344CB8AC3E}">
        <p14:creationId xmlns:p14="http://schemas.microsoft.com/office/powerpoint/2010/main" val="4113500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回顾网络构成</a:t>
            </a:r>
          </a:p>
        </p:txBody>
      </p:sp>
      <p:sp>
        <p:nvSpPr>
          <p:cNvPr id="3" name="内容占位符 2"/>
          <p:cNvSpPr>
            <a:spLocks noGrp="1"/>
          </p:cNvSpPr>
          <p:nvPr>
            <p:ph idx="1"/>
          </p:nvPr>
        </p:nvSpPr>
        <p:spPr>
          <a:xfrm>
            <a:off x="457200" y="1444979"/>
            <a:ext cx="8229600" cy="994402"/>
          </a:xfrm>
        </p:spPr>
        <p:txBody>
          <a:bodyPr/>
          <a:lstStyle/>
          <a:p>
            <a:r>
              <a:rPr lang="zh-CN" altLang="en-US" dirty="0"/>
              <a:t>网络是由结点及相互连接的链路组成</a:t>
            </a:r>
            <a:endParaRPr lang="en-US" altLang="zh-CN" dirty="0"/>
          </a:p>
          <a:p>
            <a:pPr lvl="1"/>
            <a:r>
              <a:rPr lang="zh-CN" altLang="en-US" dirty="0"/>
              <a:t>直连的网络</a:t>
            </a:r>
            <a:r>
              <a:rPr lang="en-US" altLang="zh-CN" dirty="0"/>
              <a:t>(</a:t>
            </a:r>
            <a:r>
              <a:rPr lang="zh-CN" altLang="en-US" dirty="0"/>
              <a:t>直连链路</a:t>
            </a:r>
            <a:r>
              <a:rPr lang="en-US" altLang="zh-CN" dirty="0"/>
              <a:t>)</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a:t>
            </a:fld>
            <a:endParaRPr lang="zh-CN" altLang="en-US" dirty="0"/>
          </a:p>
        </p:txBody>
      </p:sp>
      <p:grpSp>
        <p:nvGrpSpPr>
          <p:cNvPr id="74" name="组合 73"/>
          <p:cNvGrpSpPr/>
          <p:nvPr/>
        </p:nvGrpSpPr>
        <p:grpSpPr>
          <a:xfrm>
            <a:off x="1158240" y="2548128"/>
            <a:ext cx="7736852" cy="903024"/>
            <a:chOff x="1158240" y="2548128"/>
            <a:chExt cx="7736852" cy="903024"/>
          </a:xfrm>
        </p:grpSpPr>
        <p:sp>
          <p:nvSpPr>
            <p:cNvPr id="21" name="圆角矩形 20"/>
            <p:cNvSpPr/>
            <p:nvPr/>
          </p:nvSpPr>
          <p:spPr>
            <a:xfrm>
              <a:off x="1158240" y="2548128"/>
              <a:ext cx="7736852" cy="854467"/>
            </a:xfrm>
            <a:prstGeom prst="roundRect">
              <a:avLst>
                <a:gd name="adj" fmla="val 1407"/>
              </a:avLst>
            </a:prstGeom>
            <a:solidFill>
              <a:srgbClr val="EBEBF5"/>
            </a:solidFill>
            <a:ln>
              <a:solidFill>
                <a:srgbClr val="EFEF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 name="Text Box 48"/>
            <p:cNvSpPr txBox="1">
              <a:spLocks noChangeArrowheads="1"/>
            </p:cNvSpPr>
            <p:nvPr/>
          </p:nvSpPr>
          <p:spPr bwMode="auto">
            <a:xfrm>
              <a:off x="2319967" y="3094818"/>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dirty="0">
                  <a:latin typeface="Times New Roman" panose="02020603050405020304" pitchFamily="18" charset="0"/>
                  <a:ea typeface="黑体" panose="02010609060101010101" pitchFamily="49" charset="-122"/>
                </a:rPr>
                <a:t>点对点</a:t>
              </a:r>
              <a:endParaRPr kumimoji="1" lang="zh-CN" altLang="en-US" sz="1400" dirty="0">
                <a:ea typeface="黑体" panose="02010609060101010101" pitchFamily="49" charset="-122"/>
              </a:endParaRPr>
            </a:p>
          </p:txBody>
        </p:sp>
        <p:grpSp>
          <p:nvGrpSpPr>
            <p:cNvPr id="6" name="组合 5"/>
            <p:cNvGrpSpPr/>
            <p:nvPr/>
          </p:nvGrpSpPr>
          <p:grpSpPr>
            <a:xfrm>
              <a:off x="1274064" y="2750376"/>
              <a:ext cx="3237386" cy="379975"/>
              <a:chOff x="993648" y="3091752"/>
              <a:chExt cx="3237386" cy="379975"/>
            </a:xfrm>
          </p:grpSpPr>
          <p:sp>
            <p:nvSpPr>
              <p:cNvPr id="7" name="圆角矩形 6"/>
              <p:cNvSpPr/>
              <p:nvPr/>
            </p:nvSpPr>
            <p:spPr>
              <a:xfrm>
                <a:off x="1450848" y="3307081"/>
                <a:ext cx="2304288" cy="45719"/>
              </a:xfrm>
              <a:prstGeom prst="roundRect">
                <a:avLst/>
              </a:prstGeom>
              <a:solidFill>
                <a:schemeClr val="bg1">
                  <a:lumMod val="75000"/>
                </a:schemeClr>
              </a:solidFill>
              <a:ln w="158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3648" y="3091752"/>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5136" y="3095027"/>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9"/>
            <p:cNvGrpSpPr/>
            <p:nvPr/>
          </p:nvGrpSpPr>
          <p:grpSpPr>
            <a:xfrm>
              <a:off x="5132830" y="2592678"/>
              <a:ext cx="3108961" cy="587909"/>
              <a:chOff x="4901182" y="3031590"/>
              <a:chExt cx="3108961" cy="587909"/>
            </a:xfrm>
          </p:grpSpPr>
          <p:sp>
            <p:nvSpPr>
              <p:cNvPr id="11" name="圆角矩形 10"/>
              <p:cNvSpPr/>
              <p:nvPr/>
            </p:nvSpPr>
            <p:spPr>
              <a:xfrm>
                <a:off x="4901182" y="3573780"/>
                <a:ext cx="3108961" cy="45719"/>
              </a:xfrm>
              <a:prstGeom prst="roundRect">
                <a:avLst/>
              </a:prstGeom>
              <a:solidFill>
                <a:schemeClr val="bg1">
                  <a:lumMod val="75000"/>
                </a:schemeClr>
              </a:solidFill>
              <a:ln w="158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5365383" y="3385430"/>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3"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4693" y="3031590"/>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p:nvPr/>
            </p:nvCxnSpPr>
            <p:spPr>
              <a:xfrm>
                <a:off x="6054231" y="3391526"/>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3541" y="3037686"/>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直接连接符 15"/>
              <p:cNvCxnSpPr/>
              <p:nvPr/>
            </p:nvCxnSpPr>
            <p:spPr>
              <a:xfrm>
                <a:off x="6846711" y="3391526"/>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7"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6021" y="3037686"/>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连接符 17"/>
              <p:cNvCxnSpPr/>
              <p:nvPr/>
            </p:nvCxnSpPr>
            <p:spPr>
              <a:xfrm>
                <a:off x="7474599" y="3397622"/>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9"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3909" y="3043782"/>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Text Box 48"/>
            <p:cNvSpPr txBox="1">
              <a:spLocks noChangeArrowheads="1"/>
            </p:cNvSpPr>
            <p:nvPr/>
          </p:nvSpPr>
          <p:spPr bwMode="auto">
            <a:xfrm>
              <a:off x="6063270" y="3143375"/>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dirty="0">
                  <a:ea typeface="黑体" panose="02010609060101010101" pitchFamily="49" charset="-122"/>
                </a:rPr>
                <a:t>多路访问</a:t>
              </a:r>
            </a:p>
          </p:txBody>
        </p:sp>
      </p:grpSp>
      <p:sp>
        <p:nvSpPr>
          <p:cNvPr id="22" name="内容占位符 2"/>
          <p:cNvSpPr txBox="1">
            <a:spLocks/>
          </p:cNvSpPr>
          <p:nvPr/>
        </p:nvSpPr>
        <p:spPr bwMode="auto">
          <a:xfrm>
            <a:off x="463296" y="3584675"/>
            <a:ext cx="2206752" cy="44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lvl="1"/>
            <a:r>
              <a:rPr lang="zh-CN" altLang="en-US" kern="0" dirty="0"/>
              <a:t>交换网络</a:t>
            </a:r>
          </a:p>
        </p:txBody>
      </p:sp>
      <p:grpSp>
        <p:nvGrpSpPr>
          <p:cNvPr id="76" name="组合 75"/>
          <p:cNvGrpSpPr/>
          <p:nvPr/>
        </p:nvGrpSpPr>
        <p:grpSpPr>
          <a:xfrm>
            <a:off x="5256174" y="3957529"/>
            <a:ext cx="3644889" cy="2151559"/>
            <a:chOff x="5256174" y="3957529"/>
            <a:chExt cx="3644889" cy="2151559"/>
          </a:xfrm>
        </p:grpSpPr>
        <p:sp>
          <p:nvSpPr>
            <p:cNvPr id="23" name="圆角矩形 22"/>
            <p:cNvSpPr/>
            <p:nvPr/>
          </p:nvSpPr>
          <p:spPr>
            <a:xfrm>
              <a:off x="5256174" y="3957529"/>
              <a:ext cx="3644889" cy="2151559"/>
            </a:xfrm>
            <a:prstGeom prst="roundRect">
              <a:avLst>
                <a:gd name="adj" fmla="val 1407"/>
              </a:avLst>
            </a:prstGeom>
            <a:solidFill>
              <a:srgbClr val="EBEBF5"/>
            </a:solidFill>
            <a:ln>
              <a:solidFill>
                <a:srgbClr val="EFEF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25" name="组合 24"/>
            <p:cNvGrpSpPr/>
            <p:nvPr/>
          </p:nvGrpSpPr>
          <p:grpSpPr>
            <a:xfrm>
              <a:off x="5308615" y="4163622"/>
              <a:ext cx="3586477" cy="1895889"/>
              <a:chOff x="5320456" y="4287984"/>
              <a:chExt cx="3586477" cy="1895889"/>
            </a:xfrm>
          </p:grpSpPr>
          <p:pic>
            <p:nvPicPr>
              <p:cNvPr id="26"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20456" y="4287984"/>
                <a:ext cx="3586477" cy="1895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7" name="直接连接符 26"/>
              <p:cNvCxnSpPr>
                <a:stCxn id="41" idx="2"/>
              </p:cNvCxnSpPr>
              <p:nvPr/>
            </p:nvCxnSpPr>
            <p:spPr>
              <a:xfrm flipH="1" flipV="1">
                <a:off x="6197941" y="4878906"/>
                <a:ext cx="663884" cy="133048"/>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47" idx="0"/>
              </p:cNvCxnSpPr>
              <p:nvPr/>
            </p:nvCxnSpPr>
            <p:spPr>
              <a:xfrm flipH="1">
                <a:off x="5917762" y="5251901"/>
                <a:ext cx="665021" cy="99542"/>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41" idx="2"/>
              </p:cNvCxnSpPr>
              <p:nvPr/>
            </p:nvCxnSpPr>
            <p:spPr>
              <a:xfrm flipH="1">
                <a:off x="6564077" y="5011954"/>
                <a:ext cx="297748" cy="332558"/>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43" idx="3"/>
              </p:cNvCxnSpPr>
              <p:nvPr/>
            </p:nvCxnSpPr>
            <p:spPr>
              <a:xfrm flipH="1">
                <a:off x="6969920" y="5659232"/>
                <a:ext cx="981114" cy="20235"/>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flipV="1">
                <a:off x="6974366" y="4861581"/>
                <a:ext cx="663884" cy="133048"/>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6796891" y="4546348"/>
                <a:ext cx="545534" cy="304393"/>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7666560" y="4994629"/>
                <a:ext cx="490108" cy="43837"/>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7762455" y="5591604"/>
                <a:ext cx="624530" cy="9304"/>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7215909" y="5081086"/>
                <a:ext cx="474163" cy="197423"/>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6"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46038" y="4649921"/>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51940" y="5175720"/>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04689" y="4334924"/>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55035" y="4719907"/>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82712" y="5336833"/>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12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03210" y="4791459"/>
                <a:ext cx="317230" cy="2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2" name="Picture 12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85892" y="4941677"/>
                <a:ext cx="295825" cy="193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3" name="Picture 12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33804" y="5548984"/>
                <a:ext cx="317230" cy="2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cxnSp>
            <p:nvCxnSpPr>
              <p:cNvPr id="44" name="直接连接符 43"/>
              <p:cNvCxnSpPr>
                <a:stCxn id="43" idx="0"/>
              </p:cNvCxnSpPr>
              <p:nvPr/>
            </p:nvCxnSpPr>
            <p:spPr>
              <a:xfrm flipH="1" flipV="1">
                <a:off x="7575993" y="5048009"/>
                <a:ext cx="216426" cy="500975"/>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6529883" y="5329925"/>
                <a:ext cx="686026" cy="6414"/>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48" idx="3"/>
              </p:cNvCxnSpPr>
              <p:nvPr/>
            </p:nvCxnSpPr>
            <p:spPr>
              <a:xfrm flipH="1" flipV="1">
                <a:off x="6452323" y="5375965"/>
                <a:ext cx="634525" cy="283267"/>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7" name="Picture 12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24168" y="5251901"/>
                <a:ext cx="317230" cy="2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 name="Picture 12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69618" y="5548984"/>
                <a:ext cx="317230" cy="2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9"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39888" y="5041800"/>
                <a:ext cx="571304" cy="45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75" name="组合 74"/>
          <p:cNvGrpSpPr/>
          <p:nvPr/>
        </p:nvGrpSpPr>
        <p:grpSpPr>
          <a:xfrm>
            <a:off x="1129065" y="3957530"/>
            <a:ext cx="3708767" cy="2151558"/>
            <a:chOff x="1129065" y="3957530"/>
            <a:chExt cx="3708767" cy="2151558"/>
          </a:xfrm>
        </p:grpSpPr>
        <p:sp>
          <p:nvSpPr>
            <p:cNvPr id="24" name="圆角矩形 23"/>
            <p:cNvSpPr/>
            <p:nvPr/>
          </p:nvSpPr>
          <p:spPr>
            <a:xfrm>
              <a:off x="1129065" y="3957530"/>
              <a:ext cx="3708767" cy="2151558"/>
            </a:xfrm>
            <a:prstGeom prst="roundRect">
              <a:avLst>
                <a:gd name="adj" fmla="val 1407"/>
              </a:avLst>
            </a:prstGeom>
            <a:solidFill>
              <a:srgbClr val="EBEBF5"/>
            </a:solidFill>
            <a:ln>
              <a:solidFill>
                <a:srgbClr val="EFEF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50" name="组合 49"/>
            <p:cNvGrpSpPr/>
            <p:nvPr/>
          </p:nvGrpSpPr>
          <p:grpSpPr>
            <a:xfrm>
              <a:off x="1129066" y="4225256"/>
              <a:ext cx="3641091" cy="1601585"/>
              <a:chOff x="837217" y="4368694"/>
              <a:chExt cx="3641091" cy="1715186"/>
            </a:xfrm>
          </p:grpSpPr>
          <p:pic>
            <p:nvPicPr>
              <p:cNvPr id="51"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14354" y="4624978"/>
                <a:ext cx="2571975" cy="1128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2" name="直接连接符 51"/>
              <p:cNvCxnSpPr>
                <a:endCxn id="68" idx="1"/>
              </p:cNvCxnSpPr>
              <p:nvPr/>
            </p:nvCxnSpPr>
            <p:spPr>
              <a:xfrm>
                <a:off x="1096171" y="4937160"/>
                <a:ext cx="549707" cy="306731"/>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1817879" y="4818631"/>
                <a:ext cx="862394" cy="42526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flipV="1">
                <a:off x="2963472" y="5574013"/>
                <a:ext cx="494881" cy="204191"/>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5122" y="4766342"/>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6" name="直接连接符 55"/>
              <p:cNvCxnSpPr/>
              <p:nvPr/>
            </p:nvCxnSpPr>
            <p:spPr>
              <a:xfrm flipV="1">
                <a:off x="1177279" y="5291224"/>
                <a:ext cx="490732" cy="174816"/>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7"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5471" y="5031208"/>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8" name="直接连接符 57"/>
              <p:cNvCxnSpPr/>
              <p:nvPr/>
            </p:nvCxnSpPr>
            <p:spPr>
              <a:xfrm flipH="1" flipV="1">
                <a:off x="1905086" y="5277097"/>
                <a:ext cx="1033314" cy="304106"/>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2726436" y="5042877"/>
                <a:ext cx="731917" cy="214783"/>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65" idx="2"/>
              </p:cNvCxnSpPr>
              <p:nvPr/>
            </p:nvCxnSpPr>
            <p:spPr>
              <a:xfrm flipH="1">
                <a:off x="2757074" y="4743697"/>
                <a:ext cx="846700" cy="185818"/>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394365" y="4836662"/>
                <a:ext cx="797210" cy="237912"/>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flipV="1">
                <a:off x="3437110" y="5085441"/>
                <a:ext cx="635506" cy="259071"/>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3"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02410" y="4632728"/>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8941" y="5707180"/>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2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77996" y="4368694"/>
                <a:ext cx="451556" cy="37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2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7217" y="5308324"/>
                <a:ext cx="451556" cy="37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7" name="直接连接符 66"/>
              <p:cNvCxnSpPr/>
              <p:nvPr/>
            </p:nvCxnSpPr>
            <p:spPr>
              <a:xfrm flipH="1">
                <a:off x="1827994" y="5243054"/>
                <a:ext cx="868120" cy="8847"/>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8" name="Picture 129" descr="抽象图标21黄"/>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45878" y="5111817"/>
                <a:ext cx="385762" cy="264148"/>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129" descr="抽象图标21黄"/>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503233" y="4682568"/>
                <a:ext cx="385762" cy="272124"/>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129" descr="抽象图标21黄"/>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769003" y="5424968"/>
                <a:ext cx="385762" cy="283267"/>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129" descr="抽象图标21黄"/>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194519" y="4861581"/>
                <a:ext cx="385762" cy="281461"/>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129" descr="抽象图标21黄"/>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470939" y="5121799"/>
                <a:ext cx="385762" cy="23320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73" name="内容占位符 2"/>
          <p:cNvSpPr txBox="1">
            <a:spLocks/>
          </p:cNvSpPr>
          <p:nvPr/>
        </p:nvSpPr>
        <p:spPr bwMode="auto">
          <a:xfrm>
            <a:off x="4709640" y="3602080"/>
            <a:ext cx="2206752" cy="44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lvl="1"/>
            <a:r>
              <a:rPr lang="zh-CN" altLang="en-US" kern="0" dirty="0"/>
              <a:t>互联网</a:t>
            </a:r>
          </a:p>
        </p:txBody>
      </p:sp>
    </p:spTree>
    <p:custDataLst>
      <p:tags r:id="rId1"/>
    </p:custDataLst>
    <p:extLst>
      <p:ext uri="{BB962C8B-B14F-4D97-AF65-F5344CB8AC3E}">
        <p14:creationId xmlns:p14="http://schemas.microsoft.com/office/powerpoint/2010/main" val="1180390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74"/>
                                        </p:tgtEl>
                                        <p:attrNameLst>
                                          <p:attrName>style.visibility</p:attrName>
                                        </p:attrNameLst>
                                      </p:cBhvr>
                                      <p:to>
                                        <p:strVal val="visible"/>
                                      </p:to>
                                    </p:set>
                                    <p:animEffect transition="in" filter="wipe(down)">
                                      <p:cBhvr>
                                        <p:cTn id="16" dur="500"/>
                                        <p:tgtEl>
                                          <p:spTgt spid="7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1"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par>
                          <p:cTn id="22" fill="hold">
                            <p:stCondLst>
                              <p:cond delay="500"/>
                            </p:stCondLst>
                            <p:childTnLst>
                              <p:par>
                                <p:cTn id="23" presetID="22" presetClass="entr" presetSubtype="4" fill="hold" nodeType="after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wipe(down)">
                                      <p:cBhvr>
                                        <p:cTn id="25" dur="500"/>
                                        <p:tgtEl>
                                          <p:spTgt spid="7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1" nodeType="clickEffect">
                                  <p:stCondLst>
                                    <p:cond delay="0"/>
                                  </p:stCondLst>
                                  <p:childTnLst>
                                    <p:set>
                                      <p:cBhvr>
                                        <p:cTn id="29" dur="1" fill="hold">
                                          <p:stCondLst>
                                            <p:cond delay="0"/>
                                          </p:stCondLst>
                                        </p:cTn>
                                        <p:tgtEl>
                                          <p:spTgt spid="73"/>
                                        </p:tgtEl>
                                        <p:attrNameLst>
                                          <p:attrName>style.visibility</p:attrName>
                                        </p:attrNameLst>
                                      </p:cBhvr>
                                      <p:to>
                                        <p:strVal val="visible"/>
                                      </p:to>
                                    </p:set>
                                    <p:animEffect transition="in" filter="dissolve">
                                      <p:cBhvr>
                                        <p:cTn id="30" dur="500"/>
                                        <p:tgtEl>
                                          <p:spTgt spid="73"/>
                                        </p:tgtEl>
                                      </p:cBhvr>
                                    </p:animEffect>
                                  </p:childTnLst>
                                </p:cTn>
                              </p:par>
                            </p:childTnLst>
                          </p:cTn>
                        </p:par>
                        <p:par>
                          <p:cTn id="31" fill="hold">
                            <p:stCondLst>
                              <p:cond delay="500"/>
                            </p:stCondLst>
                            <p:childTnLst>
                              <p:par>
                                <p:cTn id="32" presetID="22" presetClass="entr" presetSubtype="4" fill="hold" nodeType="afterEffect">
                                  <p:stCondLst>
                                    <p:cond delay="0"/>
                                  </p:stCondLst>
                                  <p:childTnLst>
                                    <p:set>
                                      <p:cBhvr>
                                        <p:cTn id="33" dur="1" fill="hold">
                                          <p:stCondLst>
                                            <p:cond delay="0"/>
                                          </p:stCondLst>
                                        </p:cTn>
                                        <p:tgtEl>
                                          <p:spTgt spid="76"/>
                                        </p:tgtEl>
                                        <p:attrNameLst>
                                          <p:attrName>style.visibility</p:attrName>
                                        </p:attrNameLst>
                                      </p:cBhvr>
                                      <p:to>
                                        <p:strVal val="visible"/>
                                      </p:to>
                                    </p:set>
                                    <p:animEffect transition="in" filter="wipe(down)">
                                      <p:cBhvr>
                                        <p:cTn id="34" dur="500"/>
                                        <p:tgtEl>
                                          <p:spTgt spid="76"/>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mph" presetSubtype="0" fill="hold" nodeType="clickEffect">
                                  <p:stCondLst>
                                    <p:cond delay="0"/>
                                  </p:stCondLst>
                                  <p:childTnLst>
                                    <p:set>
                                      <p:cBhvr override="childStyle">
                                        <p:cTn id="38" dur="1000" fill="hold"/>
                                        <p:tgtEl>
                                          <p:spTgt spid="3">
                                            <p:txEl>
                                              <p:pRg st="1" end="1"/>
                                            </p:txEl>
                                          </p:spTgt>
                                        </p:tgtEl>
                                        <p:attrNameLst>
                                          <p:attrName>style.textDecorationUnderline</p:attrName>
                                        </p:attrNameLst>
                                      </p:cBhvr>
                                      <p:to>
                                        <p:strVal val="true"/>
                                      </p:to>
                                    </p:set>
                                  </p:childTnLst>
                                </p:cTn>
                              </p:par>
                              <p:par>
                                <p:cTn id="39" presetID="9" presetClass="emph" presetSubtype="0" nodeType="withEffect">
                                  <p:stCondLst>
                                    <p:cond delay="0"/>
                                  </p:stCondLst>
                                  <p:childTnLst>
                                    <p:set>
                                      <p:cBhvr>
                                        <p:cTn id="40" dur="indefinite"/>
                                        <p:tgtEl>
                                          <p:spTgt spid="3">
                                            <p:txEl>
                                              <p:pRg st="0" end="0"/>
                                            </p:txEl>
                                          </p:spTgt>
                                        </p:tgtEl>
                                        <p:attrNameLst>
                                          <p:attrName>style.opacity</p:attrName>
                                        </p:attrNameLst>
                                      </p:cBhvr>
                                      <p:to>
                                        <p:strVal val="0.25"/>
                                      </p:to>
                                    </p:set>
                                    <p:animEffect filter="image" prLst="opacity: 0.25">
                                      <p:cBhvr rctx="IE">
                                        <p:cTn id="41" dur="indefinite"/>
                                        <p:tgtEl>
                                          <p:spTgt spid="3">
                                            <p:txEl>
                                              <p:pRg st="0" end="0"/>
                                            </p:txEl>
                                          </p:spTgt>
                                        </p:tgtEl>
                                      </p:cBhvr>
                                    </p:animEffect>
                                  </p:childTnLst>
                                </p:cTn>
                              </p:par>
                              <p:par>
                                <p:cTn id="42" presetID="9" presetClass="emph" presetSubtype="0" grpId="0" nodeType="withEffect">
                                  <p:stCondLst>
                                    <p:cond delay="0"/>
                                  </p:stCondLst>
                                  <p:childTnLst>
                                    <p:set>
                                      <p:cBhvr>
                                        <p:cTn id="43" dur="indefinite"/>
                                        <p:tgtEl>
                                          <p:spTgt spid="73"/>
                                        </p:tgtEl>
                                        <p:attrNameLst>
                                          <p:attrName>style.opacity</p:attrName>
                                        </p:attrNameLst>
                                      </p:cBhvr>
                                      <p:to>
                                        <p:strVal val="0.25"/>
                                      </p:to>
                                    </p:set>
                                    <p:animEffect filter="image" prLst="opacity: 0.25">
                                      <p:cBhvr rctx="IE">
                                        <p:cTn id="44" dur="indefinite"/>
                                        <p:tgtEl>
                                          <p:spTgt spid="73"/>
                                        </p:tgtEl>
                                      </p:cBhvr>
                                    </p:animEffect>
                                  </p:childTnLst>
                                </p:cTn>
                              </p:par>
                              <p:par>
                                <p:cTn id="45" presetID="9" presetClass="emph" presetSubtype="0" grpId="0" nodeType="withEffect">
                                  <p:stCondLst>
                                    <p:cond delay="0"/>
                                  </p:stCondLst>
                                  <p:childTnLst>
                                    <p:set>
                                      <p:cBhvr>
                                        <p:cTn id="46" dur="indefinite"/>
                                        <p:tgtEl>
                                          <p:spTgt spid="22"/>
                                        </p:tgtEl>
                                        <p:attrNameLst>
                                          <p:attrName>style.opacity</p:attrName>
                                        </p:attrNameLst>
                                      </p:cBhvr>
                                      <p:to>
                                        <p:strVal val="0.25"/>
                                      </p:to>
                                    </p:set>
                                    <p:animEffect filter="image" prLst="opacity: 0.25">
                                      <p:cBhvr rctx="IE">
                                        <p:cTn id="47" dur="indefinite"/>
                                        <p:tgtEl>
                                          <p:spTgt spid="22"/>
                                        </p:tgtEl>
                                      </p:cBhvr>
                                    </p:animEffect>
                                  </p:childTnLst>
                                </p:cTn>
                              </p:par>
                              <p:par>
                                <p:cTn id="48" presetID="9" presetClass="emph" presetSubtype="0" nodeType="withEffect">
                                  <p:stCondLst>
                                    <p:cond delay="0"/>
                                  </p:stCondLst>
                                  <p:childTnLst>
                                    <p:set>
                                      <p:cBhvr>
                                        <p:cTn id="49" dur="indefinite"/>
                                        <p:tgtEl>
                                          <p:spTgt spid="75"/>
                                        </p:tgtEl>
                                        <p:attrNameLst>
                                          <p:attrName>style.opacity</p:attrName>
                                        </p:attrNameLst>
                                      </p:cBhvr>
                                      <p:to>
                                        <p:strVal val="0.25"/>
                                      </p:to>
                                    </p:set>
                                    <p:animEffect filter="image" prLst="opacity: 0.25">
                                      <p:cBhvr rctx="IE">
                                        <p:cTn id="50" dur="indefinite"/>
                                        <p:tgtEl>
                                          <p:spTgt spid="75"/>
                                        </p:tgtEl>
                                      </p:cBhvr>
                                    </p:animEffect>
                                  </p:childTnLst>
                                </p:cTn>
                              </p:par>
                              <p:par>
                                <p:cTn id="51" presetID="9" presetClass="emph" presetSubtype="0" nodeType="withEffect">
                                  <p:stCondLst>
                                    <p:cond delay="0"/>
                                  </p:stCondLst>
                                  <p:childTnLst>
                                    <p:set>
                                      <p:cBhvr>
                                        <p:cTn id="52" dur="indefinite"/>
                                        <p:tgtEl>
                                          <p:spTgt spid="76"/>
                                        </p:tgtEl>
                                        <p:attrNameLst>
                                          <p:attrName>style.opacity</p:attrName>
                                        </p:attrNameLst>
                                      </p:cBhvr>
                                      <p:to>
                                        <p:strVal val="0.25"/>
                                      </p:to>
                                    </p:set>
                                    <p:animEffect filter="image" prLst="opacity: 0.25">
                                      <p:cBhvr rctx="IE">
                                        <p:cTn id="53" dur="indefinite"/>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73" grpId="0"/>
      <p:bldP spid="7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回顾数据封装过程</a:t>
            </a:r>
          </a:p>
        </p:txBody>
      </p:sp>
      <p:sp>
        <p:nvSpPr>
          <p:cNvPr id="3" name="内容占位符 2"/>
          <p:cNvSpPr>
            <a:spLocks noGrp="1"/>
          </p:cNvSpPr>
          <p:nvPr>
            <p:ph idx="1"/>
          </p:nvPr>
        </p:nvSpPr>
        <p:spPr>
          <a:xfrm>
            <a:off x="457200" y="1444979"/>
            <a:ext cx="8229600" cy="664238"/>
          </a:xfrm>
        </p:spPr>
        <p:txBody>
          <a:bodyPr/>
          <a:lstStyle/>
          <a:p>
            <a:r>
              <a:rPr lang="zh-CN" altLang="en-US" dirty="0"/>
              <a:t>封装 </a:t>
            </a:r>
            <a:r>
              <a:rPr lang="en-US" altLang="zh-CN" dirty="0"/>
              <a:t>(encapsulation) </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solidFill>
                  <a:srgbClr val="000000"/>
                </a:solidFill>
              </a:rPr>
              <a:pPr/>
              <a:t>3</a:t>
            </a:fld>
            <a:endParaRPr lang="zh-CN" altLang="en-US" dirty="0">
              <a:solidFill>
                <a:srgbClr val="000000"/>
              </a:solidFill>
            </a:endParaRPr>
          </a:p>
        </p:txBody>
      </p:sp>
      <p:sp>
        <p:nvSpPr>
          <p:cNvPr id="26" name="Text Box 24"/>
          <p:cNvSpPr txBox="1">
            <a:spLocks noChangeArrowheads="1"/>
          </p:cNvSpPr>
          <p:nvPr/>
        </p:nvSpPr>
        <p:spPr bwMode="auto">
          <a:xfrm>
            <a:off x="270506" y="2447191"/>
            <a:ext cx="1579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zh-CN" altLang="en-US" b="1" dirty="0">
                <a:solidFill>
                  <a:srgbClr val="000000">
                    <a:lumMod val="95000"/>
                    <a:lumOff val="5000"/>
                  </a:srgbClr>
                </a:solidFill>
                <a:ea typeface="华文楷体" panose="02010600040101010101" pitchFamily="2" charset="-122"/>
              </a:rPr>
              <a:t>主机</a:t>
            </a:r>
            <a:r>
              <a:rPr kumimoji="1" lang="zh-CN" altLang="en-US" sz="900" dirty="0">
                <a:solidFill>
                  <a:srgbClr val="000000">
                    <a:lumMod val="95000"/>
                    <a:lumOff val="5000"/>
                  </a:srgbClr>
                </a:solidFill>
                <a:ea typeface="华文楷体" panose="02010600040101010101" pitchFamily="2" charset="-122"/>
              </a:rPr>
              <a:t> </a:t>
            </a:r>
            <a:r>
              <a:rPr kumimoji="1" lang="en-US" altLang="zh-CN" dirty="0">
                <a:solidFill>
                  <a:srgbClr val="000000">
                    <a:lumMod val="95000"/>
                    <a:lumOff val="5000"/>
                  </a:srgbClr>
                </a:solidFill>
                <a:ea typeface="华文楷体" panose="02010600040101010101" pitchFamily="2" charset="-122"/>
              </a:rPr>
              <a:t>1(client)</a:t>
            </a:r>
          </a:p>
        </p:txBody>
      </p:sp>
      <p:grpSp>
        <p:nvGrpSpPr>
          <p:cNvPr id="49" name="组合 48"/>
          <p:cNvGrpSpPr/>
          <p:nvPr/>
        </p:nvGrpSpPr>
        <p:grpSpPr>
          <a:xfrm>
            <a:off x="412811" y="3320162"/>
            <a:ext cx="1181375" cy="2927350"/>
            <a:chOff x="376235" y="3600592"/>
            <a:chExt cx="1334644" cy="2646919"/>
          </a:xfrm>
        </p:grpSpPr>
        <p:sp>
          <p:nvSpPr>
            <p:cNvPr id="6" name="AutoShape 4"/>
            <p:cNvSpPr>
              <a:spLocks noChangeArrowheads="1"/>
            </p:cNvSpPr>
            <p:nvPr/>
          </p:nvSpPr>
          <p:spPr bwMode="auto">
            <a:xfrm>
              <a:off x="376237" y="5663311"/>
              <a:ext cx="1328226" cy="584200"/>
            </a:xfrm>
            <a:prstGeom prst="cube">
              <a:avLst>
                <a:gd name="adj" fmla="val 10764"/>
              </a:avLst>
            </a:prstGeom>
            <a:gradFill rotWithShape="1">
              <a:gsLst>
                <a:gs pos="0">
                  <a:srgbClr val="839EE3">
                    <a:gamma/>
                    <a:shade val="46275"/>
                    <a:invGamma/>
                  </a:srgbClr>
                </a:gs>
                <a:gs pos="50000">
                  <a:srgbClr val="839EE3"/>
                </a:gs>
                <a:gs pos="100000">
                  <a:srgbClr val="839EE3">
                    <a:gamma/>
                    <a:shade val="46275"/>
                    <a:invGamma/>
                  </a:srgbClr>
                </a:gs>
              </a:gsLst>
              <a:lin ang="5400000" scaled="1"/>
            </a:gradFill>
            <a:ln w="6350">
              <a:solidFill>
                <a:schemeClr val="bg2">
                  <a:lumMod val="20000"/>
                  <a:lumOff val="80000"/>
                </a:schemeClr>
              </a:solidFill>
              <a:round/>
              <a:headEnd/>
              <a:tailEnd/>
            </a:ln>
            <a:effectLst/>
          </p:spPr>
          <p:txBody>
            <a:bodyPr wrap="none" anchor="ctr"/>
            <a:lstStyle/>
            <a:p>
              <a:pPr algn="ctr"/>
              <a:r>
                <a:rPr lang="zh-CN" altLang="en-US" sz="1600" b="1" kern="0" dirty="0">
                  <a:solidFill>
                    <a:srgbClr val="FFFFFF"/>
                  </a:solidFill>
                  <a:latin typeface="华文楷体" panose="02010600040101010101" pitchFamily="2" charset="-122"/>
                  <a:ea typeface="华文楷体" panose="02010600040101010101" pitchFamily="2" charset="-122"/>
                </a:rPr>
                <a:t>物理层</a:t>
              </a:r>
            </a:p>
          </p:txBody>
        </p:sp>
        <p:sp>
          <p:nvSpPr>
            <p:cNvPr id="44" name="AutoShape 4"/>
            <p:cNvSpPr>
              <a:spLocks noChangeArrowheads="1"/>
            </p:cNvSpPr>
            <p:nvPr/>
          </p:nvSpPr>
          <p:spPr bwMode="auto">
            <a:xfrm>
              <a:off x="376237" y="5140198"/>
              <a:ext cx="1328226" cy="584200"/>
            </a:xfrm>
            <a:prstGeom prst="cube">
              <a:avLst>
                <a:gd name="adj" fmla="val 10764"/>
              </a:avLst>
            </a:prstGeom>
            <a:gradFill rotWithShape="1">
              <a:gsLst>
                <a:gs pos="0">
                  <a:srgbClr val="839EE3">
                    <a:gamma/>
                    <a:shade val="46275"/>
                    <a:invGamma/>
                  </a:srgbClr>
                </a:gs>
                <a:gs pos="50000">
                  <a:srgbClr val="839EE3"/>
                </a:gs>
                <a:gs pos="100000">
                  <a:srgbClr val="839EE3">
                    <a:gamma/>
                    <a:shade val="46275"/>
                    <a:invGamma/>
                  </a:srgbClr>
                </a:gs>
              </a:gsLst>
              <a:lin ang="5400000" scaled="1"/>
            </a:gradFill>
            <a:ln w="6350">
              <a:solidFill>
                <a:schemeClr val="bg2">
                  <a:lumMod val="20000"/>
                  <a:lumOff val="80000"/>
                </a:schemeClr>
              </a:solidFill>
              <a:round/>
              <a:headEnd/>
              <a:tailEnd/>
            </a:ln>
            <a:effectLst/>
          </p:spPr>
          <p:txBody>
            <a:bodyPr wrap="none" anchor="ctr"/>
            <a:lstStyle/>
            <a:p>
              <a:pPr algn="ctr"/>
              <a:r>
                <a:rPr lang="zh-CN" altLang="en-US" sz="1600" b="1" kern="0" dirty="0">
                  <a:solidFill>
                    <a:srgbClr val="FFFFFF"/>
                  </a:solidFill>
                  <a:latin typeface="华文楷体" panose="02010600040101010101" pitchFamily="2" charset="-122"/>
                  <a:ea typeface="华文楷体" panose="02010600040101010101" pitchFamily="2" charset="-122"/>
                </a:rPr>
                <a:t>数据链路层</a:t>
              </a:r>
            </a:p>
          </p:txBody>
        </p:sp>
        <p:sp>
          <p:nvSpPr>
            <p:cNvPr id="45" name="AutoShape 4"/>
            <p:cNvSpPr>
              <a:spLocks noChangeArrowheads="1"/>
            </p:cNvSpPr>
            <p:nvPr/>
          </p:nvSpPr>
          <p:spPr bwMode="auto">
            <a:xfrm>
              <a:off x="376235" y="4623719"/>
              <a:ext cx="1328229" cy="584200"/>
            </a:xfrm>
            <a:prstGeom prst="cube">
              <a:avLst>
                <a:gd name="adj" fmla="val 10764"/>
              </a:avLst>
            </a:prstGeom>
            <a:gradFill rotWithShape="1">
              <a:gsLst>
                <a:gs pos="0">
                  <a:srgbClr val="839EE3">
                    <a:gamma/>
                    <a:shade val="46275"/>
                    <a:invGamma/>
                  </a:srgbClr>
                </a:gs>
                <a:gs pos="50000">
                  <a:srgbClr val="839EE3"/>
                </a:gs>
                <a:gs pos="100000">
                  <a:srgbClr val="839EE3">
                    <a:gamma/>
                    <a:shade val="46275"/>
                    <a:invGamma/>
                  </a:srgbClr>
                </a:gs>
              </a:gsLst>
              <a:lin ang="5400000" scaled="1"/>
            </a:gradFill>
            <a:ln w="6350">
              <a:solidFill>
                <a:schemeClr val="bg2">
                  <a:lumMod val="20000"/>
                  <a:lumOff val="80000"/>
                </a:schemeClr>
              </a:solidFill>
              <a:round/>
              <a:headEnd/>
              <a:tailEnd/>
            </a:ln>
            <a:effectLst/>
          </p:spPr>
          <p:txBody>
            <a:bodyPr wrap="none" anchor="ctr"/>
            <a:lstStyle/>
            <a:p>
              <a:pPr algn="ctr"/>
              <a:r>
                <a:rPr lang="zh-CN" altLang="en-US" sz="1600" b="1" kern="0" dirty="0">
                  <a:solidFill>
                    <a:srgbClr val="FFFFFF"/>
                  </a:solidFill>
                  <a:latin typeface="华文楷体" panose="02010600040101010101" pitchFamily="2" charset="-122"/>
                  <a:ea typeface="华文楷体" panose="02010600040101010101" pitchFamily="2" charset="-122"/>
                </a:rPr>
                <a:t>网络层</a:t>
              </a:r>
            </a:p>
          </p:txBody>
        </p:sp>
        <p:sp>
          <p:nvSpPr>
            <p:cNvPr id="46" name="AutoShape 4"/>
            <p:cNvSpPr>
              <a:spLocks noChangeArrowheads="1"/>
            </p:cNvSpPr>
            <p:nvPr/>
          </p:nvSpPr>
          <p:spPr bwMode="auto">
            <a:xfrm>
              <a:off x="376237" y="4117071"/>
              <a:ext cx="1328226" cy="584200"/>
            </a:xfrm>
            <a:prstGeom prst="cube">
              <a:avLst>
                <a:gd name="adj" fmla="val 10764"/>
              </a:avLst>
            </a:prstGeom>
            <a:gradFill rotWithShape="1">
              <a:gsLst>
                <a:gs pos="0">
                  <a:srgbClr val="839EE3">
                    <a:gamma/>
                    <a:shade val="46275"/>
                    <a:invGamma/>
                  </a:srgbClr>
                </a:gs>
                <a:gs pos="50000">
                  <a:srgbClr val="839EE3"/>
                </a:gs>
                <a:gs pos="100000">
                  <a:srgbClr val="839EE3">
                    <a:gamma/>
                    <a:shade val="46275"/>
                    <a:invGamma/>
                  </a:srgbClr>
                </a:gs>
              </a:gsLst>
              <a:lin ang="5400000" scaled="1"/>
            </a:gradFill>
            <a:ln w="6350">
              <a:solidFill>
                <a:schemeClr val="bg2">
                  <a:lumMod val="20000"/>
                  <a:lumOff val="80000"/>
                </a:schemeClr>
              </a:solidFill>
              <a:round/>
              <a:headEnd/>
              <a:tailEnd/>
            </a:ln>
            <a:effectLst/>
          </p:spPr>
          <p:txBody>
            <a:bodyPr wrap="none" anchor="ctr"/>
            <a:lstStyle/>
            <a:p>
              <a:pPr algn="ctr"/>
              <a:r>
                <a:rPr lang="zh-CN" altLang="en-US" sz="1600" b="1" kern="0" dirty="0">
                  <a:solidFill>
                    <a:srgbClr val="FFFFFF"/>
                  </a:solidFill>
                  <a:latin typeface="华文楷体" panose="02010600040101010101" pitchFamily="2" charset="-122"/>
                  <a:ea typeface="华文楷体" panose="02010600040101010101" pitchFamily="2" charset="-122"/>
                </a:rPr>
                <a:t>传输层</a:t>
              </a:r>
            </a:p>
          </p:txBody>
        </p:sp>
        <p:sp>
          <p:nvSpPr>
            <p:cNvPr id="47" name="AutoShape 4"/>
            <p:cNvSpPr>
              <a:spLocks noChangeArrowheads="1"/>
            </p:cNvSpPr>
            <p:nvPr/>
          </p:nvSpPr>
          <p:spPr bwMode="auto">
            <a:xfrm>
              <a:off x="376237" y="3600592"/>
              <a:ext cx="1334642" cy="584200"/>
            </a:xfrm>
            <a:prstGeom prst="cube">
              <a:avLst>
                <a:gd name="adj" fmla="val 10764"/>
              </a:avLst>
            </a:prstGeom>
            <a:gradFill rotWithShape="1">
              <a:gsLst>
                <a:gs pos="0">
                  <a:srgbClr val="839EE3">
                    <a:gamma/>
                    <a:shade val="46275"/>
                    <a:invGamma/>
                  </a:srgbClr>
                </a:gs>
                <a:gs pos="50000">
                  <a:srgbClr val="839EE3"/>
                </a:gs>
                <a:gs pos="100000">
                  <a:srgbClr val="839EE3">
                    <a:gamma/>
                    <a:shade val="46275"/>
                    <a:invGamma/>
                  </a:srgbClr>
                </a:gs>
              </a:gsLst>
              <a:lin ang="5400000" scaled="1"/>
            </a:gradFill>
            <a:ln w="6350">
              <a:solidFill>
                <a:schemeClr val="bg2">
                  <a:lumMod val="20000"/>
                  <a:lumOff val="80000"/>
                </a:schemeClr>
              </a:solidFill>
              <a:round/>
              <a:headEnd/>
              <a:tailEnd/>
            </a:ln>
            <a:effectLst/>
          </p:spPr>
          <p:txBody>
            <a:bodyPr wrap="none" anchor="ctr"/>
            <a:lstStyle/>
            <a:p>
              <a:pPr algn="ctr"/>
              <a:r>
                <a:rPr lang="zh-CN" altLang="en-US" sz="1600" b="1" kern="0" dirty="0">
                  <a:solidFill>
                    <a:srgbClr val="FFFFFF"/>
                  </a:solidFill>
                  <a:latin typeface="华文楷体" panose="02010600040101010101" pitchFamily="2" charset="-122"/>
                  <a:ea typeface="华文楷体" panose="02010600040101010101" pitchFamily="2" charset="-122"/>
                </a:rPr>
                <a:t>应用层</a:t>
              </a:r>
            </a:p>
          </p:txBody>
        </p:sp>
      </p:grpSp>
      <p:sp>
        <p:nvSpPr>
          <p:cNvPr id="50" name="Text Box 24"/>
          <p:cNvSpPr txBox="1">
            <a:spLocks noChangeArrowheads="1"/>
          </p:cNvSpPr>
          <p:nvPr/>
        </p:nvSpPr>
        <p:spPr bwMode="auto">
          <a:xfrm>
            <a:off x="7442460" y="2447191"/>
            <a:ext cx="1579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zh-CN" altLang="en-US" b="1" dirty="0">
                <a:solidFill>
                  <a:srgbClr val="000000">
                    <a:lumMod val="95000"/>
                    <a:lumOff val="5000"/>
                  </a:srgbClr>
                </a:solidFill>
                <a:ea typeface="华文楷体" panose="02010600040101010101" pitchFamily="2" charset="-122"/>
              </a:rPr>
              <a:t>主机 </a:t>
            </a:r>
            <a:r>
              <a:rPr kumimoji="1" lang="en-US" altLang="zh-CN" b="1" dirty="0">
                <a:solidFill>
                  <a:srgbClr val="000000">
                    <a:lumMod val="95000"/>
                    <a:lumOff val="5000"/>
                  </a:srgbClr>
                </a:solidFill>
                <a:ea typeface="华文楷体" panose="02010600040101010101" pitchFamily="2" charset="-122"/>
              </a:rPr>
              <a:t>2</a:t>
            </a:r>
            <a:r>
              <a:rPr kumimoji="1" lang="zh-CN" altLang="en-US" sz="900" dirty="0">
                <a:solidFill>
                  <a:srgbClr val="000000">
                    <a:lumMod val="95000"/>
                    <a:lumOff val="5000"/>
                  </a:srgbClr>
                </a:solidFill>
                <a:ea typeface="华文楷体" panose="02010600040101010101" pitchFamily="2" charset="-122"/>
              </a:rPr>
              <a:t> </a:t>
            </a:r>
            <a:r>
              <a:rPr kumimoji="1" lang="en-US" altLang="zh-CN" dirty="0">
                <a:solidFill>
                  <a:srgbClr val="000000">
                    <a:lumMod val="95000"/>
                    <a:lumOff val="5000"/>
                  </a:srgbClr>
                </a:solidFill>
                <a:ea typeface="华文楷体" panose="02010600040101010101" pitchFamily="2" charset="-122"/>
              </a:rPr>
              <a:t>(server)</a:t>
            </a:r>
          </a:p>
        </p:txBody>
      </p:sp>
      <p:grpSp>
        <p:nvGrpSpPr>
          <p:cNvPr id="52" name="组合 51"/>
          <p:cNvGrpSpPr/>
          <p:nvPr/>
        </p:nvGrpSpPr>
        <p:grpSpPr>
          <a:xfrm>
            <a:off x="7535997" y="3320162"/>
            <a:ext cx="1181375" cy="2927350"/>
            <a:chOff x="376235" y="3600592"/>
            <a:chExt cx="1334644" cy="2646919"/>
          </a:xfrm>
        </p:grpSpPr>
        <p:sp>
          <p:nvSpPr>
            <p:cNvPr id="53" name="AutoShape 4"/>
            <p:cNvSpPr>
              <a:spLocks noChangeArrowheads="1"/>
            </p:cNvSpPr>
            <p:nvPr/>
          </p:nvSpPr>
          <p:spPr bwMode="auto">
            <a:xfrm>
              <a:off x="376237" y="5663311"/>
              <a:ext cx="1328226" cy="584200"/>
            </a:xfrm>
            <a:prstGeom prst="cube">
              <a:avLst>
                <a:gd name="adj" fmla="val 10764"/>
              </a:avLst>
            </a:prstGeom>
            <a:gradFill rotWithShape="1">
              <a:gsLst>
                <a:gs pos="0">
                  <a:srgbClr val="839EE3">
                    <a:gamma/>
                    <a:shade val="46275"/>
                    <a:invGamma/>
                  </a:srgbClr>
                </a:gs>
                <a:gs pos="50000">
                  <a:srgbClr val="839EE3"/>
                </a:gs>
                <a:gs pos="100000">
                  <a:srgbClr val="839EE3">
                    <a:gamma/>
                    <a:shade val="46275"/>
                    <a:invGamma/>
                  </a:srgbClr>
                </a:gs>
              </a:gsLst>
              <a:lin ang="5400000" scaled="1"/>
            </a:gradFill>
            <a:ln w="6350">
              <a:solidFill>
                <a:schemeClr val="bg2">
                  <a:lumMod val="20000"/>
                  <a:lumOff val="80000"/>
                </a:schemeClr>
              </a:solidFill>
              <a:round/>
              <a:headEnd/>
              <a:tailEnd/>
            </a:ln>
            <a:effectLst/>
          </p:spPr>
          <p:txBody>
            <a:bodyPr wrap="none" anchor="ctr"/>
            <a:lstStyle/>
            <a:p>
              <a:pPr algn="ctr"/>
              <a:r>
                <a:rPr lang="zh-CN" altLang="en-US" sz="1600" b="1" kern="0" dirty="0">
                  <a:solidFill>
                    <a:srgbClr val="FFFFFF"/>
                  </a:solidFill>
                  <a:latin typeface="华文楷体" panose="02010600040101010101" pitchFamily="2" charset="-122"/>
                  <a:ea typeface="华文楷体" panose="02010600040101010101" pitchFamily="2" charset="-122"/>
                </a:rPr>
                <a:t>物理层</a:t>
              </a:r>
            </a:p>
          </p:txBody>
        </p:sp>
        <p:sp>
          <p:nvSpPr>
            <p:cNvPr id="54" name="AutoShape 4"/>
            <p:cNvSpPr>
              <a:spLocks noChangeArrowheads="1"/>
            </p:cNvSpPr>
            <p:nvPr/>
          </p:nvSpPr>
          <p:spPr bwMode="auto">
            <a:xfrm>
              <a:off x="376237" y="5140198"/>
              <a:ext cx="1328226" cy="584200"/>
            </a:xfrm>
            <a:prstGeom prst="cube">
              <a:avLst>
                <a:gd name="adj" fmla="val 10764"/>
              </a:avLst>
            </a:prstGeom>
            <a:gradFill rotWithShape="1">
              <a:gsLst>
                <a:gs pos="0">
                  <a:srgbClr val="839EE3">
                    <a:gamma/>
                    <a:shade val="46275"/>
                    <a:invGamma/>
                  </a:srgbClr>
                </a:gs>
                <a:gs pos="50000">
                  <a:srgbClr val="839EE3"/>
                </a:gs>
                <a:gs pos="100000">
                  <a:srgbClr val="839EE3">
                    <a:gamma/>
                    <a:shade val="46275"/>
                    <a:invGamma/>
                  </a:srgbClr>
                </a:gs>
              </a:gsLst>
              <a:lin ang="5400000" scaled="1"/>
            </a:gradFill>
            <a:ln w="6350">
              <a:solidFill>
                <a:schemeClr val="bg2">
                  <a:lumMod val="20000"/>
                  <a:lumOff val="80000"/>
                </a:schemeClr>
              </a:solidFill>
              <a:round/>
              <a:headEnd/>
              <a:tailEnd/>
            </a:ln>
            <a:effectLst/>
          </p:spPr>
          <p:txBody>
            <a:bodyPr wrap="none" anchor="ctr"/>
            <a:lstStyle/>
            <a:p>
              <a:pPr algn="ctr"/>
              <a:r>
                <a:rPr lang="zh-CN" altLang="en-US" sz="1600" b="1" kern="0" dirty="0">
                  <a:solidFill>
                    <a:srgbClr val="FFFFFF"/>
                  </a:solidFill>
                  <a:latin typeface="华文楷体" panose="02010600040101010101" pitchFamily="2" charset="-122"/>
                  <a:ea typeface="华文楷体" panose="02010600040101010101" pitchFamily="2" charset="-122"/>
                </a:rPr>
                <a:t>数据链路层</a:t>
              </a:r>
            </a:p>
          </p:txBody>
        </p:sp>
        <p:sp>
          <p:nvSpPr>
            <p:cNvPr id="55" name="AutoShape 4"/>
            <p:cNvSpPr>
              <a:spLocks noChangeArrowheads="1"/>
            </p:cNvSpPr>
            <p:nvPr/>
          </p:nvSpPr>
          <p:spPr bwMode="auto">
            <a:xfrm>
              <a:off x="376235" y="4623719"/>
              <a:ext cx="1328229" cy="584200"/>
            </a:xfrm>
            <a:prstGeom prst="cube">
              <a:avLst>
                <a:gd name="adj" fmla="val 10764"/>
              </a:avLst>
            </a:prstGeom>
            <a:gradFill rotWithShape="1">
              <a:gsLst>
                <a:gs pos="0">
                  <a:srgbClr val="839EE3">
                    <a:gamma/>
                    <a:shade val="46275"/>
                    <a:invGamma/>
                  </a:srgbClr>
                </a:gs>
                <a:gs pos="50000">
                  <a:srgbClr val="839EE3"/>
                </a:gs>
                <a:gs pos="100000">
                  <a:srgbClr val="839EE3">
                    <a:gamma/>
                    <a:shade val="46275"/>
                    <a:invGamma/>
                  </a:srgbClr>
                </a:gs>
              </a:gsLst>
              <a:lin ang="5400000" scaled="1"/>
            </a:gradFill>
            <a:ln w="6350">
              <a:solidFill>
                <a:schemeClr val="bg2">
                  <a:lumMod val="20000"/>
                  <a:lumOff val="80000"/>
                </a:schemeClr>
              </a:solidFill>
              <a:round/>
              <a:headEnd/>
              <a:tailEnd/>
            </a:ln>
            <a:effectLst/>
          </p:spPr>
          <p:txBody>
            <a:bodyPr wrap="none" anchor="ctr"/>
            <a:lstStyle/>
            <a:p>
              <a:pPr algn="ctr"/>
              <a:r>
                <a:rPr lang="zh-CN" altLang="en-US" sz="1600" b="1" kern="0" dirty="0">
                  <a:solidFill>
                    <a:srgbClr val="FFFFFF"/>
                  </a:solidFill>
                  <a:latin typeface="华文楷体" panose="02010600040101010101" pitchFamily="2" charset="-122"/>
                  <a:ea typeface="华文楷体" panose="02010600040101010101" pitchFamily="2" charset="-122"/>
                </a:rPr>
                <a:t>网络层</a:t>
              </a:r>
            </a:p>
          </p:txBody>
        </p:sp>
        <p:sp>
          <p:nvSpPr>
            <p:cNvPr id="56" name="AutoShape 4"/>
            <p:cNvSpPr>
              <a:spLocks noChangeArrowheads="1"/>
            </p:cNvSpPr>
            <p:nvPr/>
          </p:nvSpPr>
          <p:spPr bwMode="auto">
            <a:xfrm>
              <a:off x="376237" y="4117071"/>
              <a:ext cx="1328226" cy="584200"/>
            </a:xfrm>
            <a:prstGeom prst="cube">
              <a:avLst>
                <a:gd name="adj" fmla="val 10764"/>
              </a:avLst>
            </a:prstGeom>
            <a:gradFill rotWithShape="1">
              <a:gsLst>
                <a:gs pos="0">
                  <a:srgbClr val="839EE3">
                    <a:gamma/>
                    <a:shade val="46275"/>
                    <a:invGamma/>
                  </a:srgbClr>
                </a:gs>
                <a:gs pos="50000">
                  <a:srgbClr val="839EE3"/>
                </a:gs>
                <a:gs pos="100000">
                  <a:srgbClr val="839EE3">
                    <a:gamma/>
                    <a:shade val="46275"/>
                    <a:invGamma/>
                  </a:srgbClr>
                </a:gs>
              </a:gsLst>
              <a:lin ang="5400000" scaled="1"/>
            </a:gradFill>
            <a:ln w="6350">
              <a:solidFill>
                <a:schemeClr val="bg2">
                  <a:lumMod val="20000"/>
                  <a:lumOff val="80000"/>
                </a:schemeClr>
              </a:solidFill>
              <a:round/>
              <a:headEnd/>
              <a:tailEnd/>
            </a:ln>
            <a:effectLst/>
          </p:spPr>
          <p:txBody>
            <a:bodyPr wrap="none" anchor="ctr"/>
            <a:lstStyle/>
            <a:p>
              <a:pPr algn="ctr"/>
              <a:r>
                <a:rPr lang="zh-CN" altLang="en-US" sz="1600" b="1" kern="0" dirty="0">
                  <a:solidFill>
                    <a:srgbClr val="FFFFFF"/>
                  </a:solidFill>
                  <a:latin typeface="华文楷体" panose="02010600040101010101" pitchFamily="2" charset="-122"/>
                  <a:ea typeface="华文楷体" panose="02010600040101010101" pitchFamily="2" charset="-122"/>
                </a:rPr>
                <a:t>传输层</a:t>
              </a:r>
            </a:p>
          </p:txBody>
        </p:sp>
        <p:sp>
          <p:nvSpPr>
            <p:cNvPr id="57" name="AutoShape 4"/>
            <p:cNvSpPr>
              <a:spLocks noChangeArrowheads="1"/>
            </p:cNvSpPr>
            <p:nvPr/>
          </p:nvSpPr>
          <p:spPr bwMode="auto">
            <a:xfrm>
              <a:off x="376237" y="3600592"/>
              <a:ext cx="1334642" cy="584200"/>
            </a:xfrm>
            <a:prstGeom prst="cube">
              <a:avLst>
                <a:gd name="adj" fmla="val 10764"/>
              </a:avLst>
            </a:prstGeom>
            <a:gradFill rotWithShape="1">
              <a:gsLst>
                <a:gs pos="0">
                  <a:srgbClr val="839EE3">
                    <a:gamma/>
                    <a:shade val="46275"/>
                    <a:invGamma/>
                  </a:srgbClr>
                </a:gs>
                <a:gs pos="50000">
                  <a:srgbClr val="839EE3"/>
                </a:gs>
                <a:gs pos="100000">
                  <a:srgbClr val="839EE3">
                    <a:gamma/>
                    <a:shade val="46275"/>
                    <a:invGamma/>
                  </a:srgbClr>
                </a:gs>
              </a:gsLst>
              <a:lin ang="5400000" scaled="1"/>
            </a:gradFill>
            <a:ln w="6350">
              <a:solidFill>
                <a:schemeClr val="bg2">
                  <a:lumMod val="20000"/>
                  <a:lumOff val="80000"/>
                </a:schemeClr>
              </a:solidFill>
              <a:round/>
              <a:headEnd/>
              <a:tailEnd/>
            </a:ln>
            <a:effectLst/>
          </p:spPr>
          <p:txBody>
            <a:bodyPr wrap="none" anchor="ctr"/>
            <a:lstStyle/>
            <a:p>
              <a:pPr algn="ctr"/>
              <a:r>
                <a:rPr lang="zh-CN" altLang="en-US" sz="1600" b="1" kern="0" dirty="0">
                  <a:solidFill>
                    <a:srgbClr val="FFFFFF"/>
                  </a:solidFill>
                  <a:latin typeface="华文楷体" panose="02010600040101010101" pitchFamily="2" charset="-122"/>
                  <a:ea typeface="华文楷体" panose="02010600040101010101" pitchFamily="2" charset="-122"/>
                </a:rPr>
                <a:t>应用层</a:t>
              </a:r>
            </a:p>
          </p:txBody>
        </p:sp>
      </p:grpSp>
      <p:sp>
        <p:nvSpPr>
          <p:cNvPr id="29" name="AutoShape 27"/>
          <p:cNvSpPr>
            <a:spLocks noChangeArrowheads="1"/>
          </p:cNvSpPr>
          <p:nvPr/>
        </p:nvSpPr>
        <p:spPr bwMode="auto">
          <a:xfrm>
            <a:off x="453335" y="2789737"/>
            <a:ext cx="1070665" cy="557212"/>
          </a:xfrm>
          <a:prstGeom prst="cube">
            <a:avLst>
              <a:gd name="adj" fmla="val 17593"/>
            </a:avLst>
          </a:prstGeom>
          <a:solidFill>
            <a:srgbClr val="FFFF99"/>
          </a:solidFill>
          <a:ln w="12700">
            <a:solidFill>
              <a:srgbClr val="C0BC00"/>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00">
                    <a:lumMod val="65000"/>
                    <a:lumOff val="35000"/>
                  </a:srgbClr>
                </a:solidFill>
                <a:latin typeface="华文楷体" panose="02010600040101010101" pitchFamily="2" charset="-122"/>
                <a:ea typeface="华文楷体" panose="02010600040101010101" pitchFamily="2" charset="-122"/>
              </a:rPr>
              <a:t>应用进程</a:t>
            </a:r>
            <a:endParaRPr lang="en-US" altLang="zh-CN" sz="1400" b="1" dirty="0">
              <a:solidFill>
                <a:srgbClr val="000000">
                  <a:lumMod val="65000"/>
                  <a:lumOff val="35000"/>
                </a:srgbClr>
              </a:solidFill>
              <a:latin typeface="华文楷体" panose="02010600040101010101" pitchFamily="2" charset="-122"/>
              <a:ea typeface="华文楷体" panose="02010600040101010101" pitchFamily="2" charset="-122"/>
            </a:endParaRPr>
          </a:p>
          <a:p>
            <a:pPr algn="ctr"/>
            <a:r>
              <a:rPr lang="en-US" altLang="zh-CN" sz="1400" b="1" dirty="0">
                <a:solidFill>
                  <a:srgbClr val="000000">
                    <a:lumMod val="65000"/>
                    <a:lumOff val="35000"/>
                  </a:srgbClr>
                </a:solidFill>
                <a:latin typeface="华文楷体" panose="02010600040101010101" pitchFamily="2" charset="-122"/>
                <a:ea typeface="华文楷体" panose="02010600040101010101" pitchFamily="2" charset="-122"/>
              </a:rPr>
              <a:t>(Web)</a:t>
            </a:r>
            <a:endParaRPr lang="zh-CN" altLang="en-US" sz="1400" b="1" dirty="0">
              <a:solidFill>
                <a:srgbClr val="000000">
                  <a:lumMod val="65000"/>
                  <a:lumOff val="35000"/>
                </a:srgbClr>
              </a:solidFill>
              <a:latin typeface="华文楷体" panose="02010600040101010101" pitchFamily="2" charset="-122"/>
              <a:ea typeface="华文楷体" panose="02010600040101010101" pitchFamily="2" charset="-122"/>
            </a:endParaRPr>
          </a:p>
        </p:txBody>
      </p:sp>
      <p:sp>
        <p:nvSpPr>
          <p:cNvPr id="101" name="AutoShape 27"/>
          <p:cNvSpPr>
            <a:spLocks noChangeArrowheads="1"/>
          </p:cNvSpPr>
          <p:nvPr/>
        </p:nvSpPr>
        <p:spPr bwMode="auto">
          <a:xfrm>
            <a:off x="7588512" y="2796729"/>
            <a:ext cx="1070665" cy="557212"/>
          </a:xfrm>
          <a:prstGeom prst="cube">
            <a:avLst>
              <a:gd name="adj" fmla="val 17593"/>
            </a:avLst>
          </a:prstGeom>
          <a:solidFill>
            <a:srgbClr val="FFFF99"/>
          </a:solidFill>
          <a:ln w="12700">
            <a:solidFill>
              <a:srgbClr val="C0BC00"/>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b="1" dirty="0">
                <a:solidFill>
                  <a:srgbClr val="000000">
                    <a:lumMod val="65000"/>
                    <a:lumOff val="35000"/>
                  </a:srgbClr>
                </a:solidFill>
                <a:latin typeface="华文楷体" panose="02010600040101010101" pitchFamily="2" charset="-122"/>
                <a:ea typeface="华文楷体" panose="02010600040101010101" pitchFamily="2" charset="-122"/>
              </a:rPr>
              <a:t>应用进程</a:t>
            </a:r>
            <a:endParaRPr lang="en-US" altLang="zh-CN" sz="1400" b="1" dirty="0">
              <a:solidFill>
                <a:srgbClr val="000000">
                  <a:lumMod val="65000"/>
                  <a:lumOff val="35000"/>
                </a:srgbClr>
              </a:solidFill>
              <a:latin typeface="华文楷体" panose="02010600040101010101" pitchFamily="2" charset="-122"/>
              <a:ea typeface="华文楷体" panose="02010600040101010101" pitchFamily="2" charset="-122"/>
            </a:endParaRPr>
          </a:p>
          <a:p>
            <a:pPr algn="ctr"/>
            <a:r>
              <a:rPr lang="en-US" altLang="zh-CN" sz="1400" b="1" dirty="0">
                <a:solidFill>
                  <a:srgbClr val="000000">
                    <a:lumMod val="65000"/>
                    <a:lumOff val="35000"/>
                  </a:srgbClr>
                </a:solidFill>
                <a:latin typeface="华文楷体" panose="02010600040101010101" pitchFamily="2" charset="-122"/>
                <a:ea typeface="华文楷体" panose="02010600040101010101" pitchFamily="2" charset="-122"/>
              </a:rPr>
              <a:t>(Web)</a:t>
            </a:r>
            <a:endParaRPr lang="zh-CN" altLang="en-US" sz="1400" b="1" dirty="0">
              <a:solidFill>
                <a:srgbClr val="000000">
                  <a:lumMod val="65000"/>
                  <a:lumOff val="35000"/>
                </a:srgbClr>
              </a:solidFill>
              <a:latin typeface="华文楷体" panose="02010600040101010101" pitchFamily="2" charset="-122"/>
              <a:ea typeface="华文楷体" panose="02010600040101010101" pitchFamily="2" charset="-122"/>
            </a:endParaRPr>
          </a:p>
        </p:txBody>
      </p:sp>
      <p:sp>
        <p:nvSpPr>
          <p:cNvPr id="116" name="Rectangle 39"/>
          <p:cNvSpPr>
            <a:spLocks noChangeArrowheads="1"/>
          </p:cNvSpPr>
          <p:nvPr/>
        </p:nvSpPr>
        <p:spPr bwMode="auto">
          <a:xfrm>
            <a:off x="4813999" y="3005788"/>
            <a:ext cx="1801938" cy="3587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dirty="0">
                <a:solidFill>
                  <a:srgbClr val="333399"/>
                </a:solidFill>
              </a:rPr>
              <a:t>Web Data</a:t>
            </a:r>
            <a:endParaRPr lang="zh-CN" altLang="en-US" sz="1400" dirty="0">
              <a:solidFill>
                <a:srgbClr val="333399"/>
              </a:solidFill>
            </a:endParaRPr>
          </a:p>
        </p:txBody>
      </p:sp>
      <p:cxnSp>
        <p:nvCxnSpPr>
          <p:cNvPr id="9" name="直接箭头连接符 8"/>
          <p:cNvCxnSpPr/>
          <p:nvPr/>
        </p:nvCxnSpPr>
        <p:spPr>
          <a:xfrm>
            <a:off x="294890" y="3022516"/>
            <a:ext cx="0" cy="3112283"/>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51" name="AutoShape 29"/>
          <p:cNvSpPr>
            <a:spLocks noChangeArrowheads="1"/>
          </p:cNvSpPr>
          <p:nvPr/>
        </p:nvSpPr>
        <p:spPr bwMode="auto">
          <a:xfrm flipV="1">
            <a:off x="558072" y="3154805"/>
            <a:ext cx="196850" cy="361950"/>
          </a:xfrm>
          <a:prstGeom prst="upArrow">
            <a:avLst>
              <a:gd name="adj1" fmla="val 50000"/>
              <a:gd name="adj2" fmla="val 45968"/>
            </a:avLst>
          </a:prstGeom>
          <a:solidFill>
            <a:srgbClr val="FF0000">
              <a:alpha val="25000"/>
            </a:srgbClr>
          </a:solidFill>
          <a:ln w="12700">
            <a:solidFill>
              <a:srgbClr val="C00000">
                <a:alpha val="25000"/>
              </a:srgbClr>
            </a:solidFill>
            <a:miter lim="800000"/>
            <a:headEnd/>
            <a:tailEnd/>
          </a:ln>
          <a:effec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sp>
        <p:nvSpPr>
          <p:cNvPr id="58" name="Text Box 24"/>
          <p:cNvSpPr txBox="1">
            <a:spLocks noChangeArrowheads="1"/>
          </p:cNvSpPr>
          <p:nvPr/>
        </p:nvSpPr>
        <p:spPr bwMode="auto">
          <a:xfrm>
            <a:off x="-77037" y="4287503"/>
            <a:ext cx="430887" cy="619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a:spAutoFit/>
          </a:bodyPr>
          <a:lstStyle>
            <a:defPPr>
              <a:defRPr lang="zh-CN"/>
            </a:defPPr>
            <a:lvl1pPr defTabSz="762000">
              <a:defRPr kumimoji="1">
                <a:solidFill>
                  <a:schemeClr val="tx1">
                    <a:lumMod val="95000"/>
                    <a:lumOff val="5000"/>
                  </a:schemeClr>
                </a:solidFill>
                <a:latin typeface="Arial" panose="020B0604020202020204" pitchFamily="34" charset="0"/>
                <a:ea typeface="黑体" panose="02010609060101010101" pitchFamily="49" charset="-122"/>
              </a:defRPr>
            </a:lvl1pPr>
            <a:lvl2pPr marL="742950" indent="-285750" defTabSz="762000">
              <a:defRPr>
                <a:latin typeface="Arial" panose="020B0604020202020204" pitchFamily="34" charset="0"/>
                <a:ea typeface="宋体" panose="02010600030101010101" pitchFamily="2" charset="-122"/>
              </a:defRPr>
            </a:lvl2pPr>
            <a:lvl3pPr marL="1143000" indent="-228600" defTabSz="762000">
              <a:defRPr>
                <a:latin typeface="Arial" panose="020B0604020202020204" pitchFamily="34" charset="0"/>
                <a:ea typeface="宋体" panose="02010600030101010101" pitchFamily="2" charset="-122"/>
              </a:defRPr>
            </a:lvl3pPr>
            <a:lvl4pPr marL="1600200" indent="-228600" defTabSz="762000">
              <a:defRPr>
                <a:latin typeface="Arial" panose="020B0604020202020204" pitchFamily="34" charset="0"/>
                <a:ea typeface="宋体" panose="02010600030101010101" pitchFamily="2" charset="-122"/>
              </a:defRPr>
            </a:lvl4pPr>
            <a:lvl5pPr marL="2057400" indent="-228600" defTabSz="762000">
              <a:defRPr>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sz="1600" dirty="0">
                <a:solidFill>
                  <a:srgbClr val="FF0000"/>
                </a:solidFill>
              </a:rPr>
              <a:t>封 装</a:t>
            </a:r>
            <a:endParaRPr lang="en-US" altLang="zh-CN" sz="1600" dirty="0">
              <a:solidFill>
                <a:srgbClr val="FF0000"/>
              </a:solidFill>
            </a:endParaRPr>
          </a:p>
        </p:txBody>
      </p:sp>
      <p:grpSp>
        <p:nvGrpSpPr>
          <p:cNvPr id="13" name="组合 12"/>
          <p:cNvGrpSpPr/>
          <p:nvPr/>
        </p:nvGrpSpPr>
        <p:grpSpPr>
          <a:xfrm>
            <a:off x="87313" y="6222111"/>
            <a:ext cx="8991600" cy="417513"/>
            <a:chOff x="87313" y="6222111"/>
            <a:chExt cx="8991600" cy="417513"/>
          </a:xfrm>
        </p:grpSpPr>
        <p:sp>
          <p:nvSpPr>
            <p:cNvPr id="5" name="AutoShape 3"/>
            <p:cNvSpPr>
              <a:spLocks noChangeArrowheads="1"/>
            </p:cNvSpPr>
            <p:nvPr/>
          </p:nvSpPr>
          <p:spPr bwMode="auto">
            <a:xfrm rot="16200000">
              <a:off x="4374356" y="1935068"/>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solidFill>
                  <a:srgbClr val="000000"/>
                </a:solidFill>
              </a:endParaRPr>
            </a:p>
          </p:txBody>
        </p:sp>
        <p:sp>
          <p:nvSpPr>
            <p:cNvPr id="61" name="Text Box 24"/>
            <p:cNvSpPr txBox="1">
              <a:spLocks noChangeArrowheads="1"/>
            </p:cNvSpPr>
            <p:nvPr/>
          </p:nvSpPr>
          <p:spPr bwMode="auto">
            <a:xfrm>
              <a:off x="3793204" y="6246202"/>
              <a:ext cx="1579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zh-CN" altLang="en-US" dirty="0">
                  <a:solidFill>
                    <a:srgbClr val="000000">
                      <a:lumMod val="95000"/>
                      <a:lumOff val="5000"/>
                    </a:srgbClr>
                  </a:solidFill>
                  <a:ea typeface="华文楷体" panose="02010600040101010101" pitchFamily="2" charset="-122"/>
                </a:rPr>
                <a:t>物理传输媒体</a:t>
              </a:r>
              <a:endParaRPr kumimoji="1" lang="en-US" altLang="zh-CN" dirty="0">
                <a:solidFill>
                  <a:srgbClr val="000000">
                    <a:lumMod val="95000"/>
                    <a:lumOff val="5000"/>
                  </a:srgbClr>
                </a:solidFill>
                <a:ea typeface="华文楷体" panose="02010600040101010101" pitchFamily="2" charset="-122"/>
              </a:endParaRPr>
            </a:p>
          </p:txBody>
        </p:sp>
      </p:grpSp>
      <p:grpSp>
        <p:nvGrpSpPr>
          <p:cNvPr id="8" name="组合 7"/>
          <p:cNvGrpSpPr/>
          <p:nvPr/>
        </p:nvGrpSpPr>
        <p:grpSpPr>
          <a:xfrm>
            <a:off x="4104767" y="3547378"/>
            <a:ext cx="2505074" cy="359729"/>
            <a:chOff x="4104767" y="3547378"/>
            <a:chExt cx="2505074" cy="359729"/>
          </a:xfrm>
        </p:grpSpPr>
        <p:sp>
          <p:nvSpPr>
            <p:cNvPr id="64" name="Rectangle 39"/>
            <p:cNvSpPr>
              <a:spLocks noChangeArrowheads="1"/>
            </p:cNvSpPr>
            <p:nvPr/>
          </p:nvSpPr>
          <p:spPr bwMode="auto">
            <a:xfrm>
              <a:off x="4807903" y="3548332"/>
              <a:ext cx="1801938" cy="3587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dirty="0">
                  <a:solidFill>
                    <a:srgbClr val="333399"/>
                  </a:solidFill>
                </a:rPr>
                <a:t>Web Data</a:t>
              </a:r>
              <a:endParaRPr lang="zh-CN" altLang="en-US" sz="1400" dirty="0">
                <a:solidFill>
                  <a:srgbClr val="333399"/>
                </a:solidFill>
              </a:endParaRPr>
            </a:p>
          </p:txBody>
        </p:sp>
        <p:sp>
          <p:nvSpPr>
            <p:cNvPr id="66" name="Rectangle 33"/>
            <p:cNvSpPr>
              <a:spLocks noChangeArrowheads="1"/>
            </p:cNvSpPr>
            <p:nvPr/>
          </p:nvSpPr>
          <p:spPr bwMode="auto">
            <a:xfrm>
              <a:off x="4104767" y="3547378"/>
              <a:ext cx="704913" cy="358775"/>
            </a:xfrm>
            <a:prstGeom prst="rect">
              <a:avLst/>
            </a:prstGeom>
            <a:solidFill>
              <a:srgbClr val="B8A9F1"/>
            </a:solidFill>
            <a:ln w="9525">
              <a:solidFill>
                <a:schemeClr val="tx1"/>
              </a:solidFill>
              <a:miter lim="800000"/>
              <a:headEnd/>
              <a:tailEnd/>
            </a:ln>
            <a:effec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5</a:t>
              </a:r>
            </a:p>
          </p:txBody>
        </p:sp>
      </p:grpSp>
      <p:sp>
        <p:nvSpPr>
          <p:cNvPr id="68" name="AutoShape 29"/>
          <p:cNvSpPr>
            <a:spLocks noChangeArrowheads="1"/>
          </p:cNvSpPr>
          <p:nvPr/>
        </p:nvSpPr>
        <p:spPr bwMode="auto">
          <a:xfrm flipV="1">
            <a:off x="576360" y="3819269"/>
            <a:ext cx="196850" cy="361950"/>
          </a:xfrm>
          <a:prstGeom prst="upArrow">
            <a:avLst>
              <a:gd name="adj1" fmla="val 50000"/>
              <a:gd name="adj2" fmla="val 45968"/>
            </a:avLst>
          </a:prstGeom>
          <a:solidFill>
            <a:srgbClr val="FF0000">
              <a:alpha val="25000"/>
            </a:srgbClr>
          </a:solidFill>
          <a:ln w="12700">
            <a:solidFill>
              <a:srgbClr val="C00000">
                <a:alpha val="25000"/>
              </a:srgbClr>
            </a:solidFill>
            <a:miter lim="800000"/>
            <a:headEnd/>
            <a:tailEnd/>
          </a:ln>
          <a:effec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grpSp>
        <p:nvGrpSpPr>
          <p:cNvPr id="7" name="组合 6"/>
          <p:cNvGrpSpPr/>
          <p:nvPr/>
        </p:nvGrpSpPr>
        <p:grpSpPr>
          <a:xfrm>
            <a:off x="2830545" y="3177672"/>
            <a:ext cx="1595469" cy="396551"/>
            <a:chOff x="2830545" y="3177672"/>
            <a:chExt cx="1595469" cy="396551"/>
          </a:xfrm>
        </p:grpSpPr>
        <p:sp>
          <p:nvSpPr>
            <p:cNvPr id="74" name="Text Box 32"/>
            <p:cNvSpPr txBox="1">
              <a:spLocks noChangeArrowheads="1"/>
            </p:cNvSpPr>
            <p:nvPr/>
          </p:nvSpPr>
          <p:spPr bwMode="auto">
            <a:xfrm>
              <a:off x="2830545" y="3177672"/>
              <a:ext cx="116891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en-US" altLang="zh-CN" sz="1600" dirty="0">
                  <a:solidFill>
                    <a:srgbClr val="000000"/>
                  </a:solidFill>
                  <a:latin typeface="Calibri" panose="020F0502020204030204" pitchFamily="34" charset="0"/>
                  <a:ea typeface="黑体" panose="02010609060101010101" pitchFamily="49" charset="-122"/>
                </a:rPr>
                <a:t>http header</a:t>
              </a:r>
              <a:endParaRPr kumimoji="1" lang="zh-CN" altLang="en-US" sz="1600" dirty="0">
                <a:solidFill>
                  <a:srgbClr val="000000"/>
                </a:solidFill>
                <a:latin typeface="Calibri" panose="020F0502020204030204" pitchFamily="34" charset="0"/>
                <a:ea typeface="黑体" panose="02010609060101010101" pitchFamily="49" charset="-122"/>
              </a:endParaRPr>
            </a:p>
          </p:txBody>
        </p:sp>
        <p:sp>
          <p:nvSpPr>
            <p:cNvPr id="75" name="Line 33"/>
            <p:cNvSpPr>
              <a:spLocks noChangeShapeType="1"/>
            </p:cNvSpPr>
            <p:nvPr/>
          </p:nvSpPr>
          <p:spPr bwMode="auto">
            <a:xfrm>
              <a:off x="3906129" y="3364562"/>
              <a:ext cx="519885" cy="209661"/>
            </a:xfrm>
            <a:prstGeom prst="line">
              <a:avLst/>
            </a:prstGeom>
            <a:noFill/>
            <a:ln w="12700">
              <a:solidFill>
                <a:schemeClr val="tx1">
                  <a:lumMod val="65000"/>
                  <a:lumOff val="35000"/>
                </a:schemeClr>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lang="zh-CN" altLang="en-US" kern="0">
                <a:solidFill>
                  <a:srgbClr val="000000"/>
                </a:solidFill>
              </a:endParaRPr>
            </a:p>
          </p:txBody>
        </p:sp>
      </p:grpSp>
      <p:sp>
        <p:nvSpPr>
          <p:cNvPr id="63" name="AutoShape 29"/>
          <p:cNvSpPr>
            <a:spLocks noChangeArrowheads="1"/>
          </p:cNvSpPr>
          <p:nvPr/>
        </p:nvSpPr>
        <p:spPr bwMode="auto">
          <a:xfrm flipV="1">
            <a:off x="6166679" y="3265167"/>
            <a:ext cx="173768" cy="282211"/>
          </a:xfrm>
          <a:prstGeom prst="upArrow">
            <a:avLst>
              <a:gd name="adj1" fmla="val 50000"/>
              <a:gd name="adj2" fmla="val 45968"/>
            </a:avLst>
          </a:prstGeom>
          <a:solidFill>
            <a:srgbClr val="FF0000">
              <a:alpha val="25000"/>
            </a:srgbClr>
          </a:solidFill>
          <a:ln w="12700">
            <a:solidFill>
              <a:srgbClr val="C00000">
                <a:alpha val="25000"/>
              </a:srgbClr>
            </a:solidFill>
            <a:miter lim="800000"/>
            <a:headEnd/>
            <a:tailEnd/>
          </a:ln>
          <a:effec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grpSp>
        <p:nvGrpSpPr>
          <p:cNvPr id="10" name="组合 9"/>
          <p:cNvGrpSpPr/>
          <p:nvPr/>
        </p:nvGrpSpPr>
        <p:grpSpPr>
          <a:xfrm>
            <a:off x="3407727" y="4095924"/>
            <a:ext cx="3208210" cy="365919"/>
            <a:chOff x="3407727" y="4095924"/>
            <a:chExt cx="3208210" cy="365919"/>
          </a:xfrm>
        </p:grpSpPr>
        <p:grpSp>
          <p:nvGrpSpPr>
            <p:cNvPr id="59" name="组合 58"/>
            <p:cNvGrpSpPr/>
            <p:nvPr/>
          </p:nvGrpSpPr>
          <p:grpSpPr>
            <a:xfrm>
              <a:off x="4110863" y="4102114"/>
              <a:ext cx="2505074" cy="359729"/>
              <a:chOff x="4104767" y="3547378"/>
              <a:chExt cx="2505074" cy="359729"/>
            </a:xfrm>
          </p:grpSpPr>
          <p:sp>
            <p:nvSpPr>
              <p:cNvPr id="60" name="Rectangle 39"/>
              <p:cNvSpPr>
                <a:spLocks noChangeArrowheads="1"/>
              </p:cNvSpPr>
              <p:nvPr/>
            </p:nvSpPr>
            <p:spPr bwMode="auto">
              <a:xfrm>
                <a:off x="4807903" y="3548332"/>
                <a:ext cx="1801938" cy="3587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dirty="0">
                    <a:solidFill>
                      <a:srgbClr val="333399"/>
                    </a:solidFill>
                  </a:rPr>
                  <a:t>Web Data</a:t>
                </a:r>
                <a:endParaRPr lang="zh-CN" altLang="en-US" sz="1400" dirty="0">
                  <a:solidFill>
                    <a:srgbClr val="333399"/>
                  </a:solidFill>
                </a:endParaRPr>
              </a:p>
            </p:txBody>
          </p:sp>
          <p:sp>
            <p:nvSpPr>
              <p:cNvPr id="65" name="Rectangle 33"/>
              <p:cNvSpPr>
                <a:spLocks noChangeArrowheads="1"/>
              </p:cNvSpPr>
              <p:nvPr/>
            </p:nvSpPr>
            <p:spPr bwMode="auto">
              <a:xfrm>
                <a:off x="4104767" y="3547378"/>
                <a:ext cx="704913" cy="358775"/>
              </a:xfrm>
              <a:prstGeom prst="rect">
                <a:avLst/>
              </a:prstGeom>
              <a:solidFill>
                <a:srgbClr val="B8A9F1"/>
              </a:solidFill>
              <a:ln w="9525">
                <a:solidFill>
                  <a:schemeClr val="tx1"/>
                </a:solidFill>
                <a:miter lim="800000"/>
                <a:headEnd/>
                <a:tailEnd/>
              </a:ln>
              <a:effec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5</a:t>
                </a:r>
              </a:p>
            </p:txBody>
          </p:sp>
        </p:grpSp>
        <p:sp>
          <p:nvSpPr>
            <p:cNvPr id="42" name="Rectangle 33"/>
            <p:cNvSpPr>
              <a:spLocks noChangeArrowheads="1"/>
            </p:cNvSpPr>
            <p:nvPr/>
          </p:nvSpPr>
          <p:spPr bwMode="auto">
            <a:xfrm>
              <a:off x="3407727" y="4095924"/>
              <a:ext cx="704913" cy="358775"/>
            </a:xfrm>
            <a:prstGeom prst="rect">
              <a:avLst/>
            </a:prstGeom>
            <a:solidFill>
              <a:srgbClr val="FFC000"/>
            </a:solidFill>
            <a:ln w="9525">
              <a:solidFill>
                <a:schemeClr val="tx1"/>
              </a:solidFill>
              <a:miter lim="800000"/>
              <a:headEnd/>
              <a:tailEnd/>
            </a:ln>
            <a:effec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4</a:t>
              </a:r>
            </a:p>
          </p:txBody>
        </p:sp>
      </p:grpSp>
      <p:grpSp>
        <p:nvGrpSpPr>
          <p:cNvPr id="69" name="组合 68"/>
          <p:cNvGrpSpPr/>
          <p:nvPr/>
        </p:nvGrpSpPr>
        <p:grpSpPr>
          <a:xfrm>
            <a:off x="4110863" y="3553474"/>
            <a:ext cx="2505074" cy="359729"/>
            <a:chOff x="4104767" y="3547378"/>
            <a:chExt cx="2505074" cy="359729"/>
          </a:xfrm>
        </p:grpSpPr>
        <p:sp>
          <p:nvSpPr>
            <p:cNvPr id="70" name="Rectangle 39"/>
            <p:cNvSpPr>
              <a:spLocks noChangeArrowheads="1"/>
            </p:cNvSpPr>
            <p:nvPr/>
          </p:nvSpPr>
          <p:spPr bwMode="auto">
            <a:xfrm>
              <a:off x="4807903" y="3548332"/>
              <a:ext cx="1801938" cy="3587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dirty="0">
                  <a:solidFill>
                    <a:srgbClr val="333399"/>
                  </a:solidFill>
                </a:rPr>
                <a:t>Web Data</a:t>
              </a:r>
              <a:endParaRPr lang="zh-CN" altLang="en-US" sz="1400" dirty="0">
                <a:solidFill>
                  <a:srgbClr val="333399"/>
                </a:solidFill>
              </a:endParaRPr>
            </a:p>
          </p:txBody>
        </p:sp>
        <p:sp>
          <p:nvSpPr>
            <p:cNvPr id="71" name="Rectangle 33"/>
            <p:cNvSpPr>
              <a:spLocks noChangeArrowheads="1"/>
            </p:cNvSpPr>
            <p:nvPr/>
          </p:nvSpPr>
          <p:spPr bwMode="auto">
            <a:xfrm>
              <a:off x="4104767" y="3547378"/>
              <a:ext cx="704913" cy="358775"/>
            </a:xfrm>
            <a:prstGeom prst="rect">
              <a:avLst/>
            </a:prstGeom>
            <a:solidFill>
              <a:srgbClr val="B8A9F1"/>
            </a:solidFill>
            <a:ln w="9525">
              <a:solidFill>
                <a:schemeClr val="tx1"/>
              </a:solidFill>
              <a:miter lim="800000"/>
              <a:headEnd/>
              <a:tailEnd/>
            </a:ln>
            <a:effec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5</a:t>
              </a:r>
            </a:p>
          </p:txBody>
        </p:sp>
      </p:grpSp>
      <p:grpSp>
        <p:nvGrpSpPr>
          <p:cNvPr id="77" name="组合 76"/>
          <p:cNvGrpSpPr/>
          <p:nvPr/>
        </p:nvGrpSpPr>
        <p:grpSpPr>
          <a:xfrm>
            <a:off x="2311522" y="3682553"/>
            <a:ext cx="1595469" cy="396551"/>
            <a:chOff x="2830545" y="3177672"/>
            <a:chExt cx="1595469" cy="396551"/>
          </a:xfrm>
        </p:grpSpPr>
        <p:sp>
          <p:nvSpPr>
            <p:cNvPr id="78" name="Text Box 32"/>
            <p:cNvSpPr txBox="1">
              <a:spLocks noChangeArrowheads="1"/>
            </p:cNvSpPr>
            <p:nvPr/>
          </p:nvSpPr>
          <p:spPr bwMode="auto">
            <a:xfrm>
              <a:off x="2830545" y="3177672"/>
              <a:ext cx="113101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en-US" altLang="zh-CN" sz="1600" dirty="0">
                  <a:solidFill>
                    <a:srgbClr val="000000"/>
                  </a:solidFill>
                  <a:latin typeface="Calibri" panose="020F0502020204030204" pitchFamily="34" charset="0"/>
                  <a:ea typeface="黑体" panose="02010609060101010101" pitchFamily="49" charset="-122"/>
                </a:rPr>
                <a:t>TCP header</a:t>
              </a:r>
              <a:endParaRPr kumimoji="1" lang="zh-CN" altLang="en-US" sz="1600" dirty="0">
                <a:solidFill>
                  <a:srgbClr val="000000"/>
                </a:solidFill>
                <a:latin typeface="Calibri" panose="020F0502020204030204" pitchFamily="34" charset="0"/>
                <a:ea typeface="黑体" panose="02010609060101010101" pitchFamily="49" charset="-122"/>
              </a:endParaRPr>
            </a:p>
          </p:txBody>
        </p:sp>
        <p:sp>
          <p:nvSpPr>
            <p:cNvPr id="79" name="Line 33"/>
            <p:cNvSpPr>
              <a:spLocks noChangeShapeType="1"/>
            </p:cNvSpPr>
            <p:nvPr/>
          </p:nvSpPr>
          <p:spPr bwMode="auto">
            <a:xfrm>
              <a:off x="3906129" y="3364562"/>
              <a:ext cx="519885" cy="209661"/>
            </a:xfrm>
            <a:prstGeom prst="line">
              <a:avLst/>
            </a:prstGeom>
            <a:noFill/>
            <a:ln w="12700">
              <a:solidFill>
                <a:schemeClr val="tx1">
                  <a:lumMod val="65000"/>
                  <a:lumOff val="35000"/>
                </a:schemeClr>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lang="zh-CN" altLang="en-US" kern="0">
                <a:solidFill>
                  <a:srgbClr val="000000"/>
                </a:solidFill>
              </a:endParaRPr>
            </a:p>
          </p:txBody>
        </p:sp>
      </p:grpSp>
      <p:sp>
        <p:nvSpPr>
          <p:cNvPr id="67" name="AutoShape 29"/>
          <p:cNvSpPr>
            <a:spLocks noChangeArrowheads="1"/>
          </p:cNvSpPr>
          <p:nvPr/>
        </p:nvSpPr>
        <p:spPr bwMode="auto">
          <a:xfrm flipV="1">
            <a:off x="558072" y="4398389"/>
            <a:ext cx="196850" cy="361950"/>
          </a:xfrm>
          <a:prstGeom prst="upArrow">
            <a:avLst>
              <a:gd name="adj1" fmla="val 50000"/>
              <a:gd name="adj2" fmla="val 45968"/>
            </a:avLst>
          </a:prstGeom>
          <a:solidFill>
            <a:srgbClr val="FF0000">
              <a:alpha val="25000"/>
            </a:srgbClr>
          </a:solidFill>
          <a:ln w="12700">
            <a:solidFill>
              <a:srgbClr val="C00000">
                <a:alpha val="25000"/>
              </a:srgbClr>
            </a:solidFill>
            <a:miter lim="800000"/>
            <a:headEnd/>
            <a:tailEnd/>
          </a:ln>
          <a:effec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sp>
        <p:nvSpPr>
          <p:cNvPr id="40" name="AutoShape 29"/>
          <p:cNvSpPr>
            <a:spLocks noChangeArrowheads="1"/>
          </p:cNvSpPr>
          <p:nvPr/>
        </p:nvSpPr>
        <p:spPr bwMode="auto">
          <a:xfrm flipV="1">
            <a:off x="5142790" y="3859352"/>
            <a:ext cx="173768" cy="282211"/>
          </a:xfrm>
          <a:prstGeom prst="upArrow">
            <a:avLst>
              <a:gd name="adj1" fmla="val 50000"/>
              <a:gd name="adj2" fmla="val 45968"/>
            </a:avLst>
          </a:prstGeom>
          <a:solidFill>
            <a:srgbClr val="FF0000">
              <a:alpha val="25000"/>
            </a:srgbClr>
          </a:solidFill>
          <a:ln w="12700">
            <a:solidFill>
              <a:srgbClr val="C00000">
                <a:alpha val="25000"/>
              </a:srgbClr>
            </a:solidFill>
            <a:miter lim="800000"/>
            <a:headEnd/>
            <a:tailEnd/>
          </a:ln>
          <a:effec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sp>
        <p:nvSpPr>
          <p:cNvPr id="76" name="AutoShape 29"/>
          <p:cNvSpPr>
            <a:spLocks noChangeArrowheads="1"/>
          </p:cNvSpPr>
          <p:nvPr/>
        </p:nvSpPr>
        <p:spPr bwMode="auto">
          <a:xfrm flipV="1">
            <a:off x="4490518" y="4377512"/>
            <a:ext cx="173768" cy="282211"/>
          </a:xfrm>
          <a:prstGeom prst="upArrow">
            <a:avLst>
              <a:gd name="adj1" fmla="val 50000"/>
              <a:gd name="adj2" fmla="val 45968"/>
            </a:avLst>
          </a:prstGeom>
          <a:solidFill>
            <a:srgbClr val="FF0000">
              <a:alpha val="25000"/>
            </a:srgbClr>
          </a:solidFill>
          <a:ln w="12700">
            <a:solidFill>
              <a:srgbClr val="C00000">
                <a:alpha val="25000"/>
              </a:srgbClr>
            </a:solidFill>
            <a:miter lim="800000"/>
            <a:headEnd/>
            <a:tailEnd/>
          </a:ln>
          <a:effec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grpSp>
        <p:nvGrpSpPr>
          <p:cNvPr id="11" name="组合 10"/>
          <p:cNvGrpSpPr/>
          <p:nvPr/>
        </p:nvGrpSpPr>
        <p:grpSpPr>
          <a:xfrm>
            <a:off x="2702814" y="4663854"/>
            <a:ext cx="3913123" cy="370059"/>
            <a:chOff x="2702814" y="4663854"/>
            <a:chExt cx="3913123" cy="370059"/>
          </a:xfrm>
        </p:grpSpPr>
        <p:grpSp>
          <p:nvGrpSpPr>
            <p:cNvPr id="85" name="组合 84"/>
            <p:cNvGrpSpPr/>
            <p:nvPr/>
          </p:nvGrpSpPr>
          <p:grpSpPr>
            <a:xfrm>
              <a:off x="3407727" y="4663900"/>
              <a:ext cx="3208210" cy="370013"/>
              <a:chOff x="3407727" y="4103068"/>
              <a:chExt cx="3208210" cy="370013"/>
            </a:xfrm>
          </p:grpSpPr>
          <p:grpSp>
            <p:nvGrpSpPr>
              <p:cNvPr id="86" name="组合 85"/>
              <p:cNvGrpSpPr/>
              <p:nvPr/>
            </p:nvGrpSpPr>
            <p:grpSpPr>
              <a:xfrm>
                <a:off x="4110863" y="4103068"/>
                <a:ext cx="2505074" cy="370013"/>
                <a:chOff x="4104767" y="3548332"/>
                <a:chExt cx="2505074" cy="370013"/>
              </a:xfrm>
            </p:grpSpPr>
            <p:sp>
              <p:nvSpPr>
                <p:cNvPr id="88" name="Rectangle 39"/>
                <p:cNvSpPr>
                  <a:spLocks noChangeArrowheads="1"/>
                </p:cNvSpPr>
                <p:nvPr/>
              </p:nvSpPr>
              <p:spPr bwMode="auto">
                <a:xfrm>
                  <a:off x="4807903" y="3548332"/>
                  <a:ext cx="1801938" cy="3587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dirty="0">
                      <a:solidFill>
                        <a:srgbClr val="333399"/>
                      </a:solidFill>
                    </a:rPr>
                    <a:t>Web Data</a:t>
                  </a:r>
                  <a:endParaRPr lang="zh-CN" altLang="en-US" sz="1400" dirty="0">
                    <a:solidFill>
                      <a:srgbClr val="333399"/>
                    </a:solidFill>
                  </a:endParaRPr>
                </a:p>
              </p:txBody>
            </p:sp>
            <p:sp>
              <p:nvSpPr>
                <p:cNvPr id="89" name="Rectangle 33"/>
                <p:cNvSpPr>
                  <a:spLocks noChangeArrowheads="1"/>
                </p:cNvSpPr>
                <p:nvPr/>
              </p:nvSpPr>
              <p:spPr bwMode="auto">
                <a:xfrm>
                  <a:off x="4104767" y="3559570"/>
                  <a:ext cx="704913" cy="358775"/>
                </a:xfrm>
                <a:prstGeom prst="rect">
                  <a:avLst/>
                </a:prstGeom>
                <a:solidFill>
                  <a:srgbClr val="B8A9F1"/>
                </a:solidFill>
                <a:ln w="9525">
                  <a:solidFill>
                    <a:schemeClr val="tx1"/>
                  </a:solidFill>
                  <a:miter lim="800000"/>
                  <a:headEnd/>
                  <a:tailEnd/>
                </a:ln>
                <a:effec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5</a:t>
                  </a:r>
                </a:p>
              </p:txBody>
            </p:sp>
          </p:grpSp>
          <p:sp>
            <p:nvSpPr>
              <p:cNvPr id="87" name="Rectangle 33"/>
              <p:cNvSpPr>
                <a:spLocks noChangeArrowheads="1"/>
              </p:cNvSpPr>
              <p:nvPr/>
            </p:nvSpPr>
            <p:spPr bwMode="auto">
              <a:xfrm>
                <a:off x="3407727" y="4108116"/>
                <a:ext cx="704913" cy="358775"/>
              </a:xfrm>
              <a:prstGeom prst="rect">
                <a:avLst/>
              </a:prstGeom>
              <a:solidFill>
                <a:srgbClr val="FFC000"/>
              </a:solidFill>
              <a:ln w="9525">
                <a:solidFill>
                  <a:schemeClr val="tx1"/>
                </a:solidFill>
                <a:miter lim="800000"/>
                <a:headEnd/>
                <a:tailEnd/>
              </a:ln>
              <a:effec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4</a:t>
                </a:r>
              </a:p>
            </p:txBody>
          </p:sp>
        </p:grpSp>
        <p:sp>
          <p:nvSpPr>
            <p:cNvPr id="91" name="Rectangle 33"/>
            <p:cNvSpPr>
              <a:spLocks noChangeArrowheads="1"/>
            </p:cNvSpPr>
            <p:nvPr/>
          </p:nvSpPr>
          <p:spPr bwMode="auto">
            <a:xfrm>
              <a:off x="2702814" y="4663854"/>
              <a:ext cx="704913" cy="358775"/>
            </a:xfrm>
            <a:prstGeom prst="rect">
              <a:avLst/>
            </a:prstGeom>
            <a:solidFill>
              <a:srgbClr val="84E8E3"/>
            </a:solidFill>
            <a:ln w="9525">
              <a:solidFill>
                <a:schemeClr val="tx1"/>
              </a:solidFill>
              <a:miter lim="800000"/>
              <a:headEnd/>
              <a:tailEnd/>
            </a:ln>
            <a:effec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3</a:t>
              </a:r>
            </a:p>
          </p:txBody>
        </p:sp>
      </p:grpSp>
      <p:sp>
        <p:nvSpPr>
          <p:cNvPr id="93" name="Text Box 32"/>
          <p:cNvSpPr txBox="1">
            <a:spLocks noChangeArrowheads="1"/>
          </p:cNvSpPr>
          <p:nvPr/>
        </p:nvSpPr>
        <p:spPr bwMode="auto">
          <a:xfrm>
            <a:off x="6678101" y="3550131"/>
            <a:ext cx="55213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en-US" altLang="zh-CN" sz="1600" dirty="0">
                <a:solidFill>
                  <a:srgbClr val="000000"/>
                </a:solidFill>
                <a:latin typeface="Calibri" panose="020F0502020204030204" pitchFamily="34" charset="0"/>
                <a:ea typeface="黑体" panose="02010609060101010101" pitchFamily="49" charset="-122"/>
              </a:rPr>
              <a:t>data</a:t>
            </a:r>
            <a:endParaRPr kumimoji="1" lang="zh-CN" altLang="en-US" sz="1600" dirty="0">
              <a:solidFill>
                <a:srgbClr val="000000"/>
              </a:solidFill>
              <a:latin typeface="Calibri" panose="020F0502020204030204" pitchFamily="34" charset="0"/>
              <a:ea typeface="黑体" panose="02010609060101010101" pitchFamily="49" charset="-122"/>
            </a:endParaRPr>
          </a:p>
        </p:txBody>
      </p:sp>
      <p:sp>
        <p:nvSpPr>
          <p:cNvPr id="94" name="Text Box 32"/>
          <p:cNvSpPr txBox="1">
            <a:spLocks noChangeArrowheads="1"/>
          </p:cNvSpPr>
          <p:nvPr/>
        </p:nvSpPr>
        <p:spPr bwMode="auto">
          <a:xfrm>
            <a:off x="6635020" y="4114715"/>
            <a:ext cx="90588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en-US" altLang="zh-CN" sz="1600" dirty="0">
                <a:solidFill>
                  <a:srgbClr val="000000"/>
                </a:solidFill>
                <a:latin typeface="Calibri" panose="020F0502020204030204" pitchFamily="34" charset="0"/>
                <a:ea typeface="黑体" panose="02010609060101010101" pitchFamily="49" charset="-122"/>
              </a:rPr>
              <a:t>segment</a:t>
            </a:r>
            <a:endParaRPr kumimoji="1" lang="zh-CN" altLang="en-US" sz="1600" dirty="0">
              <a:solidFill>
                <a:srgbClr val="000000"/>
              </a:solidFill>
              <a:latin typeface="Calibri" panose="020F0502020204030204" pitchFamily="34" charset="0"/>
              <a:ea typeface="黑体" panose="02010609060101010101" pitchFamily="49" charset="-122"/>
            </a:endParaRPr>
          </a:p>
        </p:txBody>
      </p:sp>
      <p:sp>
        <p:nvSpPr>
          <p:cNvPr id="95" name="Text Box 32"/>
          <p:cNvSpPr txBox="1">
            <a:spLocks noChangeArrowheads="1"/>
          </p:cNvSpPr>
          <p:nvPr/>
        </p:nvSpPr>
        <p:spPr bwMode="auto">
          <a:xfrm>
            <a:off x="6640360" y="4693917"/>
            <a:ext cx="7332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en-US" altLang="zh-CN" sz="1600" dirty="0">
                <a:solidFill>
                  <a:srgbClr val="000000"/>
                </a:solidFill>
                <a:latin typeface="Calibri" panose="020F0502020204030204" pitchFamily="34" charset="0"/>
                <a:ea typeface="黑体" panose="02010609060101010101" pitchFamily="49" charset="-122"/>
              </a:rPr>
              <a:t>packet</a:t>
            </a:r>
            <a:endParaRPr kumimoji="1" lang="zh-CN" altLang="en-US" sz="1600" dirty="0">
              <a:solidFill>
                <a:srgbClr val="000000"/>
              </a:solidFill>
              <a:latin typeface="Calibri" panose="020F0502020204030204" pitchFamily="34" charset="0"/>
              <a:ea typeface="黑体" panose="02010609060101010101" pitchFamily="49" charset="-122"/>
            </a:endParaRPr>
          </a:p>
        </p:txBody>
      </p:sp>
      <p:grpSp>
        <p:nvGrpSpPr>
          <p:cNvPr id="96" name="组合 95"/>
          <p:cNvGrpSpPr/>
          <p:nvPr/>
        </p:nvGrpSpPr>
        <p:grpSpPr>
          <a:xfrm>
            <a:off x="1850322" y="4264326"/>
            <a:ext cx="1340479" cy="382055"/>
            <a:chOff x="3085535" y="3192168"/>
            <a:chExt cx="1340479" cy="382055"/>
          </a:xfrm>
        </p:grpSpPr>
        <p:sp>
          <p:nvSpPr>
            <p:cNvPr id="97" name="Text Box 32"/>
            <p:cNvSpPr txBox="1">
              <a:spLocks noChangeArrowheads="1"/>
            </p:cNvSpPr>
            <p:nvPr/>
          </p:nvSpPr>
          <p:spPr bwMode="auto">
            <a:xfrm>
              <a:off x="3085535" y="3192168"/>
              <a:ext cx="97815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en-US" altLang="zh-CN" sz="1600" dirty="0">
                  <a:solidFill>
                    <a:srgbClr val="000000"/>
                  </a:solidFill>
                  <a:latin typeface="Calibri" panose="020F0502020204030204" pitchFamily="34" charset="0"/>
                  <a:ea typeface="黑体" panose="02010609060101010101" pitchFamily="49" charset="-122"/>
                </a:rPr>
                <a:t>IP header</a:t>
              </a:r>
              <a:endParaRPr kumimoji="1" lang="zh-CN" altLang="en-US" sz="1600" dirty="0">
                <a:solidFill>
                  <a:srgbClr val="000000"/>
                </a:solidFill>
                <a:latin typeface="Calibri" panose="020F0502020204030204" pitchFamily="34" charset="0"/>
                <a:ea typeface="黑体" panose="02010609060101010101" pitchFamily="49" charset="-122"/>
              </a:endParaRPr>
            </a:p>
          </p:txBody>
        </p:sp>
        <p:sp>
          <p:nvSpPr>
            <p:cNvPr id="98" name="Line 33"/>
            <p:cNvSpPr>
              <a:spLocks noChangeShapeType="1"/>
            </p:cNvSpPr>
            <p:nvPr/>
          </p:nvSpPr>
          <p:spPr bwMode="auto">
            <a:xfrm>
              <a:off x="4123983" y="3413471"/>
              <a:ext cx="302031" cy="160752"/>
            </a:xfrm>
            <a:prstGeom prst="line">
              <a:avLst/>
            </a:prstGeom>
            <a:noFill/>
            <a:ln w="12700">
              <a:solidFill>
                <a:schemeClr val="tx1">
                  <a:lumMod val="65000"/>
                  <a:lumOff val="35000"/>
                </a:schemeClr>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lang="zh-CN" altLang="en-US" kern="0">
                <a:solidFill>
                  <a:srgbClr val="000000"/>
                </a:solidFill>
              </a:endParaRPr>
            </a:p>
          </p:txBody>
        </p:sp>
      </p:grpSp>
      <p:sp>
        <p:nvSpPr>
          <p:cNvPr id="100" name="AutoShape 29"/>
          <p:cNvSpPr>
            <a:spLocks noChangeArrowheads="1"/>
          </p:cNvSpPr>
          <p:nvPr/>
        </p:nvSpPr>
        <p:spPr bwMode="auto">
          <a:xfrm flipV="1">
            <a:off x="564168" y="4916549"/>
            <a:ext cx="196850" cy="361950"/>
          </a:xfrm>
          <a:prstGeom prst="upArrow">
            <a:avLst>
              <a:gd name="adj1" fmla="val 50000"/>
              <a:gd name="adj2" fmla="val 45968"/>
            </a:avLst>
          </a:prstGeom>
          <a:solidFill>
            <a:srgbClr val="FF0000">
              <a:alpha val="25000"/>
            </a:srgbClr>
          </a:solidFill>
          <a:ln w="12700">
            <a:solidFill>
              <a:srgbClr val="C00000">
                <a:alpha val="25000"/>
              </a:srgbClr>
            </a:solidFill>
            <a:miter lim="800000"/>
            <a:headEnd/>
            <a:tailEnd/>
          </a:ln>
          <a:effec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grpSp>
        <p:nvGrpSpPr>
          <p:cNvPr id="111" name="组合 110"/>
          <p:cNvGrpSpPr/>
          <p:nvPr/>
        </p:nvGrpSpPr>
        <p:grpSpPr>
          <a:xfrm>
            <a:off x="2701881" y="5275419"/>
            <a:ext cx="3913123" cy="370059"/>
            <a:chOff x="2702814" y="4663854"/>
            <a:chExt cx="3913123" cy="370059"/>
          </a:xfrm>
        </p:grpSpPr>
        <p:grpSp>
          <p:nvGrpSpPr>
            <p:cNvPr id="112" name="组合 111"/>
            <p:cNvGrpSpPr/>
            <p:nvPr/>
          </p:nvGrpSpPr>
          <p:grpSpPr>
            <a:xfrm>
              <a:off x="3407727" y="4663900"/>
              <a:ext cx="3208210" cy="370013"/>
              <a:chOff x="3407727" y="4103068"/>
              <a:chExt cx="3208210" cy="370013"/>
            </a:xfrm>
          </p:grpSpPr>
          <p:grpSp>
            <p:nvGrpSpPr>
              <p:cNvPr id="114" name="组合 113"/>
              <p:cNvGrpSpPr/>
              <p:nvPr/>
            </p:nvGrpSpPr>
            <p:grpSpPr>
              <a:xfrm>
                <a:off x="4110863" y="4103068"/>
                <a:ext cx="2505074" cy="370013"/>
                <a:chOff x="4104767" y="3548332"/>
                <a:chExt cx="2505074" cy="370013"/>
              </a:xfrm>
            </p:grpSpPr>
            <p:sp>
              <p:nvSpPr>
                <p:cNvPr id="117" name="Rectangle 39"/>
                <p:cNvSpPr>
                  <a:spLocks noChangeArrowheads="1"/>
                </p:cNvSpPr>
                <p:nvPr/>
              </p:nvSpPr>
              <p:spPr bwMode="auto">
                <a:xfrm>
                  <a:off x="4807903" y="3548332"/>
                  <a:ext cx="1801938" cy="3587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dirty="0">
                      <a:solidFill>
                        <a:srgbClr val="333399"/>
                      </a:solidFill>
                    </a:rPr>
                    <a:t>Web Data</a:t>
                  </a:r>
                  <a:endParaRPr lang="zh-CN" altLang="en-US" sz="1400" dirty="0">
                    <a:solidFill>
                      <a:srgbClr val="333399"/>
                    </a:solidFill>
                  </a:endParaRPr>
                </a:p>
              </p:txBody>
            </p:sp>
            <p:sp>
              <p:nvSpPr>
                <p:cNvPr id="118" name="Rectangle 33"/>
                <p:cNvSpPr>
                  <a:spLocks noChangeArrowheads="1"/>
                </p:cNvSpPr>
                <p:nvPr/>
              </p:nvSpPr>
              <p:spPr bwMode="auto">
                <a:xfrm>
                  <a:off x="4104767" y="3559570"/>
                  <a:ext cx="704913" cy="358775"/>
                </a:xfrm>
                <a:prstGeom prst="rect">
                  <a:avLst/>
                </a:prstGeom>
                <a:solidFill>
                  <a:srgbClr val="B8A9F1"/>
                </a:solidFill>
                <a:ln w="9525">
                  <a:solidFill>
                    <a:schemeClr val="tx1"/>
                  </a:solidFill>
                  <a:miter lim="800000"/>
                  <a:headEnd/>
                  <a:tailEnd/>
                </a:ln>
                <a:effec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5</a:t>
                  </a:r>
                </a:p>
              </p:txBody>
            </p:sp>
          </p:grpSp>
          <p:sp>
            <p:nvSpPr>
              <p:cNvPr id="115" name="Rectangle 33"/>
              <p:cNvSpPr>
                <a:spLocks noChangeArrowheads="1"/>
              </p:cNvSpPr>
              <p:nvPr/>
            </p:nvSpPr>
            <p:spPr bwMode="auto">
              <a:xfrm>
                <a:off x="3407727" y="4108116"/>
                <a:ext cx="704913" cy="358775"/>
              </a:xfrm>
              <a:prstGeom prst="rect">
                <a:avLst/>
              </a:prstGeom>
              <a:solidFill>
                <a:srgbClr val="FFC000"/>
              </a:solidFill>
              <a:ln w="9525">
                <a:solidFill>
                  <a:schemeClr val="tx1"/>
                </a:solidFill>
                <a:miter lim="800000"/>
                <a:headEnd/>
                <a:tailEnd/>
              </a:ln>
              <a:effec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4</a:t>
                </a:r>
              </a:p>
            </p:txBody>
          </p:sp>
        </p:grpSp>
        <p:sp>
          <p:nvSpPr>
            <p:cNvPr id="113" name="Rectangle 33"/>
            <p:cNvSpPr>
              <a:spLocks noChangeArrowheads="1"/>
            </p:cNvSpPr>
            <p:nvPr/>
          </p:nvSpPr>
          <p:spPr bwMode="auto">
            <a:xfrm>
              <a:off x="2702814" y="4663854"/>
              <a:ext cx="704913" cy="358775"/>
            </a:xfrm>
            <a:prstGeom prst="rect">
              <a:avLst/>
            </a:prstGeom>
            <a:solidFill>
              <a:srgbClr val="84E8E3"/>
            </a:solidFill>
            <a:ln w="9525">
              <a:solidFill>
                <a:schemeClr val="tx1"/>
              </a:solidFill>
              <a:miter lim="800000"/>
              <a:headEnd/>
              <a:tailEnd/>
            </a:ln>
            <a:effec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3</a:t>
              </a:r>
            </a:p>
          </p:txBody>
        </p:sp>
      </p:grpSp>
      <p:sp>
        <p:nvSpPr>
          <p:cNvPr id="102" name="AutoShape 29"/>
          <p:cNvSpPr>
            <a:spLocks noChangeArrowheads="1"/>
          </p:cNvSpPr>
          <p:nvPr/>
        </p:nvSpPr>
        <p:spPr bwMode="auto">
          <a:xfrm flipV="1">
            <a:off x="3752902" y="4981016"/>
            <a:ext cx="173768" cy="282211"/>
          </a:xfrm>
          <a:prstGeom prst="upArrow">
            <a:avLst>
              <a:gd name="adj1" fmla="val 50000"/>
              <a:gd name="adj2" fmla="val 45968"/>
            </a:avLst>
          </a:prstGeom>
          <a:solidFill>
            <a:srgbClr val="FF0000">
              <a:alpha val="25000"/>
            </a:srgbClr>
          </a:solidFill>
          <a:ln w="12700">
            <a:solidFill>
              <a:srgbClr val="C00000">
                <a:alpha val="25000"/>
              </a:srgbClr>
            </a:solidFill>
            <a:miter lim="800000"/>
            <a:headEnd/>
            <a:tailEnd/>
          </a:ln>
          <a:effec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sp>
        <p:nvSpPr>
          <p:cNvPr id="119" name="Rectangle 33"/>
          <p:cNvSpPr>
            <a:spLocks noChangeArrowheads="1"/>
          </p:cNvSpPr>
          <p:nvPr/>
        </p:nvSpPr>
        <p:spPr bwMode="auto">
          <a:xfrm>
            <a:off x="2003997" y="5274501"/>
            <a:ext cx="704913" cy="358775"/>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dirty="0">
                <a:solidFill>
                  <a:srgbClr val="333399"/>
                </a:solidFill>
              </a:rPr>
              <a:t>Header</a:t>
            </a:r>
            <a:r>
              <a:rPr lang="en-US" altLang="zh-CN" sz="1400" b="1" baseline="-25000" dirty="0">
                <a:solidFill>
                  <a:srgbClr val="333399"/>
                </a:solidFill>
              </a:rPr>
              <a:t>2</a:t>
            </a:r>
          </a:p>
        </p:txBody>
      </p:sp>
      <p:sp>
        <p:nvSpPr>
          <p:cNvPr id="120" name="Rectangle 34"/>
          <p:cNvSpPr>
            <a:spLocks noChangeArrowheads="1"/>
          </p:cNvSpPr>
          <p:nvPr/>
        </p:nvSpPr>
        <p:spPr bwMode="auto">
          <a:xfrm>
            <a:off x="6622988" y="5274501"/>
            <a:ext cx="406910" cy="358775"/>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400" dirty="0">
                <a:solidFill>
                  <a:srgbClr val="333399"/>
                </a:solidFill>
                <a:latin typeface="Arial"/>
                <a:ea typeface="宋体"/>
              </a:rPr>
              <a:t>Tail</a:t>
            </a:r>
            <a:r>
              <a:rPr lang="en-US" altLang="zh-CN" sz="1400" b="1" baseline="-25000" dirty="0">
                <a:solidFill>
                  <a:srgbClr val="333399"/>
                </a:solidFill>
                <a:latin typeface="Arial"/>
                <a:ea typeface="宋体"/>
              </a:rPr>
              <a:t>2</a:t>
            </a:r>
          </a:p>
        </p:txBody>
      </p:sp>
      <p:grpSp>
        <p:nvGrpSpPr>
          <p:cNvPr id="123" name="组合 122"/>
          <p:cNvGrpSpPr/>
          <p:nvPr/>
        </p:nvGrpSpPr>
        <p:grpSpPr>
          <a:xfrm>
            <a:off x="1503934" y="4927395"/>
            <a:ext cx="1551450" cy="338554"/>
            <a:chOff x="3365048" y="3252687"/>
            <a:chExt cx="1551450" cy="338554"/>
          </a:xfrm>
        </p:grpSpPr>
        <p:sp>
          <p:nvSpPr>
            <p:cNvPr id="124" name="Text Box 32"/>
            <p:cNvSpPr txBox="1">
              <a:spLocks noChangeArrowheads="1"/>
            </p:cNvSpPr>
            <p:nvPr/>
          </p:nvSpPr>
          <p:spPr bwMode="auto">
            <a:xfrm>
              <a:off x="3365048" y="3252687"/>
              <a:ext cx="15514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en-US" altLang="zh-CN" sz="1600" dirty="0">
                  <a:solidFill>
                    <a:srgbClr val="000000"/>
                  </a:solidFill>
                  <a:latin typeface="Calibri" panose="020F0502020204030204" pitchFamily="34" charset="0"/>
                  <a:ea typeface="黑体" panose="02010609060101010101" pitchFamily="49" charset="-122"/>
                </a:rPr>
                <a:t>Ethernet header</a:t>
              </a:r>
              <a:endParaRPr kumimoji="1" lang="zh-CN" altLang="en-US" sz="1600" dirty="0">
                <a:solidFill>
                  <a:srgbClr val="000000"/>
                </a:solidFill>
                <a:latin typeface="Calibri" panose="020F0502020204030204" pitchFamily="34" charset="0"/>
                <a:ea typeface="黑体" panose="02010609060101010101" pitchFamily="49" charset="-122"/>
              </a:endParaRPr>
            </a:p>
          </p:txBody>
        </p:sp>
        <p:sp>
          <p:nvSpPr>
            <p:cNvPr id="125" name="Line 33"/>
            <p:cNvSpPr>
              <a:spLocks noChangeShapeType="1"/>
            </p:cNvSpPr>
            <p:nvPr/>
          </p:nvSpPr>
          <p:spPr bwMode="auto">
            <a:xfrm>
              <a:off x="4172460" y="3470731"/>
              <a:ext cx="253554" cy="103492"/>
            </a:xfrm>
            <a:prstGeom prst="line">
              <a:avLst/>
            </a:prstGeom>
            <a:noFill/>
            <a:ln w="12700">
              <a:solidFill>
                <a:schemeClr val="tx1">
                  <a:lumMod val="65000"/>
                  <a:lumOff val="35000"/>
                </a:schemeClr>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lang="zh-CN" altLang="en-US" kern="0">
                <a:solidFill>
                  <a:srgbClr val="000000"/>
                </a:solidFill>
              </a:endParaRPr>
            </a:p>
          </p:txBody>
        </p:sp>
      </p:grpSp>
      <p:sp>
        <p:nvSpPr>
          <p:cNvPr id="132" name="Text Box 32"/>
          <p:cNvSpPr txBox="1">
            <a:spLocks noChangeArrowheads="1"/>
          </p:cNvSpPr>
          <p:nvPr/>
        </p:nvSpPr>
        <p:spPr bwMode="auto">
          <a:xfrm>
            <a:off x="6962564" y="5307734"/>
            <a:ext cx="67896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742950" indent="-285750" defTabSz="762000">
              <a:defRPr>
                <a:solidFill>
                  <a:schemeClr val="tx1"/>
                </a:solidFill>
                <a:latin typeface="Arial" panose="020B0604020202020204" pitchFamily="34" charset="0"/>
                <a:ea typeface="宋体" panose="02010600030101010101" pitchFamily="2" charset="-122"/>
              </a:defRPr>
            </a:lvl2pPr>
            <a:lvl3pPr marL="1143000" indent="-228600" defTabSz="762000">
              <a:defRPr>
                <a:solidFill>
                  <a:schemeClr val="tx1"/>
                </a:solidFill>
                <a:latin typeface="Arial" panose="020B0604020202020204" pitchFamily="34" charset="0"/>
                <a:ea typeface="宋体" panose="02010600030101010101" pitchFamily="2" charset="-122"/>
              </a:defRPr>
            </a:lvl3pPr>
            <a:lvl4pPr marL="1600200" indent="-228600" defTabSz="762000">
              <a:defRPr>
                <a:solidFill>
                  <a:schemeClr val="tx1"/>
                </a:solidFill>
                <a:latin typeface="Arial" panose="020B0604020202020204" pitchFamily="34" charset="0"/>
                <a:ea typeface="宋体" panose="02010600030101010101" pitchFamily="2" charset="-122"/>
              </a:defRPr>
            </a:lvl4pPr>
            <a:lvl5pPr marL="2057400" indent="-228600" defTabSz="762000">
              <a:defRPr>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en-US" altLang="zh-CN" sz="1600" dirty="0">
                <a:solidFill>
                  <a:srgbClr val="000000"/>
                </a:solidFill>
                <a:latin typeface="Calibri" panose="020F0502020204030204" pitchFamily="34" charset="0"/>
                <a:ea typeface="黑体" panose="02010609060101010101" pitchFamily="49" charset="-122"/>
              </a:rPr>
              <a:t>frame</a:t>
            </a:r>
            <a:endParaRPr kumimoji="1" lang="zh-CN" altLang="en-US" sz="1600" dirty="0">
              <a:solidFill>
                <a:srgbClr val="000000"/>
              </a:solidFill>
              <a:latin typeface="Calibri" panose="020F0502020204030204" pitchFamily="34" charset="0"/>
              <a:ea typeface="黑体" panose="02010609060101010101" pitchFamily="49" charset="-122"/>
            </a:endParaRPr>
          </a:p>
        </p:txBody>
      </p:sp>
      <p:sp>
        <p:nvSpPr>
          <p:cNvPr id="92" name="AutoShape 29"/>
          <p:cNvSpPr>
            <a:spLocks noChangeArrowheads="1"/>
          </p:cNvSpPr>
          <p:nvPr/>
        </p:nvSpPr>
        <p:spPr bwMode="auto">
          <a:xfrm flipV="1">
            <a:off x="570264" y="5507861"/>
            <a:ext cx="196850" cy="361950"/>
          </a:xfrm>
          <a:prstGeom prst="upArrow">
            <a:avLst>
              <a:gd name="adj1" fmla="val 50000"/>
              <a:gd name="adj2" fmla="val 45968"/>
            </a:avLst>
          </a:prstGeom>
          <a:solidFill>
            <a:srgbClr val="FF0000"/>
          </a:solidFill>
          <a:ln w="12700">
            <a:solidFill>
              <a:srgbClr val="C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sp>
        <p:nvSpPr>
          <p:cNvPr id="126" name="Rectangle 30"/>
          <p:cNvSpPr>
            <a:spLocks noChangeArrowheads="1"/>
          </p:cNvSpPr>
          <p:nvPr/>
        </p:nvSpPr>
        <p:spPr bwMode="auto">
          <a:xfrm>
            <a:off x="2003997" y="5776024"/>
            <a:ext cx="5025901" cy="358775"/>
          </a:xfrm>
          <a:prstGeom prst="rect">
            <a:avLst/>
          </a:prstGeom>
          <a:solidFill>
            <a:srgbClr val="E5E5FF"/>
          </a:solidFill>
          <a:ln w="6350">
            <a:solidFill>
              <a:srgbClr val="000042"/>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000" dirty="0">
                <a:solidFill>
                  <a:srgbClr val="00007D">
                    <a:lumMod val="75000"/>
                  </a:srgbClr>
                </a:solidFill>
                <a:ea typeface="黑体" panose="02010609060101010101" pitchFamily="49" charset="-122"/>
              </a:rPr>
              <a:t>10100110100101  </a:t>
            </a:r>
            <a:r>
              <a:rPr lang="zh-CN" altLang="en-US" dirty="0">
                <a:solidFill>
                  <a:srgbClr val="00007D">
                    <a:lumMod val="75000"/>
                  </a:srgbClr>
                </a:solidFill>
                <a:ea typeface="黑体" panose="02010609060101010101" pitchFamily="49" charset="-122"/>
              </a:rPr>
              <a:t>比  特  流  </a:t>
            </a:r>
            <a:r>
              <a:rPr lang="en-US" altLang="zh-CN" sz="2000" dirty="0">
                <a:solidFill>
                  <a:srgbClr val="00007D">
                    <a:lumMod val="75000"/>
                  </a:srgbClr>
                </a:solidFill>
                <a:ea typeface="黑体" panose="02010609060101010101" pitchFamily="49" charset="-122"/>
              </a:rPr>
              <a:t>110101110101</a:t>
            </a:r>
          </a:p>
        </p:txBody>
      </p:sp>
      <p:sp>
        <p:nvSpPr>
          <p:cNvPr id="99" name="AutoShape 29"/>
          <p:cNvSpPr>
            <a:spLocks noChangeArrowheads="1"/>
          </p:cNvSpPr>
          <p:nvPr/>
        </p:nvSpPr>
        <p:spPr bwMode="auto">
          <a:xfrm flipV="1">
            <a:off x="3015286" y="5572328"/>
            <a:ext cx="173768" cy="282211"/>
          </a:xfrm>
          <a:prstGeom prst="upArrow">
            <a:avLst>
              <a:gd name="adj1" fmla="val 50000"/>
              <a:gd name="adj2" fmla="val 45968"/>
            </a:avLst>
          </a:prstGeom>
          <a:solidFill>
            <a:srgbClr val="FF0000"/>
          </a:solidFill>
          <a:ln w="12700">
            <a:solidFill>
              <a:srgbClr val="C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sp>
        <p:nvSpPr>
          <p:cNvPr id="139" name="AutoShape 25"/>
          <p:cNvSpPr>
            <a:spLocks noChangeArrowheads="1"/>
          </p:cNvSpPr>
          <p:nvPr/>
        </p:nvSpPr>
        <p:spPr bwMode="auto">
          <a:xfrm flipV="1">
            <a:off x="696913" y="6121019"/>
            <a:ext cx="395287" cy="419100"/>
          </a:xfrm>
          <a:custGeom>
            <a:avLst/>
            <a:gdLst>
              <a:gd name="T0" fmla="*/ 276811 w 21600"/>
              <a:gd name="T1" fmla="*/ 0 h 21600"/>
              <a:gd name="T2" fmla="*/ 276811 w 21600"/>
              <a:gd name="T3" fmla="*/ 235899 h 21600"/>
              <a:gd name="T4" fmla="*/ 59238 w 21600"/>
              <a:gd name="T5" fmla="*/ 419100 h 21600"/>
              <a:gd name="T6" fmla="*/ 395287 w 21600"/>
              <a:gd name="T7" fmla="*/ 1179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lang="zh-CN" altLang="en-US" kern="0">
              <a:solidFill>
                <a:srgbClr val="000000"/>
              </a:solidFill>
            </a:endParaRPr>
          </a:p>
        </p:txBody>
      </p:sp>
      <p:sp>
        <p:nvSpPr>
          <p:cNvPr id="140" name="AutoShape 27"/>
          <p:cNvSpPr>
            <a:spLocks noChangeArrowheads="1"/>
          </p:cNvSpPr>
          <p:nvPr/>
        </p:nvSpPr>
        <p:spPr bwMode="auto">
          <a:xfrm rot="5400000">
            <a:off x="3310731" y="6221826"/>
            <a:ext cx="179387" cy="393700"/>
          </a:xfrm>
          <a:prstGeom prst="upArrow">
            <a:avLst>
              <a:gd name="adj1" fmla="val 50000"/>
              <a:gd name="adj2" fmla="val 54867"/>
            </a:avLst>
          </a:prstGeom>
          <a:solidFill>
            <a:srgbClr val="FF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sp>
        <p:nvSpPr>
          <p:cNvPr id="141" name="AutoShape 28"/>
          <p:cNvSpPr>
            <a:spLocks noChangeArrowheads="1"/>
          </p:cNvSpPr>
          <p:nvPr/>
        </p:nvSpPr>
        <p:spPr bwMode="auto">
          <a:xfrm rot="5400000">
            <a:off x="6047581" y="6221826"/>
            <a:ext cx="179387" cy="393700"/>
          </a:xfrm>
          <a:prstGeom prst="upArrow">
            <a:avLst>
              <a:gd name="adj1" fmla="val 50000"/>
              <a:gd name="adj2" fmla="val 54867"/>
            </a:avLst>
          </a:prstGeom>
          <a:solidFill>
            <a:srgbClr val="FF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defRPr/>
            </a:pPr>
            <a:endParaRPr lang="zh-CN" altLang="en-US" kern="0">
              <a:solidFill>
                <a:srgbClr val="000000"/>
              </a:solidFill>
            </a:endParaRPr>
          </a:p>
        </p:txBody>
      </p:sp>
      <p:grpSp>
        <p:nvGrpSpPr>
          <p:cNvPr id="142" name="Group 34"/>
          <p:cNvGrpSpPr>
            <a:grpSpLocks/>
          </p:cNvGrpSpPr>
          <p:nvPr/>
        </p:nvGrpSpPr>
        <p:grpSpPr bwMode="auto">
          <a:xfrm>
            <a:off x="1619250" y="6349619"/>
            <a:ext cx="1066800" cy="139700"/>
            <a:chOff x="1344" y="912"/>
            <a:chExt cx="672" cy="96"/>
          </a:xfrm>
        </p:grpSpPr>
        <p:sp>
          <p:nvSpPr>
            <p:cNvPr id="143" name="Line 35"/>
            <p:cNvSpPr>
              <a:spLocks noChangeShapeType="1"/>
            </p:cNvSpPr>
            <p:nvPr/>
          </p:nvSpPr>
          <p:spPr bwMode="auto">
            <a:xfrm>
              <a:off x="1344" y="960"/>
              <a:ext cx="672" cy="0"/>
            </a:xfrm>
            <a:prstGeom prst="line">
              <a:avLst/>
            </a:prstGeom>
            <a:noFill/>
            <a:ln w="1270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zh-CN" altLang="en-US" kern="0">
                <a:solidFill>
                  <a:srgbClr val="000000"/>
                </a:solidFill>
              </a:endParaRPr>
            </a:p>
          </p:txBody>
        </p:sp>
        <p:sp>
          <p:nvSpPr>
            <p:cNvPr id="144" name="Freeform 36"/>
            <p:cNvSpPr>
              <a:spLocks/>
            </p:cNvSpPr>
            <p:nvPr/>
          </p:nvSpPr>
          <p:spPr bwMode="auto">
            <a:xfrm>
              <a:off x="1392" y="912"/>
              <a:ext cx="576" cy="96"/>
            </a:xfrm>
            <a:custGeom>
              <a:avLst/>
              <a:gdLst>
                <a:gd name="T0" fmla="*/ 0 w 576"/>
                <a:gd name="T1" fmla="*/ 48 h 192"/>
                <a:gd name="T2" fmla="*/ 0 w 576"/>
                <a:gd name="T3" fmla="*/ 0 h 192"/>
                <a:gd name="T4" fmla="*/ 192 w 576"/>
                <a:gd name="T5" fmla="*/ 0 h 192"/>
                <a:gd name="T6" fmla="*/ 192 w 576"/>
                <a:gd name="T7" fmla="*/ 96 h 192"/>
                <a:gd name="T8" fmla="*/ 288 w 576"/>
                <a:gd name="T9" fmla="*/ 96 h 192"/>
                <a:gd name="T10" fmla="*/ 288 w 576"/>
                <a:gd name="T11" fmla="*/ 0 h 192"/>
                <a:gd name="T12" fmla="*/ 336 w 576"/>
                <a:gd name="T13" fmla="*/ 0 h 192"/>
                <a:gd name="T14" fmla="*/ 336 w 576"/>
                <a:gd name="T15" fmla="*/ 96 h 192"/>
                <a:gd name="T16" fmla="*/ 480 w 576"/>
                <a:gd name="T17" fmla="*/ 96 h 192"/>
                <a:gd name="T18" fmla="*/ 480 w 576"/>
                <a:gd name="T19" fmla="*/ 0 h 192"/>
                <a:gd name="T20" fmla="*/ 576 w 576"/>
                <a:gd name="T21" fmla="*/ 0 h 192"/>
                <a:gd name="T22" fmla="*/ 576 w 576"/>
                <a:gd name="T23" fmla="*/ 48 h 192"/>
                <a:gd name="T24" fmla="*/ 0 w 576"/>
                <a:gd name="T25" fmla="*/ 48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333399"/>
            </a:solidFill>
            <a:ln w="12700" cap="flat" cmpd="sng">
              <a:solidFill>
                <a:srgbClr val="000000"/>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zh-CN" altLang="en-US" kern="0">
                <a:solidFill>
                  <a:srgbClr val="000000"/>
                </a:solidFill>
              </a:endParaRPr>
            </a:p>
          </p:txBody>
        </p:sp>
      </p:grpSp>
      <p:grpSp>
        <p:nvGrpSpPr>
          <p:cNvPr id="145" name="Group 37"/>
          <p:cNvGrpSpPr>
            <a:grpSpLocks/>
          </p:cNvGrpSpPr>
          <p:nvPr/>
        </p:nvGrpSpPr>
        <p:grpSpPr bwMode="auto">
          <a:xfrm>
            <a:off x="6600825" y="6348032"/>
            <a:ext cx="1066800" cy="142875"/>
            <a:chOff x="4158" y="3753"/>
            <a:chExt cx="672" cy="90"/>
          </a:xfrm>
        </p:grpSpPr>
        <p:sp>
          <p:nvSpPr>
            <p:cNvPr id="146" name="Line 38"/>
            <p:cNvSpPr>
              <a:spLocks noChangeShapeType="1"/>
            </p:cNvSpPr>
            <p:nvPr/>
          </p:nvSpPr>
          <p:spPr bwMode="auto">
            <a:xfrm>
              <a:off x="4158" y="3798"/>
              <a:ext cx="672" cy="0"/>
            </a:xfrm>
            <a:prstGeom prst="line">
              <a:avLst/>
            </a:prstGeom>
            <a:noFill/>
            <a:ln w="1270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zh-CN" altLang="en-US" kern="0">
                <a:solidFill>
                  <a:srgbClr val="000000"/>
                </a:solidFill>
              </a:endParaRPr>
            </a:p>
          </p:txBody>
        </p:sp>
        <p:sp>
          <p:nvSpPr>
            <p:cNvPr id="147" name="Freeform 39"/>
            <p:cNvSpPr>
              <a:spLocks/>
            </p:cNvSpPr>
            <p:nvPr/>
          </p:nvSpPr>
          <p:spPr bwMode="auto">
            <a:xfrm>
              <a:off x="4209" y="3753"/>
              <a:ext cx="576" cy="90"/>
            </a:xfrm>
            <a:custGeom>
              <a:avLst/>
              <a:gdLst>
                <a:gd name="T0" fmla="*/ 0 w 576"/>
                <a:gd name="T1" fmla="*/ 46 h 99"/>
                <a:gd name="T2" fmla="*/ 0 w 576"/>
                <a:gd name="T3" fmla="*/ 3 h 99"/>
                <a:gd name="T4" fmla="*/ 135 w 576"/>
                <a:gd name="T5" fmla="*/ 3 h 99"/>
                <a:gd name="T6" fmla="*/ 138 w 576"/>
                <a:gd name="T7" fmla="*/ 90 h 99"/>
                <a:gd name="T8" fmla="*/ 264 w 576"/>
                <a:gd name="T9" fmla="*/ 89 h 99"/>
                <a:gd name="T10" fmla="*/ 264 w 576"/>
                <a:gd name="T11" fmla="*/ 0 h 99"/>
                <a:gd name="T12" fmla="*/ 426 w 576"/>
                <a:gd name="T13" fmla="*/ 0 h 99"/>
                <a:gd name="T14" fmla="*/ 426 w 576"/>
                <a:gd name="T15" fmla="*/ 90 h 99"/>
                <a:gd name="T16" fmla="*/ 480 w 576"/>
                <a:gd name="T17" fmla="*/ 90 h 99"/>
                <a:gd name="T18" fmla="*/ 480 w 576"/>
                <a:gd name="T19" fmla="*/ 3 h 99"/>
                <a:gd name="T20" fmla="*/ 576 w 576"/>
                <a:gd name="T21" fmla="*/ 3 h 99"/>
                <a:gd name="T22" fmla="*/ 576 w 576"/>
                <a:gd name="T23" fmla="*/ 46 h 99"/>
                <a:gd name="T24" fmla="*/ 0 w 576"/>
                <a:gd name="T25" fmla="*/ 46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333399"/>
            </a:solidFill>
            <a:ln w="12700" cap="flat" cmpd="sng">
              <a:solidFill>
                <a:srgbClr val="000000"/>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defRPr/>
              </a:pPr>
              <a:endParaRPr lang="zh-CN" altLang="en-US" kern="0">
                <a:solidFill>
                  <a:srgbClr val="000000"/>
                </a:solidFill>
              </a:endParaRPr>
            </a:p>
          </p:txBody>
        </p:sp>
      </p:grpSp>
      <p:sp>
        <p:nvSpPr>
          <p:cNvPr id="148" name="AutoShape 42"/>
          <p:cNvSpPr>
            <a:spLocks noChangeArrowheads="1"/>
          </p:cNvSpPr>
          <p:nvPr/>
        </p:nvSpPr>
        <p:spPr bwMode="auto">
          <a:xfrm rot="5400000" flipH="1">
            <a:off x="8071644" y="6069425"/>
            <a:ext cx="431800" cy="395288"/>
          </a:xfrm>
          <a:custGeom>
            <a:avLst/>
            <a:gdLst>
              <a:gd name="T0" fmla="*/ 302380 w 21600"/>
              <a:gd name="T1" fmla="*/ 0 h 21600"/>
              <a:gd name="T2" fmla="*/ 302380 w 21600"/>
              <a:gd name="T3" fmla="*/ 222496 h 21600"/>
              <a:gd name="T4" fmla="*/ 64710 w 21600"/>
              <a:gd name="T5" fmla="*/ 395288 h 21600"/>
              <a:gd name="T6" fmla="*/ 431800 w 21600"/>
              <a:gd name="T7" fmla="*/ 11124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defRPr/>
            </a:pPr>
            <a:endParaRPr lang="zh-CN" altLang="en-US" kern="0">
              <a:solidFill>
                <a:srgbClr val="000000"/>
              </a:solidFill>
            </a:endParaRPr>
          </a:p>
        </p:txBody>
      </p:sp>
    </p:spTree>
    <p:custDataLst>
      <p:tags r:id="rId1"/>
    </p:custDataLst>
    <p:extLst>
      <p:ext uri="{BB962C8B-B14F-4D97-AF65-F5344CB8AC3E}">
        <p14:creationId xmlns:p14="http://schemas.microsoft.com/office/powerpoint/2010/main" val="4207097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构建直连网络需要解决的问题</a:t>
            </a:r>
          </a:p>
        </p:txBody>
      </p:sp>
      <p:sp>
        <p:nvSpPr>
          <p:cNvPr id="3" name="内容占位符 2"/>
          <p:cNvSpPr>
            <a:spLocks noGrp="1"/>
          </p:cNvSpPr>
          <p:nvPr>
            <p:ph idx="1"/>
          </p:nvPr>
        </p:nvSpPr>
        <p:spPr>
          <a:xfrm>
            <a:off x="457200" y="1444979"/>
            <a:ext cx="8229600" cy="3456206"/>
          </a:xfrm>
        </p:spPr>
        <p:txBody>
          <a:bodyPr/>
          <a:lstStyle/>
          <a:p>
            <a:pPr marL="457200" indent="-457200">
              <a:buClrTx/>
              <a:buSzPct val="100000"/>
              <a:buFont typeface="+mj-lt"/>
              <a:buAutoNum type="arabicPeriod"/>
            </a:pPr>
            <a:r>
              <a:rPr lang="zh-CN" altLang="en-US" sz="2000" dirty="0"/>
              <a:t>把比特编码后传送到物理传输介质（链路）上，使其能被收方主机接收并理解</a:t>
            </a:r>
            <a:endParaRPr lang="en-US" altLang="zh-CN" sz="2000" dirty="0">
              <a:solidFill>
                <a:schemeClr val="accent5">
                  <a:lumMod val="75000"/>
                </a:schemeClr>
              </a:solidFill>
            </a:endParaRPr>
          </a:p>
          <a:p>
            <a:pPr marL="457200" indent="-457200">
              <a:spcBef>
                <a:spcPts val="1200"/>
              </a:spcBef>
              <a:buClrTx/>
              <a:buSzPct val="100000"/>
              <a:buFont typeface="+mj-lt"/>
              <a:buAutoNum type="arabicPeriod"/>
            </a:pPr>
            <a:r>
              <a:rPr lang="zh-CN" altLang="en-US" sz="2000" dirty="0"/>
              <a:t>将比特序列描述为完整的消息，形成一个帧</a:t>
            </a:r>
            <a:endParaRPr lang="en-US" altLang="zh-CN" sz="2000" dirty="0">
              <a:solidFill>
                <a:schemeClr val="accent5">
                  <a:lumMod val="75000"/>
                </a:schemeClr>
              </a:solidFill>
            </a:endParaRPr>
          </a:p>
          <a:p>
            <a:pPr marL="457200" indent="-457200">
              <a:spcBef>
                <a:spcPts val="1200"/>
              </a:spcBef>
              <a:buClrTx/>
              <a:buSzPct val="100000"/>
              <a:buFont typeface="+mj-lt"/>
              <a:buAutoNum type="arabicPeriod"/>
            </a:pPr>
            <a:r>
              <a:rPr lang="zh-CN" altLang="en-US" sz="2000" dirty="0"/>
              <a:t>检测传输过程中出现的错误并采取适当行动  </a:t>
            </a:r>
            <a:endParaRPr lang="en-US" altLang="zh-CN" sz="2000" dirty="0"/>
          </a:p>
          <a:p>
            <a:pPr marL="457200" indent="-457200">
              <a:spcBef>
                <a:spcPts val="1200"/>
              </a:spcBef>
              <a:buClrTx/>
              <a:buSzPct val="100000"/>
              <a:buFont typeface="+mj-lt"/>
              <a:buAutoNum type="arabicPeriod"/>
            </a:pPr>
            <a:r>
              <a:rPr lang="zh-CN" altLang="en-US" sz="2000" dirty="0"/>
              <a:t>建立一个看起来可靠的链路（帧有可能出错） </a:t>
            </a:r>
            <a:endParaRPr lang="en-US" altLang="zh-CN" sz="2000" dirty="0"/>
          </a:p>
          <a:p>
            <a:pPr marL="457200" indent="-457200">
              <a:spcBef>
                <a:spcPts val="1200"/>
              </a:spcBef>
              <a:buClrTx/>
              <a:buSzPct val="100000"/>
              <a:buFont typeface="+mj-lt"/>
              <a:buAutoNum type="arabicPeriod"/>
            </a:pPr>
            <a:r>
              <a:rPr lang="zh-CN" altLang="en-US" sz="2000" dirty="0"/>
              <a:t>一条链路由多个主机共享时，如何协调主机对链路的访问     </a:t>
            </a:r>
            <a:endParaRPr lang="zh-CN" altLang="en-US" sz="2000" dirty="0">
              <a:solidFill>
                <a:schemeClr val="accent5">
                  <a:lumMod val="75000"/>
                </a:schemeClr>
              </a:solidFill>
            </a:endParaRP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4</a:t>
            </a:fld>
            <a:endParaRPr lang="zh-CN" altLang="en-US" dirty="0"/>
          </a:p>
        </p:txBody>
      </p:sp>
      <p:sp>
        <p:nvSpPr>
          <p:cNvPr id="6" name="文本框 5"/>
          <p:cNvSpPr txBox="1"/>
          <p:nvPr/>
        </p:nvSpPr>
        <p:spPr>
          <a:xfrm>
            <a:off x="6080587" y="2011643"/>
            <a:ext cx="1756881" cy="400110"/>
          </a:xfrm>
          <a:prstGeom prst="rect">
            <a:avLst/>
          </a:prstGeom>
          <a:noFill/>
        </p:spPr>
        <p:txBody>
          <a:bodyPr wrap="square" rtlCol="0">
            <a:spAutoFit/>
          </a:bodyPr>
          <a:lstStyle/>
          <a:p>
            <a:r>
              <a:rPr lang="en-US" altLang="zh-CN" sz="2000" kern="0" dirty="0">
                <a:solidFill>
                  <a:srgbClr val="CACAFF">
                    <a:lumMod val="75000"/>
                  </a:srgbClr>
                </a:solidFill>
                <a:latin typeface="Calibri" panose="020F0502020204030204" pitchFamily="34" charset="0"/>
                <a:ea typeface="黑体" panose="02010609060101010101" pitchFamily="49" charset="-122"/>
              </a:rPr>
              <a:t>------ </a:t>
            </a:r>
            <a:r>
              <a:rPr lang="zh-CN" altLang="en-US" sz="2000" kern="0" dirty="0">
                <a:solidFill>
                  <a:srgbClr val="CACAFF">
                    <a:lumMod val="75000"/>
                  </a:srgbClr>
                </a:solidFill>
                <a:latin typeface="Calibri" panose="020F0502020204030204" pitchFamily="34" charset="0"/>
                <a:ea typeface="黑体" panose="02010609060101010101" pitchFamily="49" charset="-122"/>
              </a:rPr>
              <a:t>信道编码</a:t>
            </a:r>
            <a:endParaRPr lang="zh-CN" altLang="en-US" dirty="0"/>
          </a:p>
        </p:txBody>
      </p:sp>
      <p:sp>
        <p:nvSpPr>
          <p:cNvPr id="7" name="文本框 6"/>
          <p:cNvSpPr txBox="1"/>
          <p:nvPr/>
        </p:nvSpPr>
        <p:spPr>
          <a:xfrm>
            <a:off x="6080588" y="3213339"/>
            <a:ext cx="1756881" cy="400110"/>
          </a:xfrm>
          <a:prstGeom prst="rect">
            <a:avLst/>
          </a:prstGeom>
          <a:noFill/>
        </p:spPr>
        <p:txBody>
          <a:bodyPr wrap="square" rtlCol="0">
            <a:spAutoFit/>
          </a:bodyPr>
          <a:lstStyle/>
          <a:p>
            <a:r>
              <a:rPr lang="en-US" altLang="zh-CN" sz="2000" kern="0" dirty="0">
                <a:solidFill>
                  <a:srgbClr val="CACAFF">
                    <a:lumMod val="75000"/>
                  </a:srgbClr>
                </a:solidFill>
                <a:latin typeface="Calibri" panose="020F0502020204030204" pitchFamily="34" charset="0"/>
                <a:ea typeface="黑体" panose="02010609060101010101" pitchFamily="49" charset="-122"/>
              </a:rPr>
              <a:t>------ </a:t>
            </a:r>
            <a:r>
              <a:rPr lang="zh-CN" altLang="en-US" sz="2000" kern="0" dirty="0">
                <a:solidFill>
                  <a:srgbClr val="CACAFF">
                    <a:lumMod val="75000"/>
                  </a:srgbClr>
                </a:solidFill>
                <a:latin typeface="Calibri" panose="020F0502020204030204" pitchFamily="34" charset="0"/>
                <a:ea typeface="黑体" panose="02010609060101010101" pitchFamily="49" charset="-122"/>
              </a:rPr>
              <a:t>错误检测</a:t>
            </a:r>
            <a:endParaRPr lang="zh-CN" altLang="en-US" dirty="0"/>
          </a:p>
        </p:txBody>
      </p:sp>
      <p:sp>
        <p:nvSpPr>
          <p:cNvPr id="8" name="文本框 7"/>
          <p:cNvSpPr txBox="1"/>
          <p:nvPr/>
        </p:nvSpPr>
        <p:spPr>
          <a:xfrm>
            <a:off x="6080589" y="2604429"/>
            <a:ext cx="1756881" cy="400110"/>
          </a:xfrm>
          <a:prstGeom prst="rect">
            <a:avLst/>
          </a:prstGeom>
          <a:noFill/>
        </p:spPr>
        <p:txBody>
          <a:bodyPr wrap="square" rtlCol="0">
            <a:spAutoFit/>
          </a:bodyPr>
          <a:lstStyle/>
          <a:p>
            <a:r>
              <a:rPr lang="en-US" altLang="zh-CN" sz="2000" kern="0" dirty="0">
                <a:solidFill>
                  <a:srgbClr val="CACAFF">
                    <a:lumMod val="75000"/>
                  </a:srgbClr>
                </a:solidFill>
                <a:latin typeface="Calibri" panose="020F0502020204030204" pitchFamily="34" charset="0"/>
                <a:ea typeface="黑体" panose="02010609060101010101" pitchFamily="49" charset="-122"/>
              </a:rPr>
              <a:t>------ </a:t>
            </a:r>
            <a:r>
              <a:rPr lang="zh-CN" altLang="en-US" sz="2000" kern="0" dirty="0">
                <a:solidFill>
                  <a:srgbClr val="CACAFF">
                    <a:lumMod val="75000"/>
                  </a:srgbClr>
                </a:solidFill>
                <a:latin typeface="Calibri" panose="020F0502020204030204" pitchFamily="34" charset="0"/>
                <a:ea typeface="黑体" panose="02010609060101010101" pitchFamily="49" charset="-122"/>
              </a:rPr>
              <a:t>组帧</a:t>
            </a:r>
            <a:endParaRPr lang="zh-CN" altLang="en-US" dirty="0"/>
          </a:p>
        </p:txBody>
      </p:sp>
      <p:sp>
        <p:nvSpPr>
          <p:cNvPr id="9" name="文本框 8"/>
          <p:cNvSpPr txBox="1"/>
          <p:nvPr/>
        </p:nvSpPr>
        <p:spPr>
          <a:xfrm>
            <a:off x="6080588" y="3785577"/>
            <a:ext cx="1756881" cy="400110"/>
          </a:xfrm>
          <a:prstGeom prst="rect">
            <a:avLst/>
          </a:prstGeom>
          <a:noFill/>
        </p:spPr>
        <p:txBody>
          <a:bodyPr wrap="square" rtlCol="0">
            <a:spAutoFit/>
          </a:bodyPr>
          <a:lstStyle/>
          <a:p>
            <a:r>
              <a:rPr lang="en-US" altLang="zh-CN" sz="2000" kern="0" dirty="0">
                <a:solidFill>
                  <a:srgbClr val="CACAFF">
                    <a:lumMod val="75000"/>
                  </a:srgbClr>
                </a:solidFill>
                <a:latin typeface="Calibri" panose="020F0502020204030204" pitchFamily="34" charset="0"/>
                <a:ea typeface="黑体" panose="02010609060101010101" pitchFamily="49" charset="-122"/>
              </a:rPr>
              <a:t>------ </a:t>
            </a:r>
            <a:r>
              <a:rPr lang="zh-CN" altLang="en-US" sz="2000" kern="0" dirty="0">
                <a:solidFill>
                  <a:srgbClr val="CACAFF">
                    <a:lumMod val="75000"/>
                  </a:srgbClr>
                </a:solidFill>
                <a:latin typeface="Calibri" panose="020F0502020204030204" pitchFamily="34" charset="0"/>
                <a:ea typeface="黑体" panose="02010609060101010101" pitchFamily="49" charset="-122"/>
              </a:rPr>
              <a:t>可靠传输</a:t>
            </a:r>
            <a:endParaRPr lang="zh-CN" altLang="en-US" dirty="0"/>
          </a:p>
        </p:txBody>
      </p:sp>
      <p:sp>
        <p:nvSpPr>
          <p:cNvPr id="10" name="文本框 9"/>
          <p:cNvSpPr txBox="1"/>
          <p:nvPr/>
        </p:nvSpPr>
        <p:spPr>
          <a:xfrm>
            <a:off x="6080588" y="4788747"/>
            <a:ext cx="2436688" cy="400110"/>
          </a:xfrm>
          <a:prstGeom prst="rect">
            <a:avLst/>
          </a:prstGeom>
          <a:noFill/>
        </p:spPr>
        <p:txBody>
          <a:bodyPr wrap="square" rtlCol="0">
            <a:spAutoFit/>
          </a:bodyPr>
          <a:lstStyle/>
          <a:p>
            <a:r>
              <a:rPr lang="en-US" altLang="zh-CN" sz="2000" kern="0" dirty="0">
                <a:solidFill>
                  <a:srgbClr val="CACAFF">
                    <a:lumMod val="75000"/>
                  </a:srgbClr>
                </a:solidFill>
                <a:latin typeface="Calibri" panose="020F0502020204030204" pitchFamily="34" charset="0"/>
                <a:ea typeface="黑体" panose="02010609060101010101" pitchFamily="49" charset="-122"/>
              </a:rPr>
              <a:t>------ </a:t>
            </a:r>
            <a:r>
              <a:rPr lang="zh-CN" altLang="en-US" sz="2000" kern="0" dirty="0">
                <a:solidFill>
                  <a:srgbClr val="CACAFF">
                    <a:lumMod val="75000"/>
                  </a:srgbClr>
                </a:solidFill>
                <a:latin typeface="Calibri" panose="020F0502020204030204" pitchFamily="34" charset="0"/>
                <a:ea typeface="黑体" panose="02010609060101010101" pitchFamily="49" charset="-122"/>
              </a:rPr>
              <a:t>介质访问控制</a:t>
            </a:r>
            <a:endParaRPr lang="zh-CN" altLang="en-US" dirty="0"/>
          </a:p>
        </p:txBody>
      </p:sp>
    </p:spTree>
    <p:custDataLst>
      <p:tags r:id="rId1"/>
    </p:custDataLst>
    <p:extLst>
      <p:ext uri="{BB962C8B-B14F-4D97-AF65-F5344CB8AC3E}">
        <p14:creationId xmlns:p14="http://schemas.microsoft.com/office/powerpoint/2010/main" val="150620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down)">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wipe(down)">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wipe(down)">
                                      <p:cBhvr>
                                        <p:cTn id="47" dur="500"/>
                                        <p:tgtEl>
                                          <p:spTgt spid="3">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提纲</a:t>
            </a:r>
          </a:p>
        </p:txBody>
      </p:sp>
      <p:sp>
        <p:nvSpPr>
          <p:cNvPr id="3" name="内容占位符 2"/>
          <p:cNvSpPr>
            <a:spLocks noGrp="1"/>
          </p:cNvSpPr>
          <p:nvPr>
            <p:ph idx="1"/>
          </p:nvPr>
        </p:nvSpPr>
        <p:spPr>
          <a:xfrm>
            <a:off x="457200" y="1444978"/>
            <a:ext cx="8229600" cy="4748558"/>
          </a:xfrm>
        </p:spPr>
        <p:txBody>
          <a:bodyPr/>
          <a:lstStyle/>
          <a:p>
            <a:pPr>
              <a:lnSpc>
                <a:spcPct val="150000"/>
              </a:lnSpc>
            </a:pPr>
            <a:r>
              <a:rPr lang="en-US" altLang="zh-CN" dirty="0"/>
              <a:t>2.1  </a:t>
            </a:r>
            <a:r>
              <a:rPr lang="zh-CN" altLang="en-US" dirty="0"/>
              <a:t>数据通信的基本概念</a:t>
            </a:r>
            <a:endParaRPr lang="en-US" altLang="zh-CN" dirty="0"/>
          </a:p>
          <a:p>
            <a:pPr>
              <a:lnSpc>
                <a:spcPct val="150000"/>
              </a:lnSpc>
            </a:pPr>
            <a:r>
              <a:rPr lang="en-US" altLang="zh-CN" dirty="0"/>
              <a:t>2.2  </a:t>
            </a:r>
            <a:r>
              <a:rPr lang="zh-CN" altLang="en-US" dirty="0"/>
              <a:t>网络构件</a:t>
            </a:r>
            <a:endParaRPr lang="en-US" altLang="zh-CN" dirty="0"/>
          </a:p>
          <a:p>
            <a:pPr>
              <a:lnSpc>
                <a:spcPct val="150000"/>
              </a:lnSpc>
            </a:pPr>
            <a:r>
              <a:rPr lang="en-US" altLang="zh-CN"/>
              <a:t>2.3  </a:t>
            </a:r>
            <a:r>
              <a:rPr lang="zh-CN" altLang="en-US"/>
              <a:t>组</a:t>
            </a:r>
            <a:r>
              <a:rPr lang="zh-CN" altLang="en-US" dirty="0"/>
              <a:t>帧</a:t>
            </a:r>
          </a:p>
          <a:p>
            <a:r>
              <a:rPr lang="en-US" altLang="zh-CN"/>
              <a:t>2.4  </a:t>
            </a:r>
            <a:r>
              <a:rPr lang="zh-CN" altLang="en-US" dirty="0"/>
              <a:t>差错检测</a:t>
            </a:r>
          </a:p>
          <a:p>
            <a:r>
              <a:rPr lang="en-US" altLang="zh-CN"/>
              <a:t>2.5  </a:t>
            </a:r>
            <a:r>
              <a:rPr lang="zh-CN" altLang="en-US" dirty="0"/>
              <a:t>可靠传输</a:t>
            </a:r>
            <a:endParaRPr lang="en-US" altLang="zh-CN" dirty="0"/>
          </a:p>
          <a:p>
            <a:r>
              <a:rPr lang="en-US" altLang="zh-CN"/>
              <a:t>2.6  </a:t>
            </a:r>
            <a:r>
              <a:rPr lang="zh-CN" altLang="en-US" dirty="0"/>
              <a:t>媒体共享</a:t>
            </a:r>
          </a:p>
          <a:p>
            <a:r>
              <a:rPr lang="en-US" altLang="zh-CN"/>
              <a:t>2.7  </a:t>
            </a:r>
            <a:r>
              <a:rPr lang="zh-CN" altLang="en-US" dirty="0"/>
              <a:t>以太网</a:t>
            </a:r>
          </a:p>
        </p:txBody>
      </p:sp>
      <p:sp>
        <p:nvSpPr>
          <p:cNvPr id="6" name="灯片编号占位符 5"/>
          <p:cNvSpPr>
            <a:spLocks noGrp="1"/>
          </p:cNvSpPr>
          <p:nvPr>
            <p:ph type="sldNum" sz="quarter" idx="11"/>
          </p:nvPr>
        </p:nvSpPr>
        <p:spPr/>
        <p:txBody>
          <a:bodyPr/>
          <a:lstStyle/>
          <a:p>
            <a:fld id="{1A7A0873-376A-4A4E-91BA-7081C35D808C}" type="slidenum">
              <a:rPr lang="zh-CN" altLang="en-US" smtClean="0"/>
              <a:pPr/>
              <a:t>5</a:t>
            </a:fld>
            <a:endParaRPr lang="zh-CN" altLang="en-US" dirty="0"/>
          </a:p>
        </p:txBody>
      </p:sp>
    </p:spTree>
    <p:custDataLst>
      <p:tags r:id="rId1"/>
    </p:custDataLst>
    <p:extLst>
      <p:ext uri="{BB962C8B-B14F-4D97-AF65-F5344CB8AC3E}">
        <p14:creationId xmlns:p14="http://schemas.microsoft.com/office/powerpoint/2010/main" val="36825510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childTnLst>
                                    <p:set>
                                      <p:cBhvr override="childStyle">
                                        <p:cTn id="6" dur="500" fill="hold"/>
                                        <p:tgtEl>
                                          <p:spTgt spid="3">
                                            <p:txEl>
                                              <p:pRg st="0" end="0"/>
                                            </p:txEl>
                                          </p:spTgt>
                                        </p:tgtEl>
                                        <p:attrNameLst>
                                          <p:attrName>style.textDecorationUnderline</p:attrName>
                                        </p:attrNameLst>
                                      </p:cBhvr>
                                      <p:to>
                                        <p:strVal val="true"/>
                                      </p:to>
                                    </p:set>
                                  </p:childTnLst>
                                </p:cTn>
                              </p:par>
                              <p:par>
                                <p:cTn id="7" presetID="3" presetClass="emph" presetSubtype="2" fill="hold" nodeType="withEffect">
                                  <p:stCondLst>
                                    <p:cond delay="0"/>
                                  </p:stCondLst>
                                  <p:childTnLst>
                                    <p:animClr clrSpc="rgb" dir="cw">
                                      <p:cBhvr override="childStyle">
                                        <p:cTn id="8" dur="1000" fill="hold"/>
                                        <p:tgtEl>
                                          <p:spTgt spid="3">
                                            <p:txEl>
                                              <p:pRg st="0" end="0"/>
                                            </p:txEl>
                                          </p:spTgt>
                                        </p:tgtEl>
                                        <p:attrNameLst>
                                          <p:attrName>style.color</p:attrName>
                                        </p:attrNameLst>
                                      </p:cBhvr>
                                      <p:to>
                                        <a:srgbClr val="8D1F6E"/>
                                      </p:to>
                                    </p:animClr>
                                  </p:childTnLst>
                                </p:cTn>
                              </p:par>
                              <p:par>
                                <p:cTn id="9" presetID="9" presetClass="emph" presetSubtype="0" nodeType="withEffect">
                                  <p:stCondLst>
                                    <p:cond delay="0"/>
                                  </p:stCondLst>
                                  <p:childTnLst>
                                    <p:set>
                                      <p:cBhvr>
                                        <p:cTn id="10" dur="indefinite"/>
                                        <p:tgtEl>
                                          <p:spTgt spid="3">
                                            <p:txEl>
                                              <p:pRg st="1" end="1"/>
                                            </p:txEl>
                                          </p:spTgt>
                                        </p:tgtEl>
                                        <p:attrNameLst>
                                          <p:attrName>style.opacity</p:attrName>
                                        </p:attrNameLst>
                                      </p:cBhvr>
                                      <p:to>
                                        <p:strVal val="0.25"/>
                                      </p:to>
                                    </p:set>
                                    <p:animEffect filter="image" prLst="opacity: 0.25">
                                      <p:cBhvr rctx="IE">
                                        <p:cTn id="11" dur="indefinite"/>
                                        <p:tgtEl>
                                          <p:spTgt spid="3">
                                            <p:txEl>
                                              <p:pRg st="1" end="1"/>
                                            </p:txEl>
                                          </p:spTgt>
                                        </p:tgtEl>
                                      </p:cBhvr>
                                    </p:animEffect>
                                  </p:childTnLst>
                                </p:cTn>
                              </p:par>
                              <p:par>
                                <p:cTn id="12" presetID="9" presetClass="emph" presetSubtype="0" nodeType="withEffect">
                                  <p:stCondLst>
                                    <p:cond delay="0"/>
                                  </p:stCondLst>
                                  <p:childTnLst>
                                    <p:set>
                                      <p:cBhvr rctx="PPT">
                                        <p:cTn id="13" dur="indefinite"/>
                                        <p:tgtEl>
                                          <p:spTgt spid="3">
                                            <p:txEl>
                                              <p:pRg st="2" end="2"/>
                                            </p:txEl>
                                          </p:spTgt>
                                        </p:tgtEl>
                                        <p:attrNameLst>
                                          <p:attrName>style.opacity</p:attrName>
                                        </p:attrNameLst>
                                      </p:cBhvr>
                                      <p:to>
                                        <p:strVal val="0.25"/>
                                      </p:to>
                                    </p:set>
                                    <p:animEffect filter="image" prLst="opacity: 0.25">
                                      <p:cBhvr rctx="IE">
                                        <p:cTn id="14" dur="indefinite"/>
                                        <p:tgtEl>
                                          <p:spTgt spid="3">
                                            <p:txEl>
                                              <p:pRg st="2" end="2"/>
                                            </p:txEl>
                                          </p:spTgt>
                                        </p:tgtEl>
                                      </p:cBhvr>
                                    </p:animEffect>
                                  </p:childTnLst>
                                </p:cTn>
                              </p:par>
                              <p:par>
                                <p:cTn id="15" presetID="9" presetClass="emph" presetSubtype="0" nodeType="withEffect">
                                  <p:stCondLst>
                                    <p:cond delay="0"/>
                                  </p:stCondLst>
                                  <p:childTnLst>
                                    <p:set>
                                      <p:cBhvr rctx="PPT">
                                        <p:cTn id="16" dur="indefinite"/>
                                        <p:tgtEl>
                                          <p:spTgt spid="3">
                                            <p:txEl>
                                              <p:pRg st="3" end="3"/>
                                            </p:txEl>
                                          </p:spTgt>
                                        </p:tgtEl>
                                        <p:attrNameLst>
                                          <p:attrName>style.opacity</p:attrName>
                                        </p:attrNameLst>
                                      </p:cBhvr>
                                      <p:to>
                                        <p:strVal val="0.25"/>
                                      </p:to>
                                    </p:set>
                                    <p:animEffect filter="image" prLst="opacity: 0.25">
                                      <p:cBhvr rctx="IE">
                                        <p:cTn id="17" dur="indefinite"/>
                                        <p:tgtEl>
                                          <p:spTgt spid="3">
                                            <p:txEl>
                                              <p:pRg st="3" end="3"/>
                                            </p:txEl>
                                          </p:spTgt>
                                        </p:tgtEl>
                                      </p:cBhvr>
                                    </p:animEffect>
                                  </p:childTnLst>
                                </p:cTn>
                              </p:par>
                              <p:par>
                                <p:cTn id="18" presetID="9" presetClass="emph" presetSubtype="0" nodeType="withEffect">
                                  <p:stCondLst>
                                    <p:cond delay="0"/>
                                  </p:stCondLst>
                                  <p:childTnLst>
                                    <p:set>
                                      <p:cBhvr rctx="PPT">
                                        <p:cTn id="19" dur="indefinite"/>
                                        <p:tgtEl>
                                          <p:spTgt spid="3">
                                            <p:txEl>
                                              <p:pRg st="4" end="4"/>
                                            </p:txEl>
                                          </p:spTgt>
                                        </p:tgtEl>
                                        <p:attrNameLst>
                                          <p:attrName>style.opacity</p:attrName>
                                        </p:attrNameLst>
                                      </p:cBhvr>
                                      <p:to>
                                        <p:strVal val="0.25"/>
                                      </p:to>
                                    </p:set>
                                    <p:animEffect filter="image" prLst="opacity: 0.25">
                                      <p:cBhvr rctx="IE">
                                        <p:cTn id="20" dur="indefinite"/>
                                        <p:tgtEl>
                                          <p:spTgt spid="3">
                                            <p:txEl>
                                              <p:pRg st="4" end="4"/>
                                            </p:txEl>
                                          </p:spTgt>
                                        </p:tgtEl>
                                      </p:cBhvr>
                                    </p:animEffect>
                                  </p:childTnLst>
                                </p:cTn>
                              </p:par>
                              <p:par>
                                <p:cTn id="21" presetID="9" presetClass="emph" presetSubtype="0" nodeType="withEffect">
                                  <p:stCondLst>
                                    <p:cond delay="0"/>
                                  </p:stCondLst>
                                  <p:childTnLst>
                                    <p:set>
                                      <p:cBhvr rctx="PPT">
                                        <p:cTn id="22" dur="indefinite"/>
                                        <p:tgtEl>
                                          <p:spTgt spid="3">
                                            <p:txEl>
                                              <p:pRg st="5" end="5"/>
                                            </p:txEl>
                                          </p:spTgt>
                                        </p:tgtEl>
                                        <p:attrNameLst>
                                          <p:attrName>style.opacity</p:attrName>
                                        </p:attrNameLst>
                                      </p:cBhvr>
                                      <p:to>
                                        <p:strVal val="0.25"/>
                                      </p:to>
                                    </p:set>
                                    <p:animEffect filter="image" prLst="opacity: 0.25">
                                      <p:cBhvr rctx="IE">
                                        <p:cTn id="23" dur="indefinite"/>
                                        <p:tgtEl>
                                          <p:spTgt spid="3">
                                            <p:txEl>
                                              <p:pRg st="5" end="5"/>
                                            </p:txEl>
                                          </p:spTgt>
                                        </p:tgtEl>
                                      </p:cBhvr>
                                    </p:animEffect>
                                  </p:childTnLst>
                                </p:cTn>
                              </p:par>
                              <p:par>
                                <p:cTn id="24" presetID="9" presetClass="emph" presetSubtype="0" nodeType="withEffect">
                                  <p:stCondLst>
                                    <p:cond delay="0"/>
                                  </p:stCondLst>
                                  <p:childTnLst>
                                    <p:set>
                                      <p:cBhvr rctx="PPT">
                                        <p:cTn id="25" dur="indefinite"/>
                                        <p:tgtEl>
                                          <p:spTgt spid="3">
                                            <p:txEl>
                                              <p:pRg st="6" end="6"/>
                                            </p:txEl>
                                          </p:spTgt>
                                        </p:tgtEl>
                                        <p:attrNameLst>
                                          <p:attrName>style.opacity</p:attrName>
                                        </p:attrNameLst>
                                      </p:cBhvr>
                                      <p:to>
                                        <p:strVal val="0.25"/>
                                      </p:to>
                                    </p:set>
                                    <p:animEffect filter="image" prLst="opacity: 0.25">
                                      <p:cBhvr rctx="IE">
                                        <p:cTn id="26" dur="indefinite"/>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常用术语</a:t>
            </a:r>
          </a:p>
        </p:txBody>
      </p:sp>
      <p:sp>
        <p:nvSpPr>
          <p:cNvPr id="3" name="内容占位符 2"/>
          <p:cNvSpPr>
            <a:spLocks noGrp="1"/>
          </p:cNvSpPr>
          <p:nvPr>
            <p:ph idx="1"/>
          </p:nvPr>
        </p:nvSpPr>
        <p:spPr/>
        <p:txBody>
          <a:bodyPr/>
          <a:lstStyle/>
          <a:p>
            <a:r>
              <a:rPr lang="zh-CN" altLang="en-US" dirty="0"/>
              <a:t>信息</a:t>
            </a:r>
            <a:r>
              <a:rPr lang="en-US" altLang="zh-CN" dirty="0"/>
              <a:t> (message)</a:t>
            </a:r>
          </a:p>
          <a:p>
            <a:pPr lvl="1"/>
            <a:r>
              <a:rPr lang="zh-CN" altLang="en-US" dirty="0"/>
              <a:t>语音、文字、图像、视频等，通信目的即传送信息</a:t>
            </a:r>
          </a:p>
          <a:p>
            <a:r>
              <a:rPr lang="zh-CN" altLang="en-US" dirty="0"/>
              <a:t>数据</a:t>
            </a:r>
            <a:r>
              <a:rPr lang="en-US" altLang="zh-CN" dirty="0"/>
              <a:t>(data)</a:t>
            </a:r>
          </a:p>
          <a:p>
            <a:pPr lvl="1"/>
            <a:r>
              <a:rPr lang="zh-CN" altLang="en-US" dirty="0"/>
              <a:t>运送消息的载体，有意义的符号序列</a:t>
            </a:r>
            <a:endParaRPr lang="en-US" altLang="zh-CN" dirty="0"/>
          </a:p>
          <a:p>
            <a:r>
              <a:rPr lang="zh-CN" altLang="en-US" dirty="0"/>
              <a:t>信号</a:t>
            </a:r>
            <a:r>
              <a:rPr lang="en-US" altLang="zh-CN" dirty="0"/>
              <a:t>(signal)</a:t>
            </a:r>
          </a:p>
          <a:p>
            <a:pPr lvl="1"/>
            <a:r>
              <a:rPr lang="zh-CN" altLang="en-US" dirty="0"/>
              <a:t>数据的电气的或电磁的表现</a:t>
            </a:r>
            <a:endParaRPr lang="en-US" altLang="zh-CN" dirty="0"/>
          </a:p>
          <a:p>
            <a:pPr lvl="1"/>
            <a:r>
              <a:rPr lang="zh-CN" altLang="en-US" dirty="0"/>
              <a:t>模拟信号</a:t>
            </a:r>
            <a:r>
              <a:rPr lang="en-US" altLang="zh-CN" dirty="0"/>
              <a:t>(analogous)</a:t>
            </a:r>
            <a:r>
              <a:rPr lang="zh-CN" altLang="en-US" dirty="0"/>
              <a:t> </a:t>
            </a:r>
            <a:r>
              <a:rPr lang="en-US" altLang="zh-CN" dirty="0"/>
              <a:t>:</a:t>
            </a:r>
            <a:r>
              <a:rPr lang="zh-CN" altLang="en-US" dirty="0"/>
              <a:t>代表消息的参数的取值是连续的</a:t>
            </a:r>
            <a:endParaRPr lang="en-US" altLang="zh-CN" dirty="0"/>
          </a:p>
          <a:p>
            <a:pPr lvl="1"/>
            <a:r>
              <a:rPr lang="zh-CN" altLang="en-US" dirty="0"/>
              <a:t>数字信号</a:t>
            </a:r>
            <a:r>
              <a:rPr lang="en-US" altLang="zh-CN" dirty="0"/>
              <a:t>(digital):</a:t>
            </a:r>
            <a:r>
              <a:rPr lang="zh-CN" altLang="en-US" dirty="0"/>
              <a:t>代表消息的参数的取值是离散的</a:t>
            </a:r>
          </a:p>
          <a:p>
            <a:r>
              <a:rPr lang="zh-CN" altLang="en-US" dirty="0"/>
              <a:t>码元</a:t>
            </a:r>
            <a:r>
              <a:rPr lang="en-US" altLang="zh-CN" dirty="0"/>
              <a:t>(code)</a:t>
            </a:r>
          </a:p>
          <a:p>
            <a:pPr lvl="1"/>
            <a:r>
              <a:rPr lang="zh-CN" altLang="en-US" dirty="0"/>
              <a:t>在使用时域波形表示数字信号时，代表不同离散数值的基本波形</a:t>
            </a:r>
            <a:endParaRPr lang="en-US" altLang="zh-CN" dirty="0"/>
          </a:p>
          <a:p>
            <a:pPr lvl="1"/>
            <a:r>
              <a:rPr lang="zh-CN" altLang="en-US" dirty="0"/>
              <a:t>如二进制编码时，常用两种码元，分别表示</a:t>
            </a:r>
            <a:r>
              <a:rPr lang="en-US" altLang="zh-CN" dirty="0"/>
              <a:t>0</a:t>
            </a:r>
            <a:r>
              <a:rPr lang="zh-CN" altLang="en-US" dirty="0"/>
              <a:t>状态和</a:t>
            </a:r>
            <a:r>
              <a:rPr lang="en-US" altLang="zh-CN" dirty="0"/>
              <a:t>1</a:t>
            </a:r>
            <a:r>
              <a:rPr lang="zh-CN" altLang="en-US" dirty="0"/>
              <a:t>状态</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6</a:t>
            </a:fld>
            <a:endParaRPr lang="zh-CN" altLang="en-US" dirty="0"/>
          </a:p>
        </p:txBody>
      </p:sp>
      <p:grpSp>
        <p:nvGrpSpPr>
          <p:cNvPr id="5" name="Group 47"/>
          <p:cNvGrpSpPr>
            <a:grpSpLocks/>
          </p:cNvGrpSpPr>
          <p:nvPr/>
        </p:nvGrpSpPr>
        <p:grpSpPr bwMode="auto">
          <a:xfrm>
            <a:off x="7597470" y="4359928"/>
            <a:ext cx="652463" cy="339725"/>
            <a:chOff x="2315" y="3965"/>
            <a:chExt cx="496" cy="254"/>
          </a:xfrm>
        </p:grpSpPr>
        <p:sp>
          <p:nvSpPr>
            <p:cNvPr id="6" name="Freeform 48"/>
            <p:cNvSpPr>
              <a:spLocks/>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 name="Freeform 49"/>
            <p:cNvSpPr>
              <a:spLocks/>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 name="Freeform 50"/>
            <p:cNvSpPr>
              <a:spLocks/>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 name="Freeform 51"/>
            <p:cNvSpPr>
              <a:spLocks/>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 name="Freeform 52"/>
          <p:cNvSpPr>
            <a:spLocks/>
          </p:cNvSpPr>
          <p:nvPr/>
        </p:nvSpPr>
        <p:spPr bwMode="auto">
          <a:xfrm>
            <a:off x="7070324" y="4875871"/>
            <a:ext cx="741362"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161315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信道相关概念</a:t>
            </a:r>
          </a:p>
        </p:txBody>
      </p:sp>
      <p:sp>
        <p:nvSpPr>
          <p:cNvPr id="3" name="内容占位符 2"/>
          <p:cNvSpPr>
            <a:spLocks noGrp="1"/>
          </p:cNvSpPr>
          <p:nvPr>
            <p:ph idx="1"/>
          </p:nvPr>
        </p:nvSpPr>
        <p:spPr>
          <a:xfrm>
            <a:off x="457200" y="1444978"/>
            <a:ext cx="8229600" cy="5260621"/>
          </a:xfrm>
        </p:spPr>
        <p:txBody>
          <a:bodyPr/>
          <a:lstStyle/>
          <a:p>
            <a:r>
              <a:rPr lang="zh-CN" altLang="en-US" dirty="0"/>
              <a:t>单工通信 </a:t>
            </a:r>
            <a:r>
              <a:rPr lang="en-US" altLang="zh-CN" dirty="0"/>
              <a:t>(simplex)</a:t>
            </a:r>
          </a:p>
          <a:p>
            <a:pPr lvl="1"/>
            <a:r>
              <a:rPr lang="zh-CN" altLang="en-US" dirty="0"/>
              <a:t>通信双方设备中发送器与接收器分工明确，只能在由发送器向接收器的单一固定方向上传送数据，没有反向交互</a:t>
            </a:r>
            <a:endParaRPr lang="en-US" altLang="zh-CN" dirty="0"/>
          </a:p>
          <a:p>
            <a:pPr lvl="1"/>
            <a:r>
              <a:rPr lang="zh-CN" altLang="en-US" dirty="0"/>
              <a:t>如无线电广播</a:t>
            </a:r>
          </a:p>
          <a:p>
            <a:r>
              <a:rPr lang="zh-CN" altLang="en-US" dirty="0"/>
              <a:t>半双工通信 </a:t>
            </a:r>
            <a:r>
              <a:rPr lang="en-US" altLang="zh-CN" dirty="0"/>
              <a:t>(half-duplex)</a:t>
            </a:r>
          </a:p>
          <a:p>
            <a:pPr lvl="1"/>
            <a:r>
              <a:rPr lang="zh-CN" altLang="en-US" dirty="0"/>
              <a:t>通信双方设备既是发送器，也是接收器，两台设备可以相互传送数据，但某一时刻则只能向一个方向传送数据</a:t>
            </a:r>
            <a:endParaRPr lang="en-US" altLang="zh-CN" dirty="0"/>
          </a:p>
          <a:p>
            <a:pPr lvl="1"/>
            <a:r>
              <a:rPr lang="zh-CN" altLang="en-US"/>
              <a:t>如总</a:t>
            </a:r>
            <a:r>
              <a:rPr lang="zh-CN" altLang="en-US" dirty="0"/>
              <a:t>线型以太网、</a:t>
            </a:r>
            <a:r>
              <a:rPr lang="en-US" altLang="zh-CN" dirty="0"/>
              <a:t>802.11WLAN</a:t>
            </a:r>
            <a:endParaRPr lang="zh-CN" altLang="en-US" dirty="0"/>
          </a:p>
          <a:p>
            <a:r>
              <a:rPr lang="zh-CN" altLang="en-US" dirty="0"/>
              <a:t>全双工通信 </a:t>
            </a:r>
            <a:r>
              <a:rPr lang="en-US" altLang="zh-CN" dirty="0"/>
              <a:t>(duplex)</a:t>
            </a:r>
          </a:p>
          <a:p>
            <a:pPr lvl="1"/>
            <a:r>
              <a:rPr lang="zh-CN" altLang="en-US" dirty="0"/>
              <a:t>通信的双方可以同时发送和接收信息，通信双方设备既是发送器，也是接收器，两台设备可以同时在两个方向上传送数据</a:t>
            </a:r>
            <a:endParaRPr lang="en-US" altLang="zh-CN" dirty="0"/>
          </a:p>
          <a:p>
            <a:pPr lvl="1"/>
            <a:r>
              <a:rPr lang="zh-CN" altLang="en-US" dirty="0"/>
              <a:t>如电话、</a:t>
            </a:r>
            <a:r>
              <a:rPr lang="zh-CN" altLang="en-US"/>
              <a:t>交换以太网</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7</a:t>
            </a:fld>
            <a:endParaRPr lang="zh-CN" altLang="en-US" dirty="0"/>
          </a:p>
        </p:txBody>
      </p:sp>
    </p:spTree>
    <p:custDataLst>
      <p:tags r:id="rId1"/>
    </p:custDataLst>
    <p:extLst>
      <p:ext uri="{BB962C8B-B14F-4D97-AF65-F5344CB8AC3E}">
        <p14:creationId xmlns:p14="http://schemas.microsoft.com/office/powerpoint/2010/main" val="102456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dissolve">
                                      <p:cBhvr>
                                        <p:cTn id="10" dur="500"/>
                                        <p:tgtEl>
                                          <p:spTgt spid="3">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dissolv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dissolv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dissolv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dissolve">
                                      <p:cBhvr>
                                        <p:cTn id="28" dur="5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dissolv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dissolv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dissolve">
                                      <p:cBhvr>
                                        <p:cTn id="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信道相关概念</a:t>
            </a:r>
          </a:p>
        </p:txBody>
      </p:sp>
      <p:sp>
        <p:nvSpPr>
          <p:cNvPr id="3" name="内容占位符 2"/>
          <p:cNvSpPr>
            <a:spLocks noGrp="1"/>
          </p:cNvSpPr>
          <p:nvPr>
            <p:ph idx="1"/>
          </p:nvPr>
        </p:nvSpPr>
        <p:spPr>
          <a:xfrm>
            <a:off x="350520" y="1323058"/>
            <a:ext cx="8366760" cy="5168764"/>
          </a:xfrm>
        </p:spPr>
        <p:txBody>
          <a:bodyPr/>
          <a:lstStyle/>
          <a:p>
            <a:r>
              <a:rPr lang="zh-CN" altLang="en-US" dirty="0"/>
              <a:t>基带信号</a:t>
            </a:r>
            <a:endParaRPr lang="en-US" altLang="zh-CN" dirty="0"/>
          </a:p>
          <a:p>
            <a:pPr lvl="1">
              <a:lnSpc>
                <a:spcPts val="3000"/>
              </a:lnSpc>
              <a:spcBef>
                <a:spcPts val="1200"/>
              </a:spcBef>
            </a:pPr>
            <a:r>
              <a:rPr lang="zh-CN" altLang="en-US" dirty="0"/>
              <a:t>来自信源的原始信号，未经过调制（频谱搬移和变换），其特点是</a:t>
            </a:r>
            <a:r>
              <a:rPr lang="zh-CN" altLang="en-US" u="sng" dirty="0">
                <a:solidFill>
                  <a:srgbClr val="0000CC"/>
                </a:solidFill>
              </a:rPr>
              <a:t>频率较低，信号频谱从零频附近开始，具有低通形式</a:t>
            </a:r>
            <a:endParaRPr lang="en-US" altLang="zh-CN" u="sng" dirty="0">
              <a:solidFill>
                <a:srgbClr val="0000CC"/>
              </a:solidFill>
            </a:endParaRPr>
          </a:p>
          <a:p>
            <a:pPr lvl="1">
              <a:lnSpc>
                <a:spcPts val="3000"/>
              </a:lnSpc>
              <a:spcBef>
                <a:spcPts val="1200"/>
              </a:spcBef>
            </a:pPr>
            <a:r>
              <a:rPr lang="zh-CN" altLang="en-US" dirty="0"/>
              <a:t>基带信号分为</a:t>
            </a:r>
            <a:r>
              <a:rPr lang="zh-CN" altLang="en-US" dirty="0">
                <a:solidFill>
                  <a:srgbClr val="FF0000"/>
                </a:solidFill>
              </a:rPr>
              <a:t>数字基带信号</a:t>
            </a:r>
            <a:r>
              <a:rPr lang="zh-CN" altLang="en-US" dirty="0"/>
              <a:t>和</a:t>
            </a:r>
            <a:r>
              <a:rPr lang="zh-CN" altLang="en-US" dirty="0">
                <a:solidFill>
                  <a:srgbClr val="FF0000"/>
                </a:solidFill>
              </a:rPr>
              <a:t>模拟基带信号</a:t>
            </a:r>
            <a:endParaRPr lang="en-US" altLang="zh-CN" dirty="0">
              <a:solidFill>
                <a:srgbClr val="FF0000"/>
              </a:solidFill>
            </a:endParaRPr>
          </a:p>
          <a:p>
            <a:pPr lvl="1">
              <a:lnSpc>
                <a:spcPts val="3000"/>
              </a:lnSpc>
              <a:spcBef>
                <a:spcPts val="1200"/>
              </a:spcBef>
            </a:pPr>
            <a:r>
              <a:rPr lang="zh-CN" altLang="en-US" dirty="0"/>
              <a:t>近距离范围内基带信号的衰减不大，可以采用基带传输。比如：</a:t>
            </a:r>
            <a:endParaRPr lang="en-US" altLang="zh-CN" dirty="0"/>
          </a:p>
          <a:p>
            <a:pPr lvl="2">
              <a:lnSpc>
                <a:spcPts val="3000"/>
              </a:lnSpc>
              <a:spcBef>
                <a:spcPts val="1200"/>
              </a:spcBef>
            </a:pPr>
            <a:r>
              <a:rPr lang="zh-CN" altLang="en-US" dirty="0"/>
              <a:t>计算机到监视器、打印机等外设</a:t>
            </a:r>
            <a:endParaRPr lang="en-US" altLang="zh-CN" dirty="0"/>
          </a:p>
          <a:p>
            <a:pPr lvl="2">
              <a:lnSpc>
                <a:spcPts val="3000"/>
              </a:lnSpc>
              <a:spcBef>
                <a:spcPts val="1200"/>
              </a:spcBef>
            </a:pPr>
            <a:r>
              <a:rPr lang="zh-CN" altLang="en-US" dirty="0"/>
              <a:t>以太网等局域网</a:t>
            </a:r>
            <a:endParaRPr lang="en-US" altLang="zh-CN" dirty="0"/>
          </a:p>
          <a:p>
            <a:pPr lvl="1">
              <a:lnSpc>
                <a:spcPts val="3000"/>
              </a:lnSpc>
              <a:spcBef>
                <a:spcPts val="1200"/>
              </a:spcBef>
            </a:pPr>
            <a:r>
              <a:rPr lang="zh-CN" altLang="en-US" dirty="0"/>
              <a:t>长距离或无线信道中，无法直接传输基带信号，需要进行调制</a:t>
            </a:r>
            <a:endParaRPr lang="en-US" altLang="zh-CN" dirty="0"/>
          </a:p>
          <a:p>
            <a:pPr lvl="2">
              <a:lnSpc>
                <a:spcPts val="3000"/>
              </a:lnSpc>
              <a:spcBef>
                <a:spcPts val="1200"/>
              </a:spcBef>
            </a:pPr>
            <a:r>
              <a:rPr lang="zh-CN" altLang="en-US" dirty="0"/>
              <a:t>比如声音传送距离有限，调制为高频电磁信号，可以实现远距离的声音传送</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8</a:t>
            </a:fld>
            <a:endParaRPr lang="zh-CN" altLang="en-US" dirty="0"/>
          </a:p>
        </p:txBody>
      </p:sp>
    </p:spTree>
    <p:extLst>
      <p:ext uri="{BB962C8B-B14F-4D97-AF65-F5344CB8AC3E}">
        <p14:creationId xmlns:p14="http://schemas.microsoft.com/office/powerpoint/2010/main" val="3004265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dissolve">
                                      <p:cBhvr>
                                        <p:cTn id="19" dur="500"/>
                                        <p:tgtEl>
                                          <p:spTgt spid="3">
                                            <p:txEl>
                                              <p:pRg st="3" end="3"/>
                                            </p:txEl>
                                          </p:spTgt>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dissolve">
                                      <p:cBhvr>
                                        <p:cTn id="23" dur="500"/>
                                        <p:tgtEl>
                                          <p:spTgt spid="3">
                                            <p:txEl>
                                              <p:pRg st="4" end="4"/>
                                            </p:txEl>
                                          </p:spTgt>
                                        </p:tgtEl>
                                      </p:cBhvr>
                                    </p:animEffect>
                                  </p:childTnLst>
                                </p:cTn>
                              </p:par>
                            </p:childTnLst>
                          </p:cTn>
                        </p:par>
                        <p:par>
                          <p:cTn id="24" fill="hold">
                            <p:stCondLst>
                              <p:cond delay="2500"/>
                            </p:stCondLst>
                            <p:childTnLst>
                              <p:par>
                                <p:cTn id="25" presetID="9" presetClass="entr" presetSubtype="0"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par>
                          <p:cTn id="28" fill="hold">
                            <p:stCondLst>
                              <p:cond delay="3000"/>
                            </p:stCondLst>
                            <p:childTnLst>
                              <p:par>
                                <p:cTn id="29" presetID="9" presetClass="entr" presetSubtype="0" fill="hold"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dissolve">
                                      <p:cBhvr>
                                        <p:cTn id="31" dur="500"/>
                                        <p:tgtEl>
                                          <p:spTgt spid="3">
                                            <p:txEl>
                                              <p:pRg st="6" end="6"/>
                                            </p:txEl>
                                          </p:spTgt>
                                        </p:tgtEl>
                                      </p:cBhvr>
                                    </p:animEffect>
                                  </p:childTnLst>
                                </p:cTn>
                              </p:par>
                            </p:childTnLst>
                          </p:cTn>
                        </p:par>
                        <p:par>
                          <p:cTn id="32" fill="hold">
                            <p:stCondLst>
                              <p:cond delay="3500"/>
                            </p:stCondLst>
                            <p:childTnLst>
                              <p:par>
                                <p:cTn id="33" presetID="9" presetClass="entr" presetSubtype="0" fill="hold"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dissolve">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信道相关概念</a:t>
            </a:r>
            <a:endParaRPr lang="zh-CN" altLang="en-US" dirty="0"/>
          </a:p>
        </p:txBody>
      </p:sp>
      <p:sp>
        <p:nvSpPr>
          <p:cNvPr id="3" name="内容占位符 2"/>
          <p:cNvSpPr>
            <a:spLocks noGrp="1"/>
          </p:cNvSpPr>
          <p:nvPr>
            <p:ph idx="1"/>
          </p:nvPr>
        </p:nvSpPr>
        <p:spPr>
          <a:xfrm>
            <a:off x="457200" y="1444977"/>
            <a:ext cx="8229600" cy="4918245"/>
          </a:xfrm>
        </p:spPr>
        <p:txBody>
          <a:bodyPr/>
          <a:lstStyle/>
          <a:p>
            <a:r>
              <a:rPr lang="zh-CN" altLang="en-US" dirty="0"/>
              <a:t>编码</a:t>
            </a:r>
            <a:endParaRPr lang="en-US" altLang="zh-CN" dirty="0"/>
          </a:p>
          <a:p>
            <a:pPr lvl="1"/>
            <a:r>
              <a:rPr lang="zh-CN" altLang="en-US" dirty="0"/>
              <a:t>发送端把二进制数据</a:t>
            </a:r>
            <a:r>
              <a:rPr lang="en-US" altLang="zh-CN" dirty="0"/>
              <a:t>(</a:t>
            </a:r>
            <a:r>
              <a:rPr lang="zh-CN" altLang="en-US" dirty="0"/>
              <a:t>比特</a:t>
            </a:r>
            <a:r>
              <a:rPr lang="en-US" altLang="zh-CN" dirty="0"/>
              <a:t>)</a:t>
            </a:r>
            <a:r>
              <a:rPr lang="zh-CN" altLang="en-US" dirty="0"/>
              <a:t>编码为数字基带信号，接收端再解码为比特</a:t>
            </a:r>
            <a:endParaRPr lang="en-US" altLang="zh-CN" dirty="0"/>
          </a:p>
          <a:p>
            <a:r>
              <a:rPr lang="zh-CN" altLang="en-US" dirty="0"/>
              <a:t>调制 </a:t>
            </a:r>
            <a:r>
              <a:rPr lang="en-US" altLang="zh-CN" dirty="0"/>
              <a:t>(modulation)</a:t>
            </a:r>
          </a:p>
          <a:p>
            <a:pPr lvl="1">
              <a:lnSpc>
                <a:spcPts val="3000"/>
              </a:lnSpc>
              <a:spcBef>
                <a:spcPts val="1200"/>
              </a:spcBef>
            </a:pPr>
            <a:r>
              <a:rPr lang="zh-CN" altLang="en-US" dirty="0"/>
              <a:t>使用载波，把基带信号的频率搬到高频，转换为模拟信号，称为带通调制</a:t>
            </a:r>
            <a:r>
              <a:rPr lang="en-US" altLang="zh-CN" dirty="0"/>
              <a:t>/</a:t>
            </a:r>
            <a:r>
              <a:rPr lang="zh-CN" altLang="en-US" dirty="0"/>
              <a:t>载波调制</a:t>
            </a:r>
            <a:endParaRPr lang="en-US" altLang="zh-CN" baseline="-25000" dirty="0"/>
          </a:p>
          <a:p>
            <a:pPr lvl="1"/>
            <a:r>
              <a:rPr lang="zh-CN" altLang="en-US" dirty="0"/>
              <a:t>目的</a:t>
            </a:r>
            <a:endParaRPr lang="en-US" altLang="zh-CN" dirty="0"/>
          </a:p>
          <a:p>
            <a:pPr lvl="2"/>
            <a:r>
              <a:rPr lang="zh-CN" altLang="en-US" dirty="0"/>
              <a:t>将信号变换为便于传送的形式，比如</a:t>
            </a:r>
            <a:endParaRPr lang="en-US" altLang="zh-CN" dirty="0"/>
          </a:p>
          <a:p>
            <a:pPr lvl="3"/>
            <a:r>
              <a:rPr lang="zh-CN" altLang="en-US" dirty="0"/>
              <a:t>无线传输时需要将信号搬到高频上才能在自由空间发送出去</a:t>
            </a:r>
            <a:endParaRPr lang="en-US" altLang="zh-CN" dirty="0"/>
          </a:p>
          <a:p>
            <a:pPr lvl="3"/>
            <a:r>
              <a:rPr lang="zh-CN" altLang="en-US" dirty="0"/>
              <a:t>数字电话中将连续信号变换为脉冲编码调制信号</a:t>
            </a:r>
            <a:endParaRPr lang="en-US" altLang="zh-CN" dirty="0"/>
          </a:p>
          <a:p>
            <a:pPr lvl="2"/>
            <a:r>
              <a:rPr lang="zh-CN" altLang="en-US" dirty="0"/>
              <a:t>有效利用频带</a:t>
            </a:r>
            <a:endParaRPr lang="en-US" altLang="zh-CN" baseline="-250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9</a:t>
            </a:fld>
            <a:endParaRPr lang="zh-CN" altLang="en-US" dirty="0"/>
          </a:p>
        </p:txBody>
      </p:sp>
    </p:spTree>
    <p:custDataLst>
      <p:tags r:id="rId1"/>
    </p:custDataLst>
    <p:extLst>
      <p:ext uri="{BB962C8B-B14F-4D97-AF65-F5344CB8AC3E}">
        <p14:creationId xmlns:p14="http://schemas.microsoft.com/office/powerpoint/2010/main" val="2245933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dissolve">
                                      <p:cBhvr>
                                        <p:cTn id="10" dur="500"/>
                                        <p:tgtEl>
                                          <p:spTgt spid="3">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dissolve">
                                      <p:cBhvr>
                                        <p:cTn id="13" dur="500"/>
                                        <p:tgtEl>
                                          <p:spTgt spid="3">
                                            <p:txEl>
                                              <p:pRg st="0" end="0"/>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dissolv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dissolv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dissolv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dissolv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dissolv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dissolve">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一）编码</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94362" y="1444979"/>
                <a:ext cx="8686800" cy="4867686"/>
              </a:xfrm>
            </p:spPr>
            <p:txBody>
              <a:bodyPr/>
              <a:lstStyle/>
              <a:p>
                <a:r>
                  <a:rPr lang="zh-CN" altLang="en-US" dirty="0"/>
                  <a:t>数字基带信号码型种类繁多，根据码元幅度取值不同分为</a:t>
                </a:r>
                <a:endParaRPr lang="en-US" altLang="zh-CN" dirty="0"/>
              </a:p>
              <a:p>
                <a:pPr lvl="1">
                  <a:spcBef>
                    <a:spcPts val="1200"/>
                  </a:spcBef>
                </a:pPr>
                <a:r>
                  <a:rPr lang="zh-CN" altLang="en-US" sz="1800" dirty="0"/>
                  <a:t>二元码</a:t>
                </a:r>
                <a:endParaRPr lang="en-US" altLang="zh-CN" sz="1800" dirty="0"/>
              </a:p>
              <a:p>
                <a:pPr lvl="2"/>
                <a:r>
                  <a:rPr lang="zh-CN" altLang="en-US" sz="1600" dirty="0"/>
                  <a:t>最简单的波形为矩形，幅度取值只有两种电平</a:t>
                </a:r>
                <a:endParaRPr lang="en-US" altLang="zh-CN" sz="1600" dirty="0"/>
              </a:p>
              <a:p>
                <a:pPr lvl="1">
                  <a:spcBef>
                    <a:spcPts val="600"/>
                  </a:spcBef>
                </a:pPr>
                <a:r>
                  <a:rPr lang="zh-CN" altLang="en-US" sz="1800" dirty="0"/>
                  <a:t>三元码</a:t>
                </a:r>
                <a:endParaRPr lang="en-US" altLang="zh-CN" sz="1800" dirty="0"/>
              </a:p>
              <a:p>
                <a:pPr lvl="2"/>
                <a:r>
                  <a:rPr lang="zh-CN" altLang="en-US" sz="1600" dirty="0"/>
                  <a:t>取值正、</a:t>
                </a:r>
                <a:r>
                  <a:rPr lang="en-US" altLang="zh-CN" sz="1600" dirty="0"/>
                  <a:t>0</a:t>
                </a:r>
                <a:r>
                  <a:rPr lang="zh-CN" altLang="en-US" sz="1600" dirty="0"/>
                  <a:t>、负，单极性变双极性，不是二进制变三进制，称准</a:t>
                </a:r>
                <a:r>
                  <a:rPr lang="en-US" altLang="zh-CN" sz="1600" dirty="0"/>
                  <a:t>(</a:t>
                </a:r>
                <a:r>
                  <a:rPr lang="zh-CN" altLang="en-US" sz="1600" dirty="0"/>
                  <a:t>伪</a:t>
                </a:r>
                <a:r>
                  <a:rPr lang="en-US" altLang="zh-CN" sz="1600" dirty="0"/>
                  <a:t>)</a:t>
                </a:r>
                <a:r>
                  <a:rPr lang="zh-CN" altLang="en-US" sz="1600" dirty="0"/>
                  <a:t>三元码</a:t>
                </a:r>
                <a:endParaRPr lang="en-US" altLang="zh-CN" sz="1600" dirty="0"/>
              </a:p>
              <a:p>
                <a:pPr lvl="1">
                  <a:spcBef>
                    <a:spcPts val="1200"/>
                  </a:spcBef>
                </a:pPr>
                <a:r>
                  <a:rPr lang="zh-CN" altLang="en-US" sz="1800" dirty="0"/>
                  <a:t>多元码</a:t>
                </a:r>
                <a:endParaRPr lang="en-US" altLang="zh-CN" sz="1800" dirty="0"/>
              </a:p>
              <a:p>
                <a:pPr lvl="2"/>
                <a:r>
                  <a:rPr lang="zh-CN" altLang="en-US" sz="1600" dirty="0"/>
                  <a:t>每个符号可以用来表示一个二进制组码，成倍提高频带利用率</a:t>
                </a:r>
                <a:endParaRPr lang="en-US" altLang="zh-CN" sz="1600" dirty="0"/>
              </a:p>
              <a:p>
                <a:pPr lvl="2"/>
                <a14:m>
                  <m:oMath xmlns:m="http://schemas.openxmlformats.org/officeDocument/2006/math">
                    <m:r>
                      <a:rPr lang="en-US" altLang="zh-CN" sz="1600" b="0" i="1" dirty="0" smtClean="0">
                        <a:latin typeface="Cambria Math" panose="02040503050406030204" pitchFamily="18" charset="0"/>
                      </a:rPr>
                      <m:t>𝑛</m:t>
                    </m:r>
                  </m:oMath>
                </a14:m>
                <a:r>
                  <a:rPr lang="zh-CN" altLang="en-US" sz="1600" dirty="0"/>
                  <a:t>位二进制组码，可用</a:t>
                </a:r>
                <a14:m>
                  <m:oMath xmlns:m="http://schemas.openxmlformats.org/officeDocument/2006/math">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2</m:t>
                        </m:r>
                      </m:e>
                      <m:sup>
                        <m:r>
                          <a:rPr lang="en-US" altLang="zh-CN" sz="1600" b="0" i="1" smtClean="0">
                            <a:latin typeface="Cambria Math" panose="02040503050406030204" pitchFamily="18" charset="0"/>
                          </a:rPr>
                          <m:t>𝑛</m:t>
                        </m:r>
                      </m:sup>
                    </m:sSup>
                  </m:oMath>
                </a14:m>
                <a:r>
                  <a:rPr lang="zh-CN" altLang="en-US" sz="1600" dirty="0"/>
                  <a:t>元码传输，信道利用率可提高</a:t>
                </a:r>
                <a14:m>
                  <m:oMath xmlns:m="http://schemas.openxmlformats.org/officeDocument/2006/math">
                    <m:r>
                      <a:rPr lang="en-US" altLang="zh-CN" sz="1600" i="1" dirty="0">
                        <a:latin typeface="Cambria Math" panose="02040503050406030204" pitchFamily="18" charset="0"/>
                      </a:rPr>
                      <m:t>𝑛</m:t>
                    </m:r>
                  </m:oMath>
                </a14:m>
                <a:r>
                  <a:rPr lang="zh-CN" altLang="en-US" sz="1600" dirty="0"/>
                  <a:t>倍</a:t>
                </a:r>
                <a:endParaRPr lang="en-US" altLang="zh-CN" sz="1600" dirty="0"/>
              </a:p>
              <a:p>
                <a:pPr lvl="2">
                  <a:spcBef>
                    <a:spcPts val="600"/>
                  </a:spcBef>
                </a:pPr>
                <a:r>
                  <a:rPr lang="zh-CN" altLang="en-US" sz="1600" dirty="0"/>
                  <a:t>例：                                                          采用二元码需要</a:t>
                </a:r>
                <a:r>
                  <a:rPr lang="en-US" altLang="zh-CN" sz="1600" dirty="0"/>
                  <a:t>15</a:t>
                </a:r>
                <a:r>
                  <a:rPr lang="zh-CN" altLang="en-US" sz="1600" dirty="0"/>
                  <a:t>个码元表示              </a:t>
                </a:r>
                <a:endParaRPr lang="en-US" altLang="zh-CN" sz="1600" dirty="0"/>
              </a:p>
              <a:p>
                <a:pPr marL="914377" lvl="2" indent="0">
                  <a:spcBef>
                    <a:spcPts val="600"/>
                  </a:spcBef>
                  <a:buNone/>
                </a:pPr>
                <a:r>
                  <a:rPr lang="en-US" altLang="zh-CN" sz="1600" dirty="0"/>
                  <a:t>             </a:t>
                </a:r>
                <a:r>
                  <a:rPr lang="zh-CN" altLang="en-US" sz="1600" dirty="0"/>
                  <a:t>若将信号每</a:t>
                </a:r>
                <a:r>
                  <a:rPr lang="en-US" altLang="zh-CN" sz="1600" dirty="0"/>
                  <a:t>3bit</a:t>
                </a:r>
                <a:r>
                  <a:rPr lang="zh-CN" altLang="en-US" sz="1600" dirty="0"/>
                  <a:t>编为</a:t>
                </a:r>
                <a:r>
                  <a:rPr lang="en-US" altLang="zh-CN" sz="1600" dirty="0"/>
                  <a:t>1</a:t>
                </a:r>
                <a:r>
                  <a:rPr lang="zh-CN" altLang="en-US" sz="1600" dirty="0"/>
                  <a:t>组，即</a:t>
                </a:r>
                <a:endParaRPr lang="en-US" altLang="zh-CN" sz="1600" dirty="0"/>
              </a:p>
              <a:p>
                <a:pPr marL="914377" lvl="2" indent="0">
                  <a:lnSpc>
                    <a:spcPts val="2500"/>
                  </a:lnSpc>
                  <a:buNone/>
                </a:pPr>
                <a:r>
                  <a:rPr lang="en-US" altLang="zh-CN" sz="1600" dirty="0"/>
                  <a:t>              3bit</a:t>
                </a:r>
                <a:r>
                  <a:rPr lang="zh-CN" altLang="en-US" sz="1600" dirty="0"/>
                  <a:t>共</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smtClean="0">
                            <a:latin typeface="Cambria Math" panose="02040503050406030204" pitchFamily="18" charset="0"/>
                          </a:rPr>
                          <m:t>3</m:t>
                        </m:r>
                      </m:sup>
                    </m:sSup>
                  </m:oMath>
                </a14:m>
                <a:r>
                  <a:rPr lang="zh-CN" altLang="en-US" sz="1600" dirty="0"/>
                  <a:t>种组合，用</a:t>
                </a:r>
                <a:r>
                  <a:rPr lang="en-US" altLang="zh-CN" sz="1600" dirty="0"/>
                  <a:t>8</a:t>
                </a:r>
                <a:r>
                  <a:rPr lang="zh-CN" altLang="en-US" sz="1600" dirty="0"/>
                  <a:t>种不同幅度的码元表示：</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0</m:t>
                        </m:r>
                      </m:sub>
                    </m:sSub>
                  </m:oMath>
                </a14:m>
                <a:r>
                  <a:rPr lang="en-US" altLang="zh-CN" sz="1600" dirty="0"/>
                  <a:t> -- 000,</a:t>
                </a:r>
                <a14:m>
                  <m:oMath xmlns:m="http://schemas.openxmlformats.org/officeDocument/2006/math">
                    <m:r>
                      <a:rPr lang="en-US" altLang="zh-CN" sz="1600" b="0" i="0" smtClean="0">
                        <a:latin typeface="Cambria Math" panose="02040503050406030204" pitchFamily="18" charset="0"/>
                      </a:rPr>
                      <m:t>   </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b="0" i="1" smtClean="0">
                            <a:latin typeface="Cambria Math" panose="02040503050406030204" pitchFamily="18" charset="0"/>
                          </a:rPr>
                          <m:t>1</m:t>
                        </m:r>
                      </m:sub>
                    </m:sSub>
                    <m:r>
                      <a:rPr lang="en-US" altLang="zh-CN" sz="1600" i="1">
                        <a:latin typeface="Cambria Math" panose="02040503050406030204" pitchFamily="18" charset="0"/>
                      </a:rPr>
                      <m:t> </m:t>
                    </m:r>
                  </m:oMath>
                </a14:m>
                <a:r>
                  <a:rPr lang="en-US" altLang="zh-CN" sz="1600" dirty="0"/>
                  <a:t>-- 001, … ,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b="0" i="1" smtClean="0">
                            <a:latin typeface="Cambria Math" panose="02040503050406030204" pitchFamily="18" charset="0"/>
                          </a:rPr>
                          <m:t>7</m:t>
                        </m:r>
                      </m:sub>
                    </m:sSub>
                  </m:oMath>
                </a14:m>
                <a:r>
                  <a:rPr lang="en-US" altLang="zh-CN" sz="1600" dirty="0"/>
                  <a:t> -- 111</a:t>
                </a:r>
              </a:p>
              <a:p>
                <a:pPr marL="914377" lvl="2" indent="0">
                  <a:lnSpc>
                    <a:spcPts val="2500"/>
                  </a:lnSpc>
                  <a:buNone/>
                </a:pPr>
                <a:r>
                  <a:rPr lang="en-US" altLang="zh-CN" sz="1600" dirty="0"/>
                  <a:t>              </a:t>
                </a:r>
                <a:r>
                  <a:rPr lang="zh-CN" altLang="en-US" sz="1600" dirty="0"/>
                  <a:t>则：</a:t>
                </a:r>
                <a:r>
                  <a:rPr lang="zh-CN" altLang="en-US" sz="1600" dirty="0">
                    <a:solidFill>
                      <a:schemeClr val="accent5">
                        <a:lumMod val="75000"/>
                      </a:schemeClr>
                    </a:solidFill>
                  </a:rPr>
                  <a:t>原来用</a:t>
                </a:r>
                <a:r>
                  <a:rPr lang="en-US" altLang="zh-CN" sz="1600" dirty="0">
                    <a:solidFill>
                      <a:schemeClr val="accent5">
                        <a:lumMod val="75000"/>
                      </a:schemeClr>
                    </a:solidFill>
                  </a:rPr>
                  <a:t>15</a:t>
                </a:r>
                <a:r>
                  <a:rPr lang="zh-CN" altLang="en-US" sz="1600" dirty="0">
                    <a:solidFill>
                      <a:schemeClr val="accent5">
                        <a:lumMod val="75000"/>
                      </a:schemeClr>
                    </a:solidFill>
                  </a:rPr>
                  <a:t>个码元</a:t>
                </a:r>
                <a:r>
                  <a:rPr lang="zh-CN" altLang="en-US" sz="1600" dirty="0"/>
                  <a:t>表示的信号可以转换为</a:t>
                </a:r>
                <a:r>
                  <a:rPr lang="en-US" altLang="zh-CN" sz="1600" dirty="0">
                    <a:solidFill>
                      <a:schemeClr val="accent5">
                        <a:lumMod val="75000"/>
                      </a:schemeClr>
                    </a:solidFill>
                  </a:rPr>
                  <a:t>5</a:t>
                </a:r>
                <a:r>
                  <a:rPr lang="zh-CN" altLang="en-US" sz="1600" dirty="0">
                    <a:solidFill>
                      <a:schemeClr val="accent5">
                        <a:lumMod val="75000"/>
                      </a:schemeClr>
                    </a:solidFill>
                  </a:rPr>
                  <a:t>个新的码元</a:t>
                </a:r>
                <a:r>
                  <a:rPr lang="zh-CN" altLang="en-US" sz="1600" dirty="0"/>
                  <a:t>组成的信号</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94362" y="1444979"/>
                <a:ext cx="8686800" cy="4867686"/>
              </a:xfrm>
              <a:blipFill>
                <a:blip r:embed="rId4"/>
                <a:stretch>
                  <a:fillRect l="-421"/>
                </a:stretch>
              </a:blipFill>
            </p:spPr>
            <p:txBody>
              <a:bodyPr/>
              <a:lstStyle/>
              <a:p>
                <a:r>
                  <a:rPr lang="zh-CN" altLang="en-US">
                    <a:noFill/>
                  </a:rPr>
                  <a:t> </a:t>
                </a:r>
              </a:p>
            </p:txBody>
          </p:sp>
        </mc:Fallback>
      </mc:AlternateContent>
      <p:sp>
        <p:nvSpPr>
          <p:cNvPr id="4" name="灯片编号占位符 3"/>
          <p:cNvSpPr>
            <a:spLocks noGrp="1"/>
          </p:cNvSpPr>
          <p:nvPr>
            <p:ph type="sldNum" sz="quarter" idx="11"/>
          </p:nvPr>
        </p:nvSpPr>
        <p:spPr/>
        <p:txBody>
          <a:bodyPr/>
          <a:lstStyle/>
          <a:p>
            <a:fld id="{1A7A0873-376A-4A4E-91BA-7081C35D808C}" type="slidenum">
              <a:rPr lang="zh-CN" altLang="en-US" smtClean="0"/>
              <a:pPr/>
              <a:t>10</a:t>
            </a:fld>
            <a:endParaRPr lang="zh-CN" altLang="en-US" dirty="0"/>
          </a:p>
        </p:txBody>
      </p:sp>
      <mc:AlternateContent xmlns:mc="http://schemas.openxmlformats.org/markup-compatibility/2006" xmlns:a14="http://schemas.microsoft.com/office/drawing/2010/main">
        <mc:Choice Requires="a14">
          <p:sp>
            <p:nvSpPr>
              <p:cNvPr id="5" name="Rectangle 2"/>
              <p:cNvSpPr>
                <a:spLocks noChangeArrowheads="1"/>
              </p:cNvSpPr>
              <p:nvPr/>
            </p:nvSpPr>
            <p:spPr bwMode="auto">
              <a:xfrm>
                <a:off x="2091834" y="4505721"/>
                <a:ext cx="2486253" cy="218937"/>
              </a:xfrm>
              <a:prstGeom prst="rect">
                <a:avLst/>
              </a:prstGeom>
              <a:solidFill>
                <a:srgbClr val="F4F4FA"/>
              </a:solidFill>
              <a:ln w="25400">
                <a:solidFill>
                  <a:srgbClr val="DCDCEC"/>
                </a:solidFill>
              </a:ln>
              <a:effectLst/>
            </p:spPr>
            <p:txBody>
              <a:bodyPr wrap="none" anchor="ctr"/>
              <a:lstStyle/>
              <a:p>
                <a14:m>
                  <m:oMath xmlns:m="http://schemas.openxmlformats.org/officeDocument/2006/math">
                    <m:r>
                      <a:rPr lang="en-US" altLang="zh-CN" sz="1600" b="0" i="1" smtClean="0">
                        <a:latin typeface="Cambria Math" panose="02040503050406030204" pitchFamily="18" charset="0"/>
                      </a:rPr>
                      <m:t>111000101001110</m:t>
                    </m:r>
                  </m:oMath>
                </a14:m>
                <a:r>
                  <a:rPr lang="en-US" altLang="zh-CN" sz="1600" b="1" dirty="0">
                    <a:ea typeface="华文楷体" panose="02010600040101010101" pitchFamily="2" charset="-122"/>
                  </a:rPr>
                  <a:t>…</a:t>
                </a:r>
              </a:p>
            </p:txBody>
          </p:sp>
        </mc:Choice>
        <mc:Fallback xmlns="">
          <p:sp>
            <p:nvSpPr>
              <p:cNvPr id="5" name="Rectangle 2"/>
              <p:cNvSpPr>
                <a:spLocks noRot="1" noChangeAspect="1" noMove="1" noResize="1" noEditPoints="1" noAdjustHandles="1" noChangeArrowheads="1" noChangeShapeType="1" noTextEdit="1"/>
              </p:cNvSpPr>
              <p:nvPr/>
            </p:nvSpPr>
            <p:spPr bwMode="auto">
              <a:xfrm>
                <a:off x="2091834" y="4505721"/>
                <a:ext cx="2486253" cy="218937"/>
              </a:xfrm>
              <a:prstGeom prst="rect">
                <a:avLst/>
              </a:prstGeom>
              <a:blipFill>
                <a:blip r:embed="rId5"/>
                <a:stretch>
                  <a:fillRect t="-25000" b="-52500"/>
                </a:stretch>
              </a:blipFill>
              <a:ln w="25400">
                <a:solidFill>
                  <a:srgbClr val="DCDCEC"/>
                </a:solid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Rectangle 2"/>
              <p:cNvSpPr>
                <a:spLocks noChangeArrowheads="1"/>
              </p:cNvSpPr>
              <p:nvPr/>
            </p:nvSpPr>
            <p:spPr bwMode="auto">
              <a:xfrm>
                <a:off x="4626825" y="4793657"/>
                <a:ext cx="3068053" cy="214438"/>
              </a:xfrm>
              <a:prstGeom prst="rect">
                <a:avLst/>
              </a:prstGeom>
              <a:solidFill>
                <a:srgbClr val="F4F4FA"/>
              </a:solidFill>
              <a:ln w="25400">
                <a:solidFill>
                  <a:srgbClr val="DCDCEC"/>
                </a:solidFill>
              </a:ln>
              <a:effectLst/>
            </p:spPr>
            <p:txBody>
              <a:bodyPr wrap="none" anchor="ctr"/>
              <a:lstStyle/>
              <a:p>
                <a14:m>
                  <m:oMath xmlns:m="http://schemas.openxmlformats.org/officeDocument/2006/math">
                    <m:r>
                      <a:rPr lang="en-US" altLang="zh-CN" sz="1600" b="0" i="1" smtClean="0">
                        <a:latin typeface="Cambria Math" panose="02040503050406030204" pitchFamily="18" charset="0"/>
                      </a:rPr>
                      <m:t>111</m:t>
                    </m:r>
                    <m:r>
                      <a:rPr lang="zh-CN" altLang="en-US" sz="1600" i="1">
                        <a:latin typeface="Cambria Math" panose="02040503050406030204" pitchFamily="18" charset="0"/>
                      </a:rPr>
                      <m:t>，</m:t>
                    </m:r>
                    <m:r>
                      <a:rPr lang="en-US" altLang="zh-CN" sz="1600" b="0" i="1" smtClean="0">
                        <a:latin typeface="Cambria Math" panose="02040503050406030204" pitchFamily="18" charset="0"/>
                      </a:rPr>
                      <m:t>000</m:t>
                    </m:r>
                    <m:r>
                      <a:rPr lang="zh-CN" altLang="en-US" sz="1600" i="1">
                        <a:latin typeface="Cambria Math" panose="02040503050406030204" pitchFamily="18" charset="0"/>
                      </a:rPr>
                      <m:t>，</m:t>
                    </m:r>
                    <m:r>
                      <a:rPr lang="en-US" altLang="zh-CN" sz="1600" b="0" i="1" smtClean="0">
                        <a:latin typeface="Cambria Math" panose="02040503050406030204" pitchFamily="18" charset="0"/>
                      </a:rPr>
                      <m:t>101</m:t>
                    </m:r>
                    <m:r>
                      <a:rPr lang="zh-CN" altLang="en-US" sz="1600" i="1">
                        <a:latin typeface="Cambria Math" panose="02040503050406030204" pitchFamily="18" charset="0"/>
                      </a:rPr>
                      <m:t>，</m:t>
                    </m:r>
                    <m:r>
                      <a:rPr lang="en-US" altLang="zh-CN" sz="1600" b="0" i="1" smtClean="0">
                        <a:latin typeface="Cambria Math" panose="02040503050406030204" pitchFamily="18" charset="0"/>
                      </a:rPr>
                      <m:t>001</m:t>
                    </m:r>
                    <m:r>
                      <a:rPr lang="zh-CN" altLang="en-US" sz="1600" i="1">
                        <a:latin typeface="Cambria Math" panose="02040503050406030204" pitchFamily="18" charset="0"/>
                      </a:rPr>
                      <m:t>，</m:t>
                    </m:r>
                    <m:r>
                      <a:rPr lang="en-US" altLang="zh-CN" sz="1600" b="0" i="1" smtClean="0">
                        <a:latin typeface="Cambria Math" panose="02040503050406030204" pitchFamily="18" charset="0"/>
                      </a:rPr>
                      <m:t>110</m:t>
                    </m:r>
                  </m:oMath>
                </a14:m>
                <a:r>
                  <a:rPr lang="en-US" altLang="zh-CN" sz="1600" b="1" dirty="0">
                    <a:ea typeface="华文楷体" panose="02010600040101010101" pitchFamily="2" charset="-122"/>
                  </a:rPr>
                  <a:t>…</a:t>
                </a:r>
              </a:p>
            </p:txBody>
          </p:sp>
        </mc:Choice>
        <mc:Fallback xmlns="">
          <p:sp>
            <p:nvSpPr>
              <p:cNvPr id="6" name="Rectangle 2"/>
              <p:cNvSpPr>
                <a:spLocks noRot="1" noChangeAspect="1" noMove="1" noResize="1" noEditPoints="1" noAdjustHandles="1" noChangeArrowheads="1" noChangeShapeType="1" noTextEdit="1"/>
              </p:cNvSpPr>
              <p:nvPr/>
            </p:nvSpPr>
            <p:spPr bwMode="auto">
              <a:xfrm>
                <a:off x="4626825" y="4793657"/>
                <a:ext cx="3068053" cy="214438"/>
              </a:xfrm>
              <a:prstGeom prst="rect">
                <a:avLst/>
              </a:prstGeom>
              <a:blipFill rotWithShape="0">
                <a:blip r:embed="rId7" cstate="print"/>
                <a:stretch>
                  <a:fillRect t="-27500" b="-50000"/>
                </a:stretch>
              </a:blipFill>
              <a:ln w="25400">
                <a:solidFill>
                  <a:srgbClr val="DCDCEC"/>
                </a:solid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Rectangle 2"/>
              <p:cNvSpPr>
                <a:spLocks noChangeArrowheads="1"/>
              </p:cNvSpPr>
              <p:nvPr/>
            </p:nvSpPr>
            <p:spPr bwMode="auto">
              <a:xfrm>
                <a:off x="2532838" y="5928450"/>
                <a:ext cx="4313130" cy="303915"/>
              </a:xfrm>
              <a:prstGeom prst="rect">
                <a:avLst/>
              </a:prstGeom>
              <a:solidFill>
                <a:srgbClr val="F4F4FA"/>
              </a:solidFill>
              <a:ln w="25400">
                <a:solidFill>
                  <a:srgbClr val="DCDCEC"/>
                </a:solidFill>
              </a:ln>
              <a:effectLst/>
            </p:spPr>
            <p:txBody>
              <a:bodyPr wrap="none" anchor="ctr"/>
              <a:lstStyle/>
              <a:p>
                <a14:m>
                  <m:oMath xmlns:m="http://schemas.openxmlformats.org/officeDocument/2006/math">
                    <m:r>
                      <a:rPr lang="en-US" altLang="zh-CN" sz="1600" b="0" i="1" smtClean="0">
                        <a:latin typeface="Cambria Math" panose="02040503050406030204" pitchFamily="18" charset="0"/>
                      </a:rPr>
                      <m:t>111000101001110</m:t>
                    </m:r>
                  </m:oMath>
                </a14:m>
                <a:r>
                  <a:rPr lang="en-US" altLang="zh-CN" sz="1600" dirty="0">
                    <a:ea typeface="华文楷体" panose="02010600040101010101" pitchFamily="2" charset="-122"/>
                  </a:rPr>
                  <a:t>… </a:t>
                </a:r>
                <a14:m>
                  <m:oMath xmlns:m="http://schemas.openxmlformats.org/officeDocument/2006/math">
                    <m:r>
                      <a:rPr lang="en-US" altLang="zh-CN" sz="1600" b="0" i="1" dirty="0" smtClean="0">
                        <a:latin typeface="Cambria Math" panose="02040503050406030204" pitchFamily="18" charset="0"/>
                        <a:ea typeface="华文楷体" panose="02010600040101010101" pitchFamily="2" charset="-122"/>
                      </a:rPr>
                      <m:t>=</m:t>
                    </m:r>
                    <m:sSub>
                      <m:sSubPr>
                        <m:ctrlPr>
                          <a:rPr lang="en-US" altLang="zh-CN" sz="1600" i="1" dirty="0" smtClean="0">
                            <a:latin typeface="Cambria Math" panose="02040503050406030204" pitchFamily="18" charset="0"/>
                            <a:ea typeface="华文楷体" panose="02010600040101010101" pitchFamily="2" charset="-122"/>
                          </a:rPr>
                        </m:ctrlPr>
                      </m:sSubPr>
                      <m:e>
                        <m:r>
                          <a:rPr lang="en-US" altLang="zh-CN" sz="1600" b="0" i="1" dirty="0" smtClean="0">
                            <a:latin typeface="Cambria Math" panose="02040503050406030204" pitchFamily="18" charset="0"/>
                            <a:ea typeface="华文楷体" panose="02010600040101010101" pitchFamily="2" charset="-122"/>
                          </a:rPr>
                          <m:t>𝐴</m:t>
                        </m:r>
                      </m:e>
                      <m:sub>
                        <m:r>
                          <a:rPr lang="en-US" altLang="zh-CN" sz="1600" b="0" i="1" dirty="0" smtClean="0">
                            <a:latin typeface="Cambria Math" panose="02040503050406030204" pitchFamily="18" charset="0"/>
                            <a:ea typeface="华文楷体" panose="02010600040101010101" pitchFamily="2" charset="-122"/>
                          </a:rPr>
                          <m:t>7</m:t>
                        </m:r>
                      </m:sub>
                    </m:sSub>
                    <m:sSub>
                      <m:sSubPr>
                        <m:ctrlPr>
                          <a:rPr lang="en-US" altLang="zh-CN" sz="1600" i="1" dirty="0">
                            <a:latin typeface="Cambria Math" panose="02040503050406030204" pitchFamily="18" charset="0"/>
                            <a:ea typeface="华文楷体" panose="02010600040101010101" pitchFamily="2" charset="-122"/>
                          </a:rPr>
                        </m:ctrlPr>
                      </m:sSubPr>
                      <m:e>
                        <m:r>
                          <a:rPr lang="en-US" altLang="zh-CN" sz="1600" b="0" i="1" dirty="0" smtClean="0">
                            <a:latin typeface="Cambria Math" panose="02040503050406030204" pitchFamily="18" charset="0"/>
                            <a:ea typeface="华文楷体" panose="02010600040101010101" pitchFamily="2" charset="-122"/>
                          </a:rPr>
                          <m:t>𝐴</m:t>
                        </m:r>
                      </m:e>
                      <m:sub>
                        <m:r>
                          <a:rPr lang="en-US" altLang="zh-CN" sz="1600" b="0" i="1" dirty="0" smtClean="0">
                            <a:latin typeface="Cambria Math" panose="02040503050406030204" pitchFamily="18" charset="0"/>
                            <a:ea typeface="华文楷体" panose="02010600040101010101" pitchFamily="2" charset="-122"/>
                          </a:rPr>
                          <m:t>0</m:t>
                        </m:r>
                      </m:sub>
                    </m:sSub>
                    <m:sSub>
                      <m:sSubPr>
                        <m:ctrlPr>
                          <a:rPr lang="en-US" altLang="zh-CN" sz="1600" i="1" dirty="0">
                            <a:latin typeface="Cambria Math" panose="02040503050406030204" pitchFamily="18" charset="0"/>
                            <a:ea typeface="华文楷体" panose="02010600040101010101" pitchFamily="2" charset="-122"/>
                          </a:rPr>
                        </m:ctrlPr>
                      </m:sSubPr>
                      <m:e>
                        <m:r>
                          <a:rPr lang="en-US" altLang="zh-CN" sz="1600" b="0" i="1" dirty="0" smtClean="0">
                            <a:latin typeface="Cambria Math" panose="02040503050406030204" pitchFamily="18" charset="0"/>
                            <a:ea typeface="华文楷体" panose="02010600040101010101" pitchFamily="2" charset="-122"/>
                          </a:rPr>
                          <m:t>𝐴</m:t>
                        </m:r>
                      </m:e>
                      <m:sub>
                        <m:r>
                          <a:rPr lang="en-US" altLang="zh-CN" sz="1600" b="0" i="1" dirty="0" smtClean="0">
                            <a:latin typeface="Cambria Math" panose="02040503050406030204" pitchFamily="18" charset="0"/>
                            <a:ea typeface="华文楷体" panose="02010600040101010101" pitchFamily="2" charset="-122"/>
                          </a:rPr>
                          <m:t>5</m:t>
                        </m:r>
                      </m:sub>
                    </m:sSub>
                    <m:sSub>
                      <m:sSubPr>
                        <m:ctrlPr>
                          <a:rPr lang="en-US" altLang="zh-CN" sz="1600" i="1" dirty="0">
                            <a:latin typeface="Cambria Math" panose="02040503050406030204" pitchFamily="18" charset="0"/>
                            <a:ea typeface="华文楷体" panose="02010600040101010101" pitchFamily="2" charset="-122"/>
                          </a:rPr>
                        </m:ctrlPr>
                      </m:sSubPr>
                      <m:e>
                        <m:r>
                          <a:rPr lang="en-US" altLang="zh-CN" sz="1600" i="1" dirty="0">
                            <a:latin typeface="Cambria Math" panose="02040503050406030204" pitchFamily="18" charset="0"/>
                            <a:ea typeface="华文楷体" panose="02010600040101010101" pitchFamily="2" charset="-122"/>
                          </a:rPr>
                          <m:t>𝐴</m:t>
                        </m:r>
                      </m:e>
                      <m:sub>
                        <m:r>
                          <a:rPr lang="en-US" altLang="zh-CN" sz="1600" b="0" i="1" dirty="0" smtClean="0">
                            <a:latin typeface="Cambria Math" panose="02040503050406030204" pitchFamily="18" charset="0"/>
                            <a:ea typeface="华文楷体" panose="02010600040101010101" pitchFamily="2" charset="-122"/>
                          </a:rPr>
                          <m:t>1</m:t>
                        </m:r>
                      </m:sub>
                    </m:sSub>
                    <m:sSub>
                      <m:sSubPr>
                        <m:ctrlPr>
                          <a:rPr lang="en-US" altLang="zh-CN" sz="1600" i="1" dirty="0">
                            <a:latin typeface="Cambria Math" panose="02040503050406030204" pitchFamily="18" charset="0"/>
                            <a:ea typeface="华文楷体" panose="02010600040101010101" pitchFamily="2" charset="-122"/>
                          </a:rPr>
                        </m:ctrlPr>
                      </m:sSubPr>
                      <m:e>
                        <m:r>
                          <a:rPr lang="en-US" altLang="zh-CN" sz="1600" i="1" dirty="0">
                            <a:latin typeface="Cambria Math" panose="02040503050406030204" pitchFamily="18" charset="0"/>
                            <a:ea typeface="华文楷体" panose="02010600040101010101" pitchFamily="2" charset="-122"/>
                          </a:rPr>
                          <m:t>𝐴</m:t>
                        </m:r>
                      </m:e>
                      <m:sub>
                        <m:r>
                          <a:rPr lang="en-US" altLang="zh-CN" sz="1600" b="0" i="1" dirty="0" smtClean="0">
                            <a:latin typeface="Cambria Math" panose="02040503050406030204" pitchFamily="18" charset="0"/>
                            <a:ea typeface="华文楷体" panose="02010600040101010101" pitchFamily="2" charset="-122"/>
                          </a:rPr>
                          <m:t>6</m:t>
                        </m:r>
                      </m:sub>
                    </m:sSub>
                  </m:oMath>
                </a14:m>
                <a:r>
                  <a:rPr lang="en-US" altLang="zh-CN" sz="1600" dirty="0">
                    <a:ea typeface="华文楷体" panose="02010600040101010101" pitchFamily="2" charset="-122"/>
                  </a:rPr>
                  <a:t> … </a:t>
                </a:r>
              </a:p>
            </p:txBody>
          </p:sp>
        </mc:Choice>
        <mc:Fallback xmlns="">
          <p:sp>
            <p:nvSpPr>
              <p:cNvPr id="7" name="Rectangle 2"/>
              <p:cNvSpPr>
                <a:spLocks noRot="1" noChangeAspect="1" noMove="1" noResize="1" noEditPoints="1" noAdjustHandles="1" noChangeArrowheads="1" noChangeShapeType="1" noTextEdit="1"/>
              </p:cNvSpPr>
              <p:nvPr/>
            </p:nvSpPr>
            <p:spPr bwMode="auto">
              <a:xfrm>
                <a:off x="2532838" y="5928450"/>
                <a:ext cx="4313130" cy="303915"/>
              </a:xfrm>
              <a:prstGeom prst="rect">
                <a:avLst/>
              </a:prstGeom>
              <a:blipFill rotWithShape="0">
                <a:blip r:embed="rId8" cstate="print"/>
                <a:stretch>
                  <a:fillRect t="-7547" b="-26415"/>
                </a:stretch>
              </a:blipFill>
              <a:ln w="25400">
                <a:solidFill>
                  <a:srgbClr val="DCDCEC"/>
                </a:solidFill>
              </a:ln>
              <a:effectLst/>
            </p:spPr>
            <p:txBody>
              <a:bodyPr/>
              <a:lstStyle/>
              <a:p>
                <a:r>
                  <a:rPr lang="zh-CN" altLang="en-US">
                    <a:noFill/>
                  </a:rPr>
                  <a:t> </a:t>
                </a:r>
              </a:p>
            </p:txBody>
          </p:sp>
        </mc:Fallback>
      </mc:AlternateContent>
      <p:grpSp>
        <p:nvGrpSpPr>
          <p:cNvPr id="8" name="组合 25"/>
          <p:cNvGrpSpPr/>
          <p:nvPr/>
        </p:nvGrpSpPr>
        <p:grpSpPr>
          <a:xfrm>
            <a:off x="6043140" y="2071100"/>
            <a:ext cx="1255203" cy="782607"/>
            <a:chOff x="6116292" y="1909761"/>
            <a:chExt cx="1255203" cy="782607"/>
          </a:xfrm>
        </p:grpSpPr>
        <p:sp>
          <p:nvSpPr>
            <p:cNvPr id="9" name="Freeform 5"/>
            <p:cNvSpPr>
              <a:spLocks/>
            </p:cNvSpPr>
            <p:nvPr/>
          </p:nvSpPr>
          <p:spPr bwMode="auto">
            <a:xfrm>
              <a:off x="6116292" y="2232439"/>
              <a:ext cx="1255203" cy="459929"/>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95077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p>
          </p:txBody>
        </p:sp>
        <p:sp>
          <p:nvSpPr>
            <p:cNvPr id="21" name="矩形 20"/>
            <p:cNvSpPr/>
            <p:nvPr/>
          </p:nvSpPr>
          <p:spPr>
            <a:xfrm>
              <a:off x="6251367" y="1921047"/>
              <a:ext cx="312906" cy="369332"/>
            </a:xfrm>
            <a:prstGeom prst="rect">
              <a:avLst/>
            </a:prstGeom>
          </p:spPr>
          <p:txBody>
            <a:bodyPr wrap="none">
              <a:spAutoFit/>
            </a:bodyPr>
            <a:lstStyle/>
            <a:p>
              <a:r>
                <a:rPr lang="en-US" altLang="zh-CN" dirty="0">
                  <a:solidFill>
                    <a:srgbClr val="C00000"/>
                  </a:solidFill>
                </a:rPr>
                <a:t>1</a:t>
              </a:r>
              <a:endParaRPr lang="zh-CN" altLang="en-US" dirty="0">
                <a:solidFill>
                  <a:srgbClr val="C00000"/>
                </a:solidFill>
              </a:endParaRPr>
            </a:p>
          </p:txBody>
        </p:sp>
        <p:sp>
          <p:nvSpPr>
            <p:cNvPr id="22" name="矩形 21"/>
            <p:cNvSpPr/>
            <p:nvPr/>
          </p:nvSpPr>
          <p:spPr>
            <a:xfrm>
              <a:off x="6586807" y="1909761"/>
              <a:ext cx="312906" cy="369332"/>
            </a:xfrm>
            <a:prstGeom prst="rect">
              <a:avLst/>
            </a:prstGeom>
          </p:spPr>
          <p:txBody>
            <a:bodyPr wrap="none">
              <a:spAutoFit/>
            </a:bodyPr>
            <a:lstStyle/>
            <a:p>
              <a:r>
                <a:rPr lang="en-US" altLang="zh-CN" dirty="0">
                  <a:solidFill>
                    <a:srgbClr val="C00000"/>
                  </a:solidFill>
                </a:rPr>
                <a:t>0</a:t>
              </a:r>
              <a:endParaRPr lang="zh-CN" altLang="en-US" dirty="0">
                <a:solidFill>
                  <a:srgbClr val="C00000"/>
                </a:solidFill>
              </a:endParaRPr>
            </a:p>
          </p:txBody>
        </p:sp>
      </p:grpSp>
      <p:grpSp>
        <p:nvGrpSpPr>
          <p:cNvPr id="10" name="组合 24"/>
          <p:cNvGrpSpPr/>
          <p:nvPr/>
        </p:nvGrpSpPr>
        <p:grpSpPr>
          <a:xfrm>
            <a:off x="8297775" y="2645018"/>
            <a:ext cx="734473" cy="1134450"/>
            <a:chOff x="8343730" y="2669830"/>
            <a:chExt cx="734473" cy="1134450"/>
          </a:xfrm>
        </p:grpSpPr>
        <p:sp>
          <p:nvSpPr>
            <p:cNvPr id="11" name="Line 24"/>
            <p:cNvSpPr>
              <a:spLocks noChangeShapeType="1"/>
            </p:cNvSpPr>
            <p:nvPr/>
          </p:nvSpPr>
          <p:spPr bwMode="auto">
            <a:xfrm flipV="1">
              <a:off x="8378611" y="3089660"/>
              <a:ext cx="164427" cy="0"/>
            </a:xfrm>
            <a:prstGeom prst="line">
              <a:avLst/>
            </a:prstGeom>
            <a:noFill/>
            <a:ln w="31750" cap="rnd">
              <a:solidFill>
                <a:srgbClr val="C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24"/>
            <p:cNvSpPr>
              <a:spLocks noChangeShapeType="1"/>
            </p:cNvSpPr>
            <p:nvPr/>
          </p:nvSpPr>
          <p:spPr bwMode="auto">
            <a:xfrm flipV="1">
              <a:off x="8543038" y="3101692"/>
              <a:ext cx="0" cy="288759"/>
            </a:xfrm>
            <a:prstGeom prst="line">
              <a:avLst/>
            </a:prstGeom>
            <a:noFill/>
            <a:ln w="31750" cap="rnd">
              <a:solidFill>
                <a:srgbClr val="C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24"/>
            <p:cNvSpPr>
              <a:spLocks noChangeShapeType="1"/>
            </p:cNvSpPr>
            <p:nvPr/>
          </p:nvSpPr>
          <p:spPr bwMode="auto">
            <a:xfrm flipV="1">
              <a:off x="8555085" y="3390448"/>
              <a:ext cx="164427" cy="0"/>
            </a:xfrm>
            <a:prstGeom prst="line">
              <a:avLst/>
            </a:prstGeom>
            <a:noFill/>
            <a:ln w="31750" cap="rnd">
              <a:solidFill>
                <a:srgbClr val="C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24"/>
            <p:cNvSpPr>
              <a:spLocks noChangeShapeType="1"/>
            </p:cNvSpPr>
            <p:nvPr/>
          </p:nvSpPr>
          <p:spPr bwMode="auto">
            <a:xfrm flipV="1">
              <a:off x="8719822" y="3388204"/>
              <a:ext cx="0" cy="288759"/>
            </a:xfrm>
            <a:prstGeom prst="line">
              <a:avLst/>
            </a:prstGeom>
            <a:noFill/>
            <a:ln w="31750" cap="rnd">
              <a:solidFill>
                <a:srgbClr val="C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24"/>
            <p:cNvSpPr>
              <a:spLocks noChangeShapeType="1"/>
            </p:cNvSpPr>
            <p:nvPr/>
          </p:nvSpPr>
          <p:spPr bwMode="auto">
            <a:xfrm flipV="1">
              <a:off x="8731869" y="3676960"/>
              <a:ext cx="164427" cy="0"/>
            </a:xfrm>
            <a:prstGeom prst="line">
              <a:avLst/>
            </a:prstGeom>
            <a:noFill/>
            <a:ln w="31750" cap="rnd">
              <a:solidFill>
                <a:srgbClr val="C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24"/>
            <p:cNvSpPr>
              <a:spLocks noChangeShapeType="1"/>
            </p:cNvSpPr>
            <p:nvPr/>
          </p:nvSpPr>
          <p:spPr bwMode="auto">
            <a:xfrm flipV="1">
              <a:off x="8898838" y="3377925"/>
              <a:ext cx="0" cy="288759"/>
            </a:xfrm>
            <a:prstGeom prst="line">
              <a:avLst/>
            </a:prstGeom>
            <a:noFill/>
            <a:ln w="31750" cap="rnd">
              <a:solidFill>
                <a:srgbClr val="C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24"/>
            <p:cNvSpPr>
              <a:spLocks noChangeShapeType="1"/>
            </p:cNvSpPr>
            <p:nvPr/>
          </p:nvSpPr>
          <p:spPr bwMode="auto">
            <a:xfrm flipV="1">
              <a:off x="8343730" y="2687862"/>
              <a:ext cx="5704" cy="1116418"/>
            </a:xfrm>
            <a:prstGeom prst="line">
              <a:avLst/>
            </a:prstGeom>
            <a:noFill/>
            <a:ln w="22225" cap="rnd">
              <a:solidFill>
                <a:schemeClr val="bg1">
                  <a:lumMod val="65000"/>
                </a:schemeClr>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24"/>
            <p:cNvSpPr>
              <a:spLocks noChangeShapeType="1"/>
            </p:cNvSpPr>
            <p:nvPr/>
          </p:nvSpPr>
          <p:spPr bwMode="auto">
            <a:xfrm flipV="1">
              <a:off x="8896296" y="3388204"/>
              <a:ext cx="164427" cy="0"/>
            </a:xfrm>
            <a:prstGeom prst="line">
              <a:avLst/>
            </a:prstGeom>
            <a:noFill/>
            <a:ln w="31750" cap="rnd">
              <a:solidFill>
                <a:srgbClr val="C00000"/>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4"/>
            <p:cNvSpPr>
              <a:spLocks noChangeShapeType="1"/>
            </p:cNvSpPr>
            <p:nvPr/>
          </p:nvSpPr>
          <p:spPr bwMode="auto">
            <a:xfrm flipV="1">
              <a:off x="8714573" y="2684754"/>
              <a:ext cx="5704" cy="1116418"/>
            </a:xfrm>
            <a:prstGeom prst="line">
              <a:avLst/>
            </a:prstGeom>
            <a:noFill/>
            <a:ln w="22225" cap="rnd">
              <a:solidFill>
                <a:schemeClr val="bg1">
                  <a:lumMod val="65000"/>
                </a:schemeClr>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4"/>
            <p:cNvSpPr>
              <a:spLocks noChangeShapeType="1"/>
            </p:cNvSpPr>
            <p:nvPr/>
          </p:nvSpPr>
          <p:spPr bwMode="auto">
            <a:xfrm flipV="1">
              <a:off x="9072499" y="2669830"/>
              <a:ext cx="5704" cy="1116418"/>
            </a:xfrm>
            <a:prstGeom prst="line">
              <a:avLst/>
            </a:prstGeom>
            <a:noFill/>
            <a:ln w="22225" cap="rnd">
              <a:solidFill>
                <a:schemeClr val="bg1">
                  <a:lumMod val="65000"/>
                </a:schemeClr>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矩形 22"/>
            <p:cNvSpPr/>
            <p:nvPr/>
          </p:nvSpPr>
          <p:spPr>
            <a:xfrm>
              <a:off x="8354993" y="2682097"/>
              <a:ext cx="312906" cy="369332"/>
            </a:xfrm>
            <a:prstGeom prst="rect">
              <a:avLst/>
            </a:prstGeom>
          </p:spPr>
          <p:txBody>
            <a:bodyPr wrap="none">
              <a:spAutoFit/>
            </a:bodyPr>
            <a:lstStyle/>
            <a:p>
              <a:r>
                <a:rPr lang="en-US" altLang="zh-CN" dirty="0">
                  <a:solidFill>
                    <a:srgbClr val="C00000"/>
                  </a:solidFill>
                </a:rPr>
                <a:t>1</a:t>
              </a:r>
              <a:endParaRPr lang="zh-CN" altLang="en-US" dirty="0">
                <a:solidFill>
                  <a:srgbClr val="C00000"/>
                </a:solidFill>
              </a:endParaRPr>
            </a:p>
          </p:txBody>
        </p:sp>
        <p:sp>
          <p:nvSpPr>
            <p:cNvPr id="24" name="矩形 23"/>
            <p:cNvSpPr/>
            <p:nvPr/>
          </p:nvSpPr>
          <p:spPr>
            <a:xfrm>
              <a:off x="8690433" y="2670811"/>
              <a:ext cx="312906" cy="369332"/>
            </a:xfrm>
            <a:prstGeom prst="rect">
              <a:avLst/>
            </a:prstGeom>
          </p:spPr>
          <p:txBody>
            <a:bodyPr wrap="none">
              <a:spAutoFit/>
            </a:bodyPr>
            <a:lstStyle/>
            <a:p>
              <a:r>
                <a:rPr lang="en-US" altLang="zh-CN" dirty="0">
                  <a:solidFill>
                    <a:srgbClr val="C00000"/>
                  </a:solidFill>
                </a:rPr>
                <a:t>0</a:t>
              </a:r>
              <a:endParaRPr lang="zh-CN" altLang="en-US" dirty="0">
                <a:solidFill>
                  <a:srgbClr val="C00000"/>
                </a:solidFill>
              </a:endParaRPr>
            </a:p>
          </p:txBody>
        </p:sp>
      </p:grpSp>
      <p:sp>
        <p:nvSpPr>
          <p:cNvPr id="25" name="文本框 24">
            <a:extLst>
              <a:ext uri="{FF2B5EF4-FFF2-40B4-BE49-F238E27FC236}">
                <a16:creationId xmlns:a16="http://schemas.microsoft.com/office/drawing/2014/main" id="{02A3264A-D53C-4662-A8B0-0660FA8D5E59}"/>
              </a:ext>
            </a:extLst>
          </p:cNvPr>
          <p:cNvSpPr txBox="1"/>
          <p:nvPr/>
        </p:nvSpPr>
        <p:spPr>
          <a:xfrm>
            <a:off x="646916" y="6400800"/>
            <a:ext cx="8026641" cy="461665"/>
          </a:xfrm>
          <a:prstGeom prst="rect">
            <a:avLst/>
          </a:prstGeom>
          <a:noFill/>
        </p:spPr>
        <p:txBody>
          <a:bodyPr wrap="square" rtlCol="0">
            <a:spAutoFit/>
          </a:bodyPr>
          <a:lstStyle/>
          <a:p>
            <a:pPr algn="ctr"/>
            <a:r>
              <a:rPr lang="en-US" altLang="zh-CN" sz="2400" b="1" dirty="0">
                <a:solidFill>
                  <a:srgbClr val="FF0000"/>
                </a:solidFill>
                <a:latin typeface="黑体" panose="02010609060101010101" pitchFamily="49" charset="-122"/>
                <a:ea typeface="黑体" panose="02010609060101010101" pitchFamily="49" charset="-122"/>
              </a:rPr>
              <a:t> </a:t>
            </a:r>
            <a:r>
              <a:rPr lang="zh-CN" altLang="en-US" sz="2400" b="1" dirty="0">
                <a:solidFill>
                  <a:srgbClr val="FF0000"/>
                </a:solidFill>
                <a:latin typeface="黑体" panose="02010609060101010101" pitchFamily="49" charset="-122"/>
                <a:ea typeface="黑体" panose="02010609060101010101" pitchFamily="49" charset="-122"/>
              </a:rPr>
              <a:t>以同样速率发送码元，相同时间传送的信息量提高了</a:t>
            </a:r>
            <a:r>
              <a:rPr lang="en-US" altLang="zh-CN" sz="2400" b="1" dirty="0">
                <a:solidFill>
                  <a:srgbClr val="FF0000"/>
                </a:solidFill>
                <a:latin typeface="黑体" panose="02010609060101010101" pitchFamily="49" charset="-122"/>
                <a:ea typeface="黑体" panose="02010609060101010101" pitchFamily="49" charset="-122"/>
              </a:rPr>
              <a:t>3</a:t>
            </a:r>
            <a:r>
              <a:rPr lang="zh-CN" altLang="en-US" sz="2400" b="1" dirty="0">
                <a:solidFill>
                  <a:srgbClr val="FF0000"/>
                </a:solidFill>
                <a:latin typeface="黑体" panose="02010609060101010101" pitchFamily="49" charset="-122"/>
                <a:ea typeface="黑体" panose="02010609060101010101" pitchFamily="49" charset="-122"/>
              </a:rPr>
              <a:t>倍</a:t>
            </a:r>
            <a:endParaRPr lang="zh-CN" altLang="en-US" sz="2400" b="1" dirty="0">
              <a:latin typeface="黑体" panose="02010609060101010101" pitchFamily="49" charset="-122"/>
              <a:ea typeface="黑体" panose="02010609060101010101" pitchFamily="49" charset="-122"/>
            </a:endParaRPr>
          </a:p>
        </p:txBody>
      </p:sp>
    </p:spTree>
    <p:custDataLst>
      <p:tags r:id="rId1"/>
    </p:custDataLst>
    <p:extLst>
      <p:ext uri="{BB962C8B-B14F-4D97-AF65-F5344CB8AC3E}">
        <p14:creationId xmlns:p14="http://schemas.microsoft.com/office/powerpoint/2010/main" val="965357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一）编码</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11</a:t>
            </a:fld>
            <a:endParaRPr lang="zh-CN" altLang="en-US" dirty="0"/>
          </a:p>
        </p:txBody>
      </p:sp>
      <p:pic>
        <p:nvPicPr>
          <p:cNvPr id="1026" name="Picture 2"/>
          <p:cNvPicPr>
            <a:picLocks noChangeAspect="1" noChangeArrowheads="1"/>
          </p:cNvPicPr>
          <p:nvPr/>
        </p:nvPicPr>
        <p:blipFill>
          <a:blip r:embed="rId3" cstate="print"/>
          <a:srcRect/>
          <a:stretch>
            <a:fillRect/>
          </a:stretch>
        </p:blipFill>
        <p:spPr bwMode="auto">
          <a:xfrm>
            <a:off x="433388" y="1291590"/>
            <a:ext cx="8277225" cy="5048250"/>
          </a:xfrm>
          <a:prstGeom prst="rect">
            <a:avLst/>
          </a:prstGeom>
          <a:noFill/>
          <a:ln w="9525">
            <a:noFill/>
            <a:miter lim="800000"/>
            <a:headEnd/>
            <a:tailEnd/>
          </a:ln>
        </p:spPr>
      </p:pic>
    </p:spTree>
    <p:extLst>
      <p:ext uri="{BB962C8B-B14F-4D97-AF65-F5344CB8AC3E}">
        <p14:creationId xmlns:p14="http://schemas.microsoft.com/office/powerpoint/2010/main" val="3181162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5280"/>
            <a:ext cx="8229600" cy="811560"/>
          </a:xfrm>
        </p:spPr>
        <p:txBody>
          <a:bodyPr/>
          <a:lstStyle/>
          <a:p>
            <a:r>
              <a:rPr lang="en-US" altLang="zh-CN" dirty="0"/>
              <a:t>(</a:t>
            </a:r>
            <a:r>
              <a:rPr lang="zh-CN" altLang="en-US" dirty="0"/>
              <a:t>一）编码</a:t>
            </a:r>
            <a:r>
              <a:rPr lang="zh-CN" altLang="en-US" sz="2400" dirty="0">
                <a:solidFill>
                  <a:srgbClr val="FF0000"/>
                </a:solidFill>
              </a:rPr>
              <a:t>（非差分编码：</a:t>
            </a:r>
            <a:r>
              <a:rPr lang="en-US" altLang="zh-CN" sz="2400" dirty="0">
                <a:solidFill>
                  <a:srgbClr val="FF0000"/>
                </a:solidFill>
              </a:rPr>
              <a:t>0</a:t>
            </a:r>
            <a:r>
              <a:rPr lang="zh-CN" altLang="en-US" sz="2400" dirty="0">
                <a:solidFill>
                  <a:srgbClr val="FF0000"/>
                </a:solidFill>
              </a:rPr>
              <a:t>、</a:t>
            </a:r>
            <a:r>
              <a:rPr lang="en-US" altLang="zh-CN" sz="2400" dirty="0">
                <a:solidFill>
                  <a:srgbClr val="FF0000"/>
                </a:solidFill>
              </a:rPr>
              <a:t>1</a:t>
            </a:r>
            <a:r>
              <a:rPr lang="zh-CN" altLang="en-US" sz="2400" dirty="0">
                <a:solidFill>
                  <a:srgbClr val="FF0000"/>
                </a:solidFill>
              </a:rPr>
              <a:t>固定编码，无关联）</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12</a:t>
            </a:fld>
            <a:endParaRPr lang="zh-CN" altLang="en-US" dirty="0"/>
          </a:p>
        </p:txBody>
      </p:sp>
      <p:sp>
        <p:nvSpPr>
          <p:cNvPr id="3" name="矩形 2"/>
          <p:cNvSpPr/>
          <p:nvPr/>
        </p:nvSpPr>
        <p:spPr>
          <a:xfrm>
            <a:off x="1001416" y="1370950"/>
            <a:ext cx="1396536" cy="369332"/>
          </a:xfrm>
          <a:prstGeom prst="rect">
            <a:avLst/>
          </a:prstGeom>
        </p:spPr>
        <p:txBody>
          <a:bodyPr wrap="none">
            <a:spAutoFit/>
          </a:bodyPr>
          <a:lstStyle/>
          <a:p>
            <a:r>
              <a:rPr kumimoji="1" lang="zh-CN" altLang="en-US" dirty="0">
                <a:latin typeface="华文楷体" panose="02010600040101010101" pitchFamily="2" charset="-122"/>
                <a:ea typeface="华文楷体" panose="02010600040101010101" pitchFamily="2" charset="-122"/>
              </a:rPr>
              <a:t>二进制信码 </a:t>
            </a:r>
            <a:endParaRPr lang="zh-CN" altLang="en-US" dirty="0"/>
          </a:p>
        </p:txBody>
      </p:sp>
      <p:sp>
        <p:nvSpPr>
          <p:cNvPr id="155" name="矩形 154"/>
          <p:cNvSpPr/>
          <p:nvPr/>
        </p:nvSpPr>
        <p:spPr>
          <a:xfrm>
            <a:off x="1679115" y="1950463"/>
            <a:ext cx="646331" cy="369332"/>
          </a:xfrm>
          <a:prstGeom prst="rect">
            <a:avLst/>
          </a:prstGeom>
        </p:spPr>
        <p:txBody>
          <a:bodyPr wrap="none">
            <a:spAutoFit/>
          </a:bodyPr>
          <a:lstStyle/>
          <a:p>
            <a:r>
              <a:rPr kumimoji="1" lang="zh-CN" altLang="en-US" dirty="0">
                <a:latin typeface="华文楷体" panose="02010600040101010101" pitchFamily="2" charset="-122"/>
                <a:ea typeface="华文楷体" panose="02010600040101010101" pitchFamily="2" charset="-122"/>
              </a:rPr>
              <a:t>时钟</a:t>
            </a:r>
            <a:endParaRPr lang="zh-CN" altLang="en-US" dirty="0"/>
          </a:p>
        </p:txBody>
      </p:sp>
      <p:sp>
        <p:nvSpPr>
          <p:cNvPr id="156" name="矩形 155"/>
          <p:cNvSpPr/>
          <p:nvPr/>
        </p:nvSpPr>
        <p:spPr>
          <a:xfrm>
            <a:off x="807720" y="2503616"/>
            <a:ext cx="1532603" cy="646331"/>
          </a:xfrm>
          <a:prstGeom prst="rect">
            <a:avLst/>
          </a:prstGeom>
        </p:spPr>
        <p:txBody>
          <a:bodyPr wrap="square">
            <a:spAutoFit/>
          </a:bodyPr>
          <a:lstStyle/>
          <a:p>
            <a:pPr marL="342900" indent="-342900" algn="ctr"/>
            <a:r>
              <a:rPr kumimoji="1" lang="zh-CN" altLang="en-US">
                <a:latin typeface="Calibri" panose="020F0502020204030204" pitchFamily="34" charset="0"/>
                <a:ea typeface="华文楷体" panose="02010600040101010101" pitchFamily="2" charset="-122"/>
              </a:rPr>
              <a:t>单极性</a:t>
            </a:r>
            <a:endParaRPr kumimoji="1" lang="en-US" altLang="zh-CN">
              <a:latin typeface="Calibri" panose="020F0502020204030204" pitchFamily="34" charset="0"/>
              <a:ea typeface="华文楷体" panose="02010600040101010101" pitchFamily="2" charset="-122"/>
            </a:endParaRPr>
          </a:p>
          <a:p>
            <a:pPr marL="342900" indent="-342900" algn="ctr"/>
            <a:r>
              <a:rPr kumimoji="1" lang="zh-CN" altLang="en-US">
                <a:latin typeface="Calibri" panose="020F0502020204030204" pitchFamily="34" charset="0"/>
                <a:ea typeface="华文楷体" panose="02010600040101010101" pitchFamily="2" charset="-122"/>
              </a:rPr>
              <a:t>不归零码</a:t>
            </a:r>
            <a:endParaRPr lang="zh-CN" altLang="en-US" dirty="0">
              <a:latin typeface="Calibri" panose="020F0502020204030204" pitchFamily="34" charset="0"/>
            </a:endParaRPr>
          </a:p>
        </p:txBody>
      </p:sp>
      <p:sp>
        <p:nvSpPr>
          <p:cNvPr id="244" name="矩形 243"/>
          <p:cNvSpPr/>
          <p:nvPr/>
        </p:nvSpPr>
        <p:spPr>
          <a:xfrm>
            <a:off x="807720" y="3402776"/>
            <a:ext cx="1532603" cy="646331"/>
          </a:xfrm>
          <a:prstGeom prst="rect">
            <a:avLst/>
          </a:prstGeom>
        </p:spPr>
        <p:txBody>
          <a:bodyPr wrap="square">
            <a:spAutoFit/>
          </a:bodyPr>
          <a:lstStyle/>
          <a:p>
            <a:pPr marL="342900" indent="-342900" algn="ctr"/>
            <a:r>
              <a:rPr kumimoji="1" lang="zh-CN" altLang="en-US">
                <a:latin typeface="Calibri" panose="020F0502020204030204" pitchFamily="34" charset="0"/>
                <a:ea typeface="华文楷体" panose="02010600040101010101" pitchFamily="2" charset="-122"/>
              </a:rPr>
              <a:t>双极性</a:t>
            </a:r>
            <a:endParaRPr kumimoji="1" lang="en-US" altLang="zh-CN">
              <a:latin typeface="Calibri" panose="020F0502020204030204" pitchFamily="34" charset="0"/>
              <a:ea typeface="华文楷体" panose="02010600040101010101" pitchFamily="2" charset="-122"/>
            </a:endParaRPr>
          </a:p>
          <a:p>
            <a:pPr marL="342900" indent="-342900" algn="ctr"/>
            <a:r>
              <a:rPr kumimoji="1" lang="zh-CN" altLang="en-US">
                <a:latin typeface="Calibri" panose="020F0502020204030204" pitchFamily="34" charset="0"/>
                <a:ea typeface="华文楷体" panose="02010600040101010101" pitchFamily="2" charset="-122"/>
              </a:rPr>
              <a:t>不归零码</a:t>
            </a:r>
            <a:endParaRPr lang="zh-CN" altLang="en-US" dirty="0">
              <a:latin typeface="Calibri" panose="020F0502020204030204" pitchFamily="34" charset="0"/>
            </a:endParaRPr>
          </a:p>
        </p:txBody>
      </p:sp>
      <p:sp>
        <p:nvSpPr>
          <p:cNvPr id="277" name="矩形 276"/>
          <p:cNvSpPr/>
          <p:nvPr/>
        </p:nvSpPr>
        <p:spPr>
          <a:xfrm>
            <a:off x="807720" y="4225736"/>
            <a:ext cx="1532603" cy="646331"/>
          </a:xfrm>
          <a:prstGeom prst="rect">
            <a:avLst/>
          </a:prstGeom>
        </p:spPr>
        <p:txBody>
          <a:bodyPr wrap="square">
            <a:spAutoFit/>
          </a:bodyPr>
          <a:lstStyle/>
          <a:p>
            <a:pPr marL="342900" indent="-342900" algn="ctr"/>
            <a:r>
              <a:rPr kumimoji="1" lang="zh-CN" altLang="en-US">
                <a:latin typeface="Calibri" panose="020F0502020204030204" pitchFamily="34" charset="0"/>
                <a:ea typeface="华文楷体" panose="02010600040101010101" pitchFamily="2" charset="-122"/>
              </a:rPr>
              <a:t>单极性</a:t>
            </a:r>
            <a:endParaRPr kumimoji="1" lang="en-US" altLang="zh-CN">
              <a:latin typeface="Calibri" panose="020F0502020204030204" pitchFamily="34" charset="0"/>
              <a:ea typeface="华文楷体" panose="02010600040101010101" pitchFamily="2" charset="-122"/>
            </a:endParaRPr>
          </a:p>
          <a:p>
            <a:pPr marL="342900" indent="-342900" algn="ctr"/>
            <a:r>
              <a:rPr kumimoji="1" lang="zh-CN" altLang="en-US">
                <a:latin typeface="Calibri" panose="020F0502020204030204" pitchFamily="34" charset="0"/>
                <a:ea typeface="华文楷体" panose="02010600040101010101" pitchFamily="2" charset="-122"/>
              </a:rPr>
              <a:t>归零码</a:t>
            </a:r>
            <a:endParaRPr lang="zh-CN" altLang="en-US" dirty="0">
              <a:latin typeface="Calibri" panose="020F0502020204030204" pitchFamily="34" charset="0"/>
            </a:endParaRPr>
          </a:p>
        </p:txBody>
      </p:sp>
      <p:sp>
        <p:nvSpPr>
          <p:cNvPr id="278" name="内容占位符 2"/>
          <p:cNvSpPr>
            <a:spLocks noGrp="1"/>
          </p:cNvSpPr>
          <p:nvPr>
            <p:ph idx="1"/>
          </p:nvPr>
        </p:nvSpPr>
        <p:spPr>
          <a:xfrm>
            <a:off x="331240" y="5166360"/>
            <a:ext cx="8477480" cy="1523999"/>
          </a:xfrm>
        </p:spPr>
        <p:txBody>
          <a:bodyPr/>
          <a:lstStyle/>
          <a:p>
            <a:pPr lvl="1">
              <a:lnSpc>
                <a:spcPct val="150000"/>
              </a:lnSpc>
            </a:pPr>
            <a:r>
              <a:rPr lang="zh-CN" altLang="en-US" sz="1800" dirty="0">
                <a:solidFill>
                  <a:srgbClr val="FF0000"/>
                </a:solidFill>
              </a:rPr>
              <a:t>存在大量直流分量，长串“</a:t>
            </a:r>
            <a:r>
              <a:rPr lang="en-US" altLang="zh-CN" sz="1800" dirty="0">
                <a:solidFill>
                  <a:srgbClr val="FF0000"/>
                </a:solidFill>
              </a:rPr>
              <a:t>1</a:t>
            </a:r>
            <a:r>
              <a:rPr lang="zh-CN" altLang="en-US" sz="1800" dirty="0">
                <a:solidFill>
                  <a:srgbClr val="FF0000"/>
                </a:solidFill>
              </a:rPr>
              <a:t>”或“</a:t>
            </a:r>
            <a:r>
              <a:rPr lang="en-US" altLang="zh-CN" sz="1800" dirty="0">
                <a:solidFill>
                  <a:srgbClr val="FF0000"/>
                </a:solidFill>
              </a:rPr>
              <a:t>0</a:t>
            </a:r>
            <a:r>
              <a:rPr lang="zh-CN" altLang="en-US" sz="1800" dirty="0">
                <a:solidFill>
                  <a:srgbClr val="FF0000"/>
                </a:solidFill>
              </a:rPr>
              <a:t>”时，呈现固定连续电平，不出现跳变，无法提取时钟信号</a:t>
            </a:r>
            <a:endParaRPr lang="en-US" altLang="zh-CN" sz="1800" dirty="0">
              <a:solidFill>
                <a:srgbClr val="FF0000"/>
              </a:solidFill>
            </a:endParaRPr>
          </a:p>
          <a:p>
            <a:pPr lvl="1">
              <a:lnSpc>
                <a:spcPct val="150000"/>
              </a:lnSpc>
            </a:pPr>
            <a:r>
              <a:rPr lang="zh-CN" altLang="en-US" sz="1800" dirty="0">
                <a:solidFill>
                  <a:srgbClr val="FF0000"/>
                </a:solidFill>
              </a:rPr>
              <a:t>极性反转，错误会传导下去</a:t>
            </a:r>
            <a:endParaRPr lang="zh-CN" altLang="en-US" sz="2400" dirty="0">
              <a:solidFill>
                <a:srgbClr val="FF0000"/>
              </a:solidFill>
            </a:endParaRPr>
          </a:p>
        </p:txBody>
      </p:sp>
      <p:pic>
        <p:nvPicPr>
          <p:cNvPr id="2050" name="Picture 2"/>
          <p:cNvPicPr>
            <a:picLocks noChangeAspect="1" noChangeArrowheads="1"/>
          </p:cNvPicPr>
          <p:nvPr/>
        </p:nvPicPr>
        <p:blipFill>
          <a:blip r:embed="rId3" cstate="print"/>
          <a:srcRect/>
          <a:stretch>
            <a:fillRect/>
          </a:stretch>
        </p:blipFill>
        <p:spPr bwMode="auto">
          <a:xfrm>
            <a:off x="2345055" y="1287780"/>
            <a:ext cx="5734050" cy="37338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191204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5"/>
                                        </p:tgtEl>
                                        <p:attrNameLst>
                                          <p:attrName>style.visibility</p:attrName>
                                        </p:attrNameLst>
                                      </p:cBhvr>
                                      <p:to>
                                        <p:strVal val="visible"/>
                                      </p:to>
                                    </p:set>
                                    <p:animEffect transition="in" filter="dissolve">
                                      <p:cBhvr>
                                        <p:cTn id="10" dur="500"/>
                                        <p:tgtEl>
                                          <p:spTgt spid="15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56"/>
                                        </p:tgtEl>
                                        <p:attrNameLst>
                                          <p:attrName>style.visibility</p:attrName>
                                        </p:attrNameLst>
                                      </p:cBhvr>
                                      <p:to>
                                        <p:strVal val="visible"/>
                                      </p:to>
                                    </p:set>
                                    <p:animEffect transition="in" filter="dissolve">
                                      <p:cBhvr>
                                        <p:cTn id="13" dur="500"/>
                                        <p:tgtEl>
                                          <p:spTgt spid="15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44"/>
                                        </p:tgtEl>
                                        <p:attrNameLst>
                                          <p:attrName>style.visibility</p:attrName>
                                        </p:attrNameLst>
                                      </p:cBhvr>
                                      <p:to>
                                        <p:strVal val="visible"/>
                                      </p:to>
                                    </p:set>
                                    <p:animEffect transition="in" filter="dissolve">
                                      <p:cBhvr>
                                        <p:cTn id="16" dur="500"/>
                                        <p:tgtEl>
                                          <p:spTgt spid="24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77"/>
                                        </p:tgtEl>
                                        <p:attrNameLst>
                                          <p:attrName>style.visibility</p:attrName>
                                        </p:attrNameLst>
                                      </p:cBhvr>
                                      <p:to>
                                        <p:strVal val="visible"/>
                                      </p:to>
                                    </p:set>
                                    <p:animEffect transition="in" filter="dissolve">
                                      <p:cBhvr>
                                        <p:cTn id="19" dur="500"/>
                                        <p:tgtEl>
                                          <p:spTgt spid="277"/>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278">
                                            <p:txEl>
                                              <p:pRg st="0" end="0"/>
                                            </p:txEl>
                                          </p:spTgt>
                                        </p:tgtEl>
                                        <p:attrNameLst>
                                          <p:attrName>style.visibility</p:attrName>
                                        </p:attrNameLst>
                                      </p:cBhvr>
                                      <p:to>
                                        <p:strVal val="visible"/>
                                      </p:to>
                                    </p:set>
                                    <p:animEffect transition="in" filter="dissolve">
                                      <p:cBhvr>
                                        <p:cTn id="24" dur="500"/>
                                        <p:tgtEl>
                                          <p:spTgt spid="278">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278">
                                            <p:txEl>
                                              <p:pRg st="1" end="1"/>
                                            </p:txEl>
                                          </p:spTgt>
                                        </p:tgtEl>
                                        <p:attrNameLst>
                                          <p:attrName>style.visibility</p:attrName>
                                        </p:attrNameLst>
                                      </p:cBhvr>
                                      <p:to>
                                        <p:strVal val="visible"/>
                                      </p:to>
                                    </p:set>
                                    <p:animEffect transition="in" filter="dissolve">
                                      <p:cBhvr>
                                        <p:cTn id="29" dur="500"/>
                                        <p:tgtEl>
                                          <p:spTgt spid="27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5" grpId="0"/>
      <p:bldP spid="156" grpId="0"/>
      <p:bldP spid="244" grpId="0"/>
      <p:bldP spid="27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5280"/>
            <a:ext cx="8229600" cy="811560"/>
          </a:xfrm>
        </p:spPr>
        <p:txBody>
          <a:bodyPr/>
          <a:lstStyle/>
          <a:p>
            <a:r>
              <a:rPr lang="en-US" altLang="zh-CN" dirty="0"/>
              <a:t>(</a:t>
            </a:r>
            <a:r>
              <a:rPr lang="zh-CN" altLang="en-US" dirty="0"/>
              <a:t>一）编码</a:t>
            </a:r>
            <a:r>
              <a:rPr lang="zh-CN" altLang="en-US" sz="2400" dirty="0">
                <a:solidFill>
                  <a:srgbClr val="FF0000"/>
                </a:solidFill>
              </a:rPr>
              <a:t>（差分编码：</a:t>
            </a:r>
            <a:r>
              <a:rPr lang="en-US" altLang="zh-CN" sz="2400" dirty="0">
                <a:solidFill>
                  <a:srgbClr val="FF0000"/>
                </a:solidFill>
              </a:rPr>
              <a:t>0</a:t>
            </a:r>
            <a:r>
              <a:rPr lang="zh-CN" altLang="en-US" sz="2400" dirty="0">
                <a:solidFill>
                  <a:srgbClr val="FF0000"/>
                </a:solidFill>
              </a:rPr>
              <a:t>、</a:t>
            </a:r>
            <a:r>
              <a:rPr lang="en-US" altLang="zh-CN" sz="2400" dirty="0">
                <a:solidFill>
                  <a:srgbClr val="FF0000"/>
                </a:solidFill>
              </a:rPr>
              <a:t>1</a:t>
            </a:r>
            <a:r>
              <a:rPr lang="zh-CN" altLang="en-US" sz="2400" dirty="0">
                <a:solidFill>
                  <a:srgbClr val="FF0000"/>
                </a:solidFill>
              </a:rPr>
              <a:t>之间有关联）</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13</a:t>
            </a:fld>
            <a:endParaRPr lang="zh-CN" altLang="en-US" dirty="0"/>
          </a:p>
        </p:txBody>
      </p:sp>
      <p:sp>
        <p:nvSpPr>
          <p:cNvPr id="278" name="内容占位符 2"/>
          <p:cNvSpPr>
            <a:spLocks noGrp="1"/>
          </p:cNvSpPr>
          <p:nvPr>
            <p:ph idx="1"/>
          </p:nvPr>
        </p:nvSpPr>
        <p:spPr>
          <a:xfrm>
            <a:off x="331240" y="5166360"/>
            <a:ext cx="8477480" cy="1523999"/>
          </a:xfrm>
        </p:spPr>
        <p:txBody>
          <a:bodyPr/>
          <a:lstStyle/>
          <a:p>
            <a:pPr lvl="1">
              <a:lnSpc>
                <a:spcPct val="150000"/>
              </a:lnSpc>
            </a:pPr>
            <a:r>
              <a:rPr lang="zh-CN" altLang="en-US" sz="2400" dirty="0">
                <a:solidFill>
                  <a:srgbClr val="FF0000"/>
                </a:solidFill>
              </a:rPr>
              <a:t>差分思想：用相位差表示信息，不需要参考信号</a:t>
            </a:r>
            <a:endParaRPr lang="en-US" altLang="zh-CN" sz="2400" dirty="0">
              <a:solidFill>
                <a:srgbClr val="FF0000"/>
              </a:solidFill>
            </a:endParaRPr>
          </a:p>
          <a:p>
            <a:pPr lvl="1">
              <a:lnSpc>
                <a:spcPct val="150000"/>
              </a:lnSpc>
            </a:pPr>
            <a:r>
              <a:rPr lang="zh-CN" altLang="en-US" sz="2400" dirty="0">
                <a:solidFill>
                  <a:srgbClr val="FF0000"/>
                </a:solidFill>
              </a:rPr>
              <a:t>仍存在直流分量；错误不会传导</a:t>
            </a:r>
            <a:endParaRPr lang="zh-CN" altLang="en-US" sz="3200" dirty="0">
              <a:solidFill>
                <a:srgbClr val="FF0000"/>
              </a:solidFill>
            </a:endParaRPr>
          </a:p>
        </p:txBody>
      </p:sp>
      <p:graphicFrame>
        <p:nvGraphicFramePr>
          <p:cNvPr id="6" name="对象 5">
            <a:extLst>
              <a:ext uri="{FF2B5EF4-FFF2-40B4-BE49-F238E27FC236}">
                <a16:creationId xmlns:a16="http://schemas.microsoft.com/office/drawing/2014/main" id="{87522838-A287-482F-B2FE-3205E8F8AD00}"/>
              </a:ext>
            </a:extLst>
          </p:cNvPr>
          <p:cNvGraphicFramePr>
            <a:graphicFrameLocks noChangeAspect="1"/>
          </p:cNvGraphicFramePr>
          <p:nvPr>
            <p:extLst>
              <p:ext uri="{D42A27DB-BD31-4B8C-83A1-F6EECF244321}">
                <p14:modId xmlns:p14="http://schemas.microsoft.com/office/powerpoint/2010/main" val="1832988568"/>
              </p:ext>
            </p:extLst>
          </p:nvPr>
        </p:nvGraphicFramePr>
        <p:xfrm>
          <a:off x="716692" y="1421025"/>
          <a:ext cx="7957824" cy="3422823"/>
        </p:xfrm>
        <a:graphic>
          <a:graphicData uri="http://schemas.openxmlformats.org/presentationml/2006/ole">
            <mc:AlternateContent xmlns:mc="http://schemas.openxmlformats.org/markup-compatibility/2006">
              <mc:Choice xmlns:v="urn:schemas-microsoft-com:vml" Requires="v">
                <p:oleObj spid="_x0000_s1035" name="Visio" r:id="rId4" imgW="5270344" imgH="2266881" progId="Visio.Drawing.15">
                  <p:embed/>
                </p:oleObj>
              </mc:Choice>
              <mc:Fallback>
                <p:oleObj name="Visio" r:id="rId4" imgW="5270344" imgH="2266881"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692" y="1421025"/>
                        <a:ext cx="7957824" cy="3422823"/>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120520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8">
                                            <p:txEl>
                                              <p:pRg st="0" end="0"/>
                                            </p:txEl>
                                          </p:spTgt>
                                        </p:tgtEl>
                                        <p:attrNameLst>
                                          <p:attrName>style.visibility</p:attrName>
                                        </p:attrNameLst>
                                      </p:cBhvr>
                                      <p:to>
                                        <p:strVal val="visible"/>
                                      </p:to>
                                    </p:set>
                                    <p:animEffect transition="in" filter="dissolve">
                                      <p:cBhvr>
                                        <p:cTn id="7" dur="500"/>
                                        <p:tgtEl>
                                          <p:spTgt spid="2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8">
                                            <p:txEl>
                                              <p:pRg st="1" end="1"/>
                                            </p:txEl>
                                          </p:spTgt>
                                        </p:tgtEl>
                                        <p:attrNameLst>
                                          <p:attrName>style.visibility</p:attrName>
                                        </p:attrNameLst>
                                      </p:cBhvr>
                                      <p:to>
                                        <p:strVal val="visible"/>
                                      </p:to>
                                    </p:set>
                                    <p:animEffect transition="in" filter="dissolve">
                                      <p:cBhvr>
                                        <p:cTn id="12" dur="500"/>
                                        <p:tgtEl>
                                          <p:spTgt spid="27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04800"/>
            <a:ext cx="8229600" cy="811560"/>
          </a:xfrm>
        </p:spPr>
        <p:txBody>
          <a:bodyPr/>
          <a:lstStyle/>
          <a:p>
            <a:r>
              <a:rPr lang="en-US" altLang="zh-CN" dirty="0"/>
              <a:t>(</a:t>
            </a:r>
            <a:r>
              <a:rPr lang="zh-CN" altLang="en-US" dirty="0"/>
              <a:t>一）编码</a:t>
            </a:r>
            <a:r>
              <a:rPr lang="zh-CN" altLang="en-US" sz="2400" dirty="0">
                <a:solidFill>
                  <a:srgbClr val="FF0000"/>
                </a:solidFill>
              </a:rPr>
              <a:t>（双相码：相位相关，有关联）</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14</a:t>
            </a:fld>
            <a:endParaRPr lang="zh-CN" altLang="en-US" dirty="0"/>
          </a:p>
        </p:txBody>
      </p:sp>
      <p:sp>
        <p:nvSpPr>
          <p:cNvPr id="8" name="Text Box 5"/>
          <p:cNvSpPr txBox="1">
            <a:spLocks noChangeArrowheads="1"/>
          </p:cNvSpPr>
          <p:nvPr/>
        </p:nvSpPr>
        <p:spPr bwMode="auto">
          <a:xfrm>
            <a:off x="2330829" y="1046014"/>
            <a:ext cx="62664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dirty="0">
                <a:solidFill>
                  <a:srgbClr val="000066"/>
                </a:solidFill>
                <a:latin typeface="Times New Roman" panose="02020603050405020304" pitchFamily="18" charset="0"/>
              </a:rPr>
              <a:t>    1          1          1         0         1           0         0         1   </a:t>
            </a:r>
          </a:p>
        </p:txBody>
      </p:sp>
      <p:sp>
        <p:nvSpPr>
          <p:cNvPr id="3" name="矩形 2"/>
          <p:cNvSpPr/>
          <p:nvPr/>
        </p:nvSpPr>
        <p:spPr>
          <a:xfrm>
            <a:off x="528976" y="1081390"/>
            <a:ext cx="1396536" cy="369332"/>
          </a:xfrm>
          <a:prstGeom prst="rect">
            <a:avLst/>
          </a:prstGeom>
        </p:spPr>
        <p:txBody>
          <a:bodyPr wrap="none">
            <a:spAutoFit/>
          </a:bodyPr>
          <a:lstStyle/>
          <a:p>
            <a:r>
              <a:rPr kumimoji="1" lang="zh-CN" altLang="en-US" dirty="0">
                <a:latin typeface="华文楷体" panose="02010600040101010101" pitchFamily="2" charset="-122"/>
                <a:ea typeface="华文楷体" panose="02010600040101010101" pitchFamily="2" charset="-122"/>
              </a:rPr>
              <a:t>二进制信码 </a:t>
            </a:r>
            <a:endParaRPr lang="zh-CN" altLang="en-US" dirty="0"/>
          </a:p>
        </p:txBody>
      </p:sp>
      <p:sp>
        <p:nvSpPr>
          <p:cNvPr id="155" name="矩形 154"/>
          <p:cNvSpPr/>
          <p:nvPr/>
        </p:nvSpPr>
        <p:spPr>
          <a:xfrm>
            <a:off x="1206675" y="1660903"/>
            <a:ext cx="646331" cy="369332"/>
          </a:xfrm>
          <a:prstGeom prst="rect">
            <a:avLst/>
          </a:prstGeom>
        </p:spPr>
        <p:txBody>
          <a:bodyPr wrap="none">
            <a:spAutoFit/>
          </a:bodyPr>
          <a:lstStyle/>
          <a:p>
            <a:r>
              <a:rPr kumimoji="1" lang="zh-CN" altLang="en-US" dirty="0">
                <a:latin typeface="华文楷体" panose="02010600040101010101" pitchFamily="2" charset="-122"/>
                <a:ea typeface="华文楷体" panose="02010600040101010101" pitchFamily="2" charset="-122"/>
              </a:rPr>
              <a:t>时钟</a:t>
            </a:r>
            <a:endParaRPr lang="zh-CN" altLang="en-US" dirty="0"/>
          </a:p>
        </p:txBody>
      </p:sp>
      <p:sp>
        <p:nvSpPr>
          <p:cNvPr id="196" name="矩形 195"/>
          <p:cNvSpPr/>
          <p:nvPr/>
        </p:nvSpPr>
        <p:spPr>
          <a:xfrm>
            <a:off x="513736" y="2254851"/>
            <a:ext cx="1648438" cy="338554"/>
          </a:xfrm>
          <a:prstGeom prst="rect">
            <a:avLst/>
          </a:prstGeom>
        </p:spPr>
        <p:txBody>
          <a:bodyPr wrap="square">
            <a:spAutoFit/>
          </a:bodyPr>
          <a:lstStyle/>
          <a:p>
            <a:r>
              <a:rPr kumimoji="1" lang="zh-CN" altLang="en-US" sz="1600">
                <a:latin typeface="Calibri" panose="020F0502020204030204" pitchFamily="34" charset="0"/>
                <a:ea typeface="华文楷体" panose="02010600040101010101" pitchFamily="2" charset="-122"/>
              </a:rPr>
              <a:t>曼彻斯特码</a:t>
            </a:r>
            <a:endParaRPr lang="zh-CN" altLang="en-US" dirty="0">
              <a:latin typeface="Calibri" panose="020F0502020204030204" pitchFamily="34" charset="0"/>
            </a:endParaRPr>
          </a:p>
        </p:txBody>
      </p:sp>
      <p:sp>
        <p:nvSpPr>
          <p:cNvPr id="246" name="矩形 245"/>
          <p:cNvSpPr/>
          <p:nvPr/>
        </p:nvSpPr>
        <p:spPr>
          <a:xfrm>
            <a:off x="421946" y="3055850"/>
            <a:ext cx="1956365" cy="369332"/>
          </a:xfrm>
          <a:prstGeom prst="rect">
            <a:avLst/>
          </a:prstGeom>
        </p:spPr>
        <p:txBody>
          <a:bodyPr wrap="square">
            <a:spAutoFit/>
          </a:bodyPr>
          <a:lstStyle/>
          <a:p>
            <a:r>
              <a:rPr kumimoji="1" lang="zh-CN" altLang="en-US">
                <a:latin typeface="Calibri" panose="020F0502020204030204" pitchFamily="34" charset="0"/>
                <a:ea typeface="华文楷体" panose="02010600040101010101" pitchFamily="2" charset="-122"/>
              </a:rPr>
              <a:t>差分曼彻斯特码</a:t>
            </a:r>
            <a:endParaRPr kumimoji="1" lang="en-US" altLang="zh-CN" dirty="0">
              <a:latin typeface="Calibri" panose="020F0502020204030204" pitchFamily="34" charset="0"/>
              <a:ea typeface="华文楷体" panose="02010600040101010101" pitchFamily="2" charset="-122"/>
            </a:endParaRPr>
          </a:p>
        </p:txBody>
      </p:sp>
      <p:grpSp>
        <p:nvGrpSpPr>
          <p:cNvPr id="135" name="组合 134"/>
          <p:cNvGrpSpPr/>
          <p:nvPr/>
        </p:nvGrpSpPr>
        <p:grpSpPr>
          <a:xfrm>
            <a:off x="2366932" y="1446124"/>
            <a:ext cx="5934984" cy="2272436"/>
            <a:chOff x="2275492" y="1842364"/>
            <a:chExt cx="5934984" cy="4666484"/>
          </a:xfrm>
        </p:grpSpPr>
        <p:sp>
          <p:nvSpPr>
            <p:cNvPr id="27" name="Line 24"/>
            <p:cNvSpPr>
              <a:spLocks noChangeShapeType="1"/>
            </p:cNvSpPr>
            <p:nvPr/>
          </p:nvSpPr>
          <p:spPr bwMode="auto">
            <a:xfrm flipH="1">
              <a:off x="2275492" y="1843944"/>
              <a:ext cx="25399" cy="4664904"/>
            </a:xfrm>
            <a:prstGeom prst="line">
              <a:avLst/>
            </a:prstGeom>
            <a:noFill/>
            <a:ln w="19050" cap="rnd">
              <a:solidFill>
                <a:schemeClr val="tx1">
                  <a:lumMod val="50000"/>
                  <a:lumOff val="50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4" name="Line 24"/>
            <p:cNvSpPr>
              <a:spLocks noChangeShapeType="1"/>
            </p:cNvSpPr>
            <p:nvPr/>
          </p:nvSpPr>
          <p:spPr bwMode="auto">
            <a:xfrm flipH="1">
              <a:off x="3022527" y="1842364"/>
              <a:ext cx="25399" cy="4664904"/>
            </a:xfrm>
            <a:prstGeom prst="line">
              <a:avLst/>
            </a:prstGeom>
            <a:noFill/>
            <a:ln w="19050" cap="rnd">
              <a:solidFill>
                <a:schemeClr val="tx1">
                  <a:lumMod val="50000"/>
                  <a:lumOff val="50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9" name="Line 24"/>
            <p:cNvSpPr>
              <a:spLocks noChangeShapeType="1"/>
            </p:cNvSpPr>
            <p:nvPr/>
          </p:nvSpPr>
          <p:spPr bwMode="auto">
            <a:xfrm flipH="1">
              <a:off x="3755952" y="1842364"/>
              <a:ext cx="25399" cy="4664904"/>
            </a:xfrm>
            <a:prstGeom prst="line">
              <a:avLst/>
            </a:prstGeom>
            <a:noFill/>
            <a:ln w="19050" cap="rnd">
              <a:solidFill>
                <a:schemeClr val="tx1">
                  <a:lumMod val="50000"/>
                  <a:lumOff val="50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8" name="Line 24"/>
            <p:cNvSpPr>
              <a:spLocks noChangeShapeType="1"/>
            </p:cNvSpPr>
            <p:nvPr/>
          </p:nvSpPr>
          <p:spPr bwMode="auto">
            <a:xfrm flipH="1">
              <a:off x="4498902" y="1842364"/>
              <a:ext cx="25399" cy="4664904"/>
            </a:xfrm>
            <a:prstGeom prst="line">
              <a:avLst/>
            </a:prstGeom>
            <a:noFill/>
            <a:ln w="19050" cap="rnd">
              <a:solidFill>
                <a:schemeClr val="tx1">
                  <a:lumMod val="50000"/>
                  <a:lumOff val="50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3" name="Line 24"/>
            <p:cNvSpPr>
              <a:spLocks noChangeShapeType="1"/>
            </p:cNvSpPr>
            <p:nvPr/>
          </p:nvSpPr>
          <p:spPr bwMode="auto">
            <a:xfrm flipH="1">
              <a:off x="5232327" y="1842364"/>
              <a:ext cx="25399" cy="4664904"/>
            </a:xfrm>
            <a:prstGeom prst="line">
              <a:avLst/>
            </a:prstGeom>
            <a:noFill/>
            <a:ln w="19050" cap="rnd">
              <a:solidFill>
                <a:schemeClr val="tx1">
                  <a:lumMod val="50000"/>
                  <a:lumOff val="50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5" name="Line 24"/>
            <p:cNvSpPr>
              <a:spLocks noChangeShapeType="1"/>
            </p:cNvSpPr>
            <p:nvPr/>
          </p:nvSpPr>
          <p:spPr bwMode="auto">
            <a:xfrm flipH="1">
              <a:off x="5975277" y="1842364"/>
              <a:ext cx="25399" cy="4664904"/>
            </a:xfrm>
            <a:prstGeom prst="line">
              <a:avLst/>
            </a:prstGeom>
            <a:noFill/>
            <a:ln w="19050" cap="rnd">
              <a:solidFill>
                <a:schemeClr val="tx1">
                  <a:lumMod val="50000"/>
                  <a:lumOff val="50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0" name="Line 24"/>
            <p:cNvSpPr>
              <a:spLocks noChangeShapeType="1"/>
            </p:cNvSpPr>
            <p:nvPr/>
          </p:nvSpPr>
          <p:spPr bwMode="auto">
            <a:xfrm flipH="1">
              <a:off x="6708702" y="1842364"/>
              <a:ext cx="25399" cy="4664904"/>
            </a:xfrm>
            <a:prstGeom prst="line">
              <a:avLst/>
            </a:prstGeom>
            <a:noFill/>
            <a:ln w="19050" cap="rnd">
              <a:solidFill>
                <a:schemeClr val="tx1">
                  <a:lumMod val="50000"/>
                  <a:lumOff val="50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5" name="Line 24"/>
            <p:cNvSpPr>
              <a:spLocks noChangeShapeType="1"/>
            </p:cNvSpPr>
            <p:nvPr/>
          </p:nvSpPr>
          <p:spPr bwMode="auto">
            <a:xfrm flipH="1">
              <a:off x="7451652" y="1842364"/>
              <a:ext cx="25399" cy="4664904"/>
            </a:xfrm>
            <a:prstGeom prst="line">
              <a:avLst/>
            </a:prstGeom>
            <a:noFill/>
            <a:ln w="19050" cap="rnd">
              <a:solidFill>
                <a:schemeClr val="tx1">
                  <a:lumMod val="50000"/>
                  <a:lumOff val="50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0" name="Line 24"/>
            <p:cNvSpPr>
              <a:spLocks noChangeShapeType="1"/>
            </p:cNvSpPr>
            <p:nvPr/>
          </p:nvSpPr>
          <p:spPr bwMode="auto">
            <a:xfrm flipH="1">
              <a:off x="8185077" y="1842364"/>
              <a:ext cx="25399" cy="4664904"/>
            </a:xfrm>
            <a:prstGeom prst="line">
              <a:avLst/>
            </a:prstGeom>
            <a:noFill/>
            <a:ln w="19050" cap="rnd">
              <a:solidFill>
                <a:schemeClr val="tx1">
                  <a:lumMod val="50000"/>
                  <a:lumOff val="50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 name="组合 5"/>
          <p:cNvGrpSpPr/>
          <p:nvPr/>
        </p:nvGrpSpPr>
        <p:grpSpPr>
          <a:xfrm>
            <a:off x="2392331" y="1670428"/>
            <a:ext cx="5900060" cy="459123"/>
            <a:chOff x="2300891" y="2066668"/>
            <a:chExt cx="5900060" cy="309995"/>
          </a:xfrm>
        </p:grpSpPr>
        <p:sp>
          <p:nvSpPr>
            <p:cNvPr id="48" name="Line 24"/>
            <p:cNvSpPr>
              <a:spLocks noChangeShapeType="1"/>
            </p:cNvSpPr>
            <p:nvPr/>
          </p:nvSpPr>
          <p:spPr bwMode="auto">
            <a:xfrm flipV="1">
              <a:off x="2300892" y="2374341"/>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24"/>
            <p:cNvSpPr>
              <a:spLocks noChangeShapeType="1"/>
            </p:cNvSpPr>
            <p:nvPr/>
          </p:nvSpPr>
          <p:spPr bwMode="auto">
            <a:xfrm flipV="1">
              <a:off x="2668646" y="2081570"/>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4" name="Line 24"/>
            <p:cNvSpPr>
              <a:spLocks noChangeShapeType="1"/>
            </p:cNvSpPr>
            <p:nvPr/>
          </p:nvSpPr>
          <p:spPr bwMode="auto">
            <a:xfrm flipV="1">
              <a:off x="2664150" y="2081570"/>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5" name="Line 24"/>
            <p:cNvSpPr>
              <a:spLocks noChangeShapeType="1"/>
            </p:cNvSpPr>
            <p:nvPr/>
          </p:nvSpPr>
          <p:spPr bwMode="auto">
            <a:xfrm flipV="1">
              <a:off x="3038401" y="2087904"/>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 name="Line 24"/>
            <p:cNvSpPr>
              <a:spLocks noChangeShapeType="1"/>
            </p:cNvSpPr>
            <p:nvPr/>
          </p:nvSpPr>
          <p:spPr bwMode="auto">
            <a:xfrm flipV="1">
              <a:off x="2300891" y="2066668"/>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 name="Line 24"/>
            <p:cNvSpPr>
              <a:spLocks noChangeShapeType="1"/>
            </p:cNvSpPr>
            <p:nvPr/>
          </p:nvSpPr>
          <p:spPr bwMode="auto">
            <a:xfrm flipV="1">
              <a:off x="3034317" y="2374341"/>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8" name="Line 24"/>
            <p:cNvSpPr>
              <a:spLocks noChangeShapeType="1"/>
            </p:cNvSpPr>
            <p:nvPr/>
          </p:nvSpPr>
          <p:spPr bwMode="auto">
            <a:xfrm flipV="1">
              <a:off x="3402071" y="2081570"/>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0" name="Line 24"/>
            <p:cNvSpPr>
              <a:spLocks noChangeShapeType="1"/>
            </p:cNvSpPr>
            <p:nvPr/>
          </p:nvSpPr>
          <p:spPr bwMode="auto">
            <a:xfrm flipV="1">
              <a:off x="3397575" y="2081570"/>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1" name="Line 24"/>
            <p:cNvSpPr>
              <a:spLocks noChangeShapeType="1"/>
            </p:cNvSpPr>
            <p:nvPr/>
          </p:nvSpPr>
          <p:spPr bwMode="auto">
            <a:xfrm flipV="1">
              <a:off x="3771826" y="2087904"/>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2" name="Line 24"/>
            <p:cNvSpPr>
              <a:spLocks noChangeShapeType="1"/>
            </p:cNvSpPr>
            <p:nvPr/>
          </p:nvSpPr>
          <p:spPr bwMode="auto">
            <a:xfrm flipV="1">
              <a:off x="3777267" y="2374341"/>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3" name="Line 24"/>
            <p:cNvSpPr>
              <a:spLocks noChangeShapeType="1"/>
            </p:cNvSpPr>
            <p:nvPr/>
          </p:nvSpPr>
          <p:spPr bwMode="auto">
            <a:xfrm flipV="1">
              <a:off x="4145021" y="2081570"/>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9" name="Line 24"/>
            <p:cNvSpPr>
              <a:spLocks noChangeShapeType="1"/>
            </p:cNvSpPr>
            <p:nvPr/>
          </p:nvSpPr>
          <p:spPr bwMode="auto">
            <a:xfrm flipV="1">
              <a:off x="4140525" y="2081570"/>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0" name="Line 24"/>
            <p:cNvSpPr>
              <a:spLocks noChangeShapeType="1"/>
            </p:cNvSpPr>
            <p:nvPr/>
          </p:nvSpPr>
          <p:spPr bwMode="auto">
            <a:xfrm flipV="1">
              <a:off x="4514776" y="2087904"/>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1" name="Line 24"/>
            <p:cNvSpPr>
              <a:spLocks noChangeShapeType="1"/>
            </p:cNvSpPr>
            <p:nvPr/>
          </p:nvSpPr>
          <p:spPr bwMode="auto">
            <a:xfrm flipV="1">
              <a:off x="4510692" y="2374341"/>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2" name="Line 24"/>
            <p:cNvSpPr>
              <a:spLocks noChangeShapeType="1"/>
            </p:cNvSpPr>
            <p:nvPr/>
          </p:nvSpPr>
          <p:spPr bwMode="auto">
            <a:xfrm flipV="1">
              <a:off x="4878446" y="2081570"/>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4" name="Line 24"/>
            <p:cNvSpPr>
              <a:spLocks noChangeShapeType="1"/>
            </p:cNvSpPr>
            <p:nvPr/>
          </p:nvSpPr>
          <p:spPr bwMode="auto">
            <a:xfrm flipV="1">
              <a:off x="4873950" y="2081570"/>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5" name="Line 24"/>
            <p:cNvSpPr>
              <a:spLocks noChangeShapeType="1"/>
            </p:cNvSpPr>
            <p:nvPr/>
          </p:nvSpPr>
          <p:spPr bwMode="auto">
            <a:xfrm flipV="1">
              <a:off x="5248201" y="2087904"/>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3" name="Line 24"/>
            <p:cNvSpPr>
              <a:spLocks noChangeShapeType="1"/>
            </p:cNvSpPr>
            <p:nvPr/>
          </p:nvSpPr>
          <p:spPr bwMode="auto">
            <a:xfrm flipV="1">
              <a:off x="5253642" y="2374341"/>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4" name="Line 24"/>
            <p:cNvSpPr>
              <a:spLocks noChangeShapeType="1"/>
            </p:cNvSpPr>
            <p:nvPr/>
          </p:nvSpPr>
          <p:spPr bwMode="auto">
            <a:xfrm flipV="1">
              <a:off x="5621396" y="2081570"/>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6" name="Line 24"/>
            <p:cNvSpPr>
              <a:spLocks noChangeShapeType="1"/>
            </p:cNvSpPr>
            <p:nvPr/>
          </p:nvSpPr>
          <p:spPr bwMode="auto">
            <a:xfrm flipV="1">
              <a:off x="5616900" y="2081570"/>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 name="Line 24"/>
            <p:cNvSpPr>
              <a:spLocks noChangeShapeType="1"/>
            </p:cNvSpPr>
            <p:nvPr/>
          </p:nvSpPr>
          <p:spPr bwMode="auto">
            <a:xfrm flipV="1">
              <a:off x="5991151" y="2087904"/>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 name="Line 24"/>
            <p:cNvSpPr>
              <a:spLocks noChangeShapeType="1"/>
            </p:cNvSpPr>
            <p:nvPr/>
          </p:nvSpPr>
          <p:spPr bwMode="auto">
            <a:xfrm flipV="1">
              <a:off x="5987067" y="2374341"/>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9" name="Line 24"/>
            <p:cNvSpPr>
              <a:spLocks noChangeShapeType="1"/>
            </p:cNvSpPr>
            <p:nvPr/>
          </p:nvSpPr>
          <p:spPr bwMode="auto">
            <a:xfrm flipV="1">
              <a:off x="6354821" y="2081570"/>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1" name="Line 24"/>
            <p:cNvSpPr>
              <a:spLocks noChangeShapeType="1"/>
            </p:cNvSpPr>
            <p:nvPr/>
          </p:nvSpPr>
          <p:spPr bwMode="auto">
            <a:xfrm flipV="1">
              <a:off x="6350325" y="2081570"/>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2" name="Line 24"/>
            <p:cNvSpPr>
              <a:spLocks noChangeShapeType="1"/>
            </p:cNvSpPr>
            <p:nvPr/>
          </p:nvSpPr>
          <p:spPr bwMode="auto">
            <a:xfrm flipV="1">
              <a:off x="6724576" y="2087904"/>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3" name="Line 24"/>
            <p:cNvSpPr>
              <a:spLocks noChangeShapeType="1"/>
            </p:cNvSpPr>
            <p:nvPr/>
          </p:nvSpPr>
          <p:spPr bwMode="auto">
            <a:xfrm flipV="1">
              <a:off x="6730017" y="2374341"/>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4" name="Line 24"/>
            <p:cNvSpPr>
              <a:spLocks noChangeShapeType="1"/>
            </p:cNvSpPr>
            <p:nvPr/>
          </p:nvSpPr>
          <p:spPr bwMode="auto">
            <a:xfrm flipV="1">
              <a:off x="7097771" y="2081570"/>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6" name="Line 24"/>
            <p:cNvSpPr>
              <a:spLocks noChangeShapeType="1"/>
            </p:cNvSpPr>
            <p:nvPr/>
          </p:nvSpPr>
          <p:spPr bwMode="auto">
            <a:xfrm flipV="1">
              <a:off x="7093275" y="2081570"/>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 name="Line 24"/>
            <p:cNvSpPr>
              <a:spLocks noChangeShapeType="1"/>
            </p:cNvSpPr>
            <p:nvPr/>
          </p:nvSpPr>
          <p:spPr bwMode="auto">
            <a:xfrm flipV="1">
              <a:off x="7467526" y="2087904"/>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 name="Line 24"/>
            <p:cNvSpPr>
              <a:spLocks noChangeShapeType="1"/>
            </p:cNvSpPr>
            <p:nvPr/>
          </p:nvSpPr>
          <p:spPr bwMode="auto">
            <a:xfrm flipV="1">
              <a:off x="7463442" y="2374341"/>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9" name="Line 24"/>
            <p:cNvSpPr>
              <a:spLocks noChangeShapeType="1"/>
            </p:cNvSpPr>
            <p:nvPr/>
          </p:nvSpPr>
          <p:spPr bwMode="auto">
            <a:xfrm flipV="1">
              <a:off x="7831196" y="2081570"/>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1" name="Line 24"/>
            <p:cNvSpPr>
              <a:spLocks noChangeShapeType="1"/>
            </p:cNvSpPr>
            <p:nvPr/>
          </p:nvSpPr>
          <p:spPr bwMode="auto">
            <a:xfrm flipV="1">
              <a:off x="7826700" y="2081570"/>
              <a:ext cx="367754" cy="0"/>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2" name="Line 24"/>
            <p:cNvSpPr>
              <a:spLocks noChangeShapeType="1"/>
            </p:cNvSpPr>
            <p:nvPr/>
          </p:nvSpPr>
          <p:spPr bwMode="auto">
            <a:xfrm flipV="1">
              <a:off x="8200951" y="2087904"/>
              <a:ext cx="0" cy="288759"/>
            </a:xfrm>
            <a:prstGeom prst="line">
              <a:avLst/>
            </a:prstGeom>
            <a:noFill/>
            <a:ln w="31750" cap="rnd">
              <a:solidFill>
                <a:srgbClr val="434365"/>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 name="组合 10"/>
          <p:cNvGrpSpPr/>
          <p:nvPr/>
        </p:nvGrpSpPr>
        <p:grpSpPr>
          <a:xfrm>
            <a:off x="2378311" y="2308311"/>
            <a:ext cx="5914080" cy="504788"/>
            <a:chOff x="2286871" y="3801831"/>
            <a:chExt cx="5914080" cy="504788"/>
          </a:xfrm>
        </p:grpSpPr>
        <p:sp>
          <p:nvSpPr>
            <p:cNvPr id="353" name="Line 24"/>
            <p:cNvSpPr>
              <a:spLocks noChangeShapeType="1"/>
            </p:cNvSpPr>
            <p:nvPr/>
          </p:nvSpPr>
          <p:spPr bwMode="auto">
            <a:xfrm flipV="1">
              <a:off x="2286871" y="3802780"/>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4" name="Line 24"/>
            <p:cNvSpPr>
              <a:spLocks noChangeShapeType="1"/>
            </p:cNvSpPr>
            <p:nvPr/>
          </p:nvSpPr>
          <p:spPr bwMode="auto">
            <a:xfrm flipV="1">
              <a:off x="2286871" y="380278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5" name="Line 24"/>
            <p:cNvSpPr>
              <a:spLocks noChangeShapeType="1"/>
            </p:cNvSpPr>
            <p:nvPr/>
          </p:nvSpPr>
          <p:spPr bwMode="auto">
            <a:xfrm flipV="1">
              <a:off x="2654625" y="380278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6" name="Line 24"/>
            <p:cNvSpPr>
              <a:spLocks noChangeShapeType="1"/>
            </p:cNvSpPr>
            <p:nvPr/>
          </p:nvSpPr>
          <p:spPr bwMode="auto">
            <a:xfrm flipV="1">
              <a:off x="2661122" y="4305008"/>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7" name="Line 24"/>
            <p:cNvSpPr>
              <a:spLocks noChangeShapeType="1"/>
            </p:cNvSpPr>
            <p:nvPr/>
          </p:nvSpPr>
          <p:spPr bwMode="auto">
            <a:xfrm flipV="1">
              <a:off x="3029821" y="3802780"/>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 name="Line 24"/>
            <p:cNvSpPr>
              <a:spLocks noChangeShapeType="1"/>
            </p:cNvSpPr>
            <p:nvPr/>
          </p:nvSpPr>
          <p:spPr bwMode="auto">
            <a:xfrm flipV="1">
              <a:off x="3029821" y="380278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 name="Line 24"/>
            <p:cNvSpPr>
              <a:spLocks noChangeShapeType="1"/>
            </p:cNvSpPr>
            <p:nvPr/>
          </p:nvSpPr>
          <p:spPr bwMode="auto">
            <a:xfrm flipV="1">
              <a:off x="3397575" y="380278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 name="Line 24"/>
            <p:cNvSpPr>
              <a:spLocks noChangeShapeType="1"/>
            </p:cNvSpPr>
            <p:nvPr/>
          </p:nvSpPr>
          <p:spPr bwMode="auto">
            <a:xfrm flipV="1">
              <a:off x="3404072" y="4305008"/>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 name="Line 24"/>
            <p:cNvSpPr>
              <a:spLocks noChangeShapeType="1"/>
            </p:cNvSpPr>
            <p:nvPr/>
          </p:nvSpPr>
          <p:spPr bwMode="auto">
            <a:xfrm flipV="1">
              <a:off x="3763246" y="3802780"/>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 name="Line 24"/>
            <p:cNvSpPr>
              <a:spLocks noChangeShapeType="1"/>
            </p:cNvSpPr>
            <p:nvPr/>
          </p:nvSpPr>
          <p:spPr bwMode="auto">
            <a:xfrm flipV="1">
              <a:off x="3763246" y="380278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 name="Line 24"/>
            <p:cNvSpPr>
              <a:spLocks noChangeShapeType="1"/>
            </p:cNvSpPr>
            <p:nvPr/>
          </p:nvSpPr>
          <p:spPr bwMode="auto">
            <a:xfrm flipV="1">
              <a:off x="4131000" y="380278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4" name="Line 24"/>
            <p:cNvSpPr>
              <a:spLocks noChangeShapeType="1"/>
            </p:cNvSpPr>
            <p:nvPr/>
          </p:nvSpPr>
          <p:spPr bwMode="auto">
            <a:xfrm flipV="1">
              <a:off x="4137497" y="4305008"/>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5" name="Line 24"/>
            <p:cNvSpPr>
              <a:spLocks noChangeShapeType="1"/>
            </p:cNvSpPr>
            <p:nvPr/>
          </p:nvSpPr>
          <p:spPr bwMode="auto">
            <a:xfrm flipV="1">
              <a:off x="4511565" y="4306619"/>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6" name="Line 24"/>
            <p:cNvSpPr>
              <a:spLocks noChangeShapeType="1"/>
            </p:cNvSpPr>
            <p:nvPr/>
          </p:nvSpPr>
          <p:spPr bwMode="auto">
            <a:xfrm flipV="1">
              <a:off x="4870739" y="3804391"/>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7" name="Line 24"/>
            <p:cNvSpPr>
              <a:spLocks noChangeShapeType="1"/>
            </p:cNvSpPr>
            <p:nvPr/>
          </p:nvSpPr>
          <p:spPr bwMode="auto">
            <a:xfrm flipV="1">
              <a:off x="4870739" y="3804391"/>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 name="Line 24"/>
            <p:cNvSpPr>
              <a:spLocks noChangeShapeType="1"/>
            </p:cNvSpPr>
            <p:nvPr/>
          </p:nvSpPr>
          <p:spPr bwMode="auto">
            <a:xfrm flipV="1">
              <a:off x="5250987" y="3802373"/>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 name="Line 24"/>
            <p:cNvSpPr>
              <a:spLocks noChangeShapeType="1"/>
            </p:cNvSpPr>
            <p:nvPr/>
          </p:nvSpPr>
          <p:spPr bwMode="auto">
            <a:xfrm flipV="1">
              <a:off x="5618741" y="3802373"/>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 name="Line 24"/>
            <p:cNvSpPr>
              <a:spLocks noChangeShapeType="1"/>
            </p:cNvSpPr>
            <p:nvPr/>
          </p:nvSpPr>
          <p:spPr bwMode="auto">
            <a:xfrm flipV="1">
              <a:off x="5625238" y="4304601"/>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1" name="Line 24"/>
            <p:cNvSpPr>
              <a:spLocks noChangeShapeType="1"/>
            </p:cNvSpPr>
            <p:nvPr/>
          </p:nvSpPr>
          <p:spPr bwMode="auto">
            <a:xfrm flipV="1">
              <a:off x="5993297" y="4305339"/>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2" name="Line 24"/>
            <p:cNvSpPr>
              <a:spLocks noChangeShapeType="1"/>
            </p:cNvSpPr>
            <p:nvPr/>
          </p:nvSpPr>
          <p:spPr bwMode="auto">
            <a:xfrm flipV="1">
              <a:off x="6352471" y="3803111"/>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3" name="Line 24"/>
            <p:cNvSpPr>
              <a:spLocks noChangeShapeType="1"/>
            </p:cNvSpPr>
            <p:nvPr/>
          </p:nvSpPr>
          <p:spPr bwMode="auto">
            <a:xfrm flipV="1">
              <a:off x="6352471" y="3803111"/>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4" name="Line 24"/>
            <p:cNvSpPr>
              <a:spLocks noChangeShapeType="1"/>
            </p:cNvSpPr>
            <p:nvPr/>
          </p:nvSpPr>
          <p:spPr bwMode="auto">
            <a:xfrm flipV="1">
              <a:off x="6721997" y="4304059"/>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5" name="Line 24"/>
            <p:cNvSpPr>
              <a:spLocks noChangeShapeType="1"/>
            </p:cNvSpPr>
            <p:nvPr/>
          </p:nvSpPr>
          <p:spPr bwMode="auto">
            <a:xfrm flipV="1">
              <a:off x="7081171" y="3801831"/>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6" name="Line 24"/>
            <p:cNvSpPr>
              <a:spLocks noChangeShapeType="1"/>
            </p:cNvSpPr>
            <p:nvPr/>
          </p:nvSpPr>
          <p:spPr bwMode="auto">
            <a:xfrm flipV="1">
              <a:off x="7081171" y="3801831"/>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7" name="Line 24"/>
            <p:cNvSpPr>
              <a:spLocks noChangeShapeType="1"/>
            </p:cNvSpPr>
            <p:nvPr/>
          </p:nvSpPr>
          <p:spPr bwMode="auto">
            <a:xfrm flipV="1">
              <a:off x="6725763" y="380747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8" name="Line 24"/>
            <p:cNvSpPr>
              <a:spLocks noChangeShapeType="1"/>
            </p:cNvSpPr>
            <p:nvPr/>
          </p:nvSpPr>
          <p:spPr bwMode="auto">
            <a:xfrm flipV="1">
              <a:off x="7458946" y="3802864"/>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 name="Line 24"/>
            <p:cNvSpPr>
              <a:spLocks noChangeShapeType="1"/>
            </p:cNvSpPr>
            <p:nvPr/>
          </p:nvSpPr>
          <p:spPr bwMode="auto">
            <a:xfrm flipV="1">
              <a:off x="7826700" y="3802864"/>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 name="Line 24"/>
            <p:cNvSpPr>
              <a:spLocks noChangeShapeType="1"/>
            </p:cNvSpPr>
            <p:nvPr/>
          </p:nvSpPr>
          <p:spPr bwMode="auto">
            <a:xfrm flipV="1">
              <a:off x="7833197" y="4305092"/>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 name="组合 12"/>
          <p:cNvGrpSpPr/>
          <p:nvPr/>
        </p:nvGrpSpPr>
        <p:grpSpPr>
          <a:xfrm>
            <a:off x="2366932" y="3055850"/>
            <a:ext cx="5914080" cy="511753"/>
            <a:chOff x="2275492" y="5814290"/>
            <a:chExt cx="5914080" cy="511753"/>
          </a:xfrm>
        </p:grpSpPr>
        <p:sp>
          <p:nvSpPr>
            <p:cNvPr id="392" name="Line 24"/>
            <p:cNvSpPr>
              <a:spLocks noChangeShapeType="1"/>
            </p:cNvSpPr>
            <p:nvPr/>
          </p:nvSpPr>
          <p:spPr bwMode="auto">
            <a:xfrm flipV="1">
              <a:off x="2275492" y="5814290"/>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3" name="Line 24"/>
            <p:cNvSpPr>
              <a:spLocks noChangeShapeType="1"/>
            </p:cNvSpPr>
            <p:nvPr/>
          </p:nvSpPr>
          <p:spPr bwMode="auto">
            <a:xfrm flipV="1">
              <a:off x="2275492" y="581429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4" name="Line 24"/>
            <p:cNvSpPr>
              <a:spLocks noChangeShapeType="1"/>
            </p:cNvSpPr>
            <p:nvPr/>
          </p:nvSpPr>
          <p:spPr bwMode="auto">
            <a:xfrm flipV="1">
              <a:off x="2643246" y="581429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5" name="Line 24"/>
            <p:cNvSpPr>
              <a:spLocks noChangeShapeType="1"/>
            </p:cNvSpPr>
            <p:nvPr/>
          </p:nvSpPr>
          <p:spPr bwMode="auto">
            <a:xfrm flipV="1">
              <a:off x="2649743" y="6316518"/>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6" name="Line 24"/>
            <p:cNvSpPr>
              <a:spLocks noChangeShapeType="1"/>
            </p:cNvSpPr>
            <p:nvPr/>
          </p:nvSpPr>
          <p:spPr bwMode="auto">
            <a:xfrm flipV="1">
              <a:off x="3016323" y="6319282"/>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7" name="Line 24"/>
            <p:cNvSpPr>
              <a:spLocks noChangeShapeType="1"/>
            </p:cNvSpPr>
            <p:nvPr/>
          </p:nvSpPr>
          <p:spPr bwMode="auto">
            <a:xfrm flipV="1">
              <a:off x="3385022" y="5817054"/>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8" name="Line 24"/>
            <p:cNvSpPr>
              <a:spLocks noChangeShapeType="1"/>
            </p:cNvSpPr>
            <p:nvPr/>
          </p:nvSpPr>
          <p:spPr bwMode="auto">
            <a:xfrm flipV="1">
              <a:off x="3385022" y="5817054"/>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 name="Line 24"/>
            <p:cNvSpPr>
              <a:spLocks noChangeShapeType="1"/>
            </p:cNvSpPr>
            <p:nvPr/>
          </p:nvSpPr>
          <p:spPr bwMode="auto">
            <a:xfrm flipV="1">
              <a:off x="3752776" y="5818330"/>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0" name="Line 24"/>
            <p:cNvSpPr>
              <a:spLocks noChangeShapeType="1"/>
            </p:cNvSpPr>
            <p:nvPr/>
          </p:nvSpPr>
          <p:spPr bwMode="auto">
            <a:xfrm flipV="1">
              <a:off x="4120530" y="581833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1" name="Line 24"/>
            <p:cNvSpPr>
              <a:spLocks noChangeShapeType="1"/>
            </p:cNvSpPr>
            <p:nvPr/>
          </p:nvSpPr>
          <p:spPr bwMode="auto">
            <a:xfrm flipV="1">
              <a:off x="4127027" y="6320558"/>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4" name="Line 24"/>
            <p:cNvSpPr>
              <a:spLocks noChangeShapeType="1"/>
            </p:cNvSpPr>
            <p:nvPr/>
          </p:nvSpPr>
          <p:spPr bwMode="auto">
            <a:xfrm flipV="1">
              <a:off x="4494817" y="5814290"/>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5" name="Line 24"/>
            <p:cNvSpPr>
              <a:spLocks noChangeShapeType="1"/>
            </p:cNvSpPr>
            <p:nvPr/>
          </p:nvSpPr>
          <p:spPr bwMode="auto">
            <a:xfrm flipV="1">
              <a:off x="4494817" y="581429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6" name="Line 24"/>
            <p:cNvSpPr>
              <a:spLocks noChangeShapeType="1"/>
            </p:cNvSpPr>
            <p:nvPr/>
          </p:nvSpPr>
          <p:spPr bwMode="auto">
            <a:xfrm flipV="1">
              <a:off x="4862571" y="5814290"/>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7" name="Line 24"/>
            <p:cNvSpPr>
              <a:spLocks noChangeShapeType="1"/>
            </p:cNvSpPr>
            <p:nvPr/>
          </p:nvSpPr>
          <p:spPr bwMode="auto">
            <a:xfrm flipV="1">
              <a:off x="4869068" y="6316518"/>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8" name="Line 24"/>
            <p:cNvSpPr>
              <a:spLocks noChangeShapeType="1"/>
            </p:cNvSpPr>
            <p:nvPr/>
          </p:nvSpPr>
          <p:spPr bwMode="auto">
            <a:xfrm flipV="1">
              <a:off x="5235648" y="6319282"/>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 name="Line 24"/>
            <p:cNvSpPr>
              <a:spLocks noChangeShapeType="1"/>
            </p:cNvSpPr>
            <p:nvPr/>
          </p:nvSpPr>
          <p:spPr bwMode="auto">
            <a:xfrm flipV="1">
              <a:off x="5604347" y="5817054"/>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 name="Line 24"/>
            <p:cNvSpPr>
              <a:spLocks noChangeShapeType="1"/>
            </p:cNvSpPr>
            <p:nvPr/>
          </p:nvSpPr>
          <p:spPr bwMode="auto">
            <a:xfrm flipV="1">
              <a:off x="5604347" y="5817054"/>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 name="Line 24"/>
            <p:cNvSpPr>
              <a:spLocks noChangeShapeType="1"/>
            </p:cNvSpPr>
            <p:nvPr/>
          </p:nvSpPr>
          <p:spPr bwMode="auto">
            <a:xfrm flipV="1">
              <a:off x="5969073" y="6319282"/>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2" name="Line 24"/>
            <p:cNvSpPr>
              <a:spLocks noChangeShapeType="1"/>
            </p:cNvSpPr>
            <p:nvPr/>
          </p:nvSpPr>
          <p:spPr bwMode="auto">
            <a:xfrm flipV="1">
              <a:off x="6337772" y="5817054"/>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3" name="Line 24"/>
            <p:cNvSpPr>
              <a:spLocks noChangeShapeType="1"/>
            </p:cNvSpPr>
            <p:nvPr/>
          </p:nvSpPr>
          <p:spPr bwMode="auto">
            <a:xfrm flipV="1">
              <a:off x="6337772" y="5817054"/>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4" name="Line 24"/>
            <p:cNvSpPr>
              <a:spLocks noChangeShapeType="1"/>
            </p:cNvSpPr>
            <p:nvPr/>
          </p:nvSpPr>
          <p:spPr bwMode="auto">
            <a:xfrm flipV="1">
              <a:off x="5972720" y="5823815"/>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5" name="Line 24"/>
            <p:cNvSpPr>
              <a:spLocks noChangeShapeType="1"/>
            </p:cNvSpPr>
            <p:nvPr/>
          </p:nvSpPr>
          <p:spPr bwMode="auto">
            <a:xfrm flipV="1">
              <a:off x="6702498" y="6319282"/>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6" name="Line 24"/>
            <p:cNvSpPr>
              <a:spLocks noChangeShapeType="1"/>
            </p:cNvSpPr>
            <p:nvPr/>
          </p:nvSpPr>
          <p:spPr bwMode="auto">
            <a:xfrm flipV="1">
              <a:off x="7071197" y="5817054"/>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7" name="Line 24"/>
            <p:cNvSpPr>
              <a:spLocks noChangeShapeType="1"/>
            </p:cNvSpPr>
            <p:nvPr/>
          </p:nvSpPr>
          <p:spPr bwMode="auto">
            <a:xfrm flipV="1">
              <a:off x="7071197" y="5817054"/>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8" name="Line 24"/>
            <p:cNvSpPr>
              <a:spLocks noChangeShapeType="1"/>
            </p:cNvSpPr>
            <p:nvPr/>
          </p:nvSpPr>
          <p:spPr bwMode="auto">
            <a:xfrm flipV="1">
              <a:off x="6706145" y="5823815"/>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 name="Line 24"/>
            <p:cNvSpPr>
              <a:spLocks noChangeShapeType="1"/>
            </p:cNvSpPr>
            <p:nvPr/>
          </p:nvSpPr>
          <p:spPr bwMode="auto">
            <a:xfrm flipV="1">
              <a:off x="7447567" y="5823815"/>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 name="Line 24"/>
            <p:cNvSpPr>
              <a:spLocks noChangeShapeType="1"/>
            </p:cNvSpPr>
            <p:nvPr/>
          </p:nvSpPr>
          <p:spPr bwMode="auto">
            <a:xfrm flipV="1">
              <a:off x="7815321" y="5823815"/>
              <a:ext cx="0" cy="489939"/>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 name="Line 24"/>
            <p:cNvSpPr>
              <a:spLocks noChangeShapeType="1"/>
            </p:cNvSpPr>
            <p:nvPr/>
          </p:nvSpPr>
          <p:spPr bwMode="auto">
            <a:xfrm flipV="1">
              <a:off x="7821818" y="6326043"/>
              <a:ext cx="367754" cy="0"/>
            </a:xfrm>
            <a:prstGeom prst="line">
              <a:avLst/>
            </a:prstGeom>
            <a:noFill/>
            <a:ln w="31750" cap="rnd">
              <a:solidFill>
                <a:schemeClr val="accent5">
                  <a:lumMod val="50000"/>
                </a:schemeClr>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6" name="内容占位符 2"/>
          <p:cNvSpPr>
            <a:spLocks noGrp="1"/>
          </p:cNvSpPr>
          <p:nvPr>
            <p:ph idx="1"/>
          </p:nvPr>
        </p:nvSpPr>
        <p:spPr>
          <a:xfrm>
            <a:off x="457200" y="3578579"/>
            <a:ext cx="8686800" cy="3279421"/>
          </a:xfrm>
        </p:spPr>
        <p:txBody>
          <a:bodyPr/>
          <a:lstStyle/>
          <a:p>
            <a:r>
              <a:rPr lang="zh-CN" altLang="en-US" sz="2000">
                <a:solidFill>
                  <a:srgbClr val="FF0000"/>
                </a:solidFill>
              </a:rPr>
              <a:t>曼彻斯特码：</a:t>
            </a:r>
            <a:r>
              <a:rPr lang="zh-CN" altLang="en-US" sz="1600"/>
              <a:t>一</a:t>
            </a:r>
            <a:r>
              <a:rPr lang="zh-CN" altLang="en-US" sz="1600" dirty="0"/>
              <a:t>个周期的方波表示“</a:t>
            </a:r>
            <a:r>
              <a:rPr lang="en-US" altLang="zh-CN" sz="1600" dirty="0"/>
              <a:t>1</a:t>
            </a:r>
            <a:r>
              <a:rPr lang="zh-CN" altLang="en-US" sz="1600" dirty="0"/>
              <a:t>”      ；反向波形表示“</a:t>
            </a:r>
            <a:r>
              <a:rPr lang="en-US" altLang="zh-CN" sz="1600" dirty="0"/>
              <a:t>0</a:t>
            </a:r>
            <a:r>
              <a:rPr lang="zh-CN" altLang="en-US" sz="1600" dirty="0"/>
              <a:t>”</a:t>
            </a:r>
            <a:endParaRPr lang="en-US" altLang="zh-CN" sz="1600" dirty="0"/>
          </a:p>
          <a:p>
            <a:r>
              <a:rPr lang="zh-CN" altLang="en-US" sz="2000">
                <a:solidFill>
                  <a:srgbClr val="FF0000"/>
                </a:solidFill>
              </a:rPr>
              <a:t>差分曼彻斯特码：</a:t>
            </a:r>
            <a:r>
              <a:rPr lang="zh-CN" altLang="en-US" sz="1600"/>
              <a:t>相邻</a:t>
            </a:r>
            <a:r>
              <a:rPr lang="zh-CN" altLang="en-US" sz="1600" dirty="0"/>
              <a:t>周期的方波反相表示“</a:t>
            </a:r>
            <a:r>
              <a:rPr lang="en-US" altLang="zh-CN" sz="1600" dirty="0"/>
              <a:t>1</a:t>
            </a:r>
            <a:r>
              <a:rPr lang="zh-CN" altLang="en-US" sz="1600" dirty="0"/>
              <a:t>”，同相表示“</a:t>
            </a:r>
            <a:r>
              <a:rPr lang="en-US" altLang="zh-CN" sz="1600"/>
              <a:t>0</a:t>
            </a:r>
            <a:r>
              <a:rPr lang="zh-CN" altLang="en-US" sz="1600"/>
              <a:t>”；采用</a:t>
            </a:r>
            <a:r>
              <a:rPr lang="zh-CN" altLang="en-US" sz="1600" dirty="0"/>
              <a:t>差分码的概念，不用绝对电平值，而用相对值表示，避免极性反转引起的解码错误</a:t>
            </a:r>
            <a:endParaRPr lang="en-US" altLang="zh-CN" sz="1600" dirty="0"/>
          </a:p>
          <a:p>
            <a:r>
              <a:rPr lang="zh-CN" altLang="en-US" sz="2000">
                <a:solidFill>
                  <a:srgbClr val="FF0000"/>
                </a:solidFill>
              </a:rPr>
              <a:t>优缺点</a:t>
            </a:r>
            <a:endParaRPr lang="en-US" altLang="zh-CN" sz="2000" dirty="0">
              <a:solidFill>
                <a:srgbClr val="FF0000"/>
              </a:solidFill>
            </a:endParaRPr>
          </a:p>
          <a:p>
            <a:pPr lvl="1"/>
            <a:r>
              <a:rPr lang="zh-CN" altLang="en-US" sz="1600" dirty="0"/>
              <a:t>码元周期的中间部分存在电平跳变，易于提取时钟，不受信源统计特性的影响</a:t>
            </a:r>
            <a:endParaRPr lang="en-US" altLang="zh-CN" sz="1600" dirty="0"/>
          </a:p>
          <a:p>
            <a:pPr lvl="1"/>
            <a:r>
              <a:rPr lang="zh-CN" altLang="en-US" sz="1600" dirty="0"/>
              <a:t>方波周期内，正负电平各一半，不存在直流分量</a:t>
            </a:r>
            <a:endParaRPr lang="en-US" altLang="zh-CN" sz="1600" dirty="0"/>
          </a:p>
          <a:p>
            <a:pPr lvl="1"/>
            <a:r>
              <a:rPr lang="zh-CN" altLang="en-US" sz="1600" dirty="0"/>
              <a:t>频带加倍：比特率为波特率的一半（信号变化的速率为波特率），编码效率仅</a:t>
            </a:r>
            <a:r>
              <a:rPr lang="en-US" altLang="zh-CN" sz="1600" dirty="0"/>
              <a:t>50%</a:t>
            </a:r>
          </a:p>
          <a:p>
            <a:pPr lvl="1"/>
            <a:r>
              <a:rPr lang="zh-CN" altLang="en-US" sz="1600"/>
              <a:t>以太网中一般采用此种编码</a:t>
            </a:r>
            <a:endParaRPr lang="en-US" altLang="zh-CN" sz="1600" dirty="0"/>
          </a:p>
        </p:txBody>
      </p:sp>
    </p:spTree>
    <p:custDataLst>
      <p:tags r:id="rId1"/>
    </p:custDataLst>
    <p:extLst>
      <p:ext uri="{BB962C8B-B14F-4D97-AF65-F5344CB8AC3E}">
        <p14:creationId xmlns:p14="http://schemas.microsoft.com/office/powerpoint/2010/main" val="90254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55"/>
                                        </p:tgtEl>
                                        <p:attrNameLst>
                                          <p:attrName>style.visibility</p:attrName>
                                        </p:attrNameLst>
                                      </p:cBhvr>
                                      <p:to>
                                        <p:strVal val="visible"/>
                                      </p:to>
                                    </p:set>
                                    <p:animEffect transition="in" filter="dissolve">
                                      <p:cBhvr>
                                        <p:cTn id="13" dur="500"/>
                                        <p:tgtEl>
                                          <p:spTgt spid="15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96"/>
                                        </p:tgtEl>
                                        <p:attrNameLst>
                                          <p:attrName>style.visibility</p:attrName>
                                        </p:attrNameLst>
                                      </p:cBhvr>
                                      <p:to>
                                        <p:strVal val="visible"/>
                                      </p:to>
                                    </p:set>
                                    <p:animEffect transition="in" filter="dissolve">
                                      <p:cBhvr>
                                        <p:cTn id="16" dur="500"/>
                                        <p:tgtEl>
                                          <p:spTgt spid="19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46"/>
                                        </p:tgtEl>
                                        <p:attrNameLst>
                                          <p:attrName>style.visibility</p:attrName>
                                        </p:attrNameLst>
                                      </p:cBhvr>
                                      <p:to>
                                        <p:strVal val="visible"/>
                                      </p:to>
                                    </p:set>
                                    <p:animEffect transition="in" filter="dissolve">
                                      <p:cBhvr>
                                        <p:cTn id="19" dur="500"/>
                                        <p:tgtEl>
                                          <p:spTgt spid="246"/>
                                        </p:tgtEl>
                                      </p:cBhvr>
                                    </p:animEffect>
                                  </p:childTnLst>
                                </p:cTn>
                              </p:par>
                              <p:par>
                                <p:cTn id="20" presetID="9"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par>
                                <p:cTn id="23" presetID="9"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dissolve">
                                      <p:cBhvr>
                                        <p:cTn id="25" dur="500"/>
                                        <p:tgtEl>
                                          <p:spTgt spid="7"/>
                                        </p:tgtEl>
                                      </p:cBhvr>
                                    </p:animEffect>
                                  </p:childTnLst>
                                </p:cTn>
                              </p:par>
                              <p:par>
                                <p:cTn id="26" presetID="9"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136">
                                            <p:txEl>
                                              <p:pRg st="0" end="0"/>
                                            </p:txEl>
                                          </p:spTgt>
                                        </p:tgtEl>
                                        <p:attrNameLst>
                                          <p:attrName>style.visibility</p:attrName>
                                        </p:attrNameLst>
                                      </p:cBhvr>
                                      <p:to>
                                        <p:strVal val="visible"/>
                                      </p:to>
                                    </p:set>
                                    <p:animEffect transition="in" filter="dissolve">
                                      <p:cBhvr>
                                        <p:cTn id="32" dur="500"/>
                                        <p:tgtEl>
                                          <p:spTgt spid="13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36">
                                            <p:txEl>
                                              <p:pRg st="1" end="1"/>
                                            </p:txEl>
                                          </p:spTgt>
                                        </p:tgtEl>
                                        <p:attrNameLst>
                                          <p:attrName>style.visibility</p:attrName>
                                        </p:attrNameLst>
                                      </p:cBhvr>
                                      <p:to>
                                        <p:strVal val="visible"/>
                                      </p:to>
                                    </p:set>
                                    <p:animEffect transition="in" filter="dissolve">
                                      <p:cBhvr>
                                        <p:cTn id="37" dur="500"/>
                                        <p:tgtEl>
                                          <p:spTgt spid="13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36">
                                            <p:txEl>
                                              <p:pRg st="2" end="2"/>
                                            </p:txEl>
                                          </p:spTgt>
                                        </p:tgtEl>
                                        <p:attrNameLst>
                                          <p:attrName>style.visibility</p:attrName>
                                        </p:attrNameLst>
                                      </p:cBhvr>
                                      <p:to>
                                        <p:strVal val="visible"/>
                                      </p:to>
                                    </p:set>
                                    <p:animEffect transition="in" filter="dissolve">
                                      <p:cBhvr>
                                        <p:cTn id="42" dur="500"/>
                                        <p:tgtEl>
                                          <p:spTgt spid="136">
                                            <p:txEl>
                                              <p:pRg st="2" end="2"/>
                                            </p:txEl>
                                          </p:spTgt>
                                        </p:tgtEl>
                                      </p:cBhvr>
                                    </p:animEffect>
                                  </p:childTnLst>
                                </p:cTn>
                              </p:par>
                              <p:par>
                                <p:cTn id="43" presetID="9" presetClass="entr" presetSubtype="0" fill="hold" nodeType="withEffect">
                                  <p:stCondLst>
                                    <p:cond delay="0"/>
                                  </p:stCondLst>
                                  <p:childTnLst>
                                    <p:set>
                                      <p:cBhvr>
                                        <p:cTn id="44" dur="1" fill="hold">
                                          <p:stCondLst>
                                            <p:cond delay="0"/>
                                          </p:stCondLst>
                                        </p:cTn>
                                        <p:tgtEl>
                                          <p:spTgt spid="136">
                                            <p:txEl>
                                              <p:pRg st="3" end="3"/>
                                            </p:txEl>
                                          </p:spTgt>
                                        </p:tgtEl>
                                        <p:attrNameLst>
                                          <p:attrName>style.visibility</p:attrName>
                                        </p:attrNameLst>
                                      </p:cBhvr>
                                      <p:to>
                                        <p:strVal val="visible"/>
                                      </p:to>
                                    </p:set>
                                    <p:animEffect transition="in" filter="dissolve">
                                      <p:cBhvr>
                                        <p:cTn id="45" dur="500"/>
                                        <p:tgtEl>
                                          <p:spTgt spid="136">
                                            <p:txEl>
                                              <p:pRg st="3" end="3"/>
                                            </p:txEl>
                                          </p:spTgt>
                                        </p:tgtEl>
                                      </p:cBhvr>
                                    </p:animEffect>
                                  </p:childTnLst>
                                </p:cTn>
                              </p:par>
                              <p:par>
                                <p:cTn id="46" presetID="9" presetClass="entr" presetSubtype="0" fill="hold" nodeType="withEffect">
                                  <p:stCondLst>
                                    <p:cond delay="0"/>
                                  </p:stCondLst>
                                  <p:childTnLst>
                                    <p:set>
                                      <p:cBhvr>
                                        <p:cTn id="47" dur="1" fill="hold">
                                          <p:stCondLst>
                                            <p:cond delay="0"/>
                                          </p:stCondLst>
                                        </p:cTn>
                                        <p:tgtEl>
                                          <p:spTgt spid="136">
                                            <p:txEl>
                                              <p:pRg st="4" end="4"/>
                                            </p:txEl>
                                          </p:spTgt>
                                        </p:tgtEl>
                                        <p:attrNameLst>
                                          <p:attrName>style.visibility</p:attrName>
                                        </p:attrNameLst>
                                      </p:cBhvr>
                                      <p:to>
                                        <p:strVal val="visible"/>
                                      </p:to>
                                    </p:set>
                                    <p:animEffect transition="in" filter="dissolve">
                                      <p:cBhvr>
                                        <p:cTn id="48" dur="500"/>
                                        <p:tgtEl>
                                          <p:spTgt spid="136">
                                            <p:txEl>
                                              <p:pRg st="4" end="4"/>
                                            </p:txEl>
                                          </p:spTgt>
                                        </p:tgtEl>
                                      </p:cBhvr>
                                    </p:animEffect>
                                  </p:childTnLst>
                                </p:cTn>
                              </p:par>
                              <p:par>
                                <p:cTn id="49" presetID="9" presetClass="entr" presetSubtype="0" fill="hold" nodeType="withEffect">
                                  <p:stCondLst>
                                    <p:cond delay="0"/>
                                  </p:stCondLst>
                                  <p:childTnLst>
                                    <p:set>
                                      <p:cBhvr>
                                        <p:cTn id="50" dur="1" fill="hold">
                                          <p:stCondLst>
                                            <p:cond delay="0"/>
                                          </p:stCondLst>
                                        </p:cTn>
                                        <p:tgtEl>
                                          <p:spTgt spid="136">
                                            <p:txEl>
                                              <p:pRg st="5" end="5"/>
                                            </p:txEl>
                                          </p:spTgt>
                                        </p:tgtEl>
                                        <p:attrNameLst>
                                          <p:attrName>style.visibility</p:attrName>
                                        </p:attrNameLst>
                                      </p:cBhvr>
                                      <p:to>
                                        <p:strVal val="visible"/>
                                      </p:to>
                                    </p:set>
                                    <p:animEffect transition="in" filter="dissolve">
                                      <p:cBhvr>
                                        <p:cTn id="51" dur="500"/>
                                        <p:tgtEl>
                                          <p:spTgt spid="136">
                                            <p:txEl>
                                              <p:pRg st="5" end="5"/>
                                            </p:txEl>
                                          </p:spTgt>
                                        </p:tgtEl>
                                      </p:cBhvr>
                                    </p:animEffect>
                                  </p:childTnLst>
                                </p:cTn>
                              </p:par>
                              <p:par>
                                <p:cTn id="52" presetID="9" presetClass="entr" presetSubtype="0" fill="hold" nodeType="withEffect">
                                  <p:stCondLst>
                                    <p:cond delay="0"/>
                                  </p:stCondLst>
                                  <p:childTnLst>
                                    <p:set>
                                      <p:cBhvr>
                                        <p:cTn id="53" dur="1" fill="hold">
                                          <p:stCondLst>
                                            <p:cond delay="0"/>
                                          </p:stCondLst>
                                        </p:cTn>
                                        <p:tgtEl>
                                          <p:spTgt spid="136">
                                            <p:txEl>
                                              <p:pRg st="6" end="6"/>
                                            </p:txEl>
                                          </p:spTgt>
                                        </p:tgtEl>
                                        <p:attrNameLst>
                                          <p:attrName>style.visibility</p:attrName>
                                        </p:attrNameLst>
                                      </p:cBhvr>
                                      <p:to>
                                        <p:strVal val="visible"/>
                                      </p:to>
                                    </p:set>
                                    <p:animEffect transition="in" filter="dissolve">
                                      <p:cBhvr>
                                        <p:cTn id="54" dur="500"/>
                                        <p:tgtEl>
                                          <p:spTgt spid="13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155" grpId="0"/>
      <p:bldP spid="196" grpId="0"/>
      <p:bldP spid="24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（二）带通调制</a:t>
            </a:r>
            <a:r>
              <a:rPr lang="en-US" altLang="zh-CN" dirty="0"/>
              <a:t>/</a:t>
            </a:r>
            <a:r>
              <a:rPr lang="zh-CN" altLang="en-US" dirty="0"/>
              <a:t>载波调制</a:t>
            </a:r>
          </a:p>
        </p:txBody>
      </p:sp>
      <p:sp>
        <p:nvSpPr>
          <p:cNvPr id="3" name="内容占位符 2"/>
          <p:cNvSpPr>
            <a:spLocks noGrp="1"/>
          </p:cNvSpPr>
          <p:nvPr>
            <p:ph idx="1"/>
          </p:nvPr>
        </p:nvSpPr>
        <p:spPr>
          <a:xfrm>
            <a:off x="457200" y="1444977"/>
            <a:ext cx="8229600" cy="4471081"/>
          </a:xfrm>
        </p:spPr>
        <p:txBody>
          <a:bodyPr/>
          <a:lstStyle/>
          <a:p>
            <a:r>
              <a:rPr lang="zh-CN" altLang="en-US" dirty="0"/>
              <a:t>基本调制方法</a:t>
            </a:r>
            <a:endParaRPr lang="en-US" altLang="zh-CN" dirty="0"/>
          </a:p>
          <a:p>
            <a:pPr lvl="1">
              <a:lnSpc>
                <a:spcPct val="150000"/>
              </a:lnSpc>
            </a:pPr>
            <a:r>
              <a:rPr lang="zh-CN" altLang="en-US" dirty="0"/>
              <a:t>调幅</a:t>
            </a:r>
            <a:r>
              <a:rPr lang="en-US" altLang="zh-CN" dirty="0"/>
              <a:t>(AM)</a:t>
            </a:r>
            <a:r>
              <a:rPr lang="zh-CN" altLang="en-US" dirty="0"/>
              <a:t>：载波的振幅随调制信号而变化 </a:t>
            </a:r>
          </a:p>
          <a:p>
            <a:pPr lvl="1">
              <a:lnSpc>
                <a:spcPct val="150000"/>
              </a:lnSpc>
            </a:pPr>
            <a:r>
              <a:rPr lang="zh-CN" altLang="en-US" dirty="0"/>
              <a:t>调频</a:t>
            </a:r>
            <a:r>
              <a:rPr lang="en-US" altLang="zh-CN" dirty="0"/>
              <a:t>(FM)</a:t>
            </a:r>
            <a:r>
              <a:rPr lang="zh-CN" altLang="en-US" dirty="0"/>
              <a:t>：载波的频率随调制信号而变化</a:t>
            </a:r>
          </a:p>
          <a:p>
            <a:pPr lvl="1">
              <a:lnSpc>
                <a:spcPct val="150000"/>
              </a:lnSpc>
            </a:pPr>
            <a:r>
              <a:rPr lang="zh-CN" altLang="en-US" dirty="0"/>
              <a:t>调相</a:t>
            </a:r>
            <a:r>
              <a:rPr lang="en-US" altLang="zh-CN" dirty="0"/>
              <a:t>(PM)</a:t>
            </a:r>
            <a:r>
              <a:rPr lang="zh-CN" altLang="en-US" dirty="0"/>
              <a:t>：载波的相位随调制信号而变化</a:t>
            </a:r>
            <a:endParaRPr lang="en-US" altLang="zh-CN" dirty="0"/>
          </a:p>
          <a:p>
            <a:r>
              <a:rPr lang="zh-CN" altLang="en-US" dirty="0"/>
              <a:t>两种类型</a:t>
            </a:r>
            <a:endParaRPr lang="en-US" altLang="zh-CN" dirty="0"/>
          </a:p>
          <a:p>
            <a:pPr lvl="1"/>
            <a:r>
              <a:rPr lang="zh-CN" altLang="en-US" dirty="0"/>
              <a:t>数字信号调制</a:t>
            </a:r>
            <a:endParaRPr lang="en-US" altLang="zh-CN" dirty="0"/>
          </a:p>
          <a:p>
            <a:pPr lvl="1">
              <a:lnSpc>
                <a:spcPct val="150000"/>
              </a:lnSpc>
            </a:pPr>
            <a:r>
              <a:rPr lang="zh-CN" altLang="en-US" dirty="0"/>
              <a:t>模拟信号调制</a:t>
            </a:r>
            <a:endParaRPr lang="en-US" altLang="zh-CN" baseline="-250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15</a:t>
            </a:fld>
            <a:endParaRPr lang="zh-CN" altLang="en-US" dirty="0"/>
          </a:p>
        </p:txBody>
      </p:sp>
    </p:spTree>
    <p:custDataLst>
      <p:tags r:id="rId1"/>
    </p:custDataLst>
    <p:extLst>
      <p:ext uri="{BB962C8B-B14F-4D97-AF65-F5344CB8AC3E}">
        <p14:creationId xmlns:p14="http://schemas.microsoft.com/office/powerpoint/2010/main" val="2245933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dissolve">
                                      <p:cBhvr>
                                        <p:cTn id="14" dur="500"/>
                                        <p:tgtEl>
                                          <p:spTgt spid="3">
                                            <p:txEl>
                                              <p:pRg st="2" end="2"/>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dissolve">
                                      <p:cBhvr>
                                        <p:cTn id="20" dur="500"/>
                                        <p:tgtEl>
                                          <p:spTgt spid="3">
                                            <p:txEl>
                                              <p:pRg st="4" end="4"/>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dissolve">
                                      <p:cBhvr>
                                        <p:cTn id="23" dur="500"/>
                                        <p:tgtEl>
                                          <p:spTgt spid="3">
                                            <p:txEl>
                                              <p:pRg st="5" end="5"/>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dissolve">
                                      <p:cBhvr>
                                        <p:cTn id="2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数字信号调制</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16</a:t>
            </a:fld>
            <a:endParaRPr lang="zh-CN" altLang="en-US" dirty="0"/>
          </a:p>
        </p:txBody>
      </p:sp>
      <p:sp>
        <p:nvSpPr>
          <p:cNvPr id="657" name="Rectangle 2"/>
          <p:cNvSpPr>
            <a:spLocks noChangeArrowheads="1"/>
          </p:cNvSpPr>
          <p:nvPr/>
        </p:nvSpPr>
        <p:spPr bwMode="auto">
          <a:xfrm>
            <a:off x="1070804" y="3377842"/>
            <a:ext cx="7300860" cy="3119210"/>
          </a:xfrm>
          <a:prstGeom prst="rect">
            <a:avLst/>
          </a:prstGeom>
          <a:solidFill>
            <a:srgbClr val="F4F4FA"/>
          </a:solidFill>
          <a:ln w="25400">
            <a:solidFill>
              <a:srgbClr val="DCDCEC"/>
            </a:solidFill>
          </a:ln>
          <a:effectLst/>
        </p:spPr>
        <p:txBody>
          <a:bodyPr wrap="none" anchor="ctr"/>
          <a:lstStyle/>
          <a:p>
            <a:endParaRPr lang="zh-CN" altLang="en-US" sz="1600" b="1"/>
          </a:p>
        </p:txBody>
      </p:sp>
      <p:grpSp>
        <p:nvGrpSpPr>
          <p:cNvPr id="5" name="组合 4"/>
          <p:cNvGrpSpPr/>
          <p:nvPr/>
        </p:nvGrpSpPr>
        <p:grpSpPr>
          <a:xfrm>
            <a:off x="2425653" y="3522824"/>
            <a:ext cx="5791746" cy="411478"/>
            <a:chOff x="2425653" y="3522824"/>
            <a:chExt cx="5791746" cy="411478"/>
          </a:xfrm>
        </p:grpSpPr>
        <p:sp>
          <p:nvSpPr>
            <p:cNvPr id="492" name="Rectangle 3"/>
            <p:cNvSpPr>
              <a:spLocks noChangeArrowheads="1"/>
            </p:cNvSpPr>
            <p:nvPr/>
          </p:nvSpPr>
          <p:spPr bwMode="auto">
            <a:xfrm>
              <a:off x="2588159" y="3596590"/>
              <a:ext cx="300939" cy="3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1800" i="0" u="none" strike="noStrike" kern="1200" cap="none" spc="0" normalizeH="0" baseline="0" noProof="0" dirty="0">
                  <a:ln>
                    <a:noFill/>
                  </a:ln>
                  <a:solidFill>
                    <a:srgbClr val="333399"/>
                  </a:solidFill>
                  <a:effectLst/>
                  <a:uLnTx/>
                  <a:uFillTx/>
                  <a:latin typeface="Tahoma" panose="020B0604030504040204" pitchFamily="34" charset="0"/>
                  <a:ea typeface="宋体" panose="02010600030101010101" pitchFamily="2" charset="-122"/>
                  <a:cs typeface="+mn-cs"/>
                </a:rPr>
                <a:t>0</a:t>
              </a:r>
            </a:p>
          </p:txBody>
        </p:sp>
        <p:sp>
          <p:nvSpPr>
            <p:cNvPr id="493" name="Rectangle 4"/>
            <p:cNvSpPr>
              <a:spLocks noChangeArrowheads="1"/>
            </p:cNvSpPr>
            <p:nvPr/>
          </p:nvSpPr>
          <p:spPr bwMode="auto">
            <a:xfrm>
              <a:off x="3219475" y="3596590"/>
              <a:ext cx="300939" cy="3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1800" i="0" u="none" strike="noStrike" kern="1200" cap="none" spc="0" normalizeH="0" baseline="0" noProof="0">
                  <a:ln>
                    <a:noFill/>
                  </a:ln>
                  <a:solidFill>
                    <a:srgbClr val="333399"/>
                  </a:solidFill>
                  <a:effectLst/>
                  <a:uLnTx/>
                  <a:uFillTx/>
                  <a:latin typeface="Tahoma" panose="020B0604030504040204" pitchFamily="34" charset="0"/>
                  <a:ea typeface="宋体" panose="02010600030101010101" pitchFamily="2" charset="-122"/>
                  <a:cs typeface="+mn-cs"/>
                </a:rPr>
                <a:t>1</a:t>
              </a:r>
            </a:p>
          </p:txBody>
        </p:sp>
        <p:sp>
          <p:nvSpPr>
            <p:cNvPr id="494" name="Rectangle 5"/>
            <p:cNvSpPr>
              <a:spLocks noChangeArrowheads="1"/>
            </p:cNvSpPr>
            <p:nvPr/>
          </p:nvSpPr>
          <p:spPr bwMode="auto">
            <a:xfrm>
              <a:off x="3850790" y="3596590"/>
              <a:ext cx="300939" cy="3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1800" i="0" u="none" strike="noStrike" kern="1200" cap="none" spc="0" normalizeH="0" baseline="0" noProof="0">
                  <a:ln>
                    <a:noFill/>
                  </a:ln>
                  <a:solidFill>
                    <a:srgbClr val="333399"/>
                  </a:solidFill>
                  <a:effectLst/>
                  <a:uLnTx/>
                  <a:uFillTx/>
                  <a:latin typeface="Tahoma" panose="020B0604030504040204" pitchFamily="34" charset="0"/>
                  <a:ea typeface="宋体" panose="02010600030101010101" pitchFamily="2" charset="-122"/>
                  <a:cs typeface="+mn-cs"/>
                </a:rPr>
                <a:t>0</a:t>
              </a:r>
            </a:p>
          </p:txBody>
        </p:sp>
        <p:sp>
          <p:nvSpPr>
            <p:cNvPr id="495" name="Rectangle 6"/>
            <p:cNvSpPr>
              <a:spLocks noChangeArrowheads="1"/>
            </p:cNvSpPr>
            <p:nvPr/>
          </p:nvSpPr>
          <p:spPr bwMode="auto">
            <a:xfrm>
              <a:off x="4522317" y="3596590"/>
              <a:ext cx="300939" cy="3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1800" i="0" u="none" strike="noStrike" kern="1200" cap="none" spc="0" normalizeH="0" baseline="0" noProof="0">
                  <a:ln>
                    <a:noFill/>
                  </a:ln>
                  <a:solidFill>
                    <a:srgbClr val="333399"/>
                  </a:solidFill>
                  <a:effectLst/>
                  <a:uLnTx/>
                  <a:uFillTx/>
                  <a:latin typeface="Tahoma" panose="020B0604030504040204" pitchFamily="34" charset="0"/>
                  <a:ea typeface="宋体" panose="02010600030101010101" pitchFamily="2" charset="-122"/>
                  <a:cs typeface="+mn-cs"/>
                </a:rPr>
                <a:t>0</a:t>
              </a:r>
            </a:p>
          </p:txBody>
        </p:sp>
        <p:sp>
          <p:nvSpPr>
            <p:cNvPr id="496" name="Rectangle 7"/>
            <p:cNvSpPr>
              <a:spLocks noChangeArrowheads="1"/>
            </p:cNvSpPr>
            <p:nvPr/>
          </p:nvSpPr>
          <p:spPr bwMode="auto">
            <a:xfrm>
              <a:off x="5153632" y="3596590"/>
              <a:ext cx="300939" cy="3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1800" i="0" u="none" strike="noStrike" kern="1200" cap="none" spc="0" normalizeH="0" baseline="0" noProof="0">
                  <a:ln>
                    <a:noFill/>
                  </a:ln>
                  <a:solidFill>
                    <a:srgbClr val="333399"/>
                  </a:solidFill>
                  <a:effectLst/>
                  <a:uLnTx/>
                  <a:uFillTx/>
                  <a:latin typeface="Tahoma" panose="020B0604030504040204" pitchFamily="34" charset="0"/>
                  <a:ea typeface="宋体" panose="02010600030101010101" pitchFamily="2" charset="-122"/>
                  <a:cs typeface="+mn-cs"/>
                </a:rPr>
                <a:t>1</a:t>
              </a:r>
            </a:p>
          </p:txBody>
        </p:sp>
        <p:sp>
          <p:nvSpPr>
            <p:cNvPr id="497" name="Rectangle 8"/>
            <p:cNvSpPr>
              <a:spLocks noChangeArrowheads="1"/>
            </p:cNvSpPr>
            <p:nvPr/>
          </p:nvSpPr>
          <p:spPr bwMode="auto">
            <a:xfrm>
              <a:off x="5784947" y="3596590"/>
              <a:ext cx="300939" cy="3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1800" i="0" u="none" strike="noStrike" kern="1200" cap="none" spc="0" normalizeH="0" baseline="0" noProof="0">
                  <a:ln>
                    <a:noFill/>
                  </a:ln>
                  <a:solidFill>
                    <a:srgbClr val="333399"/>
                  </a:solidFill>
                  <a:effectLst/>
                  <a:uLnTx/>
                  <a:uFillTx/>
                  <a:latin typeface="Tahoma" panose="020B0604030504040204" pitchFamily="34" charset="0"/>
                  <a:ea typeface="宋体" panose="02010600030101010101" pitchFamily="2" charset="-122"/>
                  <a:cs typeface="+mn-cs"/>
                </a:rPr>
                <a:t>1</a:t>
              </a:r>
            </a:p>
          </p:txBody>
        </p:sp>
        <p:sp>
          <p:nvSpPr>
            <p:cNvPr id="498" name="Rectangle 9"/>
            <p:cNvSpPr>
              <a:spLocks noChangeArrowheads="1"/>
            </p:cNvSpPr>
            <p:nvPr/>
          </p:nvSpPr>
          <p:spPr bwMode="auto">
            <a:xfrm>
              <a:off x="6416262" y="3596590"/>
              <a:ext cx="300939" cy="3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1800" i="0" u="none" strike="noStrike" kern="1200" cap="none" spc="0" normalizeH="0" baseline="0" noProof="0" dirty="0">
                  <a:ln>
                    <a:noFill/>
                  </a:ln>
                  <a:solidFill>
                    <a:srgbClr val="333399"/>
                  </a:solidFill>
                  <a:effectLst/>
                  <a:uLnTx/>
                  <a:uFillTx/>
                  <a:latin typeface="Tahoma" panose="020B0604030504040204" pitchFamily="34" charset="0"/>
                  <a:ea typeface="宋体" panose="02010600030101010101" pitchFamily="2" charset="-122"/>
                  <a:cs typeface="+mn-cs"/>
                </a:rPr>
                <a:t>1</a:t>
              </a:r>
            </a:p>
          </p:txBody>
        </p:sp>
        <p:sp>
          <p:nvSpPr>
            <p:cNvPr id="499" name="Rectangle 10"/>
            <p:cNvSpPr>
              <a:spLocks noChangeArrowheads="1"/>
            </p:cNvSpPr>
            <p:nvPr/>
          </p:nvSpPr>
          <p:spPr bwMode="auto">
            <a:xfrm>
              <a:off x="7087788" y="3596590"/>
              <a:ext cx="300939" cy="3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1800" i="0" u="none" strike="noStrike" kern="1200" cap="none" spc="0" normalizeH="0" baseline="0" noProof="0">
                  <a:ln>
                    <a:noFill/>
                  </a:ln>
                  <a:solidFill>
                    <a:srgbClr val="333399"/>
                  </a:solidFill>
                  <a:effectLst/>
                  <a:uLnTx/>
                  <a:uFillTx/>
                  <a:latin typeface="Tahoma" panose="020B0604030504040204" pitchFamily="34" charset="0"/>
                  <a:ea typeface="宋体" panose="02010600030101010101" pitchFamily="2" charset="-122"/>
                  <a:cs typeface="+mn-cs"/>
                </a:rPr>
                <a:t>0</a:t>
              </a:r>
            </a:p>
          </p:txBody>
        </p:sp>
        <p:sp>
          <p:nvSpPr>
            <p:cNvPr id="500" name="Rectangle 11"/>
            <p:cNvSpPr>
              <a:spLocks noChangeArrowheads="1"/>
            </p:cNvSpPr>
            <p:nvPr/>
          </p:nvSpPr>
          <p:spPr bwMode="auto">
            <a:xfrm>
              <a:off x="7739209" y="3596590"/>
              <a:ext cx="300939" cy="3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CN" sz="1800" i="0" u="none" strike="noStrike" kern="1200" cap="none" spc="0" normalizeH="0" baseline="0" noProof="0">
                  <a:ln>
                    <a:noFill/>
                  </a:ln>
                  <a:solidFill>
                    <a:srgbClr val="333399"/>
                  </a:solidFill>
                  <a:effectLst/>
                  <a:uLnTx/>
                  <a:uFillTx/>
                  <a:latin typeface="Tahoma" panose="020B0604030504040204" pitchFamily="34" charset="0"/>
                  <a:ea typeface="宋体" panose="02010600030101010101" pitchFamily="2" charset="-122"/>
                  <a:cs typeface="+mn-cs"/>
                </a:rPr>
                <a:t>0</a:t>
              </a:r>
            </a:p>
          </p:txBody>
        </p:sp>
        <p:sp>
          <p:nvSpPr>
            <p:cNvPr id="501" name="Freeform 12"/>
            <p:cNvSpPr>
              <a:spLocks/>
            </p:cNvSpPr>
            <p:nvPr/>
          </p:nvSpPr>
          <p:spPr bwMode="auto">
            <a:xfrm>
              <a:off x="2425653" y="3522824"/>
              <a:ext cx="5791746" cy="394865"/>
            </a:xfrm>
            <a:custGeom>
              <a:avLst/>
              <a:gdLst>
                <a:gd name="T0" fmla="*/ 0 w 4321"/>
                <a:gd name="T1" fmla="*/ 486 h 487"/>
                <a:gd name="T2" fmla="*/ 477 w 4321"/>
                <a:gd name="T3" fmla="*/ 486 h 487"/>
                <a:gd name="T4" fmla="*/ 477 w 4321"/>
                <a:gd name="T5" fmla="*/ 0 h 487"/>
                <a:gd name="T6" fmla="*/ 963 w 4321"/>
                <a:gd name="T7" fmla="*/ 0 h 487"/>
                <a:gd name="T8" fmla="*/ 963 w 4321"/>
                <a:gd name="T9" fmla="*/ 486 h 487"/>
                <a:gd name="T10" fmla="*/ 1926 w 4321"/>
                <a:gd name="T11" fmla="*/ 486 h 487"/>
                <a:gd name="T12" fmla="*/ 1926 w 4321"/>
                <a:gd name="T13" fmla="*/ 0 h 487"/>
                <a:gd name="T14" fmla="*/ 3357 w 4321"/>
                <a:gd name="T15" fmla="*/ 0 h 487"/>
                <a:gd name="T16" fmla="*/ 3357 w 4321"/>
                <a:gd name="T17" fmla="*/ 486 h 487"/>
                <a:gd name="T18" fmla="*/ 4320 w 4321"/>
                <a:gd name="T19" fmla="*/ 486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02" name="Freeform 13"/>
            <p:cNvSpPr>
              <a:spLocks/>
            </p:cNvSpPr>
            <p:nvPr/>
          </p:nvSpPr>
          <p:spPr bwMode="auto">
            <a:xfrm>
              <a:off x="8216059" y="3916604"/>
              <a:ext cx="1340" cy="1085"/>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noFill/>
            <a:ln w="38100"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03" name="Freeform 14"/>
          <p:cNvSpPr>
            <a:spLocks/>
          </p:cNvSpPr>
          <p:nvPr/>
        </p:nvSpPr>
        <p:spPr bwMode="auto">
          <a:xfrm>
            <a:off x="2436376" y="4426458"/>
            <a:ext cx="636677" cy="1085"/>
          </a:xfrm>
          <a:custGeom>
            <a:avLst/>
            <a:gdLst>
              <a:gd name="T0" fmla="*/ 0 w 475"/>
              <a:gd name="T1" fmla="*/ 0 h 1"/>
              <a:gd name="T2" fmla="*/ 475 w 475"/>
              <a:gd name="T3" fmla="*/ 1 h 1"/>
            </a:gdLst>
            <a:ahLst/>
            <a:cxnLst>
              <a:cxn ang="0">
                <a:pos x="T0" y="T1"/>
              </a:cxn>
              <a:cxn ang="0">
                <a:pos x="T2" y="T3"/>
              </a:cxn>
            </a:cxnLst>
            <a:rect l="0" t="0" r="r" b="b"/>
            <a:pathLst>
              <a:path w="475" h="1">
                <a:moveTo>
                  <a:pt x="0" y="0"/>
                </a:moveTo>
                <a:lnTo>
                  <a:pt x="475" y="1"/>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6" name="组合 5"/>
          <p:cNvGrpSpPr/>
          <p:nvPr/>
        </p:nvGrpSpPr>
        <p:grpSpPr>
          <a:xfrm>
            <a:off x="3712410" y="4122715"/>
            <a:ext cx="4492925" cy="582535"/>
            <a:chOff x="3712410" y="4122715"/>
            <a:chExt cx="4492925" cy="582535"/>
          </a:xfrm>
        </p:grpSpPr>
        <p:sp>
          <p:nvSpPr>
            <p:cNvPr id="504" name="Freeform 15"/>
            <p:cNvSpPr>
              <a:spLocks/>
            </p:cNvSpPr>
            <p:nvPr/>
          </p:nvSpPr>
          <p:spPr bwMode="auto">
            <a:xfrm>
              <a:off x="3712410" y="4424287"/>
              <a:ext cx="1298820" cy="3255"/>
            </a:xfrm>
            <a:custGeom>
              <a:avLst/>
              <a:gdLst>
                <a:gd name="T0" fmla="*/ 0 w 969"/>
                <a:gd name="T1" fmla="*/ 3 h 3"/>
                <a:gd name="T2" fmla="*/ 969 w 969"/>
                <a:gd name="T3" fmla="*/ 0 h 3"/>
              </a:gdLst>
              <a:ahLst/>
              <a:cxnLst>
                <a:cxn ang="0">
                  <a:pos x="T0" y="T1"/>
                </a:cxn>
                <a:cxn ang="0">
                  <a:pos x="T2" y="T3"/>
                </a:cxn>
              </a:cxnLst>
              <a:rect l="0" t="0" r="r" b="b"/>
              <a:pathLst>
                <a:path w="969" h="3">
                  <a:moveTo>
                    <a:pt x="0" y="3"/>
                  </a:moveTo>
                  <a:lnTo>
                    <a:pt x="969" y="0"/>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05" name="Line 16"/>
            <p:cNvSpPr>
              <a:spLocks noChangeShapeType="1"/>
            </p:cNvSpPr>
            <p:nvPr/>
          </p:nvSpPr>
          <p:spPr bwMode="auto">
            <a:xfrm>
              <a:off x="6936003" y="4426458"/>
              <a:ext cx="126933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06" name="Freeform 17"/>
            <p:cNvSpPr>
              <a:spLocks/>
            </p:cNvSpPr>
            <p:nvPr/>
          </p:nvSpPr>
          <p:spPr bwMode="auto">
            <a:xfrm>
              <a:off x="6292625" y="4127054"/>
              <a:ext cx="44232" cy="295064"/>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07" name="Freeform 18"/>
            <p:cNvSpPr>
              <a:spLocks/>
            </p:cNvSpPr>
            <p:nvPr/>
          </p:nvSpPr>
          <p:spPr bwMode="auto">
            <a:xfrm>
              <a:off x="6336858" y="4130309"/>
              <a:ext cx="117952" cy="574941"/>
            </a:xfrm>
            <a:custGeom>
              <a:avLst/>
              <a:gdLst>
                <a:gd name="T0" fmla="*/ 0 w 88"/>
                <a:gd name="T1" fmla="*/ 0 h 530"/>
                <a:gd name="T2" fmla="*/ 7 w 88"/>
                <a:gd name="T3" fmla="*/ 3 h 530"/>
                <a:gd name="T4" fmla="*/ 12 w 88"/>
                <a:gd name="T5" fmla="*/ 12 h 530"/>
                <a:gd name="T6" fmla="*/ 14 w 88"/>
                <a:gd name="T7" fmla="*/ 25 h 530"/>
                <a:gd name="T8" fmla="*/ 15 w 88"/>
                <a:gd name="T9" fmla="*/ 44 h 530"/>
                <a:gd name="T10" fmla="*/ 43 w 88"/>
                <a:gd name="T11" fmla="*/ 488 h 530"/>
                <a:gd name="T12" fmla="*/ 45 w 88"/>
                <a:gd name="T13" fmla="*/ 512 h 530"/>
                <a:gd name="T14" fmla="*/ 47 w 88"/>
                <a:gd name="T15" fmla="*/ 520 h 530"/>
                <a:gd name="T16" fmla="*/ 53 w 88"/>
                <a:gd name="T17" fmla="*/ 527 h 530"/>
                <a:gd name="T18" fmla="*/ 57 w 88"/>
                <a:gd name="T19" fmla="*/ 530 h 530"/>
                <a:gd name="T20" fmla="*/ 63 w 88"/>
                <a:gd name="T21" fmla="*/ 524 h 530"/>
                <a:gd name="T22" fmla="*/ 67 w 88"/>
                <a:gd name="T23" fmla="*/ 512 h 530"/>
                <a:gd name="T24" fmla="*/ 88 w 88"/>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08" name="Freeform 19"/>
            <p:cNvSpPr>
              <a:spLocks/>
            </p:cNvSpPr>
            <p:nvPr/>
          </p:nvSpPr>
          <p:spPr bwMode="auto">
            <a:xfrm>
              <a:off x="6452129" y="4127054"/>
              <a:ext cx="42892" cy="295064"/>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09" name="Freeform 20"/>
            <p:cNvSpPr>
              <a:spLocks/>
            </p:cNvSpPr>
            <p:nvPr/>
          </p:nvSpPr>
          <p:spPr bwMode="auto">
            <a:xfrm>
              <a:off x="6495021" y="4130309"/>
              <a:ext cx="112592" cy="574941"/>
            </a:xfrm>
            <a:custGeom>
              <a:avLst/>
              <a:gdLst>
                <a:gd name="T0" fmla="*/ 0 w 84"/>
                <a:gd name="T1" fmla="*/ 0 h 530"/>
                <a:gd name="T2" fmla="*/ 7 w 84"/>
                <a:gd name="T3" fmla="*/ 3 h 530"/>
                <a:gd name="T4" fmla="*/ 12 w 84"/>
                <a:gd name="T5" fmla="*/ 12 h 530"/>
                <a:gd name="T6" fmla="*/ 14 w 84"/>
                <a:gd name="T7" fmla="*/ 25 h 530"/>
                <a:gd name="T8" fmla="*/ 15 w 84"/>
                <a:gd name="T9" fmla="*/ 44 h 530"/>
                <a:gd name="T10" fmla="*/ 42 w 84"/>
                <a:gd name="T11" fmla="*/ 488 h 530"/>
                <a:gd name="T12" fmla="*/ 45 w 84"/>
                <a:gd name="T13" fmla="*/ 512 h 530"/>
                <a:gd name="T14" fmla="*/ 47 w 84"/>
                <a:gd name="T15" fmla="*/ 520 h 530"/>
                <a:gd name="T16" fmla="*/ 52 w 84"/>
                <a:gd name="T17" fmla="*/ 527 h 530"/>
                <a:gd name="T18" fmla="*/ 57 w 84"/>
                <a:gd name="T19" fmla="*/ 530 h 530"/>
                <a:gd name="T20" fmla="*/ 62 w 84"/>
                <a:gd name="T21" fmla="*/ 524 h 530"/>
                <a:gd name="T22" fmla="*/ 66 w 84"/>
                <a:gd name="T23" fmla="*/ 512 h 530"/>
                <a:gd name="T24" fmla="*/ 84 w 84"/>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10" name="Group 21"/>
            <p:cNvGrpSpPr>
              <a:grpSpLocks/>
            </p:cNvGrpSpPr>
            <p:nvPr/>
          </p:nvGrpSpPr>
          <p:grpSpPr bwMode="auto">
            <a:xfrm>
              <a:off x="6608952" y="4122717"/>
              <a:ext cx="158164" cy="579281"/>
              <a:chOff x="4075" y="1309"/>
              <a:chExt cx="118" cy="713"/>
            </a:xfrm>
          </p:grpSpPr>
          <p:sp>
            <p:nvSpPr>
              <p:cNvPr id="652" name="Freeform 22"/>
              <p:cNvSpPr>
                <a:spLocks/>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53" name="Freeform 23"/>
              <p:cNvSpPr>
                <a:spLocks/>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11" name="Freeform 24"/>
            <p:cNvSpPr>
              <a:spLocks/>
            </p:cNvSpPr>
            <p:nvPr/>
          </p:nvSpPr>
          <p:spPr bwMode="auto">
            <a:xfrm>
              <a:off x="6767117" y="4122715"/>
              <a:ext cx="46913" cy="295064"/>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2" name="Freeform 25"/>
            <p:cNvSpPr>
              <a:spLocks/>
            </p:cNvSpPr>
            <p:nvPr/>
          </p:nvSpPr>
          <p:spPr bwMode="auto">
            <a:xfrm>
              <a:off x="6814030" y="4125970"/>
              <a:ext cx="111250" cy="574941"/>
            </a:xfrm>
            <a:custGeom>
              <a:avLst/>
              <a:gdLst>
                <a:gd name="T0" fmla="*/ 0 w 83"/>
                <a:gd name="T1" fmla="*/ 0 h 530"/>
                <a:gd name="T2" fmla="*/ 7 w 83"/>
                <a:gd name="T3" fmla="*/ 3 h 530"/>
                <a:gd name="T4" fmla="*/ 12 w 83"/>
                <a:gd name="T5" fmla="*/ 12 h 530"/>
                <a:gd name="T6" fmla="*/ 13 w 83"/>
                <a:gd name="T7" fmla="*/ 25 h 530"/>
                <a:gd name="T8" fmla="*/ 15 w 83"/>
                <a:gd name="T9" fmla="*/ 44 h 530"/>
                <a:gd name="T10" fmla="*/ 42 w 83"/>
                <a:gd name="T11" fmla="*/ 488 h 530"/>
                <a:gd name="T12" fmla="*/ 44 w 83"/>
                <a:gd name="T13" fmla="*/ 512 h 530"/>
                <a:gd name="T14" fmla="*/ 46 w 83"/>
                <a:gd name="T15" fmla="*/ 520 h 530"/>
                <a:gd name="T16" fmla="*/ 52 w 83"/>
                <a:gd name="T17" fmla="*/ 527 h 530"/>
                <a:gd name="T18" fmla="*/ 56 w 83"/>
                <a:gd name="T19" fmla="*/ 530 h 530"/>
                <a:gd name="T20" fmla="*/ 62 w 83"/>
                <a:gd name="T21" fmla="*/ 524 h 530"/>
                <a:gd name="T22" fmla="*/ 65 w 83"/>
                <a:gd name="T23" fmla="*/ 512 h 530"/>
                <a:gd name="T24" fmla="*/ 83 w 83"/>
                <a:gd name="T25" fmla="*/ 27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3" name="Freeform 26"/>
            <p:cNvSpPr>
              <a:spLocks/>
            </p:cNvSpPr>
            <p:nvPr/>
          </p:nvSpPr>
          <p:spPr bwMode="auto">
            <a:xfrm>
              <a:off x="5655949" y="4127054"/>
              <a:ext cx="44232" cy="295064"/>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4" name="Freeform 27"/>
            <p:cNvSpPr>
              <a:spLocks/>
            </p:cNvSpPr>
            <p:nvPr/>
          </p:nvSpPr>
          <p:spPr bwMode="auto">
            <a:xfrm>
              <a:off x="5700181" y="4130309"/>
              <a:ext cx="115272" cy="574941"/>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6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5" name="Freeform 28"/>
            <p:cNvSpPr>
              <a:spLocks/>
            </p:cNvSpPr>
            <p:nvPr/>
          </p:nvSpPr>
          <p:spPr bwMode="auto">
            <a:xfrm>
              <a:off x="5815453" y="4127054"/>
              <a:ext cx="42892" cy="295064"/>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6" name="Freeform 29"/>
            <p:cNvSpPr>
              <a:spLocks/>
            </p:cNvSpPr>
            <p:nvPr/>
          </p:nvSpPr>
          <p:spPr bwMode="auto">
            <a:xfrm>
              <a:off x="5858345" y="4130309"/>
              <a:ext cx="113932" cy="574941"/>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17" name="Group 30"/>
            <p:cNvGrpSpPr>
              <a:grpSpLocks/>
            </p:cNvGrpSpPr>
            <p:nvPr/>
          </p:nvGrpSpPr>
          <p:grpSpPr bwMode="auto">
            <a:xfrm>
              <a:off x="5972290" y="4122715"/>
              <a:ext cx="317668" cy="579280"/>
              <a:chOff x="3600" y="1309"/>
              <a:chExt cx="237" cy="713"/>
            </a:xfrm>
          </p:grpSpPr>
          <p:grpSp>
            <p:nvGrpSpPr>
              <p:cNvPr id="646" name="Group 31"/>
              <p:cNvGrpSpPr>
                <a:grpSpLocks/>
              </p:cNvGrpSpPr>
              <p:nvPr/>
            </p:nvGrpSpPr>
            <p:grpSpPr bwMode="auto">
              <a:xfrm>
                <a:off x="3600" y="1309"/>
                <a:ext cx="118" cy="713"/>
                <a:chOff x="3600" y="1309"/>
                <a:chExt cx="118" cy="713"/>
              </a:xfrm>
            </p:grpSpPr>
            <p:sp>
              <p:nvSpPr>
                <p:cNvPr id="650" name="Freeform 32"/>
                <p:cNvSpPr>
                  <a:spLocks/>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51" name="Freeform 33"/>
                <p:cNvSpPr>
                  <a:spLocks/>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647" name="Group 34"/>
              <p:cNvGrpSpPr>
                <a:grpSpLocks/>
              </p:cNvGrpSpPr>
              <p:nvPr/>
            </p:nvGrpSpPr>
            <p:grpSpPr bwMode="auto">
              <a:xfrm>
                <a:off x="3718" y="1309"/>
                <a:ext cx="119" cy="713"/>
                <a:chOff x="3718" y="1309"/>
                <a:chExt cx="119" cy="713"/>
              </a:xfrm>
            </p:grpSpPr>
            <p:sp>
              <p:nvSpPr>
                <p:cNvPr id="648" name="Freeform 35"/>
                <p:cNvSpPr>
                  <a:spLocks/>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49" name="Freeform 36"/>
                <p:cNvSpPr>
                  <a:spLocks/>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sp>
          <p:nvSpPr>
            <p:cNvPr id="518" name="Freeform 37"/>
            <p:cNvSpPr>
              <a:spLocks/>
            </p:cNvSpPr>
            <p:nvPr/>
          </p:nvSpPr>
          <p:spPr bwMode="auto">
            <a:xfrm>
              <a:off x="5007209" y="4127054"/>
              <a:ext cx="44232" cy="295064"/>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9" name="Freeform 38"/>
            <p:cNvSpPr>
              <a:spLocks/>
            </p:cNvSpPr>
            <p:nvPr/>
          </p:nvSpPr>
          <p:spPr bwMode="auto">
            <a:xfrm>
              <a:off x="5051441" y="4130309"/>
              <a:ext cx="116613" cy="574941"/>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20" name="Freeform 39"/>
            <p:cNvSpPr>
              <a:spLocks/>
            </p:cNvSpPr>
            <p:nvPr/>
          </p:nvSpPr>
          <p:spPr bwMode="auto">
            <a:xfrm>
              <a:off x="5166713" y="4127054"/>
              <a:ext cx="42892" cy="295064"/>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21" name="Freeform 40"/>
            <p:cNvSpPr>
              <a:spLocks/>
            </p:cNvSpPr>
            <p:nvPr/>
          </p:nvSpPr>
          <p:spPr bwMode="auto">
            <a:xfrm>
              <a:off x="5209604" y="4130309"/>
              <a:ext cx="115272" cy="574941"/>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22" name="Group 41"/>
            <p:cNvGrpSpPr>
              <a:grpSpLocks/>
            </p:cNvGrpSpPr>
            <p:nvPr/>
          </p:nvGrpSpPr>
          <p:grpSpPr bwMode="auto">
            <a:xfrm>
              <a:off x="5324899" y="4122717"/>
              <a:ext cx="156825" cy="579281"/>
              <a:chOff x="3117" y="1309"/>
              <a:chExt cx="117" cy="713"/>
            </a:xfrm>
          </p:grpSpPr>
          <p:sp>
            <p:nvSpPr>
              <p:cNvPr id="644" name="Freeform 42"/>
              <p:cNvSpPr>
                <a:spLocks/>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45" name="Freeform 43"/>
              <p:cNvSpPr>
                <a:spLocks/>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23" name="Freeform 44"/>
            <p:cNvSpPr>
              <a:spLocks/>
            </p:cNvSpPr>
            <p:nvPr/>
          </p:nvSpPr>
          <p:spPr bwMode="auto">
            <a:xfrm>
              <a:off x="5481701" y="4122715"/>
              <a:ext cx="46913" cy="295064"/>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24" name="Freeform 45"/>
            <p:cNvSpPr>
              <a:spLocks/>
            </p:cNvSpPr>
            <p:nvPr/>
          </p:nvSpPr>
          <p:spPr bwMode="auto">
            <a:xfrm>
              <a:off x="5528613" y="4125970"/>
              <a:ext cx="121975" cy="574941"/>
            </a:xfrm>
            <a:custGeom>
              <a:avLst/>
              <a:gdLst>
                <a:gd name="T0" fmla="*/ 0 w 91"/>
                <a:gd name="T1" fmla="*/ 0 h 530"/>
                <a:gd name="T2" fmla="*/ 7 w 91"/>
                <a:gd name="T3" fmla="*/ 3 h 530"/>
                <a:gd name="T4" fmla="*/ 12 w 91"/>
                <a:gd name="T5" fmla="*/ 12 h 530"/>
                <a:gd name="T6" fmla="*/ 13 w 91"/>
                <a:gd name="T7" fmla="*/ 25 h 530"/>
                <a:gd name="T8" fmla="*/ 15 w 91"/>
                <a:gd name="T9" fmla="*/ 44 h 530"/>
                <a:gd name="T10" fmla="*/ 42 w 91"/>
                <a:gd name="T11" fmla="*/ 488 h 530"/>
                <a:gd name="T12" fmla="*/ 44 w 91"/>
                <a:gd name="T13" fmla="*/ 512 h 530"/>
                <a:gd name="T14" fmla="*/ 46 w 91"/>
                <a:gd name="T15" fmla="*/ 520 h 530"/>
                <a:gd name="T16" fmla="*/ 52 w 91"/>
                <a:gd name="T17" fmla="*/ 527 h 530"/>
                <a:gd name="T18" fmla="*/ 56 w 91"/>
                <a:gd name="T19" fmla="*/ 530 h 530"/>
                <a:gd name="T20" fmla="*/ 62 w 91"/>
                <a:gd name="T21" fmla="*/ 524 h 530"/>
                <a:gd name="T22" fmla="*/ 65 w 91"/>
                <a:gd name="T23" fmla="*/ 512 h 530"/>
                <a:gd name="T24" fmla="*/ 91 w 91"/>
                <a:gd name="T25" fmla="*/ 28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11" name="组合 10"/>
          <p:cNvGrpSpPr/>
          <p:nvPr/>
        </p:nvGrpSpPr>
        <p:grpSpPr>
          <a:xfrm>
            <a:off x="3028914" y="4889154"/>
            <a:ext cx="663484" cy="583622"/>
            <a:chOff x="3028914" y="4899428"/>
            <a:chExt cx="663484" cy="583622"/>
          </a:xfrm>
        </p:grpSpPr>
        <p:sp>
          <p:nvSpPr>
            <p:cNvPr id="525" name="Freeform 46"/>
            <p:cNvSpPr>
              <a:spLocks/>
            </p:cNvSpPr>
            <p:nvPr/>
          </p:nvSpPr>
          <p:spPr bwMode="auto">
            <a:xfrm>
              <a:off x="3028914" y="4903767"/>
              <a:ext cx="50934" cy="314591"/>
            </a:xfrm>
            <a:custGeom>
              <a:avLst/>
              <a:gdLst>
                <a:gd name="T0" fmla="*/ 0 w 38"/>
                <a:gd name="T1" fmla="*/ 290 h 290"/>
                <a:gd name="T2" fmla="*/ 26 w 38"/>
                <a:gd name="T3" fmla="*/ 40 h 290"/>
                <a:gd name="T4" fmla="*/ 27 w 38"/>
                <a:gd name="T5" fmla="*/ 28 h 290"/>
                <a:gd name="T6" fmla="*/ 28 w 38"/>
                <a:gd name="T7" fmla="*/ 19 h 290"/>
                <a:gd name="T8" fmla="*/ 30 w 38"/>
                <a:gd name="T9" fmla="*/ 11 h 290"/>
                <a:gd name="T10" fmla="*/ 33 w 38"/>
                <a:gd name="T11" fmla="*/ 4 h 290"/>
                <a:gd name="T12" fmla="*/ 38 w 38"/>
                <a:gd name="T13" fmla="*/ 0 h 290"/>
              </a:gdLst>
              <a:ahLst/>
              <a:cxnLst>
                <a:cxn ang="0">
                  <a:pos x="T0" y="T1"/>
                </a:cxn>
                <a:cxn ang="0">
                  <a:pos x="T2" y="T3"/>
                </a:cxn>
                <a:cxn ang="0">
                  <a:pos x="T4" y="T5"/>
                </a:cxn>
                <a:cxn ang="0">
                  <a:pos x="T6" y="T7"/>
                </a:cxn>
                <a:cxn ang="0">
                  <a:pos x="T8" y="T9"/>
                </a:cxn>
                <a:cxn ang="0">
                  <a:pos x="T10" y="T11"/>
                </a:cxn>
                <a:cxn ang="0">
                  <a:pos x="T12" y="T13"/>
                </a:cxn>
              </a:cxnLst>
              <a:rect l="0" t="0" r="r" b="b"/>
              <a:pathLst>
                <a:path w="38" h="290">
                  <a:moveTo>
                    <a:pt x="0" y="290"/>
                  </a:moveTo>
                  <a:lnTo>
                    <a:pt x="26" y="40"/>
                  </a:lnTo>
                  <a:lnTo>
                    <a:pt x="27" y="28"/>
                  </a:lnTo>
                  <a:lnTo>
                    <a:pt x="28" y="19"/>
                  </a:lnTo>
                  <a:lnTo>
                    <a:pt x="30" y="11"/>
                  </a:lnTo>
                  <a:lnTo>
                    <a:pt x="33" y="4"/>
                  </a:lnTo>
                  <a:lnTo>
                    <a:pt x="38"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28" name="Freeform 51"/>
            <p:cNvSpPr>
              <a:spLocks/>
            </p:cNvSpPr>
            <p:nvPr/>
          </p:nvSpPr>
          <p:spPr bwMode="auto">
            <a:xfrm>
              <a:off x="3354625" y="4899428"/>
              <a:ext cx="46913" cy="318930"/>
            </a:xfrm>
            <a:custGeom>
              <a:avLst/>
              <a:gdLst>
                <a:gd name="T0" fmla="*/ 0 w 35"/>
                <a:gd name="T1" fmla="*/ 294 h 294"/>
                <a:gd name="T2" fmla="*/ 22 w 35"/>
                <a:gd name="T3" fmla="*/ 40 h 294"/>
                <a:gd name="T4" fmla="*/ 24 w 35"/>
                <a:gd name="T5" fmla="*/ 28 h 294"/>
                <a:gd name="T6" fmla="*/ 25 w 35"/>
                <a:gd name="T7" fmla="*/ 19 h 294"/>
                <a:gd name="T8" fmla="*/ 26 w 35"/>
                <a:gd name="T9" fmla="*/ 11 h 294"/>
                <a:gd name="T10" fmla="*/ 30 w 35"/>
                <a:gd name="T11" fmla="*/ 4 h 294"/>
                <a:gd name="T12" fmla="*/ 35 w 35"/>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35" h="294">
                  <a:moveTo>
                    <a:pt x="0" y="294"/>
                  </a:moveTo>
                  <a:lnTo>
                    <a:pt x="22" y="40"/>
                  </a:lnTo>
                  <a:lnTo>
                    <a:pt x="24" y="28"/>
                  </a:lnTo>
                  <a:lnTo>
                    <a:pt x="25" y="19"/>
                  </a:lnTo>
                  <a:lnTo>
                    <a:pt x="26" y="11"/>
                  </a:lnTo>
                  <a:lnTo>
                    <a:pt x="30" y="4"/>
                  </a:lnTo>
                  <a:lnTo>
                    <a:pt x="35"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30" name="Freeform 53"/>
            <p:cNvSpPr>
              <a:spLocks/>
            </p:cNvSpPr>
            <p:nvPr/>
          </p:nvSpPr>
          <p:spPr bwMode="auto">
            <a:xfrm>
              <a:off x="3515469" y="4899428"/>
              <a:ext cx="46913" cy="302658"/>
            </a:xfrm>
            <a:custGeom>
              <a:avLst/>
              <a:gdLst>
                <a:gd name="T0" fmla="*/ 0 w 35"/>
                <a:gd name="T1" fmla="*/ 279 h 279"/>
                <a:gd name="T2" fmla="*/ 22 w 35"/>
                <a:gd name="T3" fmla="*/ 40 h 279"/>
                <a:gd name="T4" fmla="*/ 23 w 35"/>
                <a:gd name="T5" fmla="*/ 28 h 279"/>
                <a:gd name="T6" fmla="*/ 24 w 35"/>
                <a:gd name="T7" fmla="*/ 19 h 279"/>
                <a:gd name="T8" fmla="*/ 26 w 35"/>
                <a:gd name="T9" fmla="*/ 11 h 279"/>
                <a:gd name="T10" fmla="*/ 30 w 35"/>
                <a:gd name="T11" fmla="*/ 4 h 279"/>
                <a:gd name="T12" fmla="*/ 35 w 35"/>
                <a:gd name="T13" fmla="*/ 0 h 279"/>
              </a:gdLst>
              <a:ahLst/>
              <a:cxnLst>
                <a:cxn ang="0">
                  <a:pos x="T0" y="T1"/>
                </a:cxn>
                <a:cxn ang="0">
                  <a:pos x="T2" y="T3"/>
                </a:cxn>
                <a:cxn ang="0">
                  <a:pos x="T4" y="T5"/>
                </a:cxn>
                <a:cxn ang="0">
                  <a:pos x="T6" y="T7"/>
                </a:cxn>
                <a:cxn ang="0">
                  <a:pos x="T8" y="T9"/>
                </a:cxn>
                <a:cxn ang="0">
                  <a:pos x="T10" y="T11"/>
                </a:cxn>
                <a:cxn ang="0">
                  <a:pos x="T12" y="T13"/>
                </a:cxn>
              </a:cxnLst>
              <a:rect l="0" t="0" r="r" b="b"/>
              <a:pathLst>
                <a:path w="35" h="279">
                  <a:moveTo>
                    <a:pt x="0" y="279"/>
                  </a:moveTo>
                  <a:lnTo>
                    <a:pt x="22" y="40"/>
                  </a:lnTo>
                  <a:lnTo>
                    <a:pt x="23" y="28"/>
                  </a:lnTo>
                  <a:lnTo>
                    <a:pt x="24" y="19"/>
                  </a:lnTo>
                  <a:lnTo>
                    <a:pt x="26" y="11"/>
                  </a:lnTo>
                  <a:lnTo>
                    <a:pt x="30" y="4"/>
                  </a:lnTo>
                  <a:lnTo>
                    <a:pt x="35"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10" name="组合 9"/>
            <p:cNvGrpSpPr/>
            <p:nvPr/>
          </p:nvGrpSpPr>
          <p:grpSpPr>
            <a:xfrm>
              <a:off x="3081189" y="4902682"/>
              <a:ext cx="611209" cy="580368"/>
              <a:chOff x="3081189" y="4902682"/>
              <a:chExt cx="611209" cy="580368"/>
            </a:xfrm>
          </p:grpSpPr>
          <p:sp>
            <p:nvSpPr>
              <p:cNvPr id="526" name="Freeform 47"/>
              <p:cNvSpPr>
                <a:spLocks/>
              </p:cNvSpPr>
              <p:nvPr/>
            </p:nvSpPr>
            <p:spPr bwMode="auto">
              <a:xfrm>
                <a:off x="3081189" y="4907022"/>
                <a:ext cx="116612" cy="576026"/>
              </a:xfrm>
              <a:custGeom>
                <a:avLst/>
                <a:gdLst>
                  <a:gd name="T0" fmla="*/ 0 w 87"/>
                  <a:gd name="T1" fmla="*/ 0 h 709"/>
                  <a:gd name="T2" fmla="*/ 7 w 87"/>
                  <a:gd name="T3" fmla="*/ 4 h 709"/>
                  <a:gd name="T4" fmla="*/ 12 w 87"/>
                  <a:gd name="T5" fmla="*/ 16 h 709"/>
                  <a:gd name="T6" fmla="*/ 14 w 87"/>
                  <a:gd name="T7" fmla="*/ 33 h 709"/>
                  <a:gd name="T8" fmla="*/ 16 w 87"/>
                  <a:gd name="T9" fmla="*/ 59 h 709"/>
                  <a:gd name="T10" fmla="*/ 43 w 87"/>
                  <a:gd name="T11" fmla="*/ 651 h 709"/>
                  <a:gd name="T12" fmla="*/ 46 w 87"/>
                  <a:gd name="T13" fmla="*/ 684 h 709"/>
                  <a:gd name="T14" fmla="*/ 48 w 87"/>
                  <a:gd name="T15" fmla="*/ 694 h 709"/>
                  <a:gd name="T16" fmla="*/ 53 w 87"/>
                  <a:gd name="T17" fmla="*/ 704 h 709"/>
                  <a:gd name="T18" fmla="*/ 58 w 87"/>
                  <a:gd name="T19" fmla="*/ 708 h 709"/>
                  <a:gd name="T20" fmla="*/ 64 w 87"/>
                  <a:gd name="T21" fmla="*/ 700 h 709"/>
                  <a:gd name="T22" fmla="*/ 68 w 87"/>
                  <a:gd name="T23" fmla="*/ 684 h 709"/>
                  <a:gd name="T24" fmla="*/ 86 w 87"/>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27" name="Group 48"/>
              <p:cNvGrpSpPr>
                <a:grpSpLocks/>
              </p:cNvGrpSpPr>
              <p:nvPr/>
            </p:nvGrpSpPr>
            <p:grpSpPr bwMode="auto">
              <a:xfrm>
                <a:off x="3197812" y="4903769"/>
                <a:ext cx="159506" cy="579281"/>
                <a:chOff x="1557" y="2272"/>
                <a:chExt cx="119" cy="713"/>
              </a:xfrm>
            </p:grpSpPr>
            <p:sp>
              <p:nvSpPr>
                <p:cNvPr id="642" name="Freeform 49"/>
                <p:cNvSpPr>
                  <a:spLocks/>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43" name="Freeform 50"/>
                <p:cNvSpPr>
                  <a:spLocks/>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29" name="Freeform 52"/>
              <p:cNvSpPr>
                <a:spLocks/>
              </p:cNvSpPr>
              <p:nvPr/>
            </p:nvSpPr>
            <p:spPr bwMode="auto">
              <a:xfrm>
                <a:off x="3402878" y="4902682"/>
                <a:ext cx="113931" cy="576026"/>
              </a:xfrm>
              <a:custGeom>
                <a:avLst/>
                <a:gdLst>
                  <a:gd name="T0" fmla="*/ 0 w 85"/>
                  <a:gd name="T1" fmla="*/ 0 h 709"/>
                  <a:gd name="T2" fmla="*/ 7 w 85"/>
                  <a:gd name="T3" fmla="*/ 4 h 709"/>
                  <a:gd name="T4" fmla="*/ 12 w 85"/>
                  <a:gd name="T5" fmla="*/ 16 h 709"/>
                  <a:gd name="T6" fmla="*/ 14 w 85"/>
                  <a:gd name="T7" fmla="*/ 33 h 709"/>
                  <a:gd name="T8" fmla="*/ 15 w 85"/>
                  <a:gd name="T9" fmla="*/ 59 h 709"/>
                  <a:gd name="T10" fmla="*/ 42 w 85"/>
                  <a:gd name="T11" fmla="*/ 651 h 709"/>
                  <a:gd name="T12" fmla="*/ 45 w 85"/>
                  <a:gd name="T13" fmla="*/ 684 h 709"/>
                  <a:gd name="T14" fmla="*/ 47 w 85"/>
                  <a:gd name="T15" fmla="*/ 694 h 709"/>
                  <a:gd name="T16" fmla="*/ 52 w 85"/>
                  <a:gd name="T17" fmla="*/ 704 h 709"/>
                  <a:gd name="T18" fmla="*/ 57 w 85"/>
                  <a:gd name="T19" fmla="*/ 708 h 709"/>
                  <a:gd name="T20" fmla="*/ 62 w 85"/>
                  <a:gd name="T21" fmla="*/ 700 h 709"/>
                  <a:gd name="T22" fmla="*/ 66 w 85"/>
                  <a:gd name="T23" fmla="*/ 684 h 709"/>
                  <a:gd name="T24" fmla="*/ 84 w 85"/>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31" name="Freeform 54"/>
              <p:cNvSpPr>
                <a:spLocks/>
              </p:cNvSpPr>
              <p:nvPr/>
            </p:nvSpPr>
            <p:spPr bwMode="auto">
              <a:xfrm>
                <a:off x="3563722" y="4902682"/>
                <a:ext cx="128676" cy="574941"/>
              </a:xfrm>
              <a:custGeom>
                <a:avLst/>
                <a:gdLst>
                  <a:gd name="T0" fmla="*/ 0 w 96"/>
                  <a:gd name="T1" fmla="*/ 0 h 530"/>
                  <a:gd name="T2" fmla="*/ 7 w 96"/>
                  <a:gd name="T3" fmla="*/ 3 h 530"/>
                  <a:gd name="T4" fmla="*/ 12 w 96"/>
                  <a:gd name="T5" fmla="*/ 12 h 530"/>
                  <a:gd name="T6" fmla="*/ 14 w 96"/>
                  <a:gd name="T7" fmla="*/ 25 h 530"/>
                  <a:gd name="T8" fmla="*/ 15 w 96"/>
                  <a:gd name="T9" fmla="*/ 44 h 530"/>
                  <a:gd name="T10" fmla="*/ 42 w 96"/>
                  <a:gd name="T11" fmla="*/ 488 h 530"/>
                  <a:gd name="T12" fmla="*/ 45 w 96"/>
                  <a:gd name="T13" fmla="*/ 512 h 530"/>
                  <a:gd name="T14" fmla="*/ 47 w 96"/>
                  <a:gd name="T15" fmla="*/ 520 h 530"/>
                  <a:gd name="T16" fmla="*/ 52 w 96"/>
                  <a:gd name="T17" fmla="*/ 527 h 530"/>
                  <a:gd name="T18" fmla="*/ 57 w 96"/>
                  <a:gd name="T19" fmla="*/ 530 h 530"/>
                  <a:gd name="T20" fmla="*/ 62 w 96"/>
                  <a:gd name="T21" fmla="*/ 524 h 530"/>
                  <a:gd name="T22" fmla="*/ 66 w 96"/>
                  <a:gd name="T23" fmla="*/ 512 h 530"/>
                  <a:gd name="T24" fmla="*/ 96 w 96"/>
                  <a:gd name="T25" fmla="*/ 28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grpSp>
        <p:nvGrpSpPr>
          <p:cNvPr id="554" name="Group 81"/>
          <p:cNvGrpSpPr>
            <a:grpSpLocks/>
          </p:cNvGrpSpPr>
          <p:nvPr/>
        </p:nvGrpSpPr>
        <p:grpSpPr bwMode="auto">
          <a:xfrm>
            <a:off x="2392243" y="4913531"/>
            <a:ext cx="638020" cy="577111"/>
            <a:chOff x="956" y="2283"/>
            <a:chExt cx="476" cy="711"/>
          </a:xfrm>
        </p:grpSpPr>
        <p:sp>
          <p:nvSpPr>
            <p:cNvPr id="634" name="Freeform 82"/>
            <p:cNvSpPr>
              <a:spLocks/>
            </p:cNvSpPr>
            <p:nvPr/>
          </p:nvSpPr>
          <p:spPr bwMode="auto">
            <a:xfrm>
              <a:off x="956" y="2284"/>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35" name="Freeform 83"/>
            <p:cNvSpPr>
              <a:spLocks/>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36" name="Freeform 84"/>
            <p:cNvSpPr>
              <a:spLocks/>
            </p:cNvSpPr>
            <p:nvPr/>
          </p:nvSpPr>
          <p:spPr bwMode="auto">
            <a:xfrm>
              <a:off x="1194" y="2290"/>
              <a:ext cx="66" cy="363"/>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37" name="Freeform 85"/>
            <p:cNvSpPr>
              <a:spLocks/>
            </p:cNvSpPr>
            <p:nvPr/>
          </p:nvSpPr>
          <p:spPr bwMode="auto">
            <a:xfrm>
              <a:off x="1261" y="2285"/>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12" name="组合 11"/>
          <p:cNvGrpSpPr/>
          <p:nvPr/>
        </p:nvGrpSpPr>
        <p:grpSpPr>
          <a:xfrm>
            <a:off x="3696419" y="4899428"/>
            <a:ext cx="4468837" cy="584704"/>
            <a:chOff x="3696419" y="4899428"/>
            <a:chExt cx="4468837" cy="584704"/>
          </a:xfrm>
        </p:grpSpPr>
        <p:sp>
          <p:nvSpPr>
            <p:cNvPr id="532" name="Freeform 55"/>
            <p:cNvSpPr>
              <a:spLocks/>
            </p:cNvSpPr>
            <p:nvPr/>
          </p:nvSpPr>
          <p:spPr bwMode="auto">
            <a:xfrm>
              <a:off x="6252508" y="4905936"/>
              <a:ext cx="44232" cy="295064"/>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33" name="Freeform 56"/>
            <p:cNvSpPr>
              <a:spLocks/>
            </p:cNvSpPr>
            <p:nvPr/>
          </p:nvSpPr>
          <p:spPr bwMode="auto">
            <a:xfrm>
              <a:off x="6296741" y="4909191"/>
              <a:ext cx="113932" cy="574941"/>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3 w 85"/>
                <a:gd name="T11" fmla="*/ 488 h 530"/>
                <a:gd name="T12" fmla="*/ 45 w 85"/>
                <a:gd name="T13" fmla="*/ 512 h 530"/>
                <a:gd name="T14" fmla="*/ 47 w 85"/>
                <a:gd name="T15" fmla="*/ 520 h 530"/>
                <a:gd name="T16" fmla="*/ 53 w 85"/>
                <a:gd name="T17" fmla="*/ 527 h 530"/>
                <a:gd name="T18" fmla="*/ 57 w 85"/>
                <a:gd name="T19" fmla="*/ 530 h 530"/>
                <a:gd name="T20" fmla="*/ 63 w 85"/>
                <a:gd name="T21" fmla="*/ 524 h 530"/>
                <a:gd name="T22" fmla="*/ 67 w 85"/>
                <a:gd name="T23" fmla="*/ 512 h 530"/>
                <a:gd name="T24" fmla="*/ 85 w 85"/>
                <a:gd name="T25" fmla="*/ 27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34" name="Freeform 57"/>
            <p:cNvSpPr>
              <a:spLocks/>
            </p:cNvSpPr>
            <p:nvPr/>
          </p:nvSpPr>
          <p:spPr bwMode="auto">
            <a:xfrm>
              <a:off x="6412012" y="4905936"/>
              <a:ext cx="42892" cy="295064"/>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35" name="Freeform 58"/>
            <p:cNvSpPr>
              <a:spLocks/>
            </p:cNvSpPr>
            <p:nvPr/>
          </p:nvSpPr>
          <p:spPr bwMode="auto">
            <a:xfrm>
              <a:off x="6454904" y="4909191"/>
              <a:ext cx="116613" cy="574941"/>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2 w 87"/>
                <a:gd name="T11" fmla="*/ 488 h 530"/>
                <a:gd name="T12" fmla="*/ 45 w 87"/>
                <a:gd name="T13" fmla="*/ 512 h 530"/>
                <a:gd name="T14" fmla="*/ 47 w 87"/>
                <a:gd name="T15" fmla="*/ 520 h 530"/>
                <a:gd name="T16" fmla="*/ 52 w 87"/>
                <a:gd name="T17" fmla="*/ 527 h 530"/>
                <a:gd name="T18" fmla="*/ 57 w 87"/>
                <a:gd name="T19" fmla="*/ 530 h 530"/>
                <a:gd name="T20" fmla="*/ 62 w 87"/>
                <a:gd name="T21" fmla="*/ 524 h 530"/>
                <a:gd name="T22" fmla="*/ 66 w 87"/>
                <a:gd name="T23" fmla="*/ 512 h 530"/>
                <a:gd name="T24" fmla="*/ 87 w 87"/>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36" name="Freeform 59"/>
            <p:cNvSpPr>
              <a:spLocks/>
            </p:cNvSpPr>
            <p:nvPr/>
          </p:nvSpPr>
          <p:spPr bwMode="auto">
            <a:xfrm>
              <a:off x="6568836" y="4901598"/>
              <a:ext cx="45573" cy="295064"/>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37" name="Freeform 60"/>
            <p:cNvSpPr>
              <a:spLocks/>
            </p:cNvSpPr>
            <p:nvPr/>
          </p:nvSpPr>
          <p:spPr bwMode="auto">
            <a:xfrm>
              <a:off x="6614409" y="4904852"/>
              <a:ext cx="113931" cy="574941"/>
            </a:xfrm>
            <a:custGeom>
              <a:avLst/>
              <a:gdLst>
                <a:gd name="T0" fmla="*/ 0 w 85"/>
                <a:gd name="T1" fmla="*/ 0 h 530"/>
                <a:gd name="T2" fmla="*/ 7 w 85"/>
                <a:gd name="T3" fmla="*/ 3 h 530"/>
                <a:gd name="T4" fmla="*/ 12 w 85"/>
                <a:gd name="T5" fmla="*/ 12 h 530"/>
                <a:gd name="T6" fmla="*/ 13 w 85"/>
                <a:gd name="T7" fmla="*/ 25 h 530"/>
                <a:gd name="T8" fmla="*/ 15 w 85"/>
                <a:gd name="T9" fmla="*/ 44 h 530"/>
                <a:gd name="T10" fmla="*/ 42 w 85"/>
                <a:gd name="T11" fmla="*/ 488 h 530"/>
                <a:gd name="T12" fmla="*/ 44 w 85"/>
                <a:gd name="T13" fmla="*/ 512 h 530"/>
                <a:gd name="T14" fmla="*/ 46 w 85"/>
                <a:gd name="T15" fmla="*/ 520 h 530"/>
                <a:gd name="T16" fmla="*/ 52 w 85"/>
                <a:gd name="T17" fmla="*/ 527 h 530"/>
                <a:gd name="T18" fmla="*/ 56 w 85"/>
                <a:gd name="T19" fmla="*/ 530 h 530"/>
                <a:gd name="T20" fmla="*/ 62 w 85"/>
                <a:gd name="T21" fmla="*/ 524 h 530"/>
                <a:gd name="T22" fmla="*/ 65 w 85"/>
                <a:gd name="T23" fmla="*/ 512 h 530"/>
                <a:gd name="T24" fmla="*/ 85 w 85"/>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38" name="Group 61"/>
            <p:cNvGrpSpPr>
              <a:grpSpLocks/>
            </p:cNvGrpSpPr>
            <p:nvPr/>
          </p:nvGrpSpPr>
          <p:grpSpPr bwMode="auto">
            <a:xfrm>
              <a:off x="6726970" y="4901599"/>
              <a:ext cx="159503" cy="579281"/>
              <a:chOff x="4190" y="2269"/>
              <a:chExt cx="119" cy="713"/>
            </a:xfrm>
          </p:grpSpPr>
          <p:sp>
            <p:nvSpPr>
              <p:cNvPr id="640" name="Freeform 62"/>
              <p:cNvSpPr>
                <a:spLocks/>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41" name="Freeform 63"/>
              <p:cNvSpPr>
                <a:spLocks/>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39" name="Freeform 64"/>
            <p:cNvSpPr>
              <a:spLocks/>
            </p:cNvSpPr>
            <p:nvPr/>
          </p:nvSpPr>
          <p:spPr bwMode="auto">
            <a:xfrm>
              <a:off x="5615832" y="4905936"/>
              <a:ext cx="44232" cy="295064"/>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40" name="Freeform 65"/>
            <p:cNvSpPr>
              <a:spLocks/>
            </p:cNvSpPr>
            <p:nvPr/>
          </p:nvSpPr>
          <p:spPr bwMode="auto">
            <a:xfrm>
              <a:off x="5660064" y="4909191"/>
              <a:ext cx="119293" cy="574941"/>
            </a:xfrm>
            <a:custGeom>
              <a:avLst/>
              <a:gdLst>
                <a:gd name="T0" fmla="*/ 0 w 89"/>
                <a:gd name="T1" fmla="*/ 0 h 530"/>
                <a:gd name="T2" fmla="*/ 7 w 89"/>
                <a:gd name="T3" fmla="*/ 3 h 530"/>
                <a:gd name="T4" fmla="*/ 12 w 89"/>
                <a:gd name="T5" fmla="*/ 12 h 530"/>
                <a:gd name="T6" fmla="*/ 14 w 89"/>
                <a:gd name="T7" fmla="*/ 25 h 530"/>
                <a:gd name="T8" fmla="*/ 15 w 89"/>
                <a:gd name="T9" fmla="*/ 44 h 530"/>
                <a:gd name="T10" fmla="*/ 43 w 89"/>
                <a:gd name="T11" fmla="*/ 488 h 530"/>
                <a:gd name="T12" fmla="*/ 45 w 89"/>
                <a:gd name="T13" fmla="*/ 512 h 530"/>
                <a:gd name="T14" fmla="*/ 47 w 89"/>
                <a:gd name="T15" fmla="*/ 520 h 530"/>
                <a:gd name="T16" fmla="*/ 53 w 89"/>
                <a:gd name="T17" fmla="*/ 527 h 530"/>
                <a:gd name="T18" fmla="*/ 57 w 89"/>
                <a:gd name="T19" fmla="*/ 530 h 530"/>
                <a:gd name="T20" fmla="*/ 63 w 89"/>
                <a:gd name="T21" fmla="*/ 524 h 530"/>
                <a:gd name="T22" fmla="*/ 67 w 89"/>
                <a:gd name="T23" fmla="*/ 512 h 530"/>
                <a:gd name="T24" fmla="*/ 89 w 89"/>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41" name="Freeform 66"/>
            <p:cNvSpPr>
              <a:spLocks/>
            </p:cNvSpPr>
            <p:nvPr/>
          </p:nvSpPr>
          <p:spPr bwMode="auto">
            <a:xfrm>
              <a:off x="5775336" y="4905936"/>
              <a:ext cx="42892" cy="295064"/>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42" name="Freeform 67"/>
            <p:cNvSpPr>
              <a:spLocks/>
            </p:cNvSpPr>
            <p:nvPr/>
          </p:nvSpPr>
          <p:spPr bwMode="auto">
            <a:xfrm>
              <a:off x="5818228" y="4909191"/>
              <a:ext cx="113931" cy="574941"/>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43" name="Freeform 68"/>
            <p:cNvSpPr>
              <a:spLocks/>
            </p:cNvSpPr>
            <p:nvPr/>
          </p:nvSpPr>
          <p:spPr bwMode="auto">
            <a:xfrm>
              <a:off x="5932160" y="4901598"/>
              <a:ext cx="45573" cy="295064"/>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44" name="Freeform 69"/>
            <p:cNvSpPr>
              <a:spLocks/>
            </p:cNvSpPr>
            <p:nvPr/>
          </p:nvSpPr>
          <p:spPr bwMode="auto">
            <a:xfrm>
              <a:off x="5977732" y="4904852"/>
              <a:ext cx="115272" cy="574941"/>
            </a:xfrm>
            <a:custGeom>
              <a:avLst/>
              <a:gdLst>
                <a:gd name="T0" fmla="*/ 0 w 86"/>
                <a:gd name="T1" fmla="*/ 0 h 530"/>
                <a:gd name="T2" fmla="*/ 7 w 86"/>
                <a:gd name="T3" fmla="*/ 3 h 530"/>
                <a:gd name="T4" fmla="*/ 12 w 86"/>
                <a:gd name="T5" fmla="*/ 12 h 530"/>
                <a:gd name="T6" fmla="*/ 13 w 86"/>
                <a:gd name="T7" fmla="*/ 25 h 530"/>
                <a:gd name="T8" fmla="*/ 15 w 86"/>
                <a:gd name="T9" fmla="*/ 44 h 530"/>
                <a:gd name="T10" fmla="*/ 42 w 86"/>
                <a:gd name="T11" fmla="*/ 488 h 530"/>
                <a:gd name="T12" fmla="*/ 44 w 86"/>
                <a:gd name="T13" fmla="*/ 512 h 530"/>
                <a:gd name="T14" fmla="*/ 46 w 86"/>
                <a:gd name="T15" fmla="*/ 520 h 530"/>
                <a:gd name="T16" fmla="*/ 52 w 86"/>
                <a:gd name="T17" fmla="*/ 527 h 530"/>
                <a:gd name="T18" fmla="*/ 56 w 86"/>
                <a:gd name="T19" fmla="*/ 530 h 530"/>
                <a:gd name="T20" fmla="*/ 62 w 86"/>
                <a:gd name="T21" fmla="*/ 524 h 530"/>
                <a:gd name="T22" fmla="*/ 65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45" name="Group 70"/>
            <p:cNvGrpSpPr>
              <a:grpSpLocks/>
            </p:cNvGrpSpPr>
            <p:nvPr/>
          </p:nvGrpSpPr>
          <p:grpSpPr bwMode="auto">
            <a:xfrm>
              <a:off x="6090349" y="4901599"/>
              <a:ext cx="159506" cy="579281"/>
              <a:chOff x="3715" y="2269"/>
              <a:chExt cx="119" cy="713"/>
            </a:xfrm>
          </p:grpSpPr>
          <p:sp>
            <p:nvSpPr>
              <p:cNvPr id="638" name="Freeform 71"/>
              <p:cNvSpPr>
                <a:spLocks/>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39" name="Freeform 72"/>
              <p:cNvSpPr>
                <a:spLocks/>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46" name="Freeform 73"/>
            <p:cNvSpPr>
              <a:spLocks/>
            </p:cNvSpPr>
            <p:nvPr/>
          </p:nvSpPr>
          <p:spPr bwMode="auto">
            <a:xfrm>
              <a:off x="4967092" y="4905936"/>
              <a:ext cx="44232" cy="295064"/>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47" name="Freeform 74"/>
            <p:cNvSpPr>
              <a:spLocks/>
            </p:cNvSpPr>
            <p:nvPr/>
          </p:nvSpPr>
          <p:spPr bwMode="auto">
            <a:xfrm>
              <a:off x="5011324" y="4909191"/>
              <a:ext cx="116612" cy="574941"/>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76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48" name="Freeform 75"/>
            <p:cNvSpPr>
              <a:spLocks/>
            </p:cNvSpPr>
            <p:nvPr/>
          </p:nvSpPr>
          <p:spPr bwMode="auto">
            <a:xfrm>
              <a:off x="5126596" y="4905936"/>
              <a:ext cx="42892" cy="295064"/>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49" name="Freeform 76"/>
            <p:cNvSpPr>
              <a:spLocks/>
            </p:cNvSpPr>
            <p:nvPr/>
          </p:nvSpPr>
          <p:spPr bwMode="auto">
            <a:xfrm>
              <a:off x="5169488" y="4909191"/>
              <a:ext cx="115272" cy="574941"/>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50" name="Freeform 77"/>
            <p:cNvSpPr>
              <a:spLocks/>
            </p:cNvSpPr>
            <p:nvPr/>
          </p:nvSpPr>
          <p:spPr bwMode="auto">
            <a:xfrm>
              <a:off x="5284760" y="4901598"/>
              <a:ext cx="44232" cy="295064"/>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51" name="Freeform 78"/>
            <p:cNvSpPr>
              <a:spLocks/>
            </p:cNvSpPr>
            <p:nvPr/>
          </p:nvSpPr>
          <p:spPr bwMode="auto">
            <a:xfrm>
              <a:off x="5328992" y="4904852"/>
              <a:ext cx="116613" cy="574941"/>
            </a:xfrm>
            <a:custGeom>
              <a:avLst/>
              <a:gdLst>
                <a:gd name="T0" fmla="*/ 0 w 87"/>
                <a:gd name="T1" fmla="*/ 0 h 530"/>
                <a:gd name="T2" fmla="*/ 7 w 87"/>
                <a:gd name="T3" fmla="*/ 3 h 530"/>
                <a:gd name="T4" fmla="*/ 12 w 87"/>
                <a:gd name="T5" fmla="*/ 12 h 530"/>
                <a:gd name="T6" fmla="*/ 13 w 87"/>
                <a:gd name="T7" fmla="*/ 25 h 530"/>
                <a:gd name="T8" fmla="*/ 15 w 87"/>
                <a:gd name="T9" fmla="*/ 44 h 530"/>
                <a:gd name="T10" fmla="*/ 42 w 87"/>
                <a:gd name="T11" fmla="*/ 488 h 530"/>
                <a:gd name="T12" fmla="*/ 44 w 87"/>
                <a:gd name="T13" fmla="*/ 512 h 530"/>
                <a:gd name="T14" fmla="*/ 46 w 87"/>
                <a:gd name="T15" fmla="*/ 520 h 530"/>
                <a:gd name="T16" fmla="*/ 52 w 87"/>
                <a:gd name="T17" fmla="*/ 527 h 530"/>
                <a:gd name="T18" fmla="*/ 56 w 87"/>
                <a:gd name="T19" fmla="*/ 530 h 530"/>
                <a:gd name="T20" fmla="*/ 62 w 87"/>
                <a:gd name="T21" fmla="*/ 524 h 530"/>
                <a:gd name="T22" fmla="*/ 65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52" name="Freeform 79"/>
            <p:cNvSpPr>
              <a:spLocks/>
            </p:cNvSpPr>
            <p:nvPr/>
          </p:nvSpPr>
          <p:spPr bwMode="auto">
            <a:xfrm>
              <a:off x="5441583" y="4901598"/>
              <a:ext cx="46913" cy="295064"/>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53" name="Freeform 80"/>
            <p:cNvSpPr>
              <a:spLocks/>
            </p:cNvSpPr>
            <p:nvPr/>
          </p:nvSpPr>
          <p:spPr bwMode="auto">
            <a:xfrm>
              <a:off x="5488497" y="4904852"/>
              <a:ext cx="125995" cy="574941"/>
            </a:xfrm>
            <a:custGeom>
              <a:avLst/>
              <a:gdLst>
                <a:gd name="T0" fmla="*/ 0 w 94"/>
                <a:gd name="T1" fmla="*/ 0 h 530"/>
                <a:gd name="T2" fmla="*/ 7 w 94"/>
                <a:gd name="T3" fmla="*/ 3 h 530"/>
                <a:gd name="T4" fmla="*/ 12 w 94"/>
                <a:gd name="T5" fmla="*/ 12 h 530"/>
                <a:gd name="T6" fmla="*/ 13 w 94"/>
                <a:gd name="T7" fmla="*/ 25 h 530"/>
                <a:gd name="T8" fmla="*/ 15 w 94"/>
                <a:gd name="T9" fmla="*/ 44 h 530"/>
                <a:gd name="T10" fmla="*/ 42 w 94"/>
                <a:gd name="T11" fmla="*/ 488 h 530"/>
                <a:gd name="T12" fmla="*/ 44 w 94"/>
                <a:gd name="T13" fmla="*/ 512 h 530"/>
                <a:gd name="T14" fmla="*/ 46 w 94"/>
                <a:gd name="T15" fmla="*/ 520 h 530"/>
                <a:gd name="T16" fmla="*/ 52 w 94"/>
                <a:gd name="T17" fmla="*/ 527 h 530"/>
                <a:gd name="T18" fmla="*/ 56 w 94"/>
                <a:gd name="T19" fmla="*/ 530 h 530"/>
                <a:gd name="T20" fmla="*/ 62 w 94"/>
                <a:gd name="T21" fmla="*/ 524 h 530"/>
                <a:gd name="T22" fmla="*/ 65 w 94"/>
                <a:gd name="T23" fmla="*/ 512 h 530"/>
                <a:gd name="T24" fmla="*/ 94 w 94"/>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55" name="Group 86"/>
            <p:cNvGrpSpPr>
              <a:grpSpLocks/>
            </p:cNvGrpSpPr>
            <p:nvPr/>
          </p:nvGrpSpPr>
          <p:grpSpPr bwMode="auto">
            <a:xfrm>
              <a:off x="3696419" y="4903767"/>
              <a:ext cx="638017" cy="579280"/>
              <a:chOff x="1929" y="2272"/>
              <a:chExt cx="476" cy="713"/>
            </a:xfrm>
          </p:grpSpPr>
          <p:grpSp>
            <p:nvGrpSpPr>
              <p:cNvPr id="628" name="Group 87"/>
              <p:cNvGrpSpPr>
                <a:grpSpLocks/>
              </p:cNvGrpSpPr>
              <p:nvPr/>
            </p:nvGrpSpPr>
            <p:grpSpPr bwMode="auto">
              <a:xfrm>
                <a:off x="1929" y="2272"/>
                <a:ext cx="238" cy="713"/>
                <a:chOff x="1929" y="2272"/>
                <a:chExt cx="238" cy="713"/>
              </a:xfrm>
            </p:grpSpPr>
            <p:sp>
              <p:nvSpPr>
                <p:cNvPr id="632" name="Freeform 88"/>
                <p:cNvSpPr>
                  <a:spLocks/>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33" name="Freeform 89"/>
                <p:cNvSpPr>
                  <a:spLocks/>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629" name="Group 90"/>
              <p:cNvGrpSpPr>
                <a:grpSpLocks/>
              </p:cNvGrpSpPr>
              <p:nvPr/>
            </p:nvGrpSpPr>
            <p:grpSpPr bwMode="auto">
              <a:xfrm>
                <a:off x="2169" y="2272"/>
                <a:ext cx="236" cy="713"/>
                <a:chOff x="2169" y="2272"/>
                <a:chExt cx="236" cy="713"/>
              </a:xfrm>
            </p:grpSpPr>
            <p:sp>
              <p:nvSpPr>
                <p:cNvPr id="630" name="Freeform 91"/>
                <p:cNvSpPr>
                  <a:spLocks/>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31" name="Freeform 92"/>
                <p:cNvSpPr>
                  <a:spLocks/>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sp>
          <p:nvSpPr>
            <p:cNvPr id="556" name="Freeform 93"/>
            <p:cNvSpPr>
              <a:spLocks/>
            </p:cNvSpPr>
            <p:nvPr/>
          </p:nvSpPr>
          <p:spPr bwMode="auto">
            <a:xfrm>
              <a:off x="4331755" y="4899428"/>
              <a:ext cx="91145" cy="318930"/>
            </a:xfrm>
            <a:custGeom>
              <a:avLst/>
              <a:gdLst>
                <a:gd name="T0" fmla="*/ 0 w 68"/>
                <a:gd name="T1" fmla="*/ 294 h 294"/>
                <a:gd name="T2" fmla="*/ 43 w 68"/>
                <a:gd name="T3" fmla="*/ 40 h 294"/>
                <a:gd name="T4" fmla="*/ 45 w 68"/>
                <a:gd name="T5" fmla="*/ 28 h 294"/>
                <a:gd name="T6" fmla="*/ 47 w 68"/>
                <a:gd name="T7" fmla="*/ 19 h 294"/>
                <a:gd name="T8" fmla="*/ 51 w 68"/>
                <a:gd name="T9" fmla="*/ 11 h 294"/>
                <a:gd name="T10" fmla="*/ 58 w 68"/>
                <a:gd name="T11" fmla="*/ 4 h 294"/>
                <a:gd name="T12" fmla="*/ 68 w 68"/>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68" h="294">
                  <a:moveTo>
                    <a:pt x="0" y="294"/>
                  </a:moveTo>
                  <a:lnTo>
                    <a:pt x="43" y="40"/>
                  </a:lnTo>
                  <a:lnTo>
                    <a:pt x="45" y="28"/>
                  </a:lnTo>
                  <a:lnTo>
                    <a:pt x="47" y="19"/>
                  </a:lnTo>
                  <a:lnTo>
                    <a:pt x="51" y="11"/>
                  </a:lnTo>
                  <a:lnTo>
                    <a:pt x="58" y="4"/>
                  </a:lnTo>
                  <a:lnTo>
                    <a:pt x="68"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57" name="Freeform 94"/>
            <p:cNvSpPr>
              <a:spLocks/>
            </p:cNvSpPr>
            <p:nvPr/>
          </p:nvSpPr>
          <p:spPr bwMode="auto">
            <a:xfrm>
              <a:off x="4425582" y="4902682"/>
              <a:ext cx="225182" cy="576026"/>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58" name="Freeform 95"/>
            <p:cNvSpPr>
              <a:spLocks/>
            </p:cNvSpPr>
            <p:nvPr/>
          </p:nvSpPr>
          <p:spPr bwMode="auto">
            <a:xfrm>
              <a:off x="4649424" y="4899428"/>
              <a:ext cx="95166" cy="315675"/>
            </a:xfrm>
            <a:custGeom>
              <a:avLst/>
              <a:gdLst>
                <a:gd name="T0" fmla="*/ 0 w 71"/>
                <a:gd name="T1" fmla="*/ 291 h 291"/>
                <a:gd name="T2" fmla="*/ 45 w 71"/>
                <a:gd name="T3" fmla="*/ 40 h 291"/>
                <a:gd name="T4" fmla="*/ 48 w 71"/>
                <a:gd name="T5" fmla="*/ 28 h 291"/>
                <a:gd name="T6" fmla="*/ 50 w 71"/>
                <a:gd name="T7" fmla="*/ 19 h 291"/>
                <a:gd name="T8" fmla="*/ 53 w 71"/>
                <a:gd name="T9" fmla="*/ 11 h 291"/>
                <a:gd name="T10" fmla="*/ 61 w 71"/>
                <a:gd name="T11" fmla="*/ 4 h 291"/>
                <a:gd name="T12" fmla="*/ 71 w 71"/>
                <a:gd name="T13" fmla="*/ 0 h 291"/>
              </a:gdLst>
              <a:ahLst/>
              <a:cxnLst>
                <a:cxn ang="0">
                  <a:pos x="T0" y="T1"/>
                </a:cxn>
                <a:cxn ang="0">
                  <a:pos x="T2" y="T3"/>
                </a:cxn>
                <a:cxn ang="0">
                  <a:pos x="T4" y="T5"/>
                </a:cxn>
                <a:cxn ang="0">
                  <a:pos x="T6" y="T7"/>
                </a:cxn>
                <a:cxn ang="0">
                  <a:pos x="T8" y="T9"/>
                </a:cxn>
                <a:cxn ang="0">
                  <a:pos x="T10" y="T11"/>
                </a:cxn>
                <a:cxn ang="0">
                  <a:pos x="T12" y="T13"/>
                </a:cxn>
              </a:cxnLst>
              <a:rect l="0" t="0" r="r" b="b"/>
              <a:pathLst>
                <a:path w="71" h="291">
                  <a:moveTo>
                    <a:pt x="0" y="291"/>
                  </a:moveTo>
                  <a:lnTo>
                    <a:pt x="45" y="40"/>
                  </a:lnTo>
                  <a:lnTo>
                    <a:pt x="48" y="28"/>
                  </a:lnTo>
                  <a:lnTo>
                    <a:pt x="50" y="19"/>
                  </a:lnTo>
                  <a:lnTo>
                    <a:pt x="53" y="11"/>
                  </a:lnTo>
                  <a:lnTo>
                    <a:pt x="61" y="4"/>
                  </a:lnTo>
                  <a:lnTo>
                    <a:pt x="71"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59" name="Freeform 96"/>
            <p:cNvSpPr>
              <a:spLocks/>
            </p:cNvSpPr>
            <p:nvPr/>
          </p:nvSpPr>
          <p:spPr bwMode="auto">
            <a:xfrm>
              <a:off x="4747271" y="4902682"/>
              <a:ext cx="219821" cy="574941"/>
            </a:xfrm>
            <a:custGeom>
              <a:avLst/>
              <a:gdLst>
                <a:gd name="T0" fmla="*/ 0 w 164"/>
                <a:gd name="T1" fmla="*/ 0 h 530"/>
                <a:gd name="T2" fmla="*/ 14 w 164"/>
                <a:gd name="T3" fmla="*/ 3 h 530"/>
                <a:gd name="T4" fmla="*/ 24 w 164"/>
                <a:gd name="T5" fmla="*/ 12 h 530"/>
                <a:gd name="T6" fmla="*/ 27 w 164"/>
                <a:gd name="T7" fmla="*/ 25 h 530"/>
                <a:gd name="T8" fmla="*/ 30 w 164"/>
                <a:gd name="T9" fmla="*/ 44 h 530"/>
                <a:gd name="T10" fmla="*/ 84 w 164"/>
                <a:gd name="T11" fmla="*/ 488 h 530"/>
                <a:gd name="T12" fmla="*/ 89 w 164"/>
                <a:gd name="T13" fmla="*/ 512 h 530"/>
                <a:gd name="T14" fmla="*/ 93 w 164"/>
                <a:gd name="T15" fmla="*/ 520 h 530"/>
                <a:gd name="T16" fmla="*/ 104 w 164"/>
                <a:gd name="T17" fmla="*/ 527 h 530"/>
                <a:gd name="T18" fmla="*/ 113 w 164"/>
                <a:gd name="T19" fmla="*/ 530 h 530"/>
                <a:gd name="T20" fmla="*/ 124 w 164"/>
                <a:gd name="T21" fmla="*/ 524 h 530"/>
                <a:gd name="T22" fmla="*/ 132 w 164"/>
                <a:gd name="T23" fmla="*/ 512 h 530"/>
                <a:gd name="T24" fmla="*/ 164 w 164"/>
                <a:gd name="T25" fmla="*/ 282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60" name="Freeform 97"/>
            <p:cNvSpPr>
              <a:spLocks/>
            </p:cNvSpPr>
            <p:nvPr/>
          </p:nvSpPr>
          <p:spPr bwMode="auto">
            <a:xfrm>
              <a:off x="6889184" y="4905936"/>
              <a:ext cx="87125" cy="295064"/>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61" name="Freeform 98"/>
            <p:cNvSpPr>
              <a:spLocks/>
            </p:cNvSpPr>
            <p:nvPr/>
          </p:nvSpPr>
          <p:spPr bwMode="auto">
            <a:xfrm>
              <a:off x="6977650" y="4909191"/>
              <a:ext cx="233225" cy="574941"/>
            </a:xfrm>
            <a:custGeom>
              <a:avLst/>
              <a:gdLst>
                <a:gd name="T0" fmla="*/ 0 w 174"/>
                <a:gd name="T1" fmla="*/ 0 h 530"/>
                <a:gd name="T2" fmla="*/ 14 w 174"/>
                <a:gd name="T3" fmla="*/ 3 h 530"/>
                <a:gd name="T4" fmla="*/ 24 w 174"/>
                <a:gd name="T5" fmla="*/ 12 h 530"/>
                <a:gd name="T6" fmla="*/ 28 w 174"/>
                <a:gd name="T7" fmla="*/ 25 h 530"/>
                <a:gd name="T8" fmla="*/ 31 w 174"/>
                <a:gd name="T9" fmla="*/ 44 h 530"/>
                <a:gd name="T10" fmla="*/ 86 w 174"/>
                <a:gd name="T11" fmla="*/ 488 h 530"/>
                <a:gd name="T12" fmla="*/ 91 w 174"/>
                <a:gd name="T13" fmla="*/ 512 h 530"/>
                <a:gd name="T14" fmla="*/ 95 w 174"/>
                <a:gd name="T15" fmla="*/ 520 h 530"/>
                <a:gd name="T16" fmla="*/ 106 w 174"/>
                <a:gd name="T17" fmla="*/ 527 h 530"/>
                <a:gd name="T18" fmla="*/ 115 w 174"/>
                <a:gd name="T19" fmla="*/ 530 h 530"/>
                <a:gd name="T20" fmla="*/ 127 w 174"/>
                <a:gd name="T21" fmla="*/ 524 h 530"/>
                <a:gd name="T22" fmla="*/ 135 w 174"/>
                <a:gd name="T23" fmla="*/ 512 h 530"/>
                <a:gd name="T24" fmla="*/ 174 w 174"/>
                <a:gd name="T25" fmla="*/ 26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62" name="Freeform 99"/>
            <p:cNvSpPr>
              <a:spLocks/>
            </p:cNvSpPr>
            <p:nvPr/>
          </p:nvSpPr>
          <p:spPr bwMode="auto">
            <a:xfrm>
              <a:off x="7210873" y="4905936"/>
              <a:ext cx="85784" cy="295064"/>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63" name="Freeform 100"/>
            <p:cNvSpPr>
              <a:spLocks/>
            </p:cNvSpPr>
            <p:nvPr/>
          </p:nvSpPr>
          <p:spPr bwMode="auto">
            <a:xfrm>
              <a:off x="7297999" y="4909191"/>
              <a:ext cx="234564" cy="574941"/>
            </a:xfrm>
            <a:custGeom>
              <a:avLst/>
              <a:gdLst>
                <a:gd name="T0" fmla="*/ 0 w 175"/>
                <a:gd name="T1" fmla="*/ 0 h 530"/>
                <a:gd name="T2" fmla="*/ 14 w 175"/>
                <a:gd name="T3" fmla="*/ 3 h 530"/>
                <a:gd name="T4" fmla="*/ 24 w 175"/>
                <a:gd name="T5" fmla="*/ 12 h 530"/>
                <a:gd name="T6" fmla="*/ 28 w 175"/>
                <a:gd name="T7" fmla="*/ 25 h 530"/>
                <a:gd name="T8" fmla="*/ 31 w 175"/>
                <a:gd name="T9" fmla="*/ 44 h 530"/>
                <a:gd name="T10" fmla="*/ 85 w 175"/>
                <a:gd name="T11" fmla="*/ 488 h 530"/>
                <a:gd name="T12" fmla="*/ 90 w 175"/>
                <a:gd name="T13" fmla="*/ 512 h 530"/>
                <a:gd name="T14" fmla="*/ 95 w 175"/>
                <a:gd name="T15" fmla="*/ 520 h 530"/>
                <a:gd name="T16" fmla="*/ 106 w 175"/>
                <a:gd name="T17" fmla="*/ 527 h 530"/>
                <a:gd name="T18" fmla="*/ 115 w 175"/>
                <a:gd name="T19" fmla="*/ 530 h 530"/>
                <a:gd name="T20" fmla="*/ 126 w 175"/>
                <a:gd name="T21" fmla="*/ 524 h 530"/>
                <a:gd name="T22" fmla="*/ 134 w 175"/>
                <a:gd name="T23" fmla="*/ 512 h 530"/>
                <a:gd name="T24" fmla="*/ 175 w 175"/>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64" name="Freeform 101"/>
            <p:cNvSpPr>
              <a:spLocks/>
            </p:cNvSpPr>
            <p:nvPr/>
          </p:nvSpPr>
          <p:spPr bwMode="auto">
            <a:xfrm>
              <a:off x="7527201" y="4901598"/>
              <a:ext cx="89805" cy="295064"/>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65" name="Freeform 102"/>
            <p:cNvSpPr>
              <a:spLocks/>
            </p:cNvSpPr>
            <p:nvPr/>
          </p:nvSpPr>
          <p:spPr bwMode="auto">
            <a:xfrm>
              <a:off x="7618346" y="4904852"/>
              <a:ext cx="227863" cy="574941"/>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66" name="Group 103"/>
            <p:cNvGrpSpPr>
              <a:grpSpLocks/>
            </p:cNvGrpSpPr>
            <p:nvPr/>
          </p:nvGrpSpPr>
          <p:grpSpPr bwMode="auto">
            <a:xfrm>
              <a:off x="7846246" y="4901599"/>
              <a:ext cx="319010" cy="579281"/>
              <a:chOff x="5025" y="2269"/>
              <a:chExt cx="238" cy="713"/>
            </a:xfrm>
          </p:grpSpPr>
          <p:sp>
            <p:nvSpPr>
              <p:cNvPr id="626" name="Freeform 104"/>
              <p:cNvSpPr>
                <a:spLocks/>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27" name="Freeform 105"/>
              <p:cNvSpPr>
                <a:spLocks/>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grpSp>
        <p:nvGrpSpPr>
          <p:cNvPr id="14" name="组合 13"/>
          <p:cNvGrpSpPr/>
          <p:nvPr/>
        </p:nvGrpSpPr>
        <p:grpSpPr>
          <a:xfrm>
            <a:off x="2412246" y="5708110"/>
            <a:ext cx="656785" cy="579285"/>
            <a:chOff x="2412246" y="5697836"/>
            <a:chExt cx="656785" cy="579285"/>
          </a:xfrm>
        </p:grpSpPr>
        <p:sp>
          <p:nvSpPr>
            <p:cNvPr id="568" name="Freeform 109"/>
            <p:cNvSpPr>
              <a:spLocks/>
            </p:cNvSpPr>
            <p:nvPr/>
          </p:nvSpPr>
          <p:spPr bwMode="auto">
            <a:xfrm>
              <a:off x="2731257" y="5697836"/>
              <a:ext cx="88464" cy="295064"/>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67" name="Group 106"/>
            <p:cNvGrpSpPr>
              <a:grpSpLocks/>
            </p:cNvGrpSpPr>
            <p:nvPr/>
          </p:nvGrpSpPr>
          <p:grpSpPr bwMode="auto">
            <a:xfrm>
              <a:off x="2412246" y="5697840"/>
              <a:ext cx="317667" cy="579281"/>
              <a:chOff x="944" y="3250"/>
              <a:chExt cx="237" cy="713"/>
            </a:xfrm>
          </p:grpSpPr>
          <p:sp>
            <p:nvSpPr>
              <p:cNvPr id="624" name="Freeform 107"/>
              <p:cNvSpPr>
                <a:spLocks/>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25" name="Freeform 108"/>
              <p:cNvSpPr>
                <a:spLocks/>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69" name="Freeform 110"/>
            <p:cNvSpPr>
              <a:spLocks/>
            </p:cNvSpPr>
            <p:nvPr/>
          </p:nvSpPr>
          <p:spPr bwMode="auto">
            <a:xfrm>
              <a:off x="2821062" y="5700006"/>
              <a:ext cx="247969" cy="576026"/>
            </a:xfrm>
            <a:custGeom>
              <a:avLst/>
              <a:gdLst>
                <a:gd name="T0" fmla="*/ 0 w 185"/>
                <a:gd name="T1" fmla="*/ 1 h 531"/>
                <a:gd name="T2" fmla="*/ 8 w 185"/>
                <a:gd name="T3" fmla="*/ 0 h 531"/>
                <a:gd name="T4" fmla="*/ 24 w 185"/>
                <a:gd name="T5" fmla="*/ 13 h 531"/>
                <a:gd name="T6" fmla="*/ 28 w 185"/>
                <a:gd name="T7" fmla="*/ 26 h 531"/>
                <a:gd name="T8" fmla="*/ 31 w 185"/>
                <a:gd name="T9" fmla="*/ 45 h 531"/>
                <a:gd name="T10" fmla="*/ 85 w 185"/>
                <a:gd name="T11" fmla="*/ 489 h 531"/>
                <a:gd name="T12" fmla="*/ 90 w 185"/>
                <a:gd name="T13" fmla="*/ 513 h 531"/>
                <a:gd name="T14" fmla="*/ 95 w 185"/>
                <a:gd name="T15" fmla="*/ 521 h 531"/>
                <a:gd name="T16" fmla="*/ 106 w 185"/>
                <a:gd name="T17" fmla="*/ 528 h 531"/>
                <a:gd name="T18" fmla="*/ 115 w 185"/>
                <a:gd name="T19" fmla="*/ 531 h 531"/>
                <a:gd name="T20" fmla="*/ 126 w 185"/>
                <a:gd name="T21" fmla="*/ 525 h 531"/>
                <a:gd name="T22" fmla="*/ 134 w 185"/>
                <a:gd name="T23" fmla="*/ 513 h 531"/>
                <a:gd name="T24" fmla="*/ 185 w 185"/>
                <a:gd name="T25" fmla="*/ 258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15" name="组合 14"/>
          <p:cNvGrpSpPr/>
          <p:nvPr/>
        </p:nvGrpSpPr>
        <p:grpSpPr>
          <a:xfrm>
            <a:off x="3071707" y="5697836"/>
            <a:ext cx="652766" cy="579284"/>
            <a:chOff x="3071707" y="5697836"/>
            <a:chExt cx="652766" cy="579284"/>
          </a:xfrm>
        </p:grpSpPr>
        <p:grpSp>
          <p:nvGrpSpPr>
            <p:cNvPr id="570" name="Group 111"/>
            <p:cNvGrpSpPr>
              <a:grpSpLocks/>
            </p:cNvGrpSpPr>
            <p:nvPr/>
          </p:nvGrpSpPr>
          <p:grpSpPr bwMode="auto">
            <a:xfrm>
              <a:off x="3071707" y="5697839"/>
              <a:ext cx="317667" cy="579281"/>
              <a:chOff x="1436" y="3250"/>
              <a:chExt cx="237" cy="713"/>
            </a:xfrm>
          </p:grpSpPr>
          <p:sp>
            <p:nvSpPr>
              <p:cNvPr id="622" name="Freeform 112"/>
              <p:cNvSpPr>
                <a:spLocks/>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0"/>
                    </a:moveTo>
                    <a:lnTo>
                      <a:pt x="40" y="308"/>
                    </a:lnTo>
                    <a:lnTo>
                      <a:pt x="42" y="324"/>
                    </a:lnTo>
                    <a:lnTo>
                      <a:pt x="44" y="337"/>
                    </a:lnTo>
                    <a:lnTo>
                      <a:pt x="47" y="347"/>
                    </a:lnTo>
                    <a:lnTo>
                      <a:pt x="55" y="356"/>
                    </a:lnTo>
                    <a:lnTo>
                      <a:pt x="64" y="362"/>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23" name="Freeform 113"/>
              <p:cNvSpPr>
                <a:spLocks/>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71" name="Freeform 114"/>
            <p:cNvSpPr>
              <a:spLocks/>
            </p:cNvSpPr>
            <p:nvPr/>
          </p:nvSpPr>
          <p:spPr bwMode="auto">
            <a:xfrm>
              <a:off x="3390721" y="5982052"/>
              <a:ext cx="88464" cy="295064"/>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72" name="Freeform 115"/>
            <p:cNvSpPr>
              <a:spLocks/>
            </p:cNvSpPr>
            <p:nvPr/>
          </p:nvSpPr>
          <p:spPr bwMode="auto">
            <a:xfrm>
              <a:off x="3480525" y="5697836"/>
              <a:ext cx="243948" cy="574941"/>
            </a:xfrm>
            <a:custGeom>
              <a:avLst/>
              <a:gdLst>
                <a:gd name="T0" fmla="*/ 0 w 182"/>
                <a:gd name="T1" fmla="*/ 530 h 530"/>
                <a:gd name="T2" fmla="*/ 14 w 182"/>
                <a:gd name="T3" fmla="*/ 527 h 530"/>
                <a:gd name="T4" fmla="*/ 24 w 182"/>
                <a:gd name="T5" fmla="*/ 518 h 530"/>
                <a:gd name="T6" fmla="*/ 28 w 182"/>
                <a:gd name="T7" fmla="*/ 506 h 530"/>
                <a:gd name="T8" fmla="*/ 31 w 182"/>
                <a:gd name="T9" fmla="*/ 486 h 530"/>
                <a:gd name="T10" fmla="*/ 85 w 182"/>
                <a:gd name="T11" fmla="*/ 43 h 530"/>
                <a:gd name="T12" fmla="*/ 90 w 182"/>
                <a:gd name="T13" fmla="*/ 18 h 530"/>
                <a:gd name="T14" fmla="*/ 95 w 182"/>
                <a:gd name="T15" fmla="*/ 10 h 530"/>
                <a:gd name="T16" fmla="*/ 106 w 182"/>
                <a:gd name="T17" fmla="*/ 3 h 530"/>
                <a:gd name="T18" fmla="*/ 115 w 182"/>
                <a:gd name="T19" fmla="*/ 0 h 530"/>
                <a:gd name="T20" fmla="*/ 126 w 182"/>
                <a:gd name="T21" fmla="*/ 6 h 530"/>
                <a:gd name="T22" fmla="*/ 134 w 182"/>
                <a:gd name="T23" fmla="*/ 18 h 530"/>
                <a:gd name="T24" fmla="*/ 182 w 182"/>
                <a:gd name="T25" fmla="*/ 29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16" name="组合 15"/>
          <p:cNvGrpSpPr/>
          <p:nvPr/>
        </p:nvGrpSpPr>
        <p:grpSpPr>
          <a:xfrm>
            <a:off x="3732515" y="5693497"/>
            <a:ext cx="4476879" cy="595557"/>
            <a:chOff x="3732515" y="5693497"/>
            <a:chExt cx="4476879" cy="595557"/>
          </a:xfrm>
        </p:grpSpPr>
        <p:sp>
          <p:nvSpPr>
            <p:cNvPr id="573" name="Freeform 116"/>
            <p:cNvSpPr>
              <a:spLocks/>
            </p:cNvSpPr>
            <p:nvPr/>
          </p:nvSpPr>
          <p:spPr bwMode="auto">
            <a:xfrm>
              <a:off x="3732515" y="5700006"/>
              <a:ext cx="93826" cy="312421"/>
            </a:xfrm>
            <a:custGeom>
              <a:avLst/>
              <a:gdLst>
                <a:gd name="T0" fmla="*/ 0 w 70"/>
                <a:gd name="T1" fmla="*/ 288 h 288"/>
                <a:gd name="T2" fmla="*/ 46 w 70"/>
                <a:gd name="T3" fmla="*/ 40 h 288"/>
                <a:gd name="T4" fmla="*/ 48 w 70"/>
                <a:gd name="T5" fmla="*/ 28 h 288"/>
                <a:gd name="T6" fmla="*/ 50 w 70"/>
                <a:gd name="T7" fmla="*/ 19 h 288"/>
                <a:gd name="T8" fmla="*/ 53 w 70"/>
                <a:gd name="T9" fmla="*/ 11 h 288"/>
                <a:gd name="T10" fmla="*/ 61 w 70"/>
                <a:gd name="T11" fmla="*/ 4 h 288"/>
                <a:gd name="T12" fmla="*/ 70 w 70"/>
                <a:gd name="T13" fmla="*/ 0 h 288"/>
              </a:gdLst>
              <a:ahLst/>
              <a:cxnLst>
                <a:cxn ang="0">
                  <a:pos x="T0" y="T1"/>
                </a:cxn>
                <a:cxn ang="0">
                  <a:pos x="T2" y="T3"/>
                </a:cxn>
                <a:cxn ang="0">
                  <a:pos x="T4" y="T5"/>
                </a:cxn>
                <a:cxn ang="0">
                  <a:pos x="T6" y="T7"/>
                </a:cxn>
                <a:cxn ang="0">
                  <a:pos x="T8" y="T9"/>
                </a:cxn>
                <a:cxn ang="0">
                  <a:pos x="T10" y="T11"/>
                </a:cxn>
                <a:cxn ang="0">
                  <a:pos x="T12" y="T13"/>
                </a:cxn>
              </a:cxnLst>
              <a:rect l="0" t="0" r="r" b="b"/>
              <a:pathLst>
                <a:path w="70" h="288">
                  <a:moveTo>
                    <a:pt x="0" y="288"/>
                  </a:moveTo>
                  <a:lnTo>
                    <a:pt x="46" y="40"/>
                  </a:lnTo>
                  <a:lnTo>
                    <a:pt x="48" y="28"/>
                  </a:lnTo>
                  <a:lnTo>
                    <a:pt x="50" y="19"/>
                  </a:lnTo>
                  <a:lnTo>
                    <a:pt x="53" y="11"/>
                  </a:lnTo>
                  <a:lnTo>
                    <a:pt x="61" y="4"/>
                  </a:lnTo>
                  <a:lnTo>
                    <a:pt x="70"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74" name="Freeform 117"/>
            <p:cNvSpPr>
              <a:spLocks/>
            </p:cNvSpPr>
            <p:nvPr/>
          </p:nvSpPr>
          <p:spPr bwMode="auto">
            <a:xfrm>
              <a:off x="3829022" y="5701091"/>
              <a:ext cx="230544" cy="576026"/>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75" name="Freeform 118"/>
            <p:cNvSpPr>
              <a:spLocks/>
            </p:cNvSpPr>
            <p:nvPr/>
          </p:nvSpPr>
          <p:spPr bwMode="auto">
            <a:xfrm>
              <a:off x="4062247" y="5707600"/>
              <a:ext cx="85784" cy="293979"/>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76" name="Freeform 119"/>
            <p:cNvSpPr>
              <a:spLocks/>
            </p:cNvSpPr>
            <p:nvPr/>
          </p:nvSpPr>
          <p:spPr bwMode="auto">
            <a:xfrm>
              <a:off x="4152052" y="5705431"/>
              <a:ext cx="235906" cy="574941"/>
            </a:xfrm>
            <a:custGeom>
              <a:avLst/>
              <a:gdLst>
                <a:gd name="T0" fmla="*/ 0 w 176"/>
                <a:gd name="T1" fmla="*/ 0 h 708"/>
                <a:gd name="T2" fmla="*/ 15 w 176"/>
                <a:gd name="T3" fmla="*/ 4 h 708"/>
                <a:gd name="T4" fmla="*/ 25 w 176"/>
                <a:gd name="T5" fmla="*/ 16 h 708"/>
                <a:gd name="T6" fmla="*/ 28 w 176"/>
                <a:gd name="T7" fmla="*/ 33 h 708"/>
                <a:gd name="T8" fmla="*/ 32 w 176"/>
                <a:gd name="T9" fmla="*/ 59 h 708"/>
                <a:gd name="T10" fmla="*/ 88 w 176"/>
                <a:gd name="T11" fmla="*/ 650 h 708"/>
                <a:gd name="T12" fmla="*/ 93 w 176"/>
                <a:gd name="T13" fmla="*/ 683 h 708"/>
                <a:gd name="T14" fmla="*/ 97 w 176"/>
                <a:gd name="T15" fmla="*/ 693 h 708"/>
                <a:gd name="T16" fmla="*/ 109 w 176"/>
                <a:gd name="T17" fmla="*/ 703 h 708"/>
                <a:gd name="T18" fmla="*/ 118 w 176"/>
                <a:gd name="T19" fmla="*/ 707 h 708"/>
                <a:gd name="T20" fmla="*/ 130 w 176"/>
                <a:gd name="T21" fmla="*/ 699 h 708"/>
                <a:gd name="T22" fmla="*/ 138 w 176"/>
                <a:gd name="T23" fmla="*/ 683 h 708"/>
                <a:gd name="T24" fmla="*/ 175 w 176"/>
                <a:gd name="T25" fmla="*/ 379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77" name="Freeform 120"/>
            <p:cNvSpPr>
              <a:spLocks/>
            </p:cNvSpPr>
            <p:nvPr/>
          </p:nvSpPr>
          <p:spPr bwMode="auto">
            <a:xfrm>
              <a:off x="4389297" y="5711939"/>
              <a:ext cx="89805" cy="295064"/>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78" name="Freeform 121"/>
            <p:cNvSpPr>
              <a:spLocks/>
            </p:cNvSpPr>
            <p:nvPr/>
          </p:nvSpPr>
          <p:spPr bwMode="auto">
            <a:xfrm>
              <a:off x="4484464" y="5710854"/>
              <a:ext cx="225182" cy="574941"/>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79" name="Freeform 122"/>
            <p:cNvSpPr>
              <a:spLocks/>
            </p:cNvSpPr>
            <p:nvPr/>
          </p:nvSpPr>
          <p:spPr bwMode="auto">
            <a:xfrm>
              <a:off x="4710986" y="5711939"/>
              <a:ext cx="92486" cy="295064"/>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80" name="Freeform 123"/>
            <p:cNvSpPr>
              <a:spLocks/>
            </p:cNvSpPr>
            <p:nvPr/>
          </p:nvSpPr>
          <p:spPr bwMode="auto">
            <a:xfrm>
              <a:off x="4807493" y="5708685"/>
              <a:ext cx="225182" cy="576026"/>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81" name="Group 124"/>
            <p:cNvGrpSpPr>
              <a:grpSpLocks/>
            </p:cNvGrpSpPr>
            <p:nvPr/>
          </p:nvGrpSpPr>
          <p:grpSpPr bwMode="auto">
            <a:xfrm>
              <a:off x="5031346" y="5710858"/>
              <a:ext cx="314987" cy="578196"/>
              <a:chOff x="2898" y="3265"/>
              <a:chExt cx="235" cy="713"/>
            </a:xfrm>
          </p:grpSpPr>
          <p:sp>
            <p:nvSpPr>
              <p:cNvPr id="620" name="Freeform 125"/>
              <p:cNvSpPr>
                <a:spLocks/>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21" name="Freeform 126"/>
              <p:cNvSpPr>
                <a:spLocks/>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82" name="Freeform 127"/>
            <p:cNvSpPr>
              <a:spLocks/>
            </p:cNvSpPr>
            <p:nvPr/>
          </p:nvSpPr>
          <p:spPr bwMode="auto">
            <a:xfrm>
              <a:off x="5344983" y="5984223"/>
              <a:ext cx="84443" cy="295064"/>
            </a:xfrm>
            <a:custGeom>
              <a:avLst/>
              <a:gdLst>
                <a:gd name="T0" fmla="*/ 0 w 63"/>
                <a:gd name="T1" fmla="*/ 0 h 363"/>
                <a:gd name="T2" fmla="*/ 38 w 63"/>
                <a:gd name="T3" fmla="*/ 308 h 363"/>
                <a:gd name="T4" fmla="*/ 41 w 63"/>
                <a:gd name="T5" fmla="*/ 324 h 363"/>
                <a:gd name="T6" fmla="*/ 42 w 63"/>
                <a:gd name="T7" fmla="*/ 337 h 363"/>
                <a:gd name="T8" fmla="*/ 46 w 63"/>
                <a:gd name="T9" fmla="*/ 347 h 363"/>
                <a:gd name="T10" fmla="*/ 53 w 63"/>
                <a:gd name="T11" fmla="*/ 356 h 363"/>
                <a:gd name="T12" fmla="*/ 62 w 63"/>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3" h="363">
                  <a:moveTo>
                    <a:pt x="0" y="0"/>
                  </a:moveTo>
                  <a:lnTo>
                    <a:pt x="38" y="308"/>
                  </a:lnTo>
                  <a:lnTo>
                    <a:pt x="41" y="324"/>
                  </a:lnTo>
                  <a:lnTo>
                    <a:pt x="42" y="337"/>
                  </a:lnTo>
                  <a:lnTo>
                    <a:pt x="46" y="347"/>
                  </a:lnTo>
                  <a:lnTo>
                    <a:pt x="53" y="356"/>
                  </a:lnTo>
                  <a:lnTo>
                    <a:pt x="62" y="362"/>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83" name="Freeform 128"/>
            <p:cNvSpPr>
              <a:spLocks/>
            </p:cNvSpPr>
            <p:nvPr/>
          </p:nvSpPr>
          <p:spPr bwMode="auto">
            <a:xfrm>
              <a:off x="5430767" y="5710854"/>
              <a:ext cx="226523" cy="574941"/>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84" name="Group 129"/>
            <p:cNvGrpSpPr>
              <a:grpSpLocks/>
            </p:cNvGrpSpPr>
            <p:nvPr/>
          </p:nvGrpSpPr>
          <p:grpSpPr bwMode="auto">
            <a:xfrm>
              <a:off x="5657295" y="5703260"/>
              <a:ext cx="629976" cy="578195"/>
              <a:chOff x="3365" y="3256"/>
              <a:chExt cx="470" cy="713"/>
            </a:xfrm>
          </p:grpSpPr>
          <p:grpSp>
            <p:nvGrpSpPr>
              <p:cNvPr id="614" name="Group 130"/>
              <p:cNvGrpSpPr>
                <a:grpSpLocks/>
              </p:cNvGrpSpPr>
              <p:nvPr/>
            </p:nvGrpSpPr>
            <p:grpSpPr bwMode="auto">
              <a:xfrm>
                <a:off x="3365" y="3256"/>
                <a:ext cx="233" cy="713"/>
                <a:chOff x="3365" y="3256"/>
                <a:chExt cx="233" cy="713"/>
              </a:xfrm>
            </p:grpSpPr>
            <p:sp>
              <p:nvSpPr>
                <p:cNvPr id="618" name="Freeform 131"/>
                <p:cNvSpPr>
                  <a:spLocks/>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9" name="Freeform 132"/>
                <p:cNvSpPr>
                  <a:spLocks/>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615" name="Group 133"/>
              <p:cNvGrpSpPr>
                <a:grpSpLocks/>
              </p:cNvGrpSpPr>
              <p:nvPr/>
            </p:nvGrpSpPr>
            <p:grpSpPr bwMode="auto">
              <a:xfrm>
                <a:off x="3600" y="3256"/>
                <a:ext cx="235" cy="713"/>
                <a:chOff x="3600" y="3256"/>
                <a:chExt cx="235" cy="713"/>
              </a:xfrm>
            </p:grpSpPr>
            <p:sp>
              <p:nvSpPr>
                <p:cNvPr id="616" name="Freeform 134"/>
                <p:cNvSpPr>
                  <a:spLocks/>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8" h="363">
                      <a:moveTo>
                        <a:pt x="0" y="0"/>
                      </a:moveTo>
                      <a:lnTo>
                        <a:pt x="41" y="308"/>
                      </a:lnTo>
                      <a:lnTo>
                        <a:pt x="44" y="324"/>
                      </a:lnTo>
                      <a:lnTo>
                        <a:pt x="46" y="337"/>
                      </a:lnTo>
                      <a:lnTo>
                        <a:pt x="49" y="347"/>
                      </a:lnTo>
                      <a:lnTo>
                        <a:pt x="57" y="356"/>
                      </a:lnTo>
                      <a:lnTo>
                        <a:pt x="67" y="362"/>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7" name="Freeform 135"/>
                <p:cNvSpPr>
                  <a:spLocks/>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grpSp>
          <p:nvGrpSpPr>
            <p:cNvPr id="585" name="Group 136"/>
            <p:cNvGrpSpPr>
              <a:grpSpLocks/>
            </p:cNvGrpSpPr>
            <p:nvPr/>
          </p:nvGrpSpPr>
          <p:grpSpPr bwMode="auto">
            <a:xfrm>
              <a:off x="6284583" y="5695670"/>
              <a:ext cx="313647" cy="579281"/>
              <a:chOff x="3833" y="3247"/>
              <a:chExt cx="234" cy="713"/>
            </a:xfrm>
          </p:grpSpPr>
          <p:sp>
            <p:nvSpPr>
              <p:cNvPr id="612" name="Freeform 137"/>
              <p:cNvSpPr>
                <a:spLocks/>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3" name="Freeform 138"/>
              <p:cNvSpPr>
                <a:spLocks/>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86" name="Freeform 139"/>
            <p:cNvSpPr>
              <a:spLocks/>
            </p:cNvSpPr>
            <p:nvPr/>
          </p:nvSpPr>
          <p:spPr bwMode="auto">
            <a:xfrm>
              <a:off x="6599571" y="5979883"/>
              <a:ext cx="85784" cy="293980"/>
            </a:xfrm>
            <a:custGeom>
              <a:avLst/>
              <a:gdLst>
                <a:gd name="T0" fmla="*/ 0 w 64"/>
                <a:gd name="T1" fmla="*/ 0 h 271"/>
                <a:gd name="T2" fmla="*/ 40 w 64"/>
                <a:gd name="T3" fmla="*/ 231 h 271"/>
                <a:gd name="T4" fmla="*/ 42 w 64"/>
                <a:gd name="T5" fmla="*/ 243 h 271"/>
                <a:gd name="T6" fmla="*/ 44 w 64"/>
                <a:gd name="T7" fmla="*/ 253 h 271"/>
                <a:gd name="T8" fmla="*/ 55 w 64"/>
                <a:gd name="T9" fmla="*/ 267 h 271"/>
                <a:gd name="T10" fmla="*/ 64 w 64"/>
                <a:gd name="T11" fmla="*/ 271 h 271"/>
              </a:gdLst>
              <a:ahLst/>
              <a:cxnLst>
                <a:cxn ang="0">
                  <a:pos x="T0" y="T1"/>
                </a:cxn>
                <a:cxn ang="0">
                  <a:pos x="T2" y="T3"/>
                </a:cxn>
                <a:cxn ang="0">
                  <a:pos x="T4" y="T5"/>
                </a:cxn>
                <a:cxn ang="0">
                  <a:pos x="T6" y="T7"/>
                </a:cxn>
                <a:cxn ang="0">
                  <a:pos x="T8" y="T9"/>
                </a:cxn>
                <a:cxn ang="0">
                  <a:pos x="T10" y="T11"/>
                </a:cxn>
              </a:cxnLst>
              <a:rect l="0" t="0" r="r" b="b"/>
              <a:pathLst>
                <a:path w="64" h="271">
                  <a:moveTo>
                    <a:pt x="0" y="0"/>
                  </a:moveTo>
                  <a:lnTo>
                    <a:pt x="40" y="231"/>
                  </a:lnTo>
                  <a:lnTo>
                    <a:pt x="42" y="243"/>
                  </a:lnTo>
                  <a:lnTo>
                    <a:pt x="44" y="253"/>
                  </a:lnTo>
                  <a:lnTo>
                    <a:pt x="55" y="267"/>
                  </a:lnTo>
                  <a:lnTo>
                    <a:pt x="64" y="271"/>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87" name="Freeform 140"/>
            <p:cNvSpPr>
              <a:spLocks/>
            </p:cNvSpPr>
            <p:nvPr/>
          </p:nvSpPr>
          <p:spPr bwMode="auto">
            <a:xfrm>
              <a:off x="6688035" y="5695667"/>
              <a:ext cx="237245" cy="574941"/>
            </a:xfrm>
            <a:custGeom>
              <a:avLst/>
              <a:gdLst>
                <a:gd name="T0" fmla="*/ 0 w 177"/>
                <a:gd name="T1" fmla="*/ 530 h 530"/>
                <a:gd name="T2" fmla="*/ 14 w 177"/>
                <a:gd name="T3" fmla="*/ 527 h 530"/>
                <a:gd name="T4" fmla="*/ 24 w 177"/>
                <a:gd name="T5" fmla="*/ 518 h 530"/>
                <a:gd name="T6" fmla="*/ 27 w 177"/>
                <a:gd name="T7" fmla="*/ 506 h 530"/>
                <a:gd name="T8" fmla="*/ 31 w 177"/>
                <a:gd name="T9" fmla="*/ 486 h 530"/>
                <a:gd name="T10" fmla="*/ 84 w 177"/>
                <a:gd name="T11" fmla="*/ 43 h 530"/>
                <a:gd name="T12" fmla="*/ 89 w 177"/>
                <a:gd name="T13" fmla="*/ 18 h 530"/>
                <a:gd name="T14" fmla="*/ 94 w 177"/>
                <a:gd name="T15" fmla="*/ 10 h 530"/>
                <a:gd name="T16" fmla="*/ 104 w 177"/>
                <a:gd name="T17" fmla="*/ 3 h 530"/>
                <a:gd name="T18" fmla="*/ 113 w 177"/>
                <a:gd name="T19" fmla="*/ 0 h 530"/>
                <a:gd name="T20" fmla="*/ 125 w 177"/>
                <a:gd name="T21" fmla="*/ 6 h 530"/>
                <a:gd name="T22" fmla="*/ 132 w 177"/>
                <a:gd name="T23" fmla="*/ 18 h 530"/>
                <a:gd name="T24" fmla="*/ 177 w 177"/>
                <a:gd name="T25" fmla="*/ 28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88" name="Group 141"/>
            <p:cNvGrpSpPr>
              <a:grpSpLocks/>
            </p:cNvGrpSpPr>
            <p:nvPr/>
          </p:nvGrpSpPr>
          <p:grpSpPr bwMode="auto">
            <a:xfrm>
              <a:off x="6933323" y="5697836"/>
              <a:ext cx="638017" cy="579280"/>
              <a:chOff x="4317" y="3250"/>
              <a:chExt cx="476" cy="713"/>
            </a:xfrm>
          </p:grpSpPr>
          <p:grpSp>
            <p:nvGrpSpPr>
              <p:cNvPr id="606" name="Group 142"/>
              <p:cNvGrpSpPr>
                <a:grpSpLocks/>
              </p:cNvGrpSpPr>
              <p:nvPr/>
            </p:nvGrpSpPr>
            <p:grpSpPr bwMode="auto">
              <a:xfrm>
                <a:off x="4317" y="3250"/>
                <a:ext cx="238" cy="713"/>
                <a:chOff x="4317" y="3250"/>
                <a:chExt cx="238" cy="713"/>
              </a:xfrm>
            </p:grpSpPr>
            <p:sp>
              <p:nvSpPr>
                <p:cNvPr id="610" name="Freeform 143"/>
                <p:cNvSpPr>
                  <a:spLocks/>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1" name="Freeform 144"/>
                <p:cNvSpPr>
                  <a:spLocks/>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607" name="Group 145"/>
              <p:cNvGrpSpPr>
                <a:grpSpLocks/>
              </p:cNvGrpSpPr>
              <p:nvPr/>
            </p:nvGrpSpPr>
            <p:grpSpPr bwMode="auto">
              <a:xfrm>
                <a:off x="4557" y="3250"/>
                <a:ext cx="236" cy="713"/>
                <a:chOff x="4557" y="3250"/>
                <a:chExt cx="236" cy="713"/>
              </a:xfrm>
            </p:grpSpPr>
            <p:sp>
              <p:nvSpPr>
                <p:cNvPr id="608" name="Freeform 146"/>
                <p:cNvSpPr>
                  <a:spLocks/>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09" name="Freeform 147"/>
                <p:cNvSpPr>
                  <a:spLocks/>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sp>
          <p:nvSpPr>
            <p:cNvPr id="589" name="Freeform 148"/>
            <p:cNvSpPr>
              <a:spLocks/>
            </p:cNvSpPr>
            <p:nvPr/>
          </p:nvSpPr>
          <p:spPr bwMode="auto">
            <a:xfrm>
              <a:off x="7564639" y="5693497"/>
              <a:ext cx="95166" cy="335202"/>
            </a:xfrm>
            <a:custGeom>
              <a:avLst/>
              <a:gdLst>
                <a:gd name="T0" fmla="*/ 0 w 71"/>
                <a:gd name="T1" fmla="*/ 309 h 309"/>
                <a:gd name="T2" fmla="*/ 46 w 71"/>
                <a:gd name="T3" fmla="*/ 40 h 309"/>
                <a:gd name="T4" fmla="*/ 48 w 71"/>
                <a:gd name="T5" fmla="*/ 28 h 309"/>
                <a:gd name="T6" fmla="*/ 50 w 71"/>
                <a:gd name="T7" fmla="*/ 19 h 309"/>
                <a:gd name="T8" fmla="*/ 54 w 71"/>
                <a:gd name="T9" fmla="*/ 11 h 309"/>
                <a:gd name="T10" fmla="*/ 61 w 71"/>
                <a:gd name="T11" fmla="*/ 4 h 309"/>
                <a:gd name="T12" fmla="*/ 71 w 71"/>
                <a:gd name="T13" fmla="*/ 0 h 309"/>
              </a:gdLst>
              <a:ahLst/>
              <a:cxnLst>
                <a:cxn ang="0">
                  <a:pos x="T0" y="T1"/>
                </a:cxn>
                <a:cxn ang="0">
                  <a:pos x="T2" y="T3"/>
                </a:cxn>
                <a:cxn ang="0">
                  <a:pos x="T4" y="T5"/>
                </a:cxn>
                <a:cxn ang="0">
                  <a:pos x="T6" y="T7"/>
                </a:cxn>
                <a:cxn ang="0">
                  <a:pos x="T8" y="T9"/>
                </a:cxn>
                <a:cxn ang="0">
                  <a:pos x="T10" y="T11"/>
                </a:cxn>
                <a:cxn ang="0">
                  <a:pos x="T12" y="T13"/>
                </a:cxn>
              </a:cxnLst>
              <a:rect l="0" t="0" r="r" b="b"/>
              <a:pathLst>
                <a:path w="71" h="309">
                  <a:moveTo>
                    <a:pt x="0" y="309"/>
                  </a:moveTo>
                  <a:lnTo>
                    <a:pt x="46" y="40"/>
                  </a:lnTo>
                  <a:lnTo>
                    <a:pt x="48" y="28"/>
                  </a:lnTo>
                  <a:lnTo>
                    <a:pt x="50" y="19"/>
                  </a:lnTo>
                  <a:lnTo>
                    <a:pt x="54" y="11"/>
                  </a:lnTo>
                  <a:lnTo>
                    <a:pt x="61" y="4"/>
                  </a:lnTo>
                  <a:lnTo>
                    <a:pt x="71"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90" name="Freeform 149"/>
            <p:cNvSpPr>
              <a:spLocks/>
            </p:cNvSpPr>
            <p:nvPr/>
          </p:nvSpPr>
          <p:spPr bwMode="auto">
            <a:xfrm>
              <a:off x="7662485" y="5696752"/>
              <a:ext cx="227863" cy="574941"/>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7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nvGrpSpPr>
            <p:cNvPr id="591" name="Group 150"/>
            <p:cNvGrpSpPr>
              <a:grpSpLocks/>
            </p:cNvGrpSpPr>
            <p:nvPr/>
          </p:nvGrpSpPr>
          <p:grpSpPr bwMode="auto">
            <a:xfrm>
              <a:off x="7890384" y="5693501"/>
              <a:ext cx="319010" cy="579281"/>
              <a:chOff x="5031" y="3244"/>
              <a:chExt cx="238" cy="713"/>
            </a:xfrm>
          </p:grpSpPr>
          <p:sp>
            <p:nvSpPr>
              <p:cNvPr id="604" name="Freeform 151"/>
              <p:cNvSpPr>
                <a:spLocks/>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05" name="Freeform 152"/>
              <p:cNvSpPr>
                <a:spLocks/>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grpSp>
        <p:nvGrpSpPr>
          <p:cNvPr id="592" name="Group 157"/>
          <p:cNvGrpSpPr>
            <a:grpSpLocks/>
          </p:cNvGrpSpPr>
          <p:nvPr/>
        </p:nvGrpSpPr>
        <p:grpSpPr bwMode="auto">
          <a:xfrm>
            <a:off x="3075940" y="4128145"/>
            <a:ext cx="638085" cy="577113"/>
            <a:chOff x="1439" y="1316"/>
            <a:chExt cx="476" cy="711"/>
          </a:xfrm>
        </p:grpSpPr>
        <p:grpSp>
          <p:nvGrpSpPr>
            <p:cNvPr id="593" name="Group 158"/>
            <p:cNvGrpSpPr>
              <a:grpSpLocks/>
            </p:cNvGrpSpPr>
            <p:nvPr/>
          </p:nvGrpSpPr>
          <p:grpSpPr bwMode="auto">
            <a:xfrm>
              <a:off x="1439" y="1316"/>
              <a:ext cx="239" cy="711"/>
              <a:chOff x="1439" y="1316"/>
              <a:chExt cx="239" cy="711"/>
            </a:xfrm>
          </p:grpSpPr>
          <p:sp>
            <p:nvSpPr>
              <p:cNvPr id="600" name="Freeform 159"/>
              <p:cNvSpPr>
                <a:spLocks/>
              </p:cNvSpPr>
              <p:nvPr/>
            </p:nvSpPr>
            <p:spPr bwMode="auto">
              <a:xfrm>
                <a:off x="1439"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01" name="Freeform 160"/>
              <p:cNvSpPr>
                <a:spLocks/>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02" name="Freeform 161"/>
              <p:cNvSpPr>
                <a:spLocks/>
              </p:cNvSpPr>
              <p:nvPr/>
            </p:nvSpPr>
            <p:spPr bwMode="auto">
              <a:xfrm>
                <a:off x="1558"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03" name="Freeform 162"/>
              <p:cNvSpPr>
                <a:spLocks/>
              </p:cNvSpPr>
              <p:nvPr/>
            </p:nvSpPr>
            <p:spPr bwMode="auto">
              <a:xfrm>
                <a:off x="1592"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594" name="Group 163"/>
            <p:cNvGrpSpPr>
              <a:grpSpLocks/>
            </p:cNvGrpSpPr>
            <p:nvPr/>
          </p:nvGrpSpPr>
          <p:grpSpPr bwMode="auto">
            <a:xfrm>
              <a:off x="1676" y="1316"/>
              <a:ext cx="239" cy="711"/>
              <a:chOff x="1676" y="1316"/>
              <a:chExt cx="239" cy="711"/>
            </a:xfrm>
          </p:grpSpPr>
          <p:sp>
            <p:nvSpPr>
              <p:cNvPr id="596" name="Freeform 164"/>
              <p:cNvSpPr>
                <a:spLocks/>
              </p:cNvSpPr>
              <p:nvPr/>
            </p:nvSpPr>
            <p:spPr bwMode="auto">
              <a:xfrm>
                <a:off x="1676"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97" name="Freeform 165"/>
              <p:cNvSpPr>
                <a:spLocks/>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98" name="Freeform 166"/>
              <p:cNvSpPr>
                <a:spLocks/>
              </p:cNvSpPr>
              <p:nvPr/>
            </p:nvSpPr>
            <p:spPr bwMode="auto">
              <a:xfrm>
                <a:off x="1795"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99" name="Freeform 167"/>
              <p:cNvSpPr>
                <a:spLocks/>
              </p:cNvSpPr>
              <p:nvPr/>
            </p:nvSpPr>
            <p:spPr bwMode="auto">
              <a:xfrm>
                <a:off x="1829"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95" name="Line 168"/>
            <p:cNvSpPr>
              <a:spLocks noChangeShapeType="1"/>
            </p:cNvSpPr>
            <p:nvPr/>
          </p:nvSpPr>
          <p:spPr bwMode="auto">
            <a:xfrm flipV="1">
              <a:off x="1674" y="1661"/>
              <a:ext cx="3" cy="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656" name="矩形 655"/>
          <p:cNvSpPr/>
          <p:nvPr/>
        </p:nvSpPr>
        <p:spPr>
          <a:xfrm>
            <a:off x="1080404" y="3686152"/>
            <a:ext cx="1005404" cy="338554"/>
          </a:xfrm>
          <a:prstGeom prst="rect">
            <a:avLst/>
          </a:prstGeom>
        </p:spPr>
        <p:txBody>
          <a:bodyPr wrap="none">
            <a:spAutoFit/>
          </a:bodyPr>
          <a:lstStyle/>
          <a:p>
            <a:pPr algn="ctr" fontAlgn="base">
              <a:spcAft>
                <a:spcPct val="0"/>
              </a:spcAft>
              <a:buClr>
                <a:schemeClr val="bg2"/>
              </a:buClr>
              <a:buSzPct val="75000"/>
            </a:pPr>
            <a:r>
              <a:rPr lang="zh-CN" altLang="en-US" sz="1600" b="1" dirty="0">
                <a:solidFill>
                  <a:schemeClr val="tx1">
                    <a:lumMod val="75000"/>
                    <a:lumOff val="25000"/>
                  </a:schemeClr>
                </a:solidFill>
                <a:latin typeface="华文楷体" panose="02010600040101010101" pitchFamily="2" charset="-122"/>
                <a:ea typeface="华文楷体" panose="02010600040101010101" pitchFamily="2" charset="-122"/>
              </a:rPr>
              <a:t>基带信号</a:t>
            </a:r>
            <a:endParaRPr lang="zh-CN" altLang="zh-CN" sz="1600"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658" name="矩形 657"/>
          <p:cNvSpPr/>
          <p:nvPr/>
        </p:nvSpPr>
        <p:spPr>
          <a:xfrm>
            <a:off x="1068517" y="4235212"/>
            <a:ext cx="1415772" cy="338554"/>
          </a:xfrm>
          <a:prstGeom prst="rect">
            <a:avLst/>
          </a:prstGeom>
        </p:spPr>
        <p:txBody>
          <a:bodyPr wrap="none">
            <a:spAutoFit/>
          </a:bodyPr>
          <a:lstStyle/>
          <a:p>
            <a:pPr algn="ctr" fontAlgn="base">
              <a:spcAft>
                <a:spcPct val="0"/>
              </a:spcAft>
              <a:buClr>
                <a:schemeClr val="bg2"/>
              </a:buClr>
              <a:buSzPct val="75000"/>
            </a:pPr>
            <a:r>
              <a:rPr lang="zh-CN" altLang="en-US" sz="1600" b="1" dirty="0">
                <a:solidFill>
                  <a:schemeClr val="tx1">
                    <a:lumMod val="75000"/>
                    <a:lumOff val="25000"/>
                  </a:schemeClr>
                </a:solidFill>
                <a:latin typeface="华文楷体" panose="02010600040101010101" pitchFamily="2" charset="-122"/>
                <a:ea typeface="华文楷体" panose="02010600040101010101" pitchFamily="2" charset="-122"/>
              </a:rPr>
              <a:t>幅度键控信号</a:t>
            </a:r>
            <a:endParaRPr lang="zh-CN" altLang="zh-CN" sz="1600"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659" name="矩形 658"/>
          <p:cNvSpPr/>
          <p:nvPr/>
        </p:nvSpPr>
        <p:spPr>
          <a:xfrm>
            <a:off x="1072323" y="4899428"/>
            <a:ext cx="1415772" cy="338554"/>
          </a:xfrm>
          <a:prstGeom prst="rect">
            <a:avLst/>
          </a:prstGeom>
        </p:spPr>
        <p:txBody>
          <a:bodyPr wrap="none">
            <a:spAutoFit/>
          </a:bodyPr>
          <a:lstStyle/>
          <a:p>
            <a:pPr algn="ctr" fontAlgn="base">
              <a:spcAft>
                <a:spcPct val="0"/>
              </a:spcAft>
              <a:buClr>
                <a:schemeClr val="bg2"/>
              </a:buClr>
              <a:buSzPct val="75000"/>
            </a:pPr>
            <a:r>
              <a:rPr lang="zh-CN" altLang="en-US" sz="1600" b="1" dirty="0">
                <a:solidFill>
                  <a:schemeClr val="tx1">
                    <a:lumMod val="75000"/>
                    <a:lumOff val="25000"/>
                  </a:schemeClr>
                </a:solidFill>
                <a:latin typeface="华文楷体" panose="02010600040101010101" pitchFamily="2" charset="-122"/>
                <a:ea typeface="华文楷体" panose="02010600040101010101" pitchFamily="2" charset="-122"/>
              </a:rPr>
              <a:t>频率键控信号</a:t>
            </a:r>
            <a:endParaRPr lang="zh-CN" altLang="zh-CN" sz="1600"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660" name="矩形 659"/>
          <p:cNvSpPr/>
          <p:nvPr/>
        </p:nvSpPr>
        <p:spPr>
          <a:xfrm>
            <a:off x="1034962" y="5774150"/>
            <a:ext cx="1415773" cy="338554"/>
          </a:xfrm>
          <a:prstGeom prst="rect">
            <a:avLst/>
          </a:prstGeom>
        </p:spPr>
        <p:txBody>
          <a:bodyPr wrap="none">
            <a:spAutoFit/>
          </a:bodyPr>
          <a:lstStyle/>
          <a:p>
            <a:pPr algn="ctr" fontAlgn="base">
              <a:spcAft>
                <a:spcPct val="0"/>
              </a:spcAft>
              <a:buClr>
                <a:schemeClr val="bg2"/>
              </a:buClr>
              <a:buSzPct val="75000"/>
            </a:pPr>
            <a:r>
              <a:rPr lang="zh-CN" altLang="en-US" sz="1600" b="1" dirty="0">
                <a:solidFill>
                  <a:schemeClr val="tx1">
                    <a:lumMod val="75000"/>
                    <a:lumOff val="25000"/>
                  </a:schemeClr>
                </a:solidFill>
                <a:latin typeface="华文楷体" panose="02010600040101010101" pitchFamily="2" charset="-122"/>
                <a:ea typeface="华文楷体" panose="02010600040101010101" pitchFamily="2" charset="-122"/>
              </a:rPr>
              <a:t>相移键控信号</a:t>
            </a:r>
            <a:endParaRPr lang="zh-CN" altLang="zh-CN" sz="1600" b="1" dirty="0">
              <a:solidFill>
                <a:schemeClr val="tx1">
                  <a:lumMod val="75000"/>
                  <a:lumOff val="25000"/>
                </a:schemeClr>
              </a:solidFill>
              <a:latin typeface="华文楷体" panose="02010600040101010101" pitchFamily="2" charset="-122"/>
              <a:ea typeface="华文楷体" panose="02010600040101010101" pitchFamily="2" charset="-122"/>
            </a:endParaRPr>
          </a:p>
        </p:txBody>
      </p:sp>
      <p:pic>
        <p:nvPicPr>
          <p:cNvPr id="4098" name="Picture 2"/>
          <p:cNvPicPr>
            <a:picLocks noChangeAspect="1" noChangeArrowheads="1"/>
          </p:cNvPicPr>
          <p:nvPr/>
        </p:nvPicPr>
        <p:blipFill>
          <a:blip r:embed="rId3" cstate="print"/>
          <a:srcRect/>
          <a:stretch>
            <a:fillRect/>
          </a:stretch>
        </p:blipFill>
        <p:spPr bwMode="auto">
          <a:xfrm>
            <a:off x="140970" y="1320165"/>
            <a:ext cx="8801100" cy="180975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108072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57"/>
                                        </p:tgtEl>
                                        <p:attrNameLst>
                                          <p:attrName>style.visibility</p:attrName>
                                        </p:attrNameLst>
                                      </p:cBhvr>
                                      <p:to>
                                        <p:strVal val="visible"/>
                                      </p:to>
                                    </p:set>
                                    <p:animEffect transition="in" filter="dissolve">
                                      <p:cBhvr>
                                        <p:cTn id="7" dur="500"/>
                                        <p:tgtEl>
                                          <p:spTgt spid="657"/>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56"/>
                                        </p:tgtEl>
                                        <p:attrNameLst>
                                          <p:attrName>style.visibility</p:attrName>
                                        </p:attrNameLst>
                                      </p:cBhvr>
                                      <p:to>
                                        <p:strVal val="visible"/>
                                      </p:to>
                                    </p:set>
                                    <p:animEffect transition="in" filter="dissolve">
                                      <p:cBhvr>
                                        <p:cTn id="13" dur="500"/>
                                        <p:tgtEl>
                                          <p:spTgt spid="656"/>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58"/>
                                        </p:tgtEl>
                                        <p:attrNameLst>
                                          <p:attrName>style.visibility</p:attrName>
                                        </p:attrNameLst>
                                      </p:cBhvr>
                                      <p:to>
                                        <p:strVal val="visible"/>
                                      </p:to>
                                    </p:set>
                                    <p:animEffect transition="in" filter="dissolve">
                                      <p:cBhvr>
                                        <p:cTn id="18" dur="500"/>
                                        <p:tgtEl>
                                          <p:spTgt spid="658"/>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503"/>
                                        </p:tgtEl>
                                        <p:attrNameLst>
                                          <p:attrName>style.visibility</p:attrName>
                                        </p:attrNameLst>
                                      </p:cBhvr>
                                      <p:to>
                                        <p:strVal val="visible"/>
                                      </p:to>
                                    </p:set>
                                    <p:animEffect transition="in" filter="wipe(left)">
                                      <p:cBhvr>
                                        <p:cTn id="22" dur="500"/>
                                        <p:tgtEl>
                                          <p:spTgt spid="50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92"/>
                                        </p:tgtEl>
                                        <p:attrNameLst>
                                          <p:attrName>style.visibility</p:attrName>
                                        </p:attrNameLst>
                                      </p:cBhvr>
                                      <p:to>
                                        <p:strVal val="visible"/>
                                      </p:to>
                                    </p:set>
                                    <p:animEffect transition="in" filter="wipe(left)">
                                      <p:cBhvr>
                                        <p:cTn id="27" dur="500"/>
                                        <p:tgtEl>
                                          <p:spTgt spid="59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59"/>
                                        </p:tgtEl>
                                        <p:attrNameLst>
                                          <p:attrName>style.visibility</p:attrName>
                                        </p:attrNameLst>
                                      </p:cBhvr>
                                      <p:to>
                                        <p:strVal val="visible"/>
                                      </p:to>
                                    </p:set>
                                    <p:animEffect transition="in" filter="dissolve">
                                      <p:cBhvr>
                                        <p:cTn id="37" dur="500"/>
                                        <p:tgtEl>
                                          <p:spTgt spid="65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54"/>
                                        </p:tgtEl>
                                        <p:attrNameLst>
                                          <p:attrName>style.visibility</p:attrName>
                                        </p:attrNameLst>
                                      </p:cBhvr>
                                      <p:to>
                                        <p:strVal val="visible"/>
                                      </p:to>
                                    </p:set>
                                    <p:animEffect transition="in" filter="wipe(left)">
                                      <p:cBhvr>
                                        <p:cTn id="42" dur="500"/>
                                        <p:tgtEl>
                                          <p:spTgt spid="55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660"/>
                                        </p:tgtEl>
                                        <p:attrNameLst>
                                          <p:attrName>style.visibility</p:attrName>
                                        </p:attrNameLst>
                                      </p:cBhvr>
                                      <p:to>
                                        <p:strVal val="visible"/>
                                      </p:to>
                                    </p:set>
                                    <p:animEffect transition="in" filter="dissolve">
                                      <p:cBhvr>
                                        <p:cTn id="57" dur="500"/>
                                        <p:tgtEl>
                                          <p:spTgt spid="66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wipe(left)">
                                      <p:cBhvr>
                                        <p:cTn id="67" dur="50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left)">
                                      <p:cBhvr>
                                        <p:cTn id="7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7" grpId="0" animBg="1"/>
      <p:bldP spid="503" grpId="0" animBg="1"/>
      <p:bldP spid="656" grpId="0"/>
      <p:bldP spid="658" grpId="0"/>
      <p:bldP spid="659" grpId="0"/>
      <p:bldP spid="66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模拟信号调制</a:t>
            </a:r>
            <a:endParaRPr lang="zh-CN" altLang="en-US" dirty="0"/>
          </a:p>
        </p:txBody>
      </p:sp>
      <p:sp>
        <p:nvSpPr>
          <p:cNvPr id="3" name="内容占位符 2"/>
          <p:cNvSpPr>
            <a:spLocks noGrp="1"/>
          </p:cNvSpPr>
          <p:nvPr>
            <p:ph idx="1"/>
          </p:nvPr>
        </p:nvSpPr>
        <p:spPr>
          <a:xfrm>
            <a:off x="502920" y="1246857"/>
            <a:ext cx="8229600" cy="642903"/>
          </a:xfrm>
        </p:spPr>
        <p:txBody>
          <a:bodyPr/>
          <a:lstStyle/>
          <a:p>
            <a:r>
              <a:rPr lang="zh-CN" altLang="en-US" sz="2000" dirty="0">
                <a:solidFill>
                  <a:srgbClr val="FF0000"/>
                </a:solidFill>
              </a:rPr>
              <a:t>调幅：载波的振幅值随调制信号的大小做线性变化</a:t>
            </a:r>
            <a:endParaRPr lang="en-US" altLang="zh-CN" sz="2000" dirty="0">
              <a:solidFill>
                <a:srgbClr val="FF0000"/>
              </a:solidFill>
            </a:endParaRP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17</a:t>
            </a:fld>
            <a:endParaRPr lang="zh-CN" altLang="en-US" dirty="0"/>
          </a:p>
        </p:txBody>
      </p:sp>
      <p:pic>
        <p:nvPicPr>
          <p:cNvPr id="32770" name="Picture 2" descr="https://bkimg.cdn.bcebos.com/pic/a8773912b31bb0511925a333327adab44aede0ac?x-bce-process=image/watermark,g_7,image_d2F0ZXIvYmFpa2U2MA==,xp_5,yp_5"/>
          <p:cNvPicPr>
            <a:picLocks noChangeAspect="1" noChangeArrowheads="1"/>
          </p:cNvPicPr>
          <p:nvPr/>
        </p:nvPicPr>
        <p:blipFill>
          <a:blip r:embed="rId2" cstate="print"/>
          <a:srcRect/>
          <a:stretch>
            <a:fillRect/>
          </a:stretch>
        </p:blipFill>
        <p:spPr bwMode="auto">
          <a:xfrm>
            <a:off x="1892935" y="1875155"/>
            <a:ext cx="5267325" cy="447675"/>
          </a:xfrm>
          <a:prstGeom prst="rect">
            <a:avLst/>
          </a:prstGeom>
          <a:noFill/>
        </p:spPr>
      </p:pic>
      <p:pic>
        <p:nvPicPr>
          <p:cNvPr id="32772" name="Picture 4" descr="https://bkimg.cdn.bcebos.com/pic/8694a4c27d1ed21ba50c3ffea96eddc450da3fe7?x-bce-process=image/watermark,g_7,image_d2F0ZXIvYmFpa2U4MA==,xp_5,yp_5"/>
          <p:cNvPicPr>
            <a:picLocks noChangeAspect="1" noChangeArrowheads="1"/>
          </p:cNvPicPr>
          <p:nvPr/>
        </p:nvPicPr>
        <p:blipFill>
          <a:blip r:embed="rId3" cstate="print"/>
          <a:srcRect/>
          <a:stretch>
            <a:fillRect/>
          </a:stretch>
        </p:blipFill>
        <p:spPr bwMode="auto">
          <a:xfrm>
            <a:off x="1740535" y="2436494"/>
            <a:ext cx="5562600" cy="4238626"/>
          </a:xfrm>
          <a:prstGeom prst="rect">
            <a:avLst/>
          </a:prstGeom>
          <a:noFill/>
        </p:spPr>
      </p:pic>
    </p:spTree>
    <p:extLst>
      <p:ext uri="{BB962C8B-B14F-4D97-AF65-F5344CB8AC3E}">
        <p14:creationId xmlns:p14="http://schemas.microsoft.com/office/powerpoint/2010/main" val="570642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信道容量与计算</a:t>
            </a:r>
            <a:endParaRPr lang="en-US" altLang="zh-CN" dirty="0"/>
          </a:p>
        </p:txBody>
      </p:sp>
      <p:sp>
        <p:nvSpPr>
          <p:cNvPr id="3" name="内容占位符 2"/>
          <p:cNvSpPr>
            <a:spLocks noGrp="1"/>
          </p:cNvSpPr>
          <p:nvPr>
            <p:ph idx="1"/>
          </p:nvPr>
        </p:nvSpPr>
        <p:spPr>
          <a:xfrm>
            <a:off x="457200" y="1444978"/>
            <a:ext cx="7997868" cy="1853092"/>
          </a:xfrm>
        </p:spPr>
        <p:txBody>
          <a:bodyPr/>
          <a:lstStyle/>
          <a:p>
            <a:r>
              <a:rPr lang="zh-CN" altLang="en-US" dirty="0"/>
              <a:t>实际传输信道</a:t>
            </a:r>
            <a:endParaRPr lang="en-US" altLang="zh-CN" dirty="0"/>
          </a:p>
          <a:p>
            <a:pPr lvl="1"/>
            <a:r>
              <a:rPr lang="zh-CN" altLang="en-US" sz="1800" dirty="0"/>
              <a:t>非理想的，在传输信号时会产生各种失真以及带来多种干扰 </a:t>
            </a:r>
          </a:p>
          <a:p>
            <a:pPr lvl="1"/>
            <a:r>
              <a:rPr lang="zh-CN" altLang="en-US" sz="1800" dirty="0"/>
              <a:t>码元传输的速率越高，或信号传输的距离越远，在信道的输出端的波形的失真就越严重</a:t>
            </a:r>
          </a:p>
          <a:p>
            <a:pPr marL="914377" lvl="2" indent="0">
              <a:buNone/>
            </a:pPr>
            <a:endParaRPr lang="en-US" altLang="zh-CN"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18</a:t>
            </a:fld>
            <a:endParaRPr lang="zh-CN" altLang="en-US" dirty="0"/>
          </a:p>
        </p:txBody>
      </p:sp>
      <p:grpSp>
        <p:nvGrpSpPr>
          <p:cNvPr id="6" name="组合 5"/>
          <p:cNvGrpSpPr/>
          <p:nvPr/>
        </p:nvGrpSpPr>
        <p:grpSpPr>
          <a:xfrm>
            <a:off x="1014608" y="3532339"/>
            <a:ext cx="7177412" cy="1393789"/>
            <a:chOff x="1014608" y="3532339"/>
            <a:chExt cx="7177412" cy="1393789"/>
          </a:xfrm>
        </p:grpSpPr>
        <p:grpSp>
          <p:nvGrpSpPr>
            <p:cNvPr id="8" name="组合 7"/>
            <p:cNvGrpSpPr/>
            <p:nvPr/>
          </p:nvGrpSpPr>
          <p:grpSpPr>
            <a:xfrm>
              <a:off x="1014608" y="3532339"/>
              <a:ext cx="7177412" cy="1393789"/>
              <a:chOff x="1014608" y="3695177"/>
              <a:chExt cx="7177412" cy="1393789"/>
            </a:xfrm>
          </p:grpSpPr>
          <p:sp>
            <p:nvSpPr>
              <p:cNvPr id="185" name="Rectangle 2"/>
              <p:cNvSpPr>
                <a:spLocks noChangeArrowheads="1"/>
              </p:cNvSpPr>
              <p:nvPr/>
            </p:nvSpPr>
            <p:spPr bwMode="auto">
              <a:xfrm>
                <a:off x="1014608" y="3695177"/>
                <a:ext cx="7177412" cy="1393789"/>
              </a:xfrm>
              <a:prstGeom prst="rect">
                <a:avLst/>
              </a:prstGeom>
              <a:solidFill>
                <a:srgbClr val="F4F4FA"/>
              </a:solidFill>
              <a:ln w="25400">
                <a:solidFill>
                  <a:srgbClr val="DCDCEC"/>
                </a:solidFill>
              </a:ln>
              <a:effectLst/>
            </p:spPr>
            <p:txBody>
              <a:bodyPr wrap="none" anchor="ctr"/>
              <a:lstStyle/>
              <a:p>
                <a:endParaRPr lang="zh-CN" altLang="en-US" sz="1600" b="1"/>
              </a:p>
            </p:txBody>
          </p:sp>
          <p:grpSp>
            <p:nvGrpSpPr>
              <p:cNvPr id="5" name="组合 4"/>
              <p:cNvGrpSpPr/>
              <p:nvPr/>
            </p:nvGrpSpPr>
            <p:grpSpPr>
              <a:xfrm>
                <a:off x="1128474" y="3883065"/>
                <a:ext cx="6386005" cy="885183"/>
                <a:chOff x="589854" y="3773357"/>
                <a:chExt cx="7834313" cy="1267954"/>
              </a:xfrm>
            </p:grpSpPr>
            <p:sp>
              <p:nvSpPr>
                <p:cNvPr id="174" name="AutoShape 4"/>
                <p:cNvSpPr>
                  <a:spLocks noChangeArrowheads="1"/>
                </p:cNvSpPr>
                <p:nvPr/>
              </p:nvSpPr>
              <p:spPr bwMode="auto">
                <a:xfrm rot="16200000">
                  <a:off x="4235548" y="2534313"/>
                  <a:ext cx="395287" cy="4060825"/>
                </a:xfrm>
                <a:prstGeom prst="can">
                  <a:avLst>
                    <a:gd name="adj" fmla="val 66775"/>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75" name="Freeform 5"/>
                <p:cNvSpPr>
                  <a:spLocks/>
                </p:cNvSpPr>
                <p:nvPr/>
              </p:nvSpPr>
              <p:spPr bwMode="auto">
                <a:xfrm>
                  <a:off x="651767" y="3773357"/>
                  <a:ext cx="1539875"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a:p>
              </p:txBody>
            </p:sp>
            <p:sp>
              <p:nvSpPr>
                <p:cNvPr id="176" name="Line 6"/>
                <p:cNvSpPr>
                  <a:spLocks noChangeShapeType="1"/>
                </p:cNvSpPr>
                <p:nvPr/>
              </p:nvSpPr>
              <p:spPr bwMode="auto">
                <a:xfrm>
                  <a:off x="651767" y="4563932"/>
                  <a:ext cx="1960562"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a:p>
              </p:txBody>
            </p:sp>
            <p:sp>
              <p:nvSpPr>
                <p:cNvPr id="177" name="Freeform 7"/>
                <p:cNvSpPr>
                  <a:spLocks/>
                </p:cNvSpPr>
                <p:nvPr/>
              </p:nvSpPr>
              <p:spPr bwMode="auto">
                <a:xfrm>
                  <a:off x="6743004" y="3773357"/>
                  <a:ext cx="1541463"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a:p>
              </p:txBody>
            </p:sp>
            <p:sp>
              <p:nvSpPr>
                <p:cNvPr id="178" name="Line 8"/>
                <p:cNvSpPr>
                  <a:spLocks noChangeShapeType="1"/>
                </p:cNvSpPr>
                <p:nvPr/>
              </p:nvSpPr>
              <p:spPr bwMode="auto">
                <a:xfrm>
                  <a:off x="6463604" y="4563932"/>
                  <a:ext cx="1960563"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a:p>
              </p:txBody>
            </p:sp>
            <p:sp>
              <p:nvSpPr>
                <p:cNvPr id="179" name="Freeform 9"/>
                <p:cNvSpPr>
                  <a:spLocks/>
                </p:cNvSpPr>
                <p:nvPr/>
              </p:nvSpPr>
              <p:spPr bwMode="auto">
                <a:xfrm>
                  <a:off x="6757292" y="3809869"/>
                  <a:ext cx="1495425" cy="633413"/>
                </a:xfrm>
                <a:custGeom>
                  <a:avLst/>
                  <a:gdLst>
                    <a:gd name="T0" fmla="*/ 0 w 1026"/>
                    <a:gd name="T1" fmla="*/ 447 h 461"/>
                    <a:gd name="T2" fmla="*/ 57 w 1026"/>
                    <a:gd name="T3" fmla="*/ 459 h 461"/>
                    <a:gd name="T4" fmla="*/ 78 w 1026"/>
                    <a:gd name="T5" fmla="*/ 456 h 461"/>
                    <a:gd name="T6" fmla="*/ 105 w 1026"/>
                    <a:gd name="T7" fmla="*/ 444 h 461"/>
                    <a:gd name="T8" fmla="*/ 153 w 1026"/>
                    <a:gd name="T9" fmla="*/ 444 h 461"/>
                    <a:gd name="T10" fmla="*/ 177 w 1026"/>
                    <a:gd name="T11" fmla="*/ 354 h 461"/>
                    <a:gd name="T12" fmla="*/ 180 w 1026"/>
                    <a:gd name="T13" fmla="*/ 258 h 461"/>
                    <a:gd name="T14" fmla="*/ 183 w 1026"/>
                    <a:gd name="T15" fmla="*/ 246 h 461"/>
                    <a:gd name="T16" fmla="*/ 189 w 1026"/>
                    <a:gd name="T17" fmla="*/ 207 h 461"/>
                    <a:gd name="T18" fmla="*/ 198 w 1026"/>
                    <a:gd name="T19" fmla="*/ 180 h 461"/>
                    <a:gd name="T20" fmla="*/ 213 w 1026"/>
                    <a:gd name="T21" fmla="*/ 96 h 461"/>
                    <a:gd name="T22" fmla="*/ 228 w 1026"/>
                    <a:gd name="T23" fmla="*/ 18 h 461"/>
                    <a:gd name="T24" fmla="*/ 252 w 1026"/>
                    <a:gd name="T25" fmla="*/ 3 h 461"/>
                    <a:gd name="T26" fmla="*/ 261 w 1026"/>
                    <a:gd name="T27" fmla="*/ 0 h 461"/>
                    <a:gd name="T28" fmla="*/ 321 w 1026"/>
                    <a:gd name="T29" fmla="*/ 27 h 461"/>
                    <a:gd name="T30" fmla="*/ 363 w 1026"/>
                    <a:gd name="T31" fmla="*/ 27 h 461"/>
                    <a:gd name="T32" fmla="*/ 387 w 1026"/>
                    <a:gd name="T33" fmla="*/ 81 h 461"/>
                    <a:gd name="T34" fmla="*/ 399 w 1026"/>
                    <a:gd name="T35" fmla="*/ 222 h 461"/>
                    <a:gd name="T36" fmla="*/ 417 w 1026"/>
                    <a:gd name="T37" fmla="*/ 366 h 461"/>
                    <a:gd name="T38" fmla="*/ 450 w 1026"/>
                    <a:gd name="T39" fmla="*/ 417 h 461"/>
                    <a:gd name="T40" fmla="*/ 504 w 1026"/>
                    <a:gd name="T41" fmla="*/ 444 h 461"/>
                    <a:gd name="T42" fmla="*/ 540 w 1026"/>
                    <a:gd name="T43" fmla="*/ 450 h 461"/>
                    <a:gd name="T44" fmla="*/ 558 w 1026"/>
                    <a:gd name="T45" fmla="*/ 444 h 461"/>
                    <a:gd name="T46" fmla="*/ 615 w 1026"/>
                    <a:gd name="T47" fmla="*/ 459 h 461"/>
                    <a:gd name="T48" fmla="*/ 639 w 1026"/>
                    <a:gd name="T49" fmla="*/ 450 h 461"/>
                    <a:gd name="T50" fmla="*/ 642 w 1026"/>
                    <a:gd name="T51" fmla="*/ 432 h 461"/>
                    <a:gd name="T52" fmla="*/ 654 w 1026"/>
                    <a:gd name="T53" fmla="*/ 405 h 461"/>
                    <a:gd name="T54" fmla="*/ 672 w 1026"/>
                    <a:gd name="T55" fmla="*/ 315 h 461"/>
                    <a:gd name="T56" fmla="*/ 690 w 1026"/>
                    <a:gd name="T57" fmla="*/ 171 h 461"/>
                    <a:gd name="T58" fmla="*/ 711 w 1026"/>
                    <a:gd name="T59" fmla="*/ 81 h 461"/>
                    <a:gd name="T60" fmla="*/ 741 w 1026"/>
                    <a:gd name="T61" fmla="*/ 24 h 461"/>
                    <a:gd name="T62" fmla="*/ 804 w 1026"/>
                    <a:gd name="T63" fmla="*/ 45 h 461"/>
                    <a:gd name="T64" fmla="*/ 831 w 1026"/>
                    <a:gd name="T65" fmla="*/ 66 h 461"/>
                    <a:gd name="T66" fmla="*/ 867 w 1026"/>
                    <a:gd name="T67" fmla="*/ 69 h 461"/>
                    <a:gd name="T68" fmla="*/ 870 w 1026"/>
                    <a:gd name="T69" fmla="*/ 84 h 461"/>
                    <a:gd name="T70" fmla="*/ 879 w 1026"/>
                    <a:gd name="T71" fmla="*/ 135 h 461"/>
                    <a:gd name="T72" fmla="*/ 901 w 1026"/>
                    <a:gd name="T73" fmla="*/ 267 h 461"/>
                    <a:gd name="T74" fmla="*/ 924 w 1026"/>
                    <a:gd name="T75" fmla="*/ 363 h 461"/>
                    <a:gd name="T76" fmla="*/ 963 w 1026"/>
                    <a:gd name="T77" fmla="*/ 432 h 461"/>
                    <a:gd name="T78" fmla="*/ 1026 w 1026"/>
                    <a:gd name="T79" fmla="*/ 453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a:p>
              </p:txBody>
            </p:sp>
            <p:sp>
              <p:nvSpPr>
                <p:cNvPr id="180" name="Text Box 11"/>
                <p:cNvSpPr txBox="1">
                  <a:spLocks noChangeArrowheads="1"/>
                </p:cNvSpPr>
                <p:nvPr/>
              </p:nvSpPr>
              <p:spPr bwMode="auto">
                <a:xfrm>
                  <a:off x="589854" y="4586158"/>
                  <a:ext cx="1548072" cy="440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chemeClr val="tx1">
                          <a:lumMod val="50000"/>
                          <a:lumOff val="50000"/>
                        </a:schemeClr>
                      </a:solidFill>
                      <a:latin typeface="华文楷体" panose="02010600040101010101" pitchFamily="2" charset="-122"/>
                      <a:ea typeface="华文楷体" panose="02010600040101010101" pitchFamily="2" charset="-122"/>
                    </a:rPr>
                    <a:t>发送信号波形</a:t>
                  </a:r>
                </a:p>
              </p:txBody>
            </p:sp>
            <p:sp>
              <p:nvSpPr>
                <p:cNvPr id="181" name="Text Box 12"/>
                <p:cNvSpPr txBox="1">
                  <a:spLocks noChangeArrowheads="1"/>
                </p:cNvSpPr>
                <p:nvPr/>
              </p:nvSpPr>
              <p:spPr bwMode="auto">
                <a:xfrm>
                  <a:off x="6698804" y="4600445"/>
                  <a:ext cx="1542356" cy="440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chemeClr val="tx1">
                          <a:lumMod val="50000"/>
                          <a:lumOff val="50000"/>
                        </a:schemeClr>
                      </a:solidFill>
                      <a:latin typeface="华文楷体" panose="02010600040101010101" pitchFamily="2" charset="-122"/>
                      <a:ea typeface="华文楷体" panose="02010600040101010101" pitchFamily="2" charset="-122"/>
                    </a:rPr>
                    <a:t>接收信号波形</a:t>
                  </a:r>
                </a:p>
              </p:txBody>
            </p:sp>
          </p:grpSp>
          <p:sp>
            <p:nvSpPr>
              <p:cNvPr id="7" name="矩形 6"/>
              <p:cNvSpPr/>
              <p:nvPr/>
            </p:nvSpPr>
            <p:spPr>
              <a:xfrm>
                <a:off x="3017911" y="3863435"/>
                <a:ext cx="2481014" cy="461665"/>
              </a:xfrm>
              <a:prstGeom prst="rect">
                <a:avLst/>
              </a:prstGeom>
            </p:spPr>
            <p:txBody>
              <a:bodyPr wrap="square">
                <a:spAutoFit/>
              </a:bodyPr>
              <a:lstStyle/>
              <a:p>
                <a:pPr algn="ctr"/>
                <a:r>
                  <a:rPr kumimoji="1" lang="zh-CN" altLang="en-US" sz="1200" b="1" dirty="0">
                    <a:solidFill>
                      <a:schemeClr val="tx1">
                        <a:lumMod val="50000"/>
                        <a:lumOff val="50000"/>
                      </a:schemeClr>
                    </a:solidFill>
                    <a:latin typeface="华文楷体" panose="02010600040101010101" pitchFamily="2" charset="-122"/>
                    <a:ea typeface="华文楷体" panose="02010600040101010101" pitchFamily="2" charset="-122"/>
                  </a:rPr>
                  <a:t>实际信道</a:t>
                </a:r>
              </a:p>
              <a:p>
                <a:pPr algn="ctr"/>
                <a:r>
                  <a:rPr kumimoji="1" lang="zh-CN" altLang="en-US" sz="1200" b="1" dirty="0">
                    <a:solidFill>
                      <a:schemeClr val="tx1">
                        <a:lumMod val="50000"/>
                        <a:lumOff val="50000"/>
                      </a:schemeClr>
                    </a:solidFill>
                    <a:latin typeface="华文楷体" panose="02010600040101010101" pitchFamily="2" charset="-122"/>
                    <a:ea typeface="华文楷体" panose="02010600040101010101" pitchFamily="2" charset="-122"/>
                  </a:rPr>
                  <a:t>（带宽受限、有噪声、干扰和失真）</a:t>
                </a:r>
              </a:p>
            </p:txBody>
          </p:sp>
        </p:grpSp>
        <p:sp>
          <p:nvSpPr>
            <p:cNvPr id="200" name="矩形 199"/>
            <p:cNvSpPr/>
            <p:nvPr/>
          </p:nvSpPr>
          <p:spPr>
            <a:xfrm>
              <a:off x="3059518" y="4618351"/>
              <a:ext cx="2481014" cy="307777"/>
            </a:xfrm>
            <a:prstGeom prst="rect">
              <a:avLst/>
            </a:prstGeom>
          </p:spPr>
          <p:txBody>
            <a:bodyPr wrap="square">
              <a:spAutoFit/>
            </a:bodyPr>
            <a:lstStyle/>
            <a:p>
              <a:pPr algn="ctr"/>
              <a:r>
                <a:rPr kumimoji="1" lang="zh-CN" altLang="en-US" sz="1400" b="1" dirty="0">
                  <a:solidFill>
                    <a:schemeClr val="accent5">
                      <a:lumMod val="50000"/>
                    </a:schemeClr>
                  </a:solidFill>
                  <a:latin typeface="华文楷体" panose="02010600040101010101" pitchFamily="2" charset="-122"/>
                  <a:ea typeface="华文楷体" panose="02010600040101010101" pitchFamily="2" charset="-122"/>
                </a:rPr>
                <a:t>有失真，但可识别</a:t>
              </a:r>
            </a:p>
          </p:txBody>
        </p:sp>
      </p:grpSp>
      <p:grpSp>
        <p:nvGrpSpPr>
          <p:cNvPr id="10" name="组合 9"/>
          <p:cNvGrpSpPr/>
          <p:nvPr/>
        </p:nvGrpSpPr>
        <p:grpSpPr>
          <a:xfrm>
            <a:off x="1014608" y="5260931"/>
            <a:ext cx="7177412" cy="1293630"/>
            <a:chOff x="1014608" y="5260931"/>
            <a:chExt cx="7177412" cy="1293630"/>
          </a:xfrm>
        </p:grpSpPr>
        <p:grpSp>
          <p:nvGrpSpPr>
            <p:cNvPr id="9" name="组合 8"/>
            <p:cNvGrpSpPr/>
            <p:nvPr/>
          </p:nvGrpSpPr>
          <p:grpSpPr>
            <a:xfrm>
              <a:off x="1014608" y="5260931"/>
              <a:ext cx="7177412" cy="1293630"/>
              <a:chOff x="966590" y="5180092"/>
              <a:chExt cx="7177412" cy="1293630"/>
            </a:xfrm>
          </p:grpSpPr>
          <p:sp>
            <p:nvSpPr>
              <p:cNvPr id="197" name="Rectangle 2"/>
              <p:cNvSpPr>
                <a:spLocks noChangeArrowheads="1"/>
              </p:cNvSpPr>
              <p:nvPr/>
            </p:nvSpPr>
            <p:spPr bwMode="auto">
              <a:xfrm>
                <a:off x="966590" y="5180092"/>
                <a:ext cx="7177412" cy="1293630"/>
              </a:xfrm>
              <a:prstGeom prst="rect">
                <a:avLst/>
              </a:prstGeom>
              <a:solidFill>
                <a:srgbClr val="F4F4FA"/>
              </a:solidFill>
              <a:ln w="25400">
                <a:solidFill>
                  <a:srgbClr val="DCDCEC"/>
                </a:solidFill>
              </a:ln>
              <a:effectLst/>
            </p:spPr>
            <p:txBody>
              <a:bodyPr wrap="none" anchor="ctr"/>
              <a:lstStyle/>
              <a:p>
                <a:endParaRPr lang="zh-CN" altLang="en-US" sz="1600" b="1"/>
              </a:p>
            </p:txBody>
          </p:sp>
          <p:grpSp>
            <p:nvGrpSpPr>
              <p:cNvPr id="186" name="Group 24"/>
              <p:cNvGrpSpPr>
                <a:grpSpLocks/>
              </p:cNvGrpSpPr>
              <p:nvPr/>
            </p:nvGrpSpPr>
            <p:grpSpPr bwMode="auto">
              <a:xfrm>
                <a:off x="1178941" y="5330920"/>
                <a:ext cx="6437254" cy="928790"/>
                <a:chOff x="304" y="2991"/>
                <a:chExt cx="4974" cy="811"/>
              </a:xfrm>
            </p:grpSpPr>
            <p:sp>
              <p:nvSpPr>
                <p:cNvPr id="187" name="AutoShape 13"/>
                <p:cNvSpPr>
                  <a:spLocks noChangeArrowheads="1"/>
                </p:cNvSpPr>
                <p:nvPr/>
              </p:nvSpPr>
              <p:spPr bwMode="auto">
                <a:xfrm rot="-5400000">
                  <a:off x="2600" y="2210"/>
                  <a:ext cx="250" cy="2558"/>
                </a:xfrm>
                <a:prstGeom prst="can">
                  <a:avLst>
                    <a:gd name="adj" fmla="val 66508"/>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88" name="Freeform 14"/>
                <p:cNvSpPr>
                  <a:spLocks/>
                </p:cNvSpPr>
                <p:nvPr/>
              </p:nvSpPr>
              <p:spPr bwMode="auto">
                <a:xfrm>
                  <a:off x="343" y="2991"/>
                  <a:ext cx="970"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a:p>
              </p:txBody>
            </p:sp>
            <p:sp>
              <p:nvSpPr>
                <p:cNvPr id="189" name="Line 15"/>
                <p:cNvSpPr>
                  <a:spLocks noChangeShapeType="1"/>
                </p:cNvSpPr>
                <p:nvPr/>
              </p:nvSpPr>
              <p:spPr bwMode="auto">
                <a:xfrm>
                  <a:off x="343" y="3489"/>
                  <a:ext cx="1235"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a:p>
              </p:txBody>
            </p:sp>
            <p:sp>
              <p:nvSpPr>
                <p:cNvPr id="190" name="Freeform 16"/>
                <p:cNvSpPr>
                  <a:spLocks/>
                </p:cNvSpPr>
                <p:nvPr/>
              </p:nvSpPr>
              <p:spPr bwMode="auto">
                <a:xfrm>
                  <a:off x="4180" y="2991"/>
                  <a:ext cx="971"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a:p>
              </p:txBody>
            </p:sp>
            <p:sp>
              <p:nvSpPr>
                <p:cNvPr id="191" name="Line 17"/>
                <p:cNvSpPr>
                  <a:spLocks noChangeShapeType="1"/>
                </p:cNvSpPr>
                <p:nvPr/>
              </p:nvSpPr>
              <p:spPr bwMode="auto">
                <a:xfrm>
                  <a:off x="4004" y="3489"/>
                  <a:ext cx="1235"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a:p>
              </p:txBody>
            </p:sp>
            <p:sp>
              <p:nvSpPr>
                <p:cNvPr id="192" name="Freeform 18"/>
                <p:cNvSpPr>
                  <a:spLocks/>
                </p:cNvSpPr>
                <p:nvPr/>
              </p:nvSpPr>
              <p:spPr bwMode="auto">
                <a:xfrm>
                  <a:off x="4186" y="3270"/>
                  <a:ext cx="934" cy="124"/>
                </a:xfrm>
                <a:custGeom>
                  <a:avLst/>
                  <a:gdLst>
                    <a:gd name="T0" fmla="*/ 0 w 1017"/>
                    <a:gd name="T1" fmla="*/ 109 h 143"/>
                    <a:gd name="T2" fmla="*/ 57 w 1017"/>
                    <a:gd name="T3" fmla="*/ 130 h 143"/>
                    <a:gd name="T4" fmla="*/ 84 w 1017"/>
                    <a:gd name="T5" fmla="*/ 130 h 143"/>
                    <a:gd name="T6" fmla="*/ 114 w 1017"/>
                    <a:gd name="T7" fmla="*/ 91 h 143"/>
                    <a:gd name="T8" fmla="*/ 162 w 1017"/>
                    <a:gd name="T9" fmla="*/ 34 h 143"/>
                    <a:gd name="T10" fmla="*/ 180 w 1017"/>
                    <a:gd name="T11" fmla="*/ 58 h 143"/>
                    <a:gd name="T12" fmla="*/ 189 w 1017"/>
                    <a:gd name="T13" fmla="*/ 109 h 143"/>
                    <a:gd name="T14" fmla="*/ 201 w 1017"/>
                    <a:gd name="T15" fmla="*/ 76 h 143"/>
                    <a:gd name="T16" fmla="*/ 219 w 1017"/>
                    <a:gd name="T17" fmla="*/ 82 h 143"/>
                    <a:gd name="T18" fmla="*/ 252 w 1017"/>
                    <a:gd name="T19" fmla="*/ 79 h 143"/>
                    <a:gd name="T20" fmla="*/ 327 w 1017"/>
                    <a:gd name="T21" fmla="*/ 100 h 143"/>
                    <a:gd name="T22" fmla="*/ 351 w 1017"/>
                    <a:gd name="T23" fmla="*/ 121 h 143"/>
                    <a:gd name="T24" fmla="*/ 408 w 1017"/>
                    <a:gd name="T25" fmla="*/ 79 h 143"/>
                    <a:gd name="T26" fmla="*/ 465 w 1017"/>
                    <a:gd name="T27" fmla="*/ 103 h 143"/>
                    <a:gd name="T28" fmla="*/ 507 w 1017"/>
                    <a:gd name="T29" fmla="*/ 121 h 143"/>
                    <a:gd name="T30" fmla="*/ 564 w 1017"/>
                    <a:gd name="T31" fmla="*/ 121 h 143"/>
                    <a:gd name="T32" fmla="*/ 615 w 1017"/>
                    <a:gd name="T33" fmla="*/ 88 h 143"/>
                    <a:gd name="T34" fmla="*/ 639 w 1017"/>
                    <a:gd name="T35" fmla="*/ 70 h 143"/>
                    <a:gd name="T36" fmla="*/ 657 w 1017"/>
                    <a:gd name="T37" fmla="*/ 109 h 143"/>
                    <a:gd name="T38" fmla="*/ 672 w 1017"/>
                    <a:gd name="T39" fmla="*/ 49 h 143"/>
                    <a:gd name="T40" fmla="*/ 699 w 1017"/>
                    <a:gd name="T41" fmla="*/ 40 h 143"/>
                    <a:gd name="T42" fmla="*/ 756 w 1017"/>
                    <a:gd name="T43" fmla="*/ 64 h 143"/>
                    <a:gd name="T44" fmla="*/ 801 w 1017"/>
                    <a:gd name="T45" fmla="*/ 67 h 143"/>
                    <a:gd name="T46" fmla="*/ 834 w 1017"/>
                    <a:gd name="T47" fmla="*/ 97 h 143"/>
                    <a:gd name="T48" fmla="*/ 873 w 1017"/>
                    <a:gd name="T49" fmla="*/ 115 h 143"/>
                    <a:gd name="T50" fmla="*/ 891 w 1017"/>
                    <a:gd name="T51" fmla="*/ 85 h 143"/>
                    <a:gd name="T52" fmla="*/ 912 w 1017"/>
                    <a:gd name="T53" fmla="*/ 103 h 143"/>
                    <a:gd name="T54" fmla="*/ 927 w 1017"/>
                    <a:gd name="T55" fmla="*/ 67 h 143"/>
                    <a:gd name="T56" fmla="*/ 972 w 1017"/>
                    <a:gd name="T57" fmla="*/ 112 h 143"/>
                    <a:gd name="T58" fmla="*/ 1017 w 1017"/>
                    <a:gd name="T59" fmla="*/ 12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a:p>
              </p:txBody>
            </p:sp>
            <p:sp>
              <p:nvSpPr>
                <p:cNvPr id="193" name="Text Box 19"/>
                <p:cNvSpPr txBox="1">
                  <a:spLocks noChangeArrowheads="1"/>
                </p:cNvSpPr>
                <p:nvPr/>
              </p:nvSpPr>
              <p:spPr bwMode="auto">
                <a:xfrm>
                  <a:off x="304" y="3503"/>
                  <a:ext cx="97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chemeClr val="tx1">
                          <a:lumMod val="50000"/>
                          <a:lumOff val="50000"/>
                        </a:schemeClr>
                      </a:solidFill>
                      <a:latin typeface="华文楷体" panose="02010600040101010101" pitchFamily="2" charset="-122"/>
                      <a:ea typeface="华文楷体" panose="02010600040101010101" pitchFamily="2" charset="-122"/>
                    </a:rPr>
                    <a:t>发送信号波形</a:t>
                  </a:r>
                </a:p>
              </p:txBody>
            </p:sp>
            <p:sp>
              <p:nvSpPr>
                <p:cNvPr id="194" name="Text Box 22"/>
                <p:cNvSpPr txBox="1">
                  <a:spLocks noChangeArrowheads="1"/>
                </p:cNvSpPr>
                <p:nvPr/>
              </p:nvSpPr>
              <p:spPr bwMode="auto">
                <a:xfrm>
                  <a:off x="1720" y="3007"/>
                  <a:ext cx="204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chemeClr val="tx1">
                          <a:lumMod val="50000"/>
                          <a:lumOff val="50000"/>
                        </a:schemeClr>
                      </a:solidFill>
                      <a:latin typeface="华文楷体" panose="02010600040101010101" pitchFamily="2" charset="-122"/>
                      <a:ea typeface="华文楷体" panose="02010600040101010101" pitchFamily="2" charset="-122"/>
                    </a:rPr>
                    <a:t>实际的信道</a:t>
                  </a:r>
                </a:p>
                <a:p>
                  <a:pPr algn="ctr"/>
                  <a:r>
                    <a:rPr kumimoji="1" lang="zh-CN" altLang="en-US" sz="1200" b="1" dirty="0">
                      <a:solidFill>
                        <a:schemeClr val="tx1">
                          <a:lumMod val="50000"/>
                          <a:lumOff val="50000"/>
                        </a:schemeClr>
                      </a:solidFill>
                      <a:latin typeface="华文楷体" panose="02010600040101010101" pitchFamily="2" charset="-122"/>
                      <a:ea typeface="华文楷体" panose="02010600040101010101" pitchFamily="2" charset="-122"/>
                    </a:rPr>
                    <a:t>（带宽受限、有噪声、干扰和失真）</a:t>
                  </a:r>
                </a:p>
              </p:txBody>
            </p:sp>
            <p:sp>
              <p:nvSpPr>
                <p:cNvPr id="195" name="Text Box 23"/>
                <p:cNvSpPr txBox="1">
                  <a:spLocks noChangeArrowheads="1"/>
                </p:cNvSpPr>
                <p:nvPr/>
              </p:nvSpPr>
              <p:spPr bwMode="auto">
                <a:xfrm>
                  <a:off x="4111" y="3533"/>
                  <a:ext cx="1167"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chemeClr val="tx1">
                          <a:lumMod val="50000"/>
                          <a:lumOff val="50000"/>
                        </a:schemeClr>
                      </a:solidFill>
                      <a:latin typeface="华文楷体" panose="02010600040101010101" pitchFamily="2" charset="-122"/>
                      <a:ea typeface="华文楷体" panose="02010600040101010101" pitchFamily="2" charset="-122"/>
                    </a:rPr>
                    <a:t>接收信号波形</a:t>
                  </a:r>
                </a:p>
              </p:txBody>
            </p:sp>
          </p:grpSp>
        </p:grpSp>
        <p:sp>
          <p:nvSpPr>
            <p:cNvPr id="201" name="矩形 200"/>
            <p:cNvSpPr/>
            <p:nvPr/>
          </p:nvSpPr>
          <p:spPr>
            <a:xfrm>
              <a:off x="3059518" y="6246784"/>
              <a:ext cx="2481014" cy="307777"/>
            </a:xfrm>
            <a:prstGeom prst="rect">
              <a:avLst/>
            </a:prstGeom>
          </p:spPr>
          <p:txBody>
            <a:bodyPr wrap="square">
              <a:spAutoFit/>
            </a:bodyPr>
            <a:lstStyle/>
            <a:p>
              <a:pPr algn="ctr"/>
              <a:r>
                <a:rPr kumimoji="1" lang="zh-CN" altLang="en-US" sz="1400" b="1" dirty="0">
                  <a:solidFill>
                    <a:schemeClr val="accent5">
                      <a:lumMod val="50000"/>
                    </a:schemeClr>
                  </a:solidFill>
                  <a:latin typeface="华文楷体" panose="02010600040101010101" pitchFamily="2" charset="-122"/>
                  <a:ea typeface="华文楷体" panose="02010600040101010101" pitchFamily="2" charset="-122"/>
                </a:rPr>
                <a:t>失真大，不可识别</a:t>
              </a:r>
            </a:p>
          </p:txBody>
        </p:sp>
      </p:grpSp>
    </p:spTree>
    <p:custDataLst>
      <p:tags r:id="rId1"/>
    </p:custDataLst>
    <p:extLst>
      <p:ext uri="{BB962C8B-B14F-4D97-AF65-F5344CB8AC3E}">
        <p14:creationId xmlns:p14="http://schemas.microsoft.com/office/powerpoint/2010/main" val="247328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dissolve">
                                      <p:cBhvr>
                                        <p:cTn id="14" dur="500"/>
                                        <p:tgtEl>
                                          <p:spTgt spid="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信道容量与计算</a:t>
            </a:r>
            <a:endParaRPr lang="zh-CN" altLang="en-US" dirty="0"/>
          </a:p>
        </p:txBody>
      </p:sp>
      <p:sp>
        <p:nvSpPr>
          <p:cNvPr id="3" name="内容占位符 2"/>
          <p:cNvSpPr>
            <a:spLocks noGrp="1"/>
          </p:cNvSpPr>
          <p:nvPr>
            <p:ph idx="1"/>
          </p:nvPr>
        </p:nvSpPr>
        <p:spPr>
          <a:xfrm>
            <a:off x="457200" y="1444977"/>
            <a:ext cx="8229600" cy="1544417"/>
          </a:xfrm>
        </p:spPr>
        <p:txBody>
          <a:bodyPr/>
          <a:lstStyle/>
          <a:p>
            <a:r>
              <a:rPr lang="zh-CN" altLang="en-US" dirty="0"/>
              <a:t>信道容量与香农</a:t>
            </a:r>
            <a:r>
              <a:rPr lang="en-US" altLang="zh-CN" dirty="0"/>
              <a:t>(Shannon)</a:t>
            </a:r>
            <a:r>
              <a:rPr lang="zh-CN" altLang="en-US" dirty="0"/>
              <a:t>公式</a:t>
            </a:r>
            <a:endParaRPr lang="en-US" altLang="zh-CN" dirty="0"/>
          </a:p>
          <a:p>
            <a:pPr lvl="1"/>
            <a:r>
              <a:rPr lang="zh-CN" altLang="en-US" sz="1800" dirty="0"/>
              <a:t>用信息论的理论推导出了带宽受限且有高斯白噪声干扰情况下信道极限，即无差错的信息传输速率</a:t>
            </a:r>
            <a:r>
              <a:rPr lang="en-US" altLang="zh-CN" sz="1800" dirty="0"/>
              <a:t>(</a:t>
            </a:r>
            <a:r>
              <a:rPr lang="zh-CN" altLang="en-US" sz="1800" dirty="0"/>
              <a:t>信道容量</a:t>
            </a:r>
            <a:r>
              <a:rPr lang="en-US" altLang="zh-CN" sz="1800" dirty="0"/>
              <a:t>)</a:t>
            </a:r>
            <a:r>
              <a:rPr lang="zh-CN" altLang="en-US" sz="1800" dirty="0"/>
              <a:t>上限</a:t>
            </a:r>
            <a:endParaRPr lang="en-US" altLang="zh-CN" sz="1800" dirty="0"/>
          </a:p>
          <a:p>
            <a:pPr lvl="1"/>
            <a:r>
              <a:rPr lang="zh-CN" altLang="en-US" sz="1800" dirty="0"/>
              <a:t>可应用于各种链路，无线、同轴电缆、光纤</a:t>
            </a:r>
            <a:r>
              <a:rPr lang="en-US" altLang="zh-CN" sz="1800" dirty="0"/>
              <a:t>……</a:t>
            </a:r>
            <a:endParaRPr lang="en-US" altLang="zh-CN"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19</a:t>
            </a:fld>
            <a:endParaRPr lang="zh-CN" altLang="en-US" dirty="0"/>
          </a:p>
        </p:txBody>
      </p:sp>
      <mc:AlternateContent xmlns:mc="http://schemas.openxmlformats.org/markup-compatibility/2006" xmlns:a14="http://schemas.microsoft.com/office/drawing/2010/main">
        <mc:Choice Requires="a14">
          <p:sp>
            <p:nvSpPr>
              <p:cNvPr id="5" name="Rectangle 2"/>
              <p:cNvSpPr>
                <a:spLocks noChangeArrowheads="1"/>
              </p:cNvSpPr>
              <p:nvPr/>
            </p:nvSpPr>
            <p:spPr bwMode="auto">
              <a:xfrm>
                <a:off x="801666" y="3174342"/>
                <a:ext cx="8026245" cy="1838332"/>
              </a:xfrm>
              <a:prstGeom prst="rect">
                <a:avLst/>
              </a:prstGeom>
              <a:solidFill>
                <a:srgbClr val="F4F4FA"/>
              </a:solidFill>
              <a:ln w="25400">
                <a:solidFill>
                  <a:srgbClr val="DCDCEC"/>
                </a:solidFill>
              </a:ln>
              <a:effectLst/>
            </p:spPr>
            <p:txBody>
              <a:bodyPr wrap="none" anchor="ct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𝑾</m:t>
                      </m:r>
                      <m:func>
                        <m:funcPr>
                          <m:ctrlPr>
                            <a:rPr lang="en-US" altLang="zh-CN" sz="2000" b="1" i="1" smtClean="0">
                              <a:latin typeface="Cambria Math" panose="02040503050406030204" pitchFamily="18" charset="0"/>
                            </a:rPr>
                          </m:ctrlPr>
                        </m:funcPr>
                        <m:fName>
                          <m:sSub>
                            <m:sSubPr>
                              <m:ctrlPr>
                                <a:rPr lang="en-US" altLang="zh-CN" sz="2000" b="1" i="1" smtClean="0">
                                  <a:latin typeface="Cambria Math" panose="02040503050406030204" pitchFamily="18" charset="0"/>
                                </a:rPr>
                              </m:ctrlPr>
                            </m:sSubPr>
                            <m:e>
                              <m:r>
                                <a:rPr lang="en-US" altLang="zh-CN" sz="2000" b="1" i="0" smtClean="0">
                                  <a:latin typeface="Cambria Math" panose="02040503050406030204" pitchFamily="18" charset="0"/>
                                </a:rPr>
                                <m:t>𝐥𝐨𝐠</m:t>
                              </m:r>
                            </m:e>
                            <m:sub>
                              <m:r>
                                <a:rPr lang="en-US" altLang="zh-CN" sz="2000" b="1" i="1" smtClean="0">
                                  <a:latin typeface="Cambria Math" panose="02040503050406030204" pitchFamily="18" charset="0"/>
                                </a:rPr>
                                <m:t>𝟐</m:t>
                              </m:r>
                            </m:sub>
                          </m:sSub>
                        </m:fName>
                        <m:e>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𝟏</m:t>
                          </m:r>
                          <m:r>
                            <a:rPr lang="en-US" altLang="zh-CN" sz="2000" b="1" i="1" smtClean="0">
                              <a:latin typeface="Cambria Math" panose="02040503050406030204" pitchFamily="18" charset="0"/>
                            </a:rPr>
                            <m:t>+</m:t>
                          </m:r>
                          <m:f>
                            <m:fPr>
                              <m:type m:val="lin"/>
                              <m:ctrlPr>
                                <a:rPr lang="en-US" altLang="zh-CN" sz="2000" b="1" i="1" smtClean="0">
                                  <a:latin typeface="Cambria Math" panose="02040503050406030204" pitchFamily="18" charset="0"/>
                                </a:rPr>
                              </m:ctrlPr>
                            </m:fPr>
                            <m:num>
                              <m:r>
                                <a:rPr lang="en-US" altLang="zh-CN" sz="2000" b="1" i="1" smtClean="0">
                                  <a:latin typeface="Cambria Math" panose="02040503050406030204" pitchFamily="18" charset="0"/>
                                </a:rPr>
                                <m:t>𝑺</m:t>
                              </m:r>
                            </m:num>
                            <m:den>
                              <m:r>
                                <a:rPr lang="en-US" altLang="zh-CN" sz="2000" b="1" i="1" smtClean="0">
                                  <a:latin typeface="Cambria Math" panose="02040503050406030204" pitchFamily="18" charset="0"/>
                                </a:rPr>
                                <m:t>𝑵</m:t>
                              </m:r>
                            </m:den>
                          </m:f>
                          <m:r>
                            <a:rPr lang="en-US" altLang="zh-CN" sz="2000" b="1" i="1" smtClean="0">
                              <a:latin typeface="Cambria Math" panose="02040503050406030204" pitchFamily="18" charset="0"/>
                            </a:rPr>
                            <m:t>)</m:t>
                          </m:r>
                        </m:e>
                      </m:func>
                    </m:oMath>
                  </m:oMathPara>
                </a14:m>
                <a:endParaRPr lang="en-US" altLang="zh-CN" sz="1600" b="1" dirty="0">
                  <a:ea typeface="华文楷体" panose="02010600040101010101" pitchFamily="2" charset="-122"/>
                </a:endParaRPr>
              </a:p>
              <a:p>
                <a:pPr>
                  <a:lnSpc>
                    <a:spcPct val="150000"/>
                  </a:lnSpc>
                  <a:spcBef>
                    <a:spcPts val="600"/>
                  </a:spcBef>
                </a:pPr>
                <a:r>
                  <a:rPr lang="zh-CN" altLang="en-US" sz="1600" b="0" dirty="0">
                    <a:ea typeface="华文楷体" panose="02010600040101010101" pitchFamily="2" charset="-122"/>
                  </a:rPr>
                  <a:t>   其中</a:t>
                </a:r>
                <a14:m>
                  <m:oMath xmlns:m="http://schemas.openxmlformats.org/officeDocument/2006/math">
                    <m:r>
                      <a:rPr lang="zh-CN" altLang="en-US" sz="1600" i="1">
                        <a:latin typeface="Cambria Math" panose="02040503050406030204" pitchFamily="18" charset="0"/>
                      </a:rPr>
                      <m:t>，</m:t>
                    </m:r>
                    <m:r>
                      <a:rPr lang="en-US" altLang="zh-CN" sz="1600" b="0" i="1">
                        <a:latin typeface="Cambria Math" panose="02040503050406030204" pitchFamily="18" charset="0"/>
                      </a:rPr>
                      <m:t>𝐶</m:t>
                    </m:r>
                  </m:oMath>
                </a14:m>
                <a:r>
                  <a:rPr lang="en-US" altLang="zh-CN" sz="1600" dirty="0">
                    <a:ea typeface="华文楷体" panose="02010600040101010101" pitchFamily="2" charset="-122"/>
                  </a:rPr>
                  <a:t>--</a:t>
                </a:r>
                <a:r>
                  <a:rPr lang="zh-CN" altLang="en-US" sz="1600" dirty="0">
                    <a:ea typeface="华文楷体" panose="02010600040101010101" pitchFamily="2" charset="-122"/>
                  </a:rPr>
                  <a:t>信道容量</a:t>
                </a:r>
                <a:r>
                  <a:rPr lang="en-US" altLang="zh-CN" sz="1600" dirty="0">
                    <a:ea typeface="华文楷体" panose="02010600040101010101" pitchFamily="2" charset="-122"/>
                  </a:rPr>
                  <a:t>(</a:t>
                </a:r>
                <a14:m>
                  <m:oMath xmlns:m="http://schemas.openxmlformats.org/officeDocument/2006/math">
                    <m:r>
                      <a:rPr lang="en-US" altLang="zh-CN" sz="1600" b="0" i="1" smtClean="0">
                        <a:latin typeface="Cambria Math" panose="02040503050406030204" pitchFamily="18" charset="0"/>
                      </a:rPr>
                      <m:t>𝑏𝑝𝑠</m:t>
                    </m:r>
                  </m:oMath>
                </a14:m>
                <a:r>
                  <a:rPr lang="en-US" altLang="zh-CN" sz="1600" dirty="0">
                    <a:ea typeface="华文楷体" panose="02010600040101010101" pitchFamily="2" charset="-122"/>
                  </a:rPr>
                  <a:t>)</a:t>
                </a:r>
                <a:r>
                  <a:rPr lang="zh-CN" altLang="en-US" sz="1600" dirty="0">
                    <a:ea typeface="华文楷体" panose="02010600040101010101" pitchFamily="2" charset="-122"/>
                  </a:rPr>
                  <a:t>；</a:t>
                </a:r>
                <a14:m>
                  <m:oMath xmlns:m="http://schemas.openxmlformats.org/officeDocument/2006/math">
                    <m:r>
                      <a:rPr lang="en-US" altLang="zh-CN" sz="1600" b="0" i="1" smtClean="0">
                        <a:latin typeface="Cambria Math" panose="02040503050406030204" pitchFamily="18" charset="0"/>
                      </a:rPr>
                      <m:t>𝑊</m:t>
                    </m:r>
                  </m:oMath>
                </a14:m>
                <a:r>
                  <a:rPr lang="en-US" altLang="zh-CN" sz="1600" dirty="0">
                    <a:ea typeface="华文楷体" panose="02010600040101010101" pitchFamily="2" charset="-122"/>
                  </a:rPr>
                  <a:t>-- </a:t>
                </a:r>
                <a:r>
                  <a:rPr lang="zh-CN" altLang="en-US" sz="1600" dirty="0">
                    <a:ea typeface="华文楷体" panose="02010600040101010101" pitchFamily="2" charset="-122"/>
                  </a:rPr>
                  <a:t>信道带宽</a:t>
                </a:r>
                <a:r>
                  <a:rPr lang="en-US" altLang="zh-CN" sz="1600" dirty="0">
                    <a:ea typeface="华文楷体" panose="02010600040101010101" pitchFamily="2" charset="-122"/>
                  </a:rPr>
                  <a:t>(</a:t>
                </a:r>
                <a14:m>
                  <m:oMath xmlns:m="http://schemas.openxmlformats.org/officeDocument/2006/math">
                    <m:r>
                      <m:rPr>
                        <m:sty m:val="p"/>
                      </m:rPr>
                      <a:rPr lang="en-US" altLang="zh-CN" sz="1600" b="0" i="0" smtClean="0">
                        <a:latin typeface="Cambria Math" panose="02040503050406030204" pitchFamily="18" charset="0"/>
                      </a:rPr>
                      <m:t>Hz</m:t>
                    </m:r>
                  </m:oMath>
                </a14:m>
                <a:r>
                  <a:rPr lang="en-US" altLang="zh-CN" sz="1600" dirty="0">
                    <a:ea typeface="华文楷体" panose="02010600040101010101" pitchFamily="2" charset="-122"/>
                  </a:rPr>
                  <a:t>)</a:t>
                </a:r>
                <a:r>
                  <a:rPr lang="zh-CN" altLang="en-US" sz="1600" dirty="0">
                    <a:ea typeface="华文楷体" panose="02010600040101010101" pitchFamily="2" charset="-122"/>
                  </a:rPr>
                  <a:t>；</a:t>
                </a:r>
                <a:r>
                  <a:rPr lang="en-US" altLang="zh-CN" sz="1600" dirty="0"/>
                  <a:t> </a:t>
                </a:r>
                <a14:m>
                  <m:oMath xmlns:m="http://schemas.openxmlformats.org/officeDocument/2006/math">
                    <m:r>
                      <a:rPr lang="en-US" altLang="zh-CN" sz="1600" i="1">
                        <a:latin typeface="Cambria Math" panose="02040503050406030204" pitchFamily="18" charset="0"/>
                      </a:rPr>
                      <m:t>𝑆</m:t>
                    </m:r>
                  </m:oMath>
                </a14:m>
                <a:r>
                  <a:rPr lang="en-US" altLang="zh-CN" sz="1600" dirty="0">
                    <a:ea typeface="华文楷体" panose="02010600040101010101" pitchFamily="2" charset="-122"/>
                  </a:rPr>
                  <a:t>-- </a:t>
                </a:r>
                <a:r>
                  <a:rPr lang="zh-CN" altLang="en-US" sz="1600" dirty="0">
                    <a:ea typeface="华文楷体" panose="02010600040101010101" pitchFamily="2" charset="-122"/>
                  </a:rPr>
                  <a:t>信号平均功率；</a:t>
                </a:r>
                <a:r>
                  <a:rPr lang="en-US" altLang="zh-CN" sz="1600" dirty="0"/>
                  <a:t> </a:t>
                </a:r>
                <a14:m>
                  <m:oMath xmlns:m="http://schemas.openxmlformats.org/officeDocument/2006/math">
                    <m:r>
                      <a:rPr lang="en-US" altLang="zh-CN" sz="1600" b="0" i="1" smtClean="0">
                        <a:latin typeface="Cambria Math" panose="02040503050406030204" pitchFamily="18" charset="0"/>
                      </a:rPr>
                      <m:t>𝑁</m:t>
                    </m:r>
                  </m:oMath>
                </a14:m>
                <a:r>
                  <a:rPr lang="en-US" altLang="zh-CN" sz="1600" dirty="0">
                    <a:ea typeface="华文楷体" panose="02010600040101010101" pitchFamily="2" charset="-122"/>
                  </a:rPr>
                  <a:t>– </a:t>
                </a:r>
                <a:r>
                  <a:rPr lang="zh-CN" altLang="en-US" sz="1600" dirty="0">
                    <a:ea typeface="华文楷体" panose="02010600040101010101" pitchFamily="2" charset="-122"/>
                  </a:rPr>
                  <a:t>高斯白噪声功率</a:t>
                </a:r>
                <a:endParaRPr lang="en-US" altLang="zh-CN" sz="1600" dirty="0">
                  <a:ea typeface="华文楷体" panose="02010600040101010101" pitchFamily="2" charset="-122"/>
                </a:endParaRPr>
              </a:p>
              <a:p>
                <a:pPr>
                  <a:lnSpc>
                    <a:spcPct val="150000"/>
                  </a:lnSpc>
                  <a:spcBef>
                    <a:spcPts val="600"/>
                  </a:spcBef>
                </a:pPr>
                <a:endParaRPr lang="en-US" altLang="zh-CN" sz="1600" dirty="0">
                  <a:ea typeface="华文楷体" panose="02010600040101010101" pitchFamily="2" charset="-122"/>
                </a:endParaRPr>
              </a:p>
              <a:p>
                <a:pPr>
                  <a:lnSpc>
                    <a:spcPct val="150000"/>
                  </a:lnSpc>
                </a:pPr>
                <a:r>
                  <a:rPr lang="en-US" altLang="zh-CN" sz="1600" dirty="0">
                    <a:ea typeface="华文楷体" panose="02010600040101010101" pitchFamily="2" charset="-122"/>
                  </a:rPr>
                  <a:t>              </a:t>
                </a:r>
                <a14:m>
                  <m:oMath xmlns:m="http://schemas.openxmlformats.org/officeDocument/2006/math">
                    <m:f>
                      <m:fPr>
                        <m:type m:val="lin"/>
                        <m:ctrlPr>
                          <a:rPr lang="en-US" altLang="zh-CN" sz="1600" i="1">
                            <a:latin typeface="Cambria Math" panose="02040503050406030204" pitchFamily="18" charset="0"/>
                          </a:rPr>
                        </m:ctrlPr>
                      </m:fPr>
                      <m:num>
                        <m:r>
                          <a:rPr lang="en-US" altLang="zh-CN" sz="1600" i="1">
                            <a:latin typeface="Cambria Math" panose="02040503050406030204" pitchFamily="18" charset="0"/>
                          </a:rPr>
                          <m:t>𝑆</m:t>
                        </m:r>
                      </m:num>
                      <m:den>
                        <m:r>
                          <a:rPr lang="en-US" altLang="zh-CN" sz="1600" i="1">
                            <a:latin typeface="Cambria Math" panose="02040503050406030204" pitchFamily="18" charset="0"/>
                          </a:rPr>
                          <m:t>𝑁</m:t>
                        </m:r>
                      </m:den>
                    </m:f>
                  </m:oMath>
                </a14:m>
                <a:r>
                  <a:rPr lang="en-US" altLang="zh-CN" sz="1600" dirty="0">
                    <a:ea typeface="华文楷体" panose="02010600040101010101" pitchFamily="2" charset="-122"/>
                  </a:rPr>
                  <a:t>--</a:t>
                </a:r>
                <a:r>
                  <a:rPr lang="zh-CN" altLang="en-US" sz="1600" dirty="0">
                    <a:ea typeface="华文楷体" panose="02010600040101010101" pitchFamily="2" charset="-122"/>
                  </a:rPr>
                  <a:t>信噪比，常表示为</a:t>
                </a:r>
                <a14:m>
                  <m:oMath xmlns:m="http://schemas.openxmlformats.org/officeDocument/2006/math">
                    <m:r>
                      <m:rPr>
                        <m:sty m:val="p"/>
                      </m:rPr>
                      <a:rPr lang="en-US" altLang="zh-CN" sz="1600">
                        <a:latin typeface="Cambria Math" panose="02040503050406030204" pitchFamily="18" charset="0"/>
                      </a:rPr>
                      <m:t>SNR</m:t>
                    </m:r>
                  </m:oMath>
                </a14:m>
                <a:r>
                  <a:rPr lang="en-US" altLang="zh-CN" sz="1600" dirty="0">
                    <a:ea typeface="华文楷体" panose="02010600040101010101" pitchFamily="2" charset="-122"/>
                  </a:rPr>
                  <a:t>(</a:t>
                </a:r>
                <a14:m>
                  <m:oMath xmlns:m="http://schemas.openxmlformats.org/officeDocument/2006/math">
                    <m:r>
                      <m:rPr>
                        <m:sty m:val="p"/>
                      </m:rPr>
                      <a:rPr lang="en-US" altLang="zh-CN" sz="1600" b="0" i="0" smtClean="0">
                        <a:latin typeface="Cambria Math" panose="02040503050406030204" pitchFamily="18" charset="0"/>
                      </a:rPr>
                      <m:t>d</m:t>
                    </m:r>
                    <m:r>
                      <m:rPr>
                        <m:sty m:val="p"/>
                      </m:rPr>
                      <a:rPr lang="en-US" altLang="zh-CN" sz="1600" i="0">
                        <a:latin typeface="Cambria Math" panose="02040503050406030204" pitchFamily="18" charset="0"/>
                      </a:rPr>
                      <m:t>B</m:t>
                    </m:r>
                    <m:r>
                      <a:rPr lang="en-US" altLang="zh-CN" sz="1600" b="0" i="0" smtClean="0">
                        <a:latin typeface="Cambria Math" panose="02040503050406030204" pitchFamily="18" charset="0"/>
                      </a:rPr>
                      <m:t> </m:t>
                    </m:r>
                    <m:r>
                      <a:rPr lang="zh-CN" altLang="en-US" sz="1600" i="1" smtClean="0">
                        <a:solidFill>
                          <a:srgbClr val="FF0000"/>
                        </a:solidFill>
                        <a:latin typeface="Cambria Math" panose="02040503050406030204" pitchFamily="18" charset="0"/>
                      </a:rPr>
                      <m:t>或</m:t>
                    </m:r>
                  </m:oMath>
                </a14:m>
                <a:r>
                  <a:rPr lang="zh-CN" altLang="en-US" sz="1600" dirty="0">
                    <a:ea typeface="华文楷体" panose="02010600040101010101" pitchFamily="2" charset="-122"/>
                  </a:rPr>
                  <a:t> 分贝，常用相对单位</a:t>
                </a:r>
                <a:r>
                  <a:rPr lang="en-US" altLang="zh-CN" sz="1600" dirty="0">
                    <a:ea typeface="华文楷体" panose="02010600040101010101" pitchFamily="2" charset="-122"/>
                  </a:rPr>
                  <a:t>)</a:t>
                </a:r>
                <a:r>
                  <a:rPr lang="zh-CN" altLang="en-US" sz="1600" dirty="0">
                    <a:ea typeface="华文楷体" panose="02010600040101010101" pitchFamily="2" charset="-122"/>
                  </a:rPr>
                  <a:t>：</a:t>
                </a:r>
                <a:r>
                  <a:rPr lang="en-US" altLang="zh-CN" sz="1600" dirty="0"/>
                  <a:t> </a:t>
                </a:r>
                <a14:m>
                  <m:oMath xmlns:m="http://schemas.openxmlformats.org/officeDocument/2006/math">
                    <m:r>
                      <m:rPr>
                        <m:sty m:val="p"/>
                      </m:rPr>
                      <a:rPr lang="en-US" altLang="zh-CN" sz="1600" b="0" i="0" smtClean="0">
                        <a:latin typeface="Cambria Math" panose="02040503050406030204" pitchFamily="18" charset="0"/>
                      </a:rPr>
                      <m:t>SNR</m:t>
                    </m:r>
                    <m:r>
                      <a:rPr lang="en-US" altLang="zh-CN" sz="1600" b="0" i="0" smtClean="0">
                        <a:latin typeface="Cambria Math" panose="02040503050406030204" pitchFamily="18" charset="0"/>
                      </a:rPr>
                      <m:t>=10</m:t>
                    </m:r>
                    <m:func>
                      <m:funcPr>
                        <m:ctrlPr>
                          <a:rPr lang="en-US" altLang="zh-CN" sz="1600" b="0" i="1" smtClean="0">
                            <a:latin typeface="Cambria Math" panose="02040503050406030204" pitchFamily="18" charset="0"/>
                          </a:rPr>
                        </m:ctrlPr>
                      </m:funcPr>
                      <m:fName>
                        <m:sSub>
                          <m:sSubPr>
                            <m:ctrlPr>
                              <a:rPr lang="en-US" altLang="zh-CN" sz="1600" b="0" i="1" smtClean="0">
                                <a:latin typeface="Cambria Math" panose="02040503050406030204" pitchFamily="18" charset="0"/>
                              </a:rPr>
                            </m:ctrlPr>
                          </m:sSubPr>
                          <m:e>
                            <m:r>
                              <m:rPr>
                                <m:sty m:val="p"/>
                              </m:rPr>
                              <a:rPr lang="en-US" altLang="zh-CN" sz="1600" b="0" i="0" smtClean="0">
                                <a:latin typeface="Cambria Math" panose="02040503050406030204" pitchFamily="18" charset="0"/>
                              </a:rPr>
                              <m:t>log</m:t>
                            </m:r>
                          </m:e>
                          <m:sub>
                            <m:r>
                              <a:rPr lang="en-US" altLang="zh-CN" sz="1600" b="0" i="1" smtClean="0">
                                <a:latin typeface="Cambria Math" panose="02040503050406030204" pitchFamily="18" charset="0"/>
                              </a:rPr>
                              <m:t>10</m:t>
                            </m:r>
                          </m:sub>
                        </m:sSub>
                      </m:fName>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𝑆</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𝑁</m:t>
                        </m:r>
                        <m:r>
                          <a:rPr lang="en-US" altLang="zh-CN" sz="1600" b="0" i="1" smtClean="0">
                            <a:latin typeface="Cambria Math" panose="02040503050406030204" pitchFamily="18" charset="0"/>
                          </a:rPr>
                          <m:t>)</m:t>
                        </m:r>
                      </m:e>
                    </m:func>
                  </m:oMath>
                </a14:m>
                <a:endParaRPr lang="zh-CN" altLang="en-US" sz="1600" dirty="0">
                  <a:ea typeface="华文楷体" panose="02010600040101010101" pitchFamily="2" charset="-122"/>
                </a:endParaRPr>
              </a:p>
            </p:txBody>
          </p:sp>
        </mc:Choice>
        <mc:Fallback xmlns="">
          <p:sp>
            <p:nvSpPr>
              <p:cNvPr id="5" name="Rectangle 2"/>
              <p:cNvSpPr>
                <a:spLocks noRot="1" noChangeAspect="1" noMove="1" noResize="1" noEditPoints="1" noAdjustHandles="1" noChangeArrowheads="1" noChangeShapeType="1" noTextEdit="1"/>
              </p:cNvSpPr>
              <p:nvPr/>
            </p:nvSpPr>
            <p:spPr bwMode="auto">
              <a:xfrm>
                <a:off x="801666" y="3174342"/>
                <a:ext cx="8026245" cy="1838332"/>
              </a:xfrm>
              <a:prstGeom prst="rect">
                <a:avLst/>
              </a:prstGeom>
              <a:blipFill>
                <a:blip r:embed="rId4"/>
                <a:stretch>
                  <a:fillRect t="-17705" r="-1212" b="-23607"/>
                </a:stretch>
              </a:blipFill>
              <a:ln w="25400">
                <a:solidFill>
                  <a:srgbClr val="DCDCEC"/>
                </a:solid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内容占位符 2"/>
              <p:cNvSpPr txBox="1">
                <a:spLocks/>
              </p:cNvSpPr>
              <p:nvPr/>
            </p:nvSpPr>
            <p:spPr bwMode="auto">
              <a:xfrm>
                <a:off x="481322" y="5290286"/>
                <a:ext cx="8229600" cy="132551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lvl="1"/>
                <a:r>
                  <a:rPr lang="zh-CN" altLang="en-US" sz="1800" kern="0" dirty="0"/>
                  <a:t>例如：标准音频电话</a:t>
                </a:r>
                <a:endParaRPr lang="en-US" altLang="zh-CN" sz="1800" kern="0" dirty="0"/>
              </a:p>
              <a:p>
                <a:pPr lvl="2"/>
                <a:r>
                  <a:rPr lang="zh-CN" altLang="en-US" kern="0" dirty="0"/>
                  <a:t>典型频率范围</a:t>
                </a:r>
                <a:r>
                  <a:rPr lang="en-US" altLang="zh-CN" kern="0" dirty="0"/>
                  <a:t>300~3300</a:t>
                </a:r>
                <a:r>
                  <a:rPr lang="en-US" altLang="zh-CN" dirty="0"/>
                  <a:t> </a:t>
                </a:r>
                <a14:m>
                  <m:oMath xmlns:m="http://schemas.openxmlformats.org/officeDocument/2006/math">
                    <m:r>
                      <m:rPr>
                        <m:sty m:val="p"/>
                      </m:rPr>
                      <a:rPr lang="en-US" altLang="zh-CN">
                        <a:latin typeface="Cambria Math" panose="02040503050406030204" pitchFamily="18" charset="0"/>
                      </a:rPr>
                      <m:t>Hz</m:t>
                    </m:r>
                  </m:oMath>
                </a14:m>
                <a:r>
                  <a:rPr lang="zh-CN" altLang="en-US" kern="0" dirty="0"/>
                  <a:t>，</a:t>
                </a:r>
                <a14:m>
                  <m:oMath xmlns:m="http://schemas.openxmlformats.org/officeDocument/2006/math">
                    <m:r>
                      <a:rPr lang="en-US" altLang="zh-CN" b="0" i="1" smtClean="0">
                        <a:latin typeface="Cambria Math" panose="02040503050406030204" pitchFamily="18" charset="0"/>
                      </a:rPr>
                      <m:t>𝑊</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3000</m:t>
                    </m:r>
                    <m:r>
                      <m:rPr>
                        <m:sty m:val="p"/>
                      </m:rPr>
                      <a:rPr lang="en-US" altLang="zh-CN" b="0" i="0" smtClean="0">
                        <a:latin typeface="Cambria Math" panose="02040503050406030204" pitchFamily="18" charset="0"/>
                        <a:ea typeface="Cambria Math" panose="02040503050406030204" pitchFamily="18" charset="0"/>
                      </a:rPr>
                      <m:t>Hz</m:t>
                    </m:r>
                  </m:oMath>
                </a14:m>
                <a:r>
                  <a:rPr lang="zh-CN" altLang="en-US" kern="0" dirty="0"/>
                  <a:t>；</a:t>
                </a:r>
                <a:endParaRPr lang="en-US" altLang="zh-CN" kern="0" dirty="0"/>
              </a:p>
              <a:p>
                <a:pPr lvl="2"/>
                <a:r>
                  <a:rPr lang="zh-CN" altLang="en-US" kern="0" dirty="0"/>
                  <a:t>假设典型信噪比</a:t>
                </a:r>
                <a14:m>
                  <m:oMath xmlns:m="http://schemas.openxmlformats.org/officeDocument/2006/math">
                    <m:r>
                      <m:rPr>
                        <m:sty m:val="p"/>
                      </m:rPr>
                      <a:rPr lang="en-US" altLang="zh-CN">
                        <a:latin typeface="Cambria Math" panose="02040503050406030204" pitchFamily="18" charset="0"/>
                      </a:rPr>
                      <m:t>SNR</m:t>
                    </m:r>
                    <m:r>
                      <a:rPr lang="en-US" altLang="zh-CN" i="1" smtClean="0">
                        <a:latin typeface="Cambria Math" panose="02040503050406030204" pitchFamily="18" charset="0"/>
                      </a:rPr>
                      <m:t>=</m:t>
                    </m:r>
                    <m:r>
                      <a:rPr lang="en-US" altLang="zh-CN" b="0" i="1" smtClean="0">
                        <a:latin typeface="Cambria Math" panose="02040503050406030204" pitchFamily="18" charset="0"/>
                      </a:rPr>
                      <m:t>30</m:t>
                    </m:r>
                    <m:r>
                      <m:rPr>
                        <m:sty m:val="p"/>
                      </m:rPr>
                      <a:rPr lang="en-US" altLang="zh-CN">
                        <a:latin typeface="Cambria Math" panose="02040503050406030204" pitchFamily="18" charset="0"/>
                      </a:rPr>
                      <m:t>dB</m:t>
                    </m:r>
                  </m:oMath>
                </a14:m>
                <a:r>
                  <a:rPr lang="zh-CN" altLang="en-US" kern="0" dirty="0"/>
                  <a:t>，即</a:t>
                </a:r>
                <a14:m>
                  <m:oMath xmlns:m="http://schemas.openxmlformats.org/officeDocument/2006/math">
                    <m:f>
                      <m:fPr>
                        <m:type m:val="lin"/>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𝑆</m:t>
                        </m:r>
                      </m:num>
                      <m:den>
                        <m:r>
                          <a:rPr lang="en-US" altLang="zh-CN" b="0" i="1" dirty="0" smtClean="0">
                            <a:latin typeface="Cambria Math" panose="02040503050406030204" pitchFamily="18" charset="0"/>
                          </a:rPr>
                          <m:t>𝑁</m:t>
                        </m:r>
                        <m:r>
                          <a:rPr lang="en-US" altLang="zh-CN" b="0" i="1" dirty="0" smtClean="0">
                            <a:latin typeface="Cambria Math" panose="02040503050406030204" pitchFamily="18" charset="0"/>
                          </a:rPr>
                          <m:t>=1000</m:t>
                        </m:r>
                      </m:den>
                    </m:f>
                  </m:oMath>
                </a14:m>
                <a:endParaRPr lang="en-US" altLang="zh-CN" kern="0" dirty="0"/>
              </a:p>
              <a:p>
                <a:pPr lvl="2"/>
                <a:r>
                  <a:rPr lang="zh-CN" altLang="en-US" kern="0" dirty="0"/>
                  <a:t>则</a:t>
                </a:r>
                <a:r>
                  <a:rPr lang="en-US" altLang="zh-CN" kern="0" dirty="0"/>
                  <a:t>:</a:t>
                </a:r>
                <a:r>
                  <a:rPr lang="zh-CN" altLang="en-US" kern="0" dirty="0"/>
                  <a:t> </a:t>
                </a:r>
                <a14:m>
                  <m:oMath xmlns:m="http://schemas.openxmlformats.org/officeDocument/2006/math">
                    <m:r>
                      <a:rPr lang="en-US" altLang="zh-CN" i="1">
                        <a:latin typeface="Cambria Math" panose="02040503050406030204" pitchFamily="18" charset="0"/>
                      </a:rPr>
                      <m:t>𝐶</m:t>
                    </m:r>
                    <m:r>
                      <a:rPr lang="en-US" altLang="zh-CN" i="1">
                        <a:latin typeface="Cambria Math" panose="02040503050406030204" pitchFamily="18" charset="0"/>
                      </a:rPr>
                      <m:t>=3000</m:t>
                    </m:r>
                    <m:func>
                      <m:funcPr>
                        <m:ctrlPr>
                          <a:rPr lang="en-US" altLang="zh-CN" i="1" smtClean="0">
                            <a:latin typeface="Cambria Math" panose="02040503050406030204" pitchFamily="18" charset="0"/>
                          </a:rPr>
                        </m:ctrlPr>
                      </m:funcPr>
                      <m:fName>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log</m:t>
                            </m:r>
                          </m:e>
                          <m:sub>
                            <m:r>
                              <a:rPr lang="en-US" altLang="zh-CN" i="1">
                                <a:latin typeface="Cambria Math" panose="02040503050406030204" pitchFamily="18" charset="0"/>
                              </a:rPr>
                              <m:t>2</m:t>
                            </m:r>
                          </m:sub>
                        </m:sSub>
                      </m:fName>
                      <m:e>
                        <m:d>
                          <m:dPr>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b="0" i="1" smtClean="0">
                                <a:latin typeface="Cambria Math" panose="02040503050406030204" pitchFamily="18" charset="0"/>
                              </a:rPr>
                              <m:t>1000</m:t>
                            </m:r>
                          </m:e>
                        </m:d>
                      </m:e>
                    </m:func>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30</m:t>
                    </m:r>
                    <m:r>
                      <a:rPr lang="en-US" altLang="zh-CN" b="0" i="1" smtClean="0">
                        <a:latin typeface="Cambria Math" panose="02040503050406030204" pitchFamily="18" charset="0"/>
                        <a:ea typeface="Cambria Math" panose="02040503050406030204" pitchFamily="18" charset="0"/>
                      </a:rPr>
                      <m:t>𝑘𝑏𝑝𝑠</m:t>
                    </m:r>
                  </m:oMath>
                </a14:m>
                <a:endParaRPr lang="en-US" altLang="zh-CN" kern="0" dirty="0"/>
              </a:p>
            </p:txBody>
          </p:sp>
        </mc:Choice>
        <mc:Fallback xmlns="">
          <p:sp>
            <p:nvSpPr>
              <p:cNvPr id="6" name="内容占位符 2"/>
              <p:cNvSpPr txBox="1">
                <a:spLocks noRot="1" noChangeAspect="1" noMove="1" noResize="1" noEditPoints="1" noAdjustHandles="1" noChangeArrowheads="1" noChangeShapeType="1" noTextEdit="1"/>
              </p:cNvSpPr>
              <p:nvPr/>
            </p:nvSpPr>
            <p:spPr bwMode="auto">
              <a:xfrm>
                <a:off x="481322" y="5290286"/>
                <a:ext cx="8229600" cy="1325515"/>
              </a:xfrm>
              <a:prstGeom prst="rect">
                <a:avLst/>
              </a:prstGeom>
              <a:blipFill>
                <a:blip r:embed="rId5"/>
                <a:stretch>
                  <a:fillRect t="-4147" b="-2765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000477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dissolve">
                                      <p:cBhvr>
                                        <p:cTn id="14" dur="500"/>
                                        <p:tgtEl>
                                          <p:spTgt spid="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up)">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dissolv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信道容量与计算</a:t>
            </a:r>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20</a:t>
            </a:fld>
            <a:endParaRPr lang="zh-CN" altLang="en-US" dirty="0"/>
          </a:p>
        </p:txBody>
      </p:sp>
      <p:pic>
        <p:nvPicPr>
          <p:cNvPr id="5" name="图片 4">
            <a:extLst>
              <a:ext uri="{FF2B5EF4-FFF2-40B4-BE49-F238E27FC236}">
                <a16:creationId xmlns:a16="http://schemas.microsoft.com/office/drawing/2014/main" id="{D06D34E1-0676-491D-8E69-622A3699B3A3}"/>
              </a:ext>
            </a:extLst>
          </p:cNvPr>
          <p:cNvPicPr>
            <a:picLocks noChangeAspect="1"/>
          </p:cNvPicPr>
          <p:nvPr/>
        </p:nvPicPr>
        <p:blipFill>
          <a:blip r:embed="rId3"/>
          <a:stretch>
            <a:fillRect/>
          </a:stretch>
        </p:blipFill>
        <p:spPr>
          <a:xfrm>
            <a:off x="208941" y="1371248"/>
            <a:ext cx="8726118" cy="5029902"/>
          </a:xfrm>
          <a:prstGeom prst="rect">
            <a:avLst/>
          </a:prstGeom>
        </p:spPr>
      </p:pic>
    </p:spTree>
    <p:extLst>
      <p:ext uri="{BB962C8B-B14F-4D97-AF65-F5344CB8AC3E}">
        <p14:creationId xmlns:p14="http://schemas.microsoft.com/office/powerpoint/2010/main" val="3228091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提纲</a:t>
            </a:r>
          </a:p>
        </p:txBody>
      </p:sp>
      <p:sp>
        <p:nvSpPr>
          <p:cNvPr id="3" name="内容占位符 2"/>
          <p:cNvSpPr>
            <a:spLocks noGrp="1"/>
          </p:cNvSpPr>
          <p:nvPr>
            <p:ph idx="1"/>
          </p:nvPr>
        </p:nvSpPr>
        <p:spPr>
          <a:xfrm>
            <a:off x="457200" y="1444978"/>
            <a:ext cx="8229600" cy="4425243"/>
          </a:xfrm>
        </p:spPr>
        <p:txBody>
          <a:bodyPr/>
          <a:lstStyle/>
          <a:p>
            <a:pPr>
              <a:lnSpc>
                <a:spcPct val="150000"/>
              </a:lnSpc>
            </a:pPr>
            <a:r>
              <a:rPr lang="en-US" altLang="zh-CN" dirty="0"/>
              <a:t>2.1  </a:t>
            </a:r>
            <a:r>
              <a:rPr lang="zh-CN" altLang="en-US" dirty="0"/>
              <a:t>数据通信的基本概念</a:t>
            </a:r>
            <a:endParaRPr lang="en-US" altLang="zh-CN" dirty="0"/>
          </a:p>
          <a:p>
            <a:pPr>
              <a:lnSpc>
                <a:spcPct val="150000"/>
              </a:lnSpc>
            </a:pPr>
            <a:r>
              <a:rPr lang="en-US" altLang="zh-CN" dirty="0"/>
              <a:t>2.2  </a:t>
            </a:r>
            <a:r>
              <a:rPr lang="zh-CN" altLang="en-US" dirty="0"/>
              <a:t>网络构件</a:t>
            </a:r>
            <a:endParaRPr lang="en-US" altLang="zh-CN" dirty="0"/>
          </a:p>
          <a:p>
            <a:pPr>
              <a:lnSpc>
                <a:spcPct val="150000"/>
              </a:lnSpc>
            </a:pPr>
            <a:r>
              <a:rPr lang="en-US" altLang="zh-CN"/>
              <a:t>2.3  </a:t>
            </a:r>
            <a:r>
              <a:rPr lang="zh-CN" altLang="en-US"/>
              <a:t>组</a:t>
            </a:r>
            <a:r>
              <a:rPr lang="zh-CN" altLang="en-US" dirty="0"/>
              <a:t>帧</a:t>
            </a:r>
          </a:p>
          <a:p>
            <a:r>
              <a:rPr lang="en-US" altLang="zh-CN"/>
              <a:t>2.4  </a:t>
            </a:r>
            <a:r>
              <a:rPr lang="zh-CN" altLang="en-US" dirty="0"/>
              <a:t>差错检测</a:t>
            </a:r>
          </a:p>
          <a:p>
            <a:r>
              <a:rPr lang="en-US" altLang="zh-CN"/>
              <a:t>2.5  </a:t>
            </a:r>
            <a:r>
              <a:rPr lang="zh-CN" altLang="en-US" dirty="0"/>
              <a:t>可靠传输</a:t>
            </a:r>
          </a:p>
          <a:p>
            <a:r>
              <a:rPr lang="en-US" altLang="zh-CN"/>
              <a:t>2.6  </a:t>
            </a:r>
            <a:r>
              <a:rPr lang="zh-CN" altLang="en-US" dirty="0"/>
              <a:t>媒体共享</a:t>
            </a:r>
            <a:endParaRPr lang="en-US" altLang="zh-CN" dirty="0"/>
          </a:p>
          <a:p>
            <a:r>
              <a:rPr lang="en-US" altLang="zh-CN"/>
              <a:t>2.7  </a:t>
            </a:r>
            <a:r>
              <a:rPr lang="zh-CN" altLang="en-US" dirty="0"/>
              <a:t>以太网</a:t>
            </a:r>
          </a:p>
        </p:txBody>
      </p:sp>
      <p:sp>
        <p:nvSpPr>
          <p:cNvPr id="6" name="灯片编号占位符 5"/>
          <p:cNvSpPr>
            <a:spLocks noGrp="1"/>
          </p:cNvSpPr>
          <p:nvPr>
            <p:ph type="sldNum" sz="quarter" idx="11"/>
          </p:nvPr>
        </p:nvSpPr>
        <p:spPr/>
        <p:txBody>
          <a:bodyPr/>
          <a:lstStyle/>
          <a:p>
            <a:fld id="{1A7A0873-376A-4A4E-91BA-7081C35D808C}" type="slidenum">
              <a:rPr lang="zh-CN" altLang="en-US" smtClean="0"/>
              <a:pPr/>
              <a:t>21</a:t>
            </a:fld>
            <a:endParaRPr lang="zh-CN" altLang="en-US" dirty="0"/>
          </a:p>
        </p:txBody>
      </p:sp>
    </p:spTree>
    <p:extLst>
      <p:ext uri="{BB962C8B-B14F-4D97-AF65-F5344CB8AC3E}">
        <p14:creationId xmlns:p14="http://schemas.microsoft.com/office/powerpoint/2010/main" val="1101223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nodeType="afterEffect">
                                  <p:stCondLst>
                                    <p:cond delay="0"/>
                                  </p:stCondLst>
                                  <p:childTnLst>
                                    <p:set>
                                      <p:cBhvr override="childStyle">
                                        <p:cTn id="6" dur="2000" fill="hold"/>
                                        <p:tgtEl>
                                          <p:spTgt spid="3">
                                            <p:txEl>
                                              <p:pRg st="1" end="1"/>
                                            </p:txEl>
                                          </p:spTgt>
                                        </p:tgtEl>
                                        <p:attrNameLst>
                                          <p:attrName>style.textDecorationUnderline</p:attrName>
                                        </p:attrNameLst>
                                      </p:cBhvr>
                                      <p:to>
                                        <p:strVal val="true"/>
                                      </p:to>
                                    </p:set>
                                  </p:childTnLst>
                                </p:cTn>
                              </p:par>
                              <p:par>
                                <p:cTn id="7" presetID="3" presetClass="emph" presetSubtype="2" fill="hold" nodeType="withEffect">
                                  <p:stCondLst>
                                    <p:cond delay="0"/>
                                  </p:stCondLst>
                                  <p:childTnLst>
                                    <p:animClr clrSpc="rgb" dir="cw">
                                      <p:cBhvr override="childStyle">
                                        <p:cTn id="8" dur="1000" fill="hold"/>
                                        <p:tgtEl>
                                          <p:spTgt spid="3">
                                            <p:txEl>
                                              <p:pRg st="1" end="1"/>
                                            </p:txEl>
                                          </p:spTgt>
                                        </p:tgtEl>
                                        <p:attrNameLst>
                                          <p:attrName>style.color</p:attrName>
                                        </p:attrNameLst>
                                      </p:cBhvr>
                                      <p:to>
                                        <a:srgbClr val="8D1F6E"/>
                                      </p:to>
                                    </p:animClr>
                                  </p:childTnLst>
                                </p:cTn>
                              </p:par>
                              <p:par>
                                <p:cTn id="9" presetID="9" presetClass="emph" presetSubtype="0" nodeType="withEffect">
                                  <p:stCondLst>
                                    <p:cond delay="0"/>
                                  </p:stCondLst>
                                  <p:childTnLst>
                                    <p:set>
                                      <p:cBhvr rctx="PPT">
                                        <p:cTn id="10" dur="indefinite"/>
                                        <p:tgtEl>
                                          <p:spTgt spid="3">
                                            <p:txEl>
                                              <p:pRg st="2" end="2"/>
                                            </p:txEl>
                                          </p:spTgt>
                                        </p:tgtEl>
                                        <p:attrNameLst>
                                          <p:attrName>style.opacity</p:attrName>
                                        </p:attrNameLst>
                                      </p:cBhvr>
                                      <p:to>
                                        <p:strVal val="0.25"/>
                                      </p:to>
                                    </p:set>
                                    <p:animEffect filter="image" prLst="opacity: 0.25">
                                      <p:cBhvr rctx="IE">
                                        <p:cTn id="11" dur="indefinite"/>
                                        <p:tgtEl>
                                          <p:spTgt spid="3">
                                            <p:txEl>
                                              <p:pRg st="2" end="2"/>
                                            </p:txEl>
                                          </p:spTgt>
                                        </p:tgtEl>
                                      </p:cBhvr>
                                    </p:animEffect>
                                  </p:childTnLst>
                                </p:cTn>
                              </p:par>
                              <p:par>
                                <p:cTn id="12" presetID="9" presetClass="emph" presetSubtype="0" nodeType="withEffect">
                                  <p:stCondLst>
                                    <p:cond delay="0"/>
                                  </p:stCondLst>
                                  <p:childTnLst>
                                    <p:set>
                                      <p:cBhvr rctx="PPT">
                                        <p:cTn id="13" dur="indefinite"/>
                                        <p:tgtEl>
                                          <p:spTgt spid="3">
                                            <p:txEl>
                                              <p:pRg st="3" end="3"/>
                                            </p:txEl>
                                          </p:spTgt>
                                        </p:tgtEl>
                                        <p:attrNameLst>
                                          <p:attrName>style.opacity</p:attrName>
                                        </p:attrNameLst>
                                      </p:cBhvr>
                                      <p:to>
                                        <p:strVal val="0.25"/>
                                      </p:to>
                                    </p:set>
                                    <p:animEffect filter="image" prLst="opacity: 0.25">
                                      <p:cBhvr rctx="IE">
                                        <p:cTn id="14" dur="indefinite"/>
                                        <p:tgtEl>
                                          <p:spTgt spid="3">
                                            <p:txEl>
                                              <p:pRg st="3" end="3"/>
                                            </p:txEl>
                                          </p:spTgt>
                                        </p:tgtEl>
                                      </p:cBhvr>
                                    </p:animEffect>
                                  </p:childTnLst>
                                </p:cTn>
                              </p:par>
                              <p:par>
                                <p:cTn id="15" presetID="9" presetClass="emph" presetSubtype="0" nodeType="withEffect">
                                  <p:stCondLst>
                                    <p:cond delay="0"/>
                                  </p:stCondLst>
                                  <p:childTnLst>
                                    <p:set>
                                      <p:cBhvr rctx="PPT">
                                        <p:cTn id="16" dur="indefinite"/>
                                        <p:tgtEl>
                                          <p:spTgt spid="3">
                                            <p:txEl>
                                              <p:pRg st="4" end="4"/>
                                            </p:txEl>
                                          </p:spTgt>
                                        </p:tgtEl>
                                        <p:attrNameLst>
                                          <p:attrName>style.opacity</p:attrName>
                                        </p:attrNameLst>
                                      </p:cBhvr>
                                      <p:to>
                                        <p:strVal val="0.25"/>
                                      </p:to>
                                    </p:set>
                                    <p:animEffect filter="image" prLst="opacity: 0.25">
                                      <p:cBhvr rctx="IE">
                                        <p:cTn id="17" dur="indefinite"/>
                                        <p:tgtEl>
                                          <p:spTgt spid="3">
                                            <p:txEl>
                                              <p:pRg st="4" end="4"/>
                                            </p:txEl>
                                          </p:spTgt>
                                        </p:tgtEl>
                                      </p:cBhvr>
                                    </p:animEffect>
                                  </p:childTnLst>
                                </p:cTn>
                              </p:par>
                              <p:par>
                                <p:cTn id="18" presetID="9" presetClass="emph" presetSubtype="0" nodeType="withEffect">
                                  <p:stCondLst>
                                    <p:cond delay="0"/>
                                  </p:stCondLst>
                                  <p:childTnLst>
                                    <p:set>
                                      <p:cBhvr rctx="PPT">
                                        <p:cTn id="19" dur="indefinite"/>
                                        <p:tgtEl>
                                          <p:spTgt spid="3">
                                            <p:txEl>
                                              <p:pRg st="5" end="5"/>
                                            </p:txEl>
                                          </p:spTgt>
                                        </p:tgtEl>
                                        <p:attrNameLst>
                                          <p:attrName>style.opacity</p:attrName>
                                        </p:attrNameLst>
                                      </p:cBhvr>
                                      <p:to>
                                        <p:strVal val="0.25"/>
                                      </p:to>
                                    </p:set>
                                    <p:animEffect filter="image" prLst="opacity: 0.25">
                                      <p:cBhvr rctx="IE">
                                        <p:cTn id="20" dur="indefinite"/>
                                        <p:tgtEl>
                                          <p:spTgt spid="3">
                                            <p:txEl>
                                              <p:pRg st="5" end="5"/>
                                            </p:txEl>
                                          </p:spTgt>
                                        </p:tgtEl>
                                      </p:cBhvr>
                                    </p:animEffect>
                                  </p:childTnLst>
                                </p:cTn>
                              </p:par>
                              <p:par>
                                <p:cTn id="21" presetID="9" presetClass="emph" presetSubtype="0" nodeType="withEffect">
                                  <p:stCondLst>
                                    <p:cond delay="0"/>
                                  </p:stCondLst>
                                  <p:childTnLst>
                                    <p:set>
                                      <p:cBhvr rctx="PPT">
                                        <p:cTn id="22" dur="indefinite"/>
                                        <p:tgtEl>
                                          <p:spTgt spid="3">
                                            <p:txEl>
                                              <p:pRg st="6" end="6"/>
                                            </p:txEl>
                                          </p:spTgt>
                                        </p:tgtEl>
                                        <p:attrNameLst>
                                          <p:attrName>style.opacity</p:attrName>
                                        </p:attrNameLst>
                                      </p:cBhvr>
                                      <p:to>
                                        <p:strVal val="0.25"/>
                                      </p:to>
                                    </p:set>
                                    <p:animEffect filter="image" prLst="opacity: 0.25">
                                      <p:cBhvr rctx="IE">
                                        <p:cTn id="23" dur="indefinite"/>
                                        <p:tgtEl>
                                          <p:spTgt spid="3">
                                            <p:txEl>
                                              <p:pRg st="6" end="6"/>
                                            </p:txEl>
                                          </p:spTgt>
                                        </p:tgtEl>
                                      </p:cBhvr>
                                    </p:animEffect>
                                  </p:childTnLst>
                                </p:cTn>
                              </p:par>
                              <p:par>
                                <p:cTn id="24" presetID="9" presetClass="emph" presetSubtype="0" nodeType="withEffect">
                                  <p:stCondLst>
                                    <p:cond delay="0"/>
                                  </p:stCondLst>
                                  <p:childTnLst>
                                    <p:set>
                                      <p:cBhvr>
                                        <p:cTn id="25" dur="indefinite"/>
                                        <p:tgtEl>
                                          <p:spTgt spid="3">
                                            <p:txEl>
                                              <p:pRg st="0" end="0"/>
                                            </p:txEl>
                                          </p:spTgt>
                                        </p:tgtEl>
                                        <p:attrNameLst>
                                          <p:attrName>style.opacity</p:attrName>
                                        </p:attrNameLst>
                                      </p:cBhvr>
                                      <p:to>
                                        <p:strVal val="0.25"/>
                                      </p:to>
                                    </p:set>
                                    <p:animEffect filter="image" prLst="opacity: 0.25">
                                      <p:cBhvr rctx="IE">
                                        <p:cTn id="26" dur="indefinite"/>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en-US" dirty="0"/>
              <a:t>网络构件</a:t>
            </a:r>
          </a:p>
        </p:txBody>
      </p:sp>
      <p:sp>
        <p:nvSpPr>
          <p:cNvPr id="3" name="内容占位符 2"/>
          <p:cNvSpPr>
            <a:spLocks noGrp="1"/>
          </p:cNvSpPr>
          <p:nvPr>
            <p:ph idx="1"/>
          </p:nvPr>
        </p:nvSpPr>
        <p:spPr/>
        <p:txBody>
          <a:bodyPr/>
          <a:lstStyle/>
          <a:p>
            <a:r>
              <a:rPr lang="zh-CN" altLang="en-US" dirty="0"/>
              <a:t>网络由两类构件组成</a:t>
            </a:r>
            <a:endParaRPr lang="en-US" altLang="zh-CN" dirty="0"/>
          </a:p>
          <a:p>
            <a:pPr lvl="1">
              <a:lnSpc>
                <a:spcPct val="150000"/>
              </a:lnSpc>
            </a:pPr>
            <a:r>
              <a:rPr lang="zh-CN" altLang="en-US" dirty="0"/>
              <a:t>结点</a:t>
            </a:r>
            <a:endParaRPr lang="en-US" altLang="zh-CN" dirty="0"/>
          </a:p>
          <a:p>
            <a:pPr lvl="1">
              <a:lnSpc>
                <a:spcPct val="150000"/>
              </a:lnSpc>
            </a:pPr>
            <a:r>
              <a:rPr lang="zh-CN" altLang="en-US" dirty="0"/>
              <a:t>链路</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22</a:t>
            </a:fld>
            <a:endParaRPr lang="zh-CN" altLang="en-US" dirty="0"/>
          </a:p>
        </p:txBody>
      </p:sp>
    </p:spTree>
    <p:extLst>
      <p:ext uri="{BB962C8B-B14F-4D97-AF65-F5344CB8AC3E}">
        <p14:creationId xmlns:p14="http://schemas.microsoft.com/office/powerpoint/2010/main" val="1202834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网络结点</a:t>
            </a:r>
          </a:p>
        </p:txBody>
      </p:sp>
      <p:sp>
        <p:nvSpPr>
          <p:cNvPr id="3" name="内容占位符 2"/>
          <p:cNvSpPr>
            <a:spLocks noGrp="1"/>
          </p:cNvSpPr>
          <p:nvPr>
            <p:ph idx="1"/>
          </p:nvPr>
        </p:nvSpPr>
        <p:spPr>
          <a:xfrm>
            <a:off x="457199" y="1444979"/>
            <a:ext cx="8370711" cy="3090926"/>
          </a:xfrm>
        </p:spPr>
        <p:txBody>
          <a:bodyPr/>
          <a:lstStyle/>
          <a:p>
            <a:r>
              <a:rPr lang="zh-CN" altLang="en-US" dirty="0"/>
              <a:t>被连接的计算机</a:t>
            </a:r>
            <a:r>
              <a:rPr lang="en-US" altLang="zh-CN" dirty="0"/>
              <a:t>/</a:t>
            </a:r>
            <a:r>
              <a:rPr lang="zh-CN" altLang="en-US" dirty="0"/>
              <a:t>其它硬件，分两类</a:t>
            </a:r>
          </a:p>
          <a:p>
            <a:pPr lvl="1"/>
            <a:r>
              <a:rPr lang="zh-CN" altLang="en-US" dirty="0"/>
              <a:t>主机</a:t>
            </a:r>
            <a:r>
              <a:rPr lang="en-US" altLang="zh-CN" dirty="0"/>
              <a:t>(</a:t>
            </a:r>
            <a:r>
              <a:rPr lang="zh-CN" altLang="en-US" dirty="0"/>
              <a:t>端系统</a:t>
            </a:r>
            <a:r>
              <a:rPr lang="en-US" altLang="zh-CN" dirty="0"/>
              <a:t>)</a:t>
            </a:r>
            <a:r>
              <a:rPr lang="zh-CN" altLang="en-US" dirty="0"/>
              <a:t>：传统</a:t>
            </a:r>
            <a:r>
              <a:rPr lang="en-US" altLang="zh-CN" dirty="0"/>
              <a:t>PC</a:t>
            </a:r>
            <a:r>
              <a:rPr lang="zh-CN" altLang="en-US" dirty="0"/>
              <a:t>、服务器、 智能手机、传感设备等</a:t>
            </a:r>
          </a:p>
          <a:p>
            <a:pPr lvl="1"/>
            <a:r>
              <a:rPr lang="zh-CN" altLang="en-US" dirty="0"/>
              <a:t>网络内部交换结点：二层交换机、</a:t>
            </a:r>
            <a:r>
              <a:rPr lang="en-US" altLang="zh-CN" dirty="0"/>
              <a:t>AP</a:t>
            </a:r>
            <a:r>
              <a:rPr lang="zh-CN" altLang="en-US" dirty="0"/>
              <a:t>、基站、路由器等</a:t>
            </a:r>
            <a:endParaRPr lang="en-US" altLang="zh-CN" dirty="0"/>
          </a:p>
          <a:p>
            <a:pPr>
              <a:lnSpc>
                <a:spcPct val="100000"/>
              </a:lnSpc>
              <a:spcBef>
                <a:spcPts val="3000"/>
              </a:spcBef>
            </a:pPr>
            <a:r>
              <a:rPr lang="zh-CN" altLang="en-US" dirty="0"/>
              <a:t>网络适配器</a:t>
            </a:r>
            <a:r>
              <a:rPr lang="en-US" altLang="zh-CN" dirty="0"/>
              <a:t>/</a:t>
            </a:r>
            <a:r>
              <a:rPr lang="zh-CN" altLang="en-US" dirty="0"/>
              <a:t>网络接口卡</a:t>
            </a:r>
            <a:r>
              <a:rPr lang="zh-CN" altLang="en-US" sz="2000" dirty="0"/>
              <a:t> </a:t>
            </a:r>
            <a:r>
              <a:rPr lang="en-US" altLang="zh-CN" sz="2000" dirty="0"/>
              <a:t>(network adapter/network interface card)</a:t>
            </a:r>
            <a:endParaRPr lang="en-US" altLang="zh-CN" dirty="0"/>
          </a:p>
          <a:p>
            <a:pPr lvl="1"/>
            <a:r>
              <a:rPr lang="zh-CN" altLang="en-US" dirty="0"/>
              <a:t>将结点连接到链路上的硬件</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23</a:t>
            </a:fld>
            <a:endParaRPr lang="zh-CN" altLang="en-US" dirty="0"/>
          </a:p>
        </p:txBody>
      </p:sp>
      <p:pic>
        <p:nvPicPr>
          <p:cNvPr id="114"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20494" y="4146207"/>
            <a:ext cx="3416515" cy="2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55507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dissolve">
                                      <p:cBhvr>
                                        <p:cTn id="14" dur="500"/>
                                        <p:tgtEl>
                                          <p:spTgt spid="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dissolve">
                                      <p:cBhvr>
                                        <p:cTn id="19" dur="500"/>
                                        <p:tgtEl>
                                          <p:spTgt spid="3">
                                            <p:txEl>
                                              <p:pRg st="3" end="3"/>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114"/>
                                        </p:tgtEl>
                                        <p:attrNameLst>
                                          <p:attrName>style.visibility</p:attrName>
                                        </p:attrNameLst>
                                      </p:cBhvr>
                                      <p:to>
                                        <p:strVal val="visible"/>
                                      </p:to>
                                    </p:set>
                                    <p:animEffect transition="in" filter="dissolve">
                                      <p:cBhvr>
                                        <p:cTn id="26"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网络适配器</a:t>
            </a:r>
          </a:p>
        </p:txBody>
      </p:sp>
      <p:sp>
        <p:nvSpPr>
          <p:cNvPr id="3" name="内容占位符 2"/>
          <p:cNvSpPr>
            <a:spLocks noGrp="1"/>
          </p:cNvSpPr>
          <p:nvPr>
            <p:ph idx="1"/>
          </p:nvPr>
        </p:nvSpPr>
        <p:spPr>
          <a:xfrm>
            <a:off x="457200" y="1444979"/>
            <a:ext cx="8229600" cy="1072682"/>
          </a:xfrm>
        </p:spPr>
        <p:txBody>
          <a:bodyPr/>
          <a:lstStyle/>
          <a:p>
            <a:r>
              <a:rPr lang="zh-CN" altLang="en-US" sz="2200" dirty="0"/>
              <a:t>实现大部分数据链层，以及物理层功能</a:t>
            </a:r>
            <a:endParaRPr lang="en-US" altLang="zh-CN" sz="2200" dirty="0"/>
          </a:p>
          <a:p>
            <a:pPr lvl="1"/>
            <a:r>
              <a:rPr lang="zh-CN" altLang="en-US" sz="1800" dirty="0"/>
              <a:t>实现调制编码、组帧、错误检测、可靠传输、介质访问控制等功能</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24</a:t>
            </a:fld>
            <a:endParaRPr lang="zh-CN" altLang="en-US" dirty="0"/>
          </a:p>
        </p:txBody>
      </p:sp>
      <p:grpSp>
        <p:nvGrpSpPr>
          <p:cNvPr id="7" name="组合 6"/>
          <p:cNvGrpSpPr/>
          <p:nvPr/>
        </p:nvGrpSpPr>
        <p:grpSpPr>
          <a:xfrm>
            <a:off x="1653316" y="2893062"/>
            <a:ext cx="5311667" cy="3383646"/>
            <a:chOff x="1653316" y="2393190"/>
            <a:chExt cx="5311667" cy="3383646"/>
          </a:xfrm>
        </p:grpSpPr>
        <p:sp>
          <p:nvSpPr>
            <p:cNvPr id="35" name="Rectangle 2"/>
            <p:cNvSpPr>
              <a:spLocks noChangeArrowheads="1"/>
            </p:cNvSpPr>
            <p:nvPr/>
          </p:nvSpPr>
          <p:spPr bwMode="auto">
            <a:xfrm>
              <a:off x="3723797" y="2393190"/>
              <a:ext cx="3073060" cy="3072385"/>
            </a:xfrm>
            <a:prstGeom prst="rect">
              <a:avLst/>
            </a:prstGeom>
            <a:solidFill>
              <a:srgbClr val="F4F4FA"/>
            </a:solidFill>
            <a:ln w="25400">
              <a:solidFill>
                <a:srgbClr val="DCDCEC"/>
              </a:solidFill>
            </a:ln>
            <a:effectLst/>
          </p:spPr>
          <p:txBody>
            <a:bodyPr wrap="none" anchor="ctr"/>
            <a:lstStyle/>
            <a:p>
              <a:endParaRPr lang="zh-CN" altLang="en-US" sz="1600" b="1"/>
            </a:p>
          </p:txBody>
        </p:sp>
        <p:sp>
          <p:nvSpPr>
            <p:cNvPr id="37" name="Rectangle 5"/>
            <p:cNvSpPr>
              <a:spLocks noChangeArrowheads="1"/>
            </p:cNvSpPr>
            <p:nvPr/>
          </p:nvSpPr>
          <p:spPr bwMode="auto">
            <a:xfrm>
              <a:off x="3903476" y="2636397"/>
              <a:ext cx="863596" cy="467614"/>
            </a:xfrm>
            <a:prstGeom prst="rect">
              <a:avLst/>
            </a:prstGeom>
            <a:solidFill>
              <a:srgbClr val="9292C8"/>
            </a:solidFill>
            <a:ln w="9525">
              <a:solidFill>
                <a:srgbClr val="333399"/>
              </a:solidFill>
              <a:miter lim="800000"/>
              <a:headEnd/>
              <a:tailEnd/>
            </a:ln>
            <a:effectLst>
              <a:outerShdw dist="50800" dir="3420000" algn="ctr" rotWithShape="0">
                <a:schemeClr val="tx1">
                  <a:lumMod val="65000"/>
                  <a:lumOff val="35000"/>
                </a:schemeClr>
              </a:outerShdw>
            </a:effectLst>
          </p:spPr>
          <p:txBody>
            <a:bodyPr wrap="none" anchor="ctr"/>
            <a:lstStyle/>
            <a:p>
              <a:pPr algn="ctr" fontAlgn="base">
                <a:spcAft>
                  <a:spcPct val="0"/>
                </a:spcAft>
                <a:buClr>
                  <a:schemeClr val="bg2"/>
                </a:buClr>
                <a:buSzPct val="75000"/>
              </a:pPr>
              <a:r>
                <a:rPr lang="en-US" altLang="zh-CN" sz="1600" dirty="0">
                  <a:solidFill>
                    <a:schemeClr val="bg1"/>
                  </a:solidFill>
                  <a:latin typeface="Calibri" panose="020F0502020204030204" pitchFamily="34" charset="0"/>
                  <a:ea typeface="黑体" panose="02010609060101010101" pitchFamily="49" charset="-122"/>
                </a:rPr>
                <a:t>CPU</a:t>
              </a:r>
              <a:endParaRPr lang="zh-CN" altLang="zh-CN" sz="1600" dirty="0">
                <a:solidFill>
                  <a:schemeClr val="bg1"/>
                </a:solidFill>
                <a:latin typeface="Calibri" panose="020F0502020204030204" pitchFamily="34" charset="0"/>
                <a:ea typeface="黑体" panose="02010609060101010101" pitchFamily="49" charset="-122"/>
              </a:endParaRPr>
            </a:p>
          </p:txBody>
        </p:sp>
        <p:sp>
          <p:nvSpPr>
            <p:cNvPr id="38" name="Rectangle 6"/>
            <p:cNvSpPr>
              <a:spLocks noChangeArrowheads="1"/>
            </p:cNvSpPr>
            <p:nvPr/>
          </p:nvSpPr>
          <p:spPr bwMode="auto">
            <a:xfrm>
              <a:off x="4187017" y="3688465"/>
              <a:ext cx="1652951" cy="1645428"/>
            </a:xfrm>
            <a:prstGeom prst="rect">
              <a:avLst/>
            </a:prstGeom>
            <a:solidFill>
              <a:srgbClr val="CCCCE6"/>
            </a:solidFill>
            <a:ln w="9525">
              <a:solidFill>
                <a:srgbClr val="333399"/>
              </a:solidFill>
              <a:miter lim="800000"/>
              <a:headEnd/>
              <a:tailEnd/>
            </a:ln>
            <a:effectLst>
              <a:outerShdw dist="50800" dir="3420000" algn="ctr" rotWithShape="0">
                <a:schemeClr val="tx1">
                  <a:lumMod val="65000"/>
                  <a:lumOff val="35000"/>
                </a:schemeClr>
              </a:outerShdw>
            </a:effectLst>
          </p:spPr>
          <p:txBody>
            <a:bodyPr vert="eaVert" wrap="none" anchor="t" anchorCtr="0"/>
            <a:lstStyle/>
            <a:p>
              <a:pPr algn="ctr" fontAlgn="base">
                <a:spcAft>
                  <a:spcPct val="0"/>
                </a:spcAft>
                <a:buClr>
                  <a:schemeClr val="bg2"/>
                </a:buClr>
                <a:buSzPct val="75000"/>
              </a:pPr>
              <a:r>
                <a:rPr lang="zh-CN" altLang="en-US" sz="1600" b="1" dirty="0">
                  <a:solidFill>
                    <a:schemeClr val="bg1"/>
                  </a:solidFill>
                  <a:latin typeface="华文楷体" panose="02010600040101010101" pitchFamily="2" charset="-122"/>
                  <a:ea typeface="华文楷体" panose="02010600040101010101" pitchFamily="2" charset="-122"/>
                </a:rPr>
                <a:t>网络适配器</a:t>
              </a:r>
              <a:endParaRPr lang="zh-CN" altLang="zh-CN" sz="1600" b="1" dirty="0">
                <a:solidFill>
                  <a:schemeClr val="bg1"/>
                </a:solidFill>
                <a:latin typeface="华文楷体" panose="02010600040101010101" pitchFamily="2" charset="-122"/>
                <a:ea typeface="华文楷体" panose="02010600040101010101" pitchFamily="2" charset="-122"/>
              </a:endParaRPr>
            </a:p>
          </p:txBody>
        </p:sp>
        <p:sp>
          <p:nvSpPr>
            <p:cNvPr id="41" name="Rectangle 5"/>
            <p:cNvSpPr>
              <a:spLocks noChangeArrowheads="1"/>
            </p:cNvSpPr>
            <p:nvPr/>
          </p:nvSpPr>
          <p:spPr bwMode="auto">
            <a:xfrm>
              <a:off x="5185860" y="2636397"/>
              <a:ext cx="863596" cy="484971"/>
            </a:xfrm>
            <a:prstGeom prst="rect">
              <a:avLst/>
            </a:prstGeom>
            <a:solidFill>
              <a:srgbClr val="9292C8"/>
            </a:solidFill>
            <a:ln w="9525">
              <a:solidFill>
                <a:srgbClr val="333399"/>
              </a:solidFill>
              <a:miter lim="800000"/>
              <a:headEnd/>
              <a:tailEnd/>
            </a:ln>
            <a:effectLst>
              <a:outerShdw dist="50800" dir="3420000" algn="ctr" rotWithShape="0">
                <a:schemeClr val="tx1">
                  <a:lumMod val="65000"/>
                  <a:lumOff val="35000"/>
                </a:schemeClr>
              </a:outerShdw>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ct val="0"/>
                </a:spcAft>
                <a:buClr>
                  <a:schemeClr val="bg2"/>
                </a:buClr>
                <a:buSzPct val="75000"/>
              </a:pPr>
              <a:r>
                <a:rPr lang="zh-CN" altLang="en-US" sz="1600" b="1" dirty="0">
                  <a:solidFill>
                    <a:schemeClr val="bg1"/>
                  </a:solidFill>
                  <a:latin typeface="华文楷体" panose="02010600040101010101" pitchFamily="2" charset="-122"/>
                  <a:ea typeface="华文楷体" panose="02010600040101010101" pitchFamily="2" charset="-122"/>
                </a:rPr>
                <a:t>存储器</a:t>
              </a:r>
              <a:endParaRPr lang="zh-CN" altLang="zh-CN" sz="1600" b="1" dirty="0">
                <a:solidFill>
                  <a:schemeClr val="bg1"/>
                </a:solidFill>
                <a:latin typeface="华文楷体" panose="02010600040101010101" pitchFamily="2" charset="-122"/>
                <a:ea typeface="华文楷体" panose="02010600040101010101" pitchFamily="2" charset="-122"/>
              </a:endParaRPr>
            </a:p>
          </p:txBody>
        </p:sp>
        <p:cxnSp>
          <p:nvCxnSpPr>
            <p:cNvPr id="44" name="直接连接符 43"/>
            <p:cNvCxnSpPr>
              <a:stCxn id="37" idx="2"/>
            </p:cNvCxnSpPr>
            <p:nvPr/>
          </p:nvCxnSpPr>
          <p:spPr>
            <a:xfrm>
              <a:off x="4335274" y="3104011"/>
              <a:ext cx="0" cy="270756"/>
            </a:xfrm>
            <a:prstGeom prst="line">
              <a:avLst/>
            </a:prstGeom>
            <a:noFill/>
            <a:ln w="28575" cmpd="sng">
              <a:solidFill>
                <a:srgbClr val="333399"/>
              </a:solidFill>
              <a:round/>
              <a:headEnd type="none" w="med"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a:stCxn id="41" idx="2"/>
            </p:cNvCxnSpPr>
            <p:nvPr/>
          </p:nvCxnSpPr>
          <p:spPr>
            <a:xfrm>
              <a:off x="5617658" y="3121368"/>
              <a:ext cx="0" cy="253399"/>
            </a:xfrm>
            <a:prstGeom prst="line">
              <a:avLst/>
            </a:prstGeom>
            <a:noFill/>
            <a:ln w="28575" cmpd="sng">
              <a:solidFill>
                <a:srgbClr val="333399"/>
              </a:solidFill>
              <a:round/>
              <a:headEnd type="none" w="med"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连接符 53"/>
            <p:cNvCxnSpPr>
              <a:cxnSpLocks/>
            </p:cNvCxnSpPr>
            <p:nvPr/>
          </p:nvCxnSpPr>
          <p:spPr>
            <a:xfrm>
              <a:off x="3813873" y="3374767"/>
              <a:ext cx="2855151" cy="0"/>
            </a:xfrm>
            <a:prstGeom prst="line">
              <a:avLst/>
            </a:prstGeom>
            <a:noFill/>
            <a:ln w="28575" cmpd="sng">
              <a:solidFill>
                <a:srgbClr val="333399"/>
              </a:solidFill>
              <a:round/>
              <a:headEnd type="none" w="med"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矩形 67"/>
            <p:cNvSpPr/>
            <p:nvPr/>
          </p:nvSpPr>
          <p:spPr>
            <a:xfrm>
              <a:off x="5791453" y="3342487"/>
              <a:ext cx="1005403" cy="338554"/>
            </a:xfrm>
            <a:prstGeom prst="rect">
              <a:avLst/>
            </a:prstGeom>
          </p:spPr>
          <p:txBody>
            <a:bodyPr wrap="square">
              <a:spAutoFit/>
            </a:bodyPr>
            <a:lstStyle/>
            <a:p>
              <a:pPr algn="ctr" fontAlgn="base">
                <a:spcAft>
                  <a:spcPct val="0"/>
                </a:spcAft>
                <a:buClr>
                  <a:schemeClr val="bg2"/>
                </a:buClr>
                <a:buSzPct val="75000"/>
              </a:pPr>
              <a:r>
                <a:rPr lang="zh-CN" altLang="en-US" sz="1600" b="1" dirty="0">
                  <a:solidFill>
                    <a:schemeClr val="tx1">
                      <a:lumMod val="75000"/>
                      <a:lumOff val="25000"/>
                    </a:schemeClr>
                  </a:solidFill>
                  <a:latin typeface="华文楷体" panose="02010600040101010101" pitchFamily="2" charset="-122"/>
                  <a:ea typeface="华文楷体" panose="02010600040101010101" pitchFamily="2" charset="-122"/>
                </a:rPr>
                <a:t>主机总线</a:t>
              </a:r>
              <a:endParaRPr lang="zh-CN" altLang="zh-CN" sz="1600"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36" name="Rectangle 4"/>
            <p:cNvSpPr>
              <a:spLocks noChangeArrowheads="1"/>
            </p:cNvSpPr>
            <p:nvPr/>
          </p:nvSpPr>
          <p:spPr bwMode="auto">
            <a:xfrm>
              <a:off x="4325123" y="3908035"/>
              <a:ext cx="1080827" cy="466725"/>
            </a:xfrm>
            <a:prstGeom prst="rect">
              <a:avLst/>
            </a:prstGeom>
            <a:solidFill>
              <a:srgbClr val="333399"/>
            </a:solidFill>
            <a:ln w="9525">
              <a:solidFill>
                <a:srgbClr val="333399"/>
              </a:solidFill>
              <a:miter lim="800000"/>
              <a:headEnd/>
              <a:tailEnd/>
            </a:ln>
            <a:effectLst>
              <a:outerShdw dist="50800" dir="3420000" algn="ctr" rotWithShape="0">
                <a:schemeClr val="tx1">
                  <a:lumMod val="65000"/>
                  <a:lumOff val="35000"/>
                </a:schemeClr>
              </a:outerShdw>
            </a:effectLst>
          </p:spPr>
          <p:txBody>
            <a:bodyPr vert="horz" wrap="none" anchor="ctr" anchorCtr="1"/>
            <a:lstStyle/>
            <a:p>
              <a:pPr algn="ctr" fontAlgn="base">
                <a:spcAft>
                  <a:spcPct val="0"/>
                </a:spcAft>
                <a:buClr>
                  <a:schemeClr val="bg2"/>
                </a:buClr>
                <a:buSzPct val="75000"/>
              </a:pPr>
              <a:r>
                <a:rPr lang="zh-CN" altLang="en-US" sz="1600" b="1" dirty="0">
                  <a:solidFill>
                    <a:schemeClr val="bg1"/>
                  </a:solidFill>
                  <a:latin typeface="华文楷体" panose="02010600040101010101" pitchFamily="2" charset="-122"/>
                  <a:ea typeface="华文楷体" panose="02010600040101010101" pitchFamily="2" charset="-122"/>
                </a:rPr>
                <a:t>控制器</a:t>
              </a:r>
              <a:endParaRPr lang="zh-CN" altLang="zh-CN" sz="1600" b="1" dirty="0">
                <a:solidFill>
                  <a:schemeClr val="bg1"/>
                </a:solidFill>
                <a:latin typeface="华文楷体" panose="02010600040101010101" pitchFamily="2" charset="-122"/>
                <a:ea typeface="华文楷体" panose="02010600040101010101" pitchFamily="2" charset="-122"/>
              </a:endParaRPr>
            </a:p>
          </p:txBody>
        </p:sp>
        <p:cxnSp>
          <p:nvCxnSpPr>
            <p:cNvPr id="75" name="直接连接符 74"/>
            <p:cNvCxnSpPr>
              <a:cxnSpLocks/>
            </p:cNvCxnSpPr>
            <p:nvPr/>
          </p:nvCxnSpPr>
          <p:spPr>
            <a:xfrm>
              <a:off x="4888992" y="3374767"/>
              <a:ext cx="0" cy="533581"/>
            </a:xfrm>
            <a:prstGeom prst="line">
              <a:avLst/>
            </a:prstGeom>
            <a:noFill/>
            <a:ln w="28575" cmpd="sng">
              <a:solidFill>
                <a:srgbClr val="333399"/>
              </a:solidFill>
              <a:round/>
              <a:headEnd type="none" w="med"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连接符 80"/>
            <p:cNvCxnSpPr>
              <a:stCxn id="36" idx="2"/>
              <a:endCxn id="86" idx="0"/>
            </p:cNvCxnSpPr>
            <p:nvPr/>
          </p:nvCxnSpPr>
          <p:spPr>
            <a:xfrm flipH="1">
              <a:off x="4865536" y="4374760"/>
              <a:ext cx="1" cy="273666"/>
            </a:xfrm>
            <a:prstGeom prst="line">
              <a:avLst/>
            </a:prstGeom>
            <a:noFill/>
            <a:ln w="28575" cmpd="sng">
              <a:solidFill>
                <a:srgbClr val="333399"/>
              </a:solidFill>
              <a:round/>
              <a:headEnd type="none" w="med"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Rectangle 4"/>
            <p:cNvSpPr>
              <a:spLocks noChangeArrowheads="1"/>
            </p:cNvSpPr>
            <p:nvPr/>
          </p:nvSpPr>
          <p:spPr bwMode="auto">
            <a:xfrm>
              <a:off x="4325122" y="4648426"/>
              <a:ext cx="1080827" cy="466725"/>
            </a:xfrm>
            <a:prstGeom prst="rect">
              <a:avLst/>
            </a:prstGeom>
            <a:solidFill>
              <a:srgbClr val="333399"/>
            </a:solidFill>
            <a:ln w="9525">
              <a:solidFill>
                <a:srgbClr val="333399"/>
              </a:solidFill>
              <a:miter lim="800000"/>
              <a:headEnd/>
              <a:tailEnd/>
            </a:ln>
            <a:effectLst>
              <a:outerShdw dist="50800" dir="3420000" algn="ctr" rotWithShape="0">
                <a:schemeClr val="tx1">
                  <a:lumMod val="65000"/>
                  <a:lumOff val="35000"/>
                </a:schemeClr>
              </a:outerShdw>
            </a:effectLst>
          </p:spPr>
          <p:txBody>
            <a:bodyPr vert="horz" wrap="none" anchor="ctr" anchorCtr="1"/>
            <a:lstStyle/>
            <a:p>
              <a:pPr algn="ctr" fontAlgn="base">
                <a:spcAft>
                  <a:spcPct val="0"/>
                </a:spcAft>
                <a:buClr>
                  <a:schemeClr val="bg2"/>
                </a:buClr>
                <a:buSzPct val="75000"/>
              </a:pPr>
              <a:r>
                <a:rPr lang="zh-CN" altLang="en-US" sz="1600" b="1" dirty="0">
                  <a:solidFill>
                    <a:schemeClr val="bg1"/>
                  </a:solidFill>
                  <a:latin typeface="华文楷体" panose="02010600040101010101" pitchFamily="2" charset="-122"/>
                  <a:ea typeface="华文楷体" panose="02010600040101010101" pitchFamily="2" charset="-122"/>
                </a:rPr>
                <a:t>物理传输</a:t>
              </a:r>
              <a:endParaRPr lang="zh-CN" altLang="zh-CN" sz="1600" b="1" dirty="0">
                <a:solidFill>
                  <a:schemeClr val="bg1"/>
                </a:solidFill>
                <a:latin typeface="华文楷体" panose="02010600040101010101" pitchFamily="2" charset="-122"/>
                <a:ea typeface="华文楷体" panose="02010600040101010101" pitchFamily="2" charset="-122"/>
              </a:endParaRPr>
            </a:p>
          </p:txBody>
        </p:sp>
        <p:sp>
          <p:nvSpPr>
            <p:cNvPr id="90" name="矩形 89"/>
            <p:cNvSpPr/>
            <p:nvPr/>
          </p:nvSpPr>
          <p:spPr>
            <a:xfrm>
              <a:off x="1883784" y="2524121"/>
              <a:ext cx="1270603" cy="196007"/>
            </a:xfrm>
            <a:prstGeom prst="rect">
              <a:avLst/>
            </a:prstGeom>
            <a:solidFill>
              <a:srgbClr val="EBF7FF"/>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75000"/>
                      <a:lumOff val="25000"/>
                    </a:schemeClr>
                  </a:solidFill>
                  <a:latin typeface="华文楷体" panose="02010600040101010101" pitchFamily="2" charset="-122"/>
                  <a:ea typeface="华文楷体" panose="02010600040101010101" pitchFamily="2" charset="-122"/>
                </a:rPr>
                <a:t>应用层</a:t>
              </a:r>
            </a:p>
          </p:txBody>
        </p:sp>
        <p:sp>
          <p:nvSpPr>
            <p:cNvPr id="91" name="矩形 90"/>
            <p:cNvSpPr/>
            <p:nvPr/>
          </p:nvSpPr>
          <p:spPr>
            <a:xfrm>
              <a:off x="1883664" y="2725289"/>
              <a:ext cx="1270603" cy="196007"/>
            </a:xfrm>
            <a:prstGeom prst="rect">
              <a:avLst/>
            </a:prstGeom>
            <a:solidFill>
              <a:srgbClr val="EBF7FF"/>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75000"/>
                      <a:lumOff val="25000"/>
                    </a:schemeClr>
                  </a:solidFill>
                  <a:latin typeface="华文楷体" panose="02010600040101010101" pitchFamily="2" charset="-122"/>
                  <a:ea typeface="华文楷体" panose="02010600040101010101" pitchFamily="2" charset="-122"/>
                </a:rPr>
                <a:t>传输层</a:t>
              </a:r>
            </a:p>
          </p:txBody>
        </p:sp>
        <p:sp>
          <p:nvSpPr>
            <p:cNvPr id="92" name="矩形 91"/>
            <p:cNvSpPr/>
            <p:nvPr/>
          </p:nvSpPr>
          <p:spPr>
            <a:xfrm>
              <a:off x="1883664" y="2920361"/>
              <a:ext cx="1270603" cy="196007"/>
            </a:xfrm>
            <a:prstGeom prst="rect">
              <a:avLst/>
            </a:prstGeom>
            <a:solidFill>
              <a:srgbClr val="EBF7FF"/>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75000"/>
                      <a:lumOff val="25000"/>
                    </a:schemeClr>
                  </a:solidFill>
                  <a:latin typeface="华文楷体" panose="02010600040101010101" pitchFamily="2" charset="-122"/>
                  <a:ea typeface="华文楷体" panose="02010600040101010101" pitchFamily="2" charset="-122"/>
                </a:rPr>
                <a:t>网络层</a:t>
              </a:r>
            </a:p>
          </p:txBody>
        </p:sp>
        <p:sp>
          <p:nvSpPr>
            <p:cNvPr id="93" name="矩形 92"/>
            <p:cNvSpPr/>
            <p:nvPr/>
          </p:nvSpPr>
          <p:spPr>
            <a:xfrm>
              <a:off x="1883784" y="3109337"/>
              <a:ext cx="1270603" cy="196007"/>
            </a:xfrm>
            <a:prstGeom prst="rect">
              <a:avLst/>
            </a:prstGeom>
            <a:solidFill>
              <a:srgbClr val="EBF7FF"/>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75000"/>
                      <a:lumOff val="25000"/>
                    </a:schemeClr>
                  </a:solidFill>
                  <a:latin typeface="华文楷体" panose="02010600040101010101" pitchFamily="2" charset="-122"/>
                  <a:ea typeface="华文楷体" panose="02010600040101010101" pitchFamily="2" charset="-122"/>
                </a:rPr>
                <a:t>链路层</a:t>
              </a:r>
            </a:p>
          </p:txBody>
        </p:sp>
        <p:sp>
          <p:nvSpPr>
            <p:cNvPr id="94" name="矩形 93"/>
            <p:cNvSpPr/>
            <p:nvPr/>
          </p:nvSpPr>
          <p:spPr>
            <a:xfrm>
              <a:off x="1883784" y="4438265"/>
              <a:ext cx="1270603" cy="196007"/>
            </a:xfrm>
            <a:prstGeom prst="rect">
              <a:avLst/>
            </a:prstGeom>
            <a:solidFill>
              <a:srgbClr val="EBF7FF"/>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75000"/>
                      <a:lumOff val="25000"/>
                    </a:schemeClr>
                  </a:solidFill>
                  <a:latin typeface="华文楷体" panose="02010600040101010101" pitchFamily="2" charset="-122"/>
                  <a:ea typeface="华文楷体" panose="02010600040101010101" pitchFamily="2" charset="-122"/>
                </a:rPr>
                <a:t>链路层</a:t>
              </a:r>
            </a:p>
          </p:txBody>
        </p:sp>
        <p:sp>
          <p:nvSpPr>
            <p:cNvPr id="95" name="矩形 94"/>
            <p:cNvSpPr/>
            <p:nvPr/>
          </p:nvSpPr>
          <p:spPr>
            <a:xfrm>
              <a:off x="1883664" y="4639433"/>
              <a:ext cx="1270603" cy="196007"/>
            </a:xfrm>
            <a:prstGeom prst="rect">
              <a:avLst/>
            </a:prstGeom>
            <a:solidFill>
              <a:srgbClr val="EBF7FF"/>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75000"/>
                      <a:lumOff val="25000"/>
                    </a:schemeClr>
                  </a:solidFill>
                  <a:latin typeface="华文楷体" panose="02010600040101010101" pitchFamily="2" charset="-122"/>
                  <a:ea typeface="华文楷体" panose="02010600040101010101" pitchFamily="2" charset="-122"/>
                </a:rPr>
                <a:t>物理层</a:t>
              </a:r>
            </a:p>
          </p:txBody>
        </p:sp>
        <p:sp>
          <p:nvSpPr>
            <p:cNvPr id="96" name="矩形 95"/>
            <p:cNvSpPr/>
            <p:nvPr/>
          </p:nvSpPr>
          <p:spPr>
            <a:xfrm>
              <a:off x="1659412" y="3261295"/>
              <a:ext cx="461665" cy="323165"/>
            </a:xfrm>
            <a:prstGeom prst="rect">
              <a:avLst/>
            </a:prstGeom>
          </p:spPr>
          <p:txBody>
            <a:bodyPr vert="eaVert" wrap="square">
              <a:spAutoFit/>
            </a:bodyPr>
            <a:lstStyle/>
            <a:p>
              <a:pPr algn="ctr"/>
              <a:r>
                <a:rPr lang="en-US" altLang="zh-CN" b="1" dirty="0">
                  <a:solidFill>
                    <a:schemeClr val="tx1">
                      <a:lumMod val="75000"/>
                      <a:lumOff val="25000"/>
                    </a:schemeClr>
                  </a:solidFill>
                  <a:latin typeface="华文楷体" panose="02010600040101010101" pitchFamily="2" charset="-122"/>
                  <a:ea typeface="华文楷体" panose="02010600040101010101" pitchFamily="2" charset="-122"/>
                </a:rPr>
                <a:t>…</a:t>
              </a:r>
              <a:endParaRPr lang="zh-CN" altLang="en-US"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97" name="矩形 96"/>
            <p:cNvSpPr/>
            <p:nvPr/>
          </p:nvSpPr>
          <p:spPr>
            <a:xfrm>
              <a:off x="2933476" y="3267391"/>
              <a:ext cx="461665" cy="323165"/>
            </a:xfrm>
            <a:prstGeom prst="rect">
              <a:avLst/>
            </a:prstGeom>
          </p:spPr>
          <p:txBody>
            <a:bodyPr vert="eaVert" wrap="square">
              <a:spAutoFit/>
            </a:bodyPr>
            <a:lstStyle/>
            <a:p>
              <a:pPr algn="ctr"/>
              <a:r>
                <a:rPr lang="en-US" altLang="zh-CN" b="1" dirty="0">
                  <a:solidFill>
                    <a:schemeClr val="tx1">
                      <a:lumMod val="75000"/>
                      <a:lumOff val="25000"/>
                    </a:schemeClr>
                  </a:solidFill>
                  <a:latin typeface="华文楷体" panose="02010600040101010101" pitchFamily="2" charset="-122"/>
                  <a:ea typeface="华文楷体" panose="02010600040101010101" pitchFamily="2" charset="-122"/>
                </a:rPr>
                <a:t>…</a:t>
              </a:r>
              <a:endParaRPr lang="zh-CN" altLang="en-US"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99" name="矩形 98"/>
            <p:cNvSpPr/>
            <p:nvPr/>
          </p:nvSpPr>
          <p:spPr>
            <a:xfrm>
              <a:off x="1653316" y="4133023"/>
              <a:ext cx="461665" cy="323165"/>
            </a:xfrm>
            <a:prstGeom prst="rect">
              <a:avLst/>
            </a:prstGeom>
          </p:spPr>
          <p:txBody>
            <a:bodyPr vert="eaVert" wrap="square">
              <a:spAutoFit/>
            </a:bodyPr>
            <a:lstStyle/>
            <a:p>
              <a:pPr algn="ctr"/>
              <a:r>
                <a:rPr lang="en-US" altLang="zh-CN" b="1" dirty="0">
                  <a:solidFill>
                    <a:schemeClr val="tx1">
                      <a:lumMod val="75000"/>
                      <a:lumOff val="25000"/>
                    </a:schemeClr>
                  </a:solidFill>
                  <a:latin typeface="华文楷体" panose="02010600040101010101" pitchFamily="2" charset="-122"/>
                  <a:ea typeface="华文楷体" panose="02010600040101010101" pitchFamily="2" charset="-122"/>
                </a:rPr>
                <a:t>…</a:t>
              </a:r>
              <a:endParaRPr lang="zh-CN" altLang="en-US"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00" name="矩形 99"/>
            <p:cNvSpPr/>
            <p:nvPr/>
          </p:nvSpPr>
          <p:spPr>
            <a:xfrm>
              <a:off x="2927380" y="4139119"/>
              <a:ext cx="461665" cy="323165"/>
            </a:xfrm>
            <a:prstGeom prst="rect">
              <a:avLst/>
            </a:prstGeom>
          </p:spPr>
          <p:txBody>
            <a:bodyPr vert="eaVert" wrap="square">
              <a:spAutoFit/>
            </a:bodyPr>
            <a:lstStyle/>
            <a:p>
              <a:pPr algn="ctr"/>
              <a:r>
                <a:rPr lang="en-US" altLang="zh-CN" b="1" dirty="0">
                  <a:solidFill>
                    <a:schemeClr val="tx1">
                      <a:lumMod val="75000"/>
                      <a:lumOff val="25000"/>
                    </a:schemeClr>
                  </a:solidFill>
                  <a:latin typeface="华文楷体" panose="02010600040101010101" pitchFamily="2" charset="-122"/>
                  <a:ea typeface="华文楷体" panose="02010600040101010101" pitchFamily="2" charset="-122"/>
                </a:rPr>
                <a:t>…</a:t>
              </a:r>
              <a:endParaRPr lang="zh-CN" altLang="en-US"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11" name="梯形 110"/>
            <p:cNvSpPr/>
            <p:nvPr/>
          </p:nvSpPr>
          <p:spPr>
            <a:xfrm rot="5400000">
              <a:off x="3098724" y="2579664"/>
              <a:ext cx="818367" cy="707282"/>
            </a:xfrm>
            <a:prstGeom prst="trapezoid">
              <a:avLst>
                <a:gd name="adj" fmla="val 26401"/>
              </a:avLst>
            </a:prstGeom>
            <a:gradFill rotWithShape="0">
              <a:gsLst>
                <a:gs pos="0">
                  <a:schemeClr val="bg1">
                    <a:lumMod val="50000"/>
                    <a:alpha val="50000"/>
                  </a:schemeClr>
                </a:gs>
                <a:gs pos="100000">
                  <a:srgbClr val="FFFFCC">
                    <a:alpha val="69000"/>
                  </a:srgbClr>
                </a:gs>
              </a:gsLst>
              <a:lin ang="0" scaled="0"/>
            </a:gradFill>
            <a:ln>
              <a:noFill/>
            </a:ln>
          </p:spPr>
          <p:txBody>
            <a:bodyPr rot="10800000" vert="eaVert"/>
            <a:lstStyle/>
            <a:p>
              <a:endParaRPr lang="zh-CN" altLang="en-US" kern="0">
                <a:solidFill>
                  <a:sysClr val="windowText" lastClr="000000"/>
                </a:solidFill>
                <a:latin typeface="Arial" charset="0"/>
              </a:endParaRPr>
            </a:p>
          </p:txBody>
        </p:sp>
        <p:sp>
          <p:nvSpPr>
            <p:cNvPr id="112" name="梯形 111"/>
            <p:cNvSpPr/>
            <p:nvPr/>
          </p:nvSpPr>
          <p:spPr>
            <a:xfrm rot="16200000">
              <a:off x="3004964" y="4115260"/>
              <a:ext cx="1331355" cy="1032750"/>
            </a:xfrm>
            <a:prstGeom prst="trapezoid">
              <a:avLst>
                <a:gd name="adj" fmla="val 47731"/>
              </a:avLst>
            </a:prstGeom>
            <a:gradFill rotWithShape="0">
              <a:gsLst>
                <a:gs pos="0">
                  <a:schemeClr val="bg1">
                    <a:lumMod val="50000"/>
                    <a:alpha val="70000"/>
                  </a:schemeClr>
                </a:gs>
                <a:gs pos="100000">
                  <a:srgbClr val="FFFFCC">
                    <a:alpha val="50000"/>
                  </a:srgbClr>
                </a:gs>
              </a:gsLst>
              <a:lin ang="0" scaled="0"/>
            </a:gradFill>
            <a:ln>
              <a:noFill/>
            </a:ln>
          </p:spPr>
          <p:txBody>
            <a:bodyPr rot="10800000" vert="eaVert"/>
            <a:lstStyle/>
            <a:p>
              <a:endParaRPr lang="zh-CN" altLang="en-US" kern="0">
                <a:solidFill>
                  <a:sysClr val="windowText" lastClr="000000"/>
                </a:solidFill>
                <a:latin typeface="Arial" charset="0"/>
              </a:endParaRPr>
            </a:p>
          </p:txBody>
        </p:sp>
        <p:sp>
          <p:nvSpPr>
            <p:cNvPr id="113" name="矩形 112"/>
            <p:cNvSpPr/>
            <p:nvPr/>
          </p:nvSpPr>
          <p:spPr>
            <a:xfrm>
              <a:off x="1855892" y="5438282"/>
              <a:ext cx="5109091" cy="338554"/>
            </a:xfrm>
            <a:prstGeom prst="rect">
              <a:avLst/>
            </a:prstGeom>
          </p:spPr>
          <p:txBody>
            <a:bodyPr wrap="square">
              <a:spAutoFit/>
            </a:bodyPr>
            <a:lstStyle/>
            <a:p>
              <a:pPr algn="ctr" fontAlgn="base">
                <a:spcAft>
                  <a:spcPct val="0"/>
                </a:spcAft>
                <a:buClr>
                  <a:schemeClr val="bg2"/>
                </a:buClr>
                <a:buSzPct val="75000"/>
              </a:pPr>
              <a:r>
                <a:rPr lang="zh-CN" altLang="en-US" sz="1600" b="1" dirty="0">
                  <a:solidFill>
                    <a:schemeClr val="tx1">
                      <a:lumMod val="75000"/>
                      <a:lumOff val="25000"/>
                    </a:schemeClr>
                  </a:solidFill>
                  <a:latin typeface="华文楷体" panose="02010600040101010101" pitchFamily="2" charset="-122"/>
                  <a:ea typeface="华文楷体" panose="02010600040101010101" pitchFamily="2" charset="-122"/>
                </a:rPr>
                <a:t>网络适配器：与其它主机组件及网络协议栈功能的关系</a:t>
              </a:r>
              <a:endParaRPr lang="zh-CN" altLang="zh-CN" sz="1600" b="1"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spTree>
    <p:custDataLst>
      <p:tags r:id="rId1"/>
    </p:custDataLst>
    <p:extLst>
      <p:ext uri="{BB962C8B-B14F-4D97-AF65-F5344CB8AC3E}">
        <p14:creationId xmlns:p14="http://schemas.microsoft.com/office/powerpoint/2010/main" val="3876125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up)">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xit" presetSubtype="0" fill="hold" nodeType="clickEffect">
                                  <p:stCondLst>
                                    <p:cond delay="0"/>
                                  </p:stCondLst>
                                  <p:childTnLst>
                                    <p:animEffect transition="out" filter="dissolve">
                                      <p:cBhvr>
                                        <p:cTn id="18" dur="500"/>
                                        <p:tgtEl>
                                          <p:spTgt spid="7"/>
                                        </p:tgtEl>
                                      </p:cBhvr>
                                    </p:animEffect>
                                    <p:set>
                                      <p:cBhvr>
                                        <p:cTn id="19"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矩形 232"/>
          <p:cNvSpPr/>
          <p:nvPr/>
        </p:nvSpPr>
        <p:spPr>
          <a:xfrm>
            <a:off x="6544019" y="3894637"/>
            <a:ext cx="2555266" cy="1352550"/>
          </a:xfrm>
          <a:prstGeom prst="rect">
            <a:avLst/>
          </a:prstGeom>
          <a:solidFill>
            <a:srgbClr val="EFEFFF"/>
          </a:solidFill>
          <a:ln w="12700">
            <a:solidFill>
              <a:srgbClr val="000000"/>
            </a:solidFill>
            <a:miter lim="800000"/>
            <a:headEnd/>
            <a:tailEnd/>
          </a:ln>
          <a:effectLst>
            <a:outerShdw dist="53882" dir="2700000" algn="ctr" rotWithShape="0">
              <a:srgbClr val="1C1C1C"/>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fontAlgn="base">
              <a:spcBef>
                <a:spcPct val="0"/>
              </a:spcBef>
              <a:spcAft>
                <a:spcPct val="0"/>
              </a:spcAft>
            </a:pPr>
            <a:endParaRPr lang="zh-CN" altLang="en-US" sz="2000" kern="0">
              <a:solidFill>
                <a:srgbClr val="000000"/>
              </a:solidFill>
              <a:latin typeface="Calibri" panose="020F0502020204030204" pitchFamily="34" charset="0"/>
              <a:ea typeface="华文楷体" panose="02010600040101010101" pitchFamily="2" charset="-122"/>
            </a:endParaRPr>
          </a:p>
        </p:txBody>
      </p:sp>
      <p:sp>
        <p:nvSpPr>
          <p:cNvPr id="234" name="矩形 233"/>
          <p:cNvSpPr/>
          <p:nvPr/>
        </p:nvSpPr>
        <p:spPr>
          <a:xfrm>
            <a:off x="760164" y="3886639"/>
            <a:ext cx="2977076" cy="1338263"/>
          </a:xfrm>
          <a:prstGeom prst="rect">
            <a:avLst/>
          </a:prstGeom>
          <a:solidFill>
            <a:srgbClr val="EFEFFF"/>
          </a:solidFill>
          <a:ln w="12700">
            <a:solidFill>
              <a:srgbClr val="000000"/>
            </a:solidFill>
            <a:miter lim="800000"/>
            <a:headEnd/>
            <a:tailEnd/>
          </a:ln>
          <a:effectLst>
            <a:outerShdw dist="53882" dir="2700000" algn="ctr" rotWithShape="0">
              <a:srgbClr val="1C1C1C"/>
            </a:outerShdw>
          </a:effectLst>
        </p:spPr>
        <p:txBody>
          <a:bodyPr wrap="none" anchor="ctr"/>
          <a:lstStyle/>
          <a:p>
            <a:pPr fontAlgn="base">
              <a:spcBef>
                <a:spcPct val="0"/>
              </a:spcBef>
              <a:spcAft>
                <a:spcPct val="0"/>
              </a:spcAft>
            </a:pPr>
            <a:endParaRPr lang="zh-CN" altLang="en-US" sz="2000" kern="0">
              <a:solidFill>
                <a:srgbClr val="000000"/>
              </a:solidFill>
              <a:latin typeface="Calibri" panose="020F0502020204030204" pitchFamily="34" charset="0"/>
              <a:ea typeface="华文楷体" panose="02010600040101010101" pitchFamily="2" charset="-122"/>
            </a:endParaRPr>
          </a:p>
        </p:txBody>
      </p:sp>
      <p:sp>
        <p:nvSpPr>
          <p:cNvPr id="2" name="标题 1"/>
          <p:cNvSpPr>
            <a:spLocks noGrp="1"/>
          </p:cNvSpPr>
          <p:nvPr>
            <p:ph type="title"/>
          </p:nvPr>
        </p:nvSpPr>
        <p:spPr/>
        <p:txBody>
          <a:bodyPr/>
          <a:lstStyle/>
          <a:p>
            <a:r>
              <a:rPr lang="zh-CN" altLang="en-US" dirty="0"/>
              <a:t>网络适配器</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25</a:t>
            </a:fld>
            <a:endParaRPr lang="zh-CN" altLang="en-US" dirty="0"/>
          </a:p>
        </p:txBody>
      </p:sp>
      <p:sp>
        <p:nvSpPr>
          <p:cNvPr id="168" name="Rectangle 4"/>
          <p:cNvSpPr>
            <a:spLocks noChangeArrowheads="1"/>
          </p:cNvSpPr>
          <p:nvPr/>
        </p:nvSpPr>
        <p:spPr bwMode="auto">
          <a:xfrm>
            <a:off x="6980238" y="3135753"/>
            <a:ext cx="2011362" cy="1828800"/>
          </a:xfrm>
          <a:prstGeom prst="rect">
            <a:avLst/>
          </a:prstGeom>
          <a:solidFill>
            <a:srgbClr val="CCFFFF"/>
          </a:solidFill>
          <a:ln w="12700">
            <a:solidFill>
              <a:srgbClr val="000000"/>
            </a:solidFill>
            <a:prstDash val="dash"/>
            <a:miter lim="800000"/>
            <a:headEnd/>
            <a:tailEnd/>
          </a:ln>
          <a:effectLst>
            <a:outerShdw dist="53882" dir="2700000" algn="ctr" rotWithShape="0">
              <a:srgbClr val="1C1C1C"/>
            </a:outerShdw>
          </a:effectLst>
        </p:spPr>
        <p:txBody>
          <a:bodyPr wrap="none" anchor="ctr"/>
          <a:lstStyle/>
          <a:p>
            <a:pPr fontAlgn="base">
              <a:spcBef>
                <a:spcPct val="0"/>
              </a:spcBef>
              <a:spcAft>
                <a:spcPct val="0"/>
              </a:spcAft>
            </a:pPr>
            <a:endParaRPr lang="zh-CN" altLang="en-US" sz="2000" kern="0">
              <a:solidFill>
                <a:srgbClr val="000000"/>
              </a:solidFill>
              <a:latin typeface="Calibri" panose="020F0502020204030204" pitchFamily="34" charset="0"/>
              <a:ea typeface="华文楷体" panose="02010600040101010101" pitchFamily="2" charset="-122"/>
            </a:endParaRPr>
          </a:p>
        </p:txBody>
      </p:sp>
      <p:sp>
        <p:nvSpPr>
          <p:cNvPr id="169" name="Rectangle 5"/>
          <p:cNvSpPr>
            <a:spLocks noChangeArrowheads="1"/>
          </p:cNvSpPr>
          <p:nvPr/>
        </p:nvSpPr>
        <p:spPr bwMode="auto">
          <a:xfrm>
            <a:off x="6999288" y="3745353"/>
            <a:ext cx="1981200" cy="6096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70" name="Line 6"/>
          <p:cNvSpPr>
            <a:spLocks noChangeShapeType="1"/>
          </p:cNvSpPr>
          <p:nvPr/>
        </p:nvSpPr>
        <p:spPr bwMode="auto">
          <a:xfrm>
            <a:off x="6980238" y="3743765"/>
            <a:ext cx="2008187" cy="1588"/>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71" name="Rectangle 7"/>
          <p:cNvSpPr>
            <a:spLocks noChangeArrowheads="1"/>
          </p:cNvSpPr>
          <p:nvPr/>
        </p:nvSpPr>
        <p:spPr bwMode="auto">
          <a:xfrm>
            <a:off x="7286625" y="3897753"/>
            <a:ext cx="13906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endParaRPr kumimoji="1" lang="zh-CN" altLang="zh-CN" sz="1800" b="0" i="0" u="none" strike="noStrike" kern="0" cap="none" spc="0" normalizeH="0" noProof="0">
              <a:ln>
                <a:noFill/>
              </a:ln>
              <a:solidFill>
                <a:srgbClr val="3333CC"/>
              </a:solidFill>
              <a:effectLst/>
              <a:uLnTx/>
              <a:uFillTx/>
              <a:latin typeface="Calibri" panose="020F0502020204030204" pitchFamily="34" charset="0"/>
              <a:ea typeface="华文楷体" panose="02010600040101010101" pitchFamily="2" charset="-122"/>
            </a:endParaRPr>
          </a:p>
        </p:txBody>
      </p:sp>
      <p:sp>
        <p:nvSpPr>
          <p:cNvPr id="172" name="Line 8"/>
          <p:cNvSpPr>
            <a:spLocks noChangeShapeType="1"/>
          </p:cNvSpPr>
          <p:nvPr/>
        </p:nvSpPr>
        <p:spPr bwMode="auto">
          <a:xfrm>
            <a:off x="6980238" y="4353365"/>
            <a:ext cx="2008187" cy="1588"/>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73" name="Rectangle 9"/>
          <p:cNvSpPr>
            <a:spLocks noChangeArrowheads="1"/>
          </p:cNvSpPr>
          <p:nvPr/>
        </p:nvSpPr>
        <p:spPr bwMode="auto">
          <a:xfrm>
            <a:off x="7491413" y="3288153"/>
            <a:ext cx="990600" cy="304800"/>
          </a:xfrm>
          <a:prstGeom prst="rect">
            <a:avLst/>
          </a:prstGeom>
          <a:solidFill>
            <a:srgbClr val="DDDDDD"/>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chemeClr val="tx1">
                    <a:lumMod val="85000"/>
                    <a:lumOff val="15000"/>
                  </a:schemeClr>
                </a:solidFill>
                <a:effectLst/>
                <a:uLnTx/>
                <a:uFillTx/>
                <a:latin typeface="Calibri" panose="020F0502020204030204" pitchFamily="34" charset="0"/>
                <a:ea typeface="华文楷体" panose="02010600040101010101" pitchFamily="2" charset="-122"/>
              </a:rPr>
              <a:t>IP </a:t>
            </a:r>
            <a:r>
              <a:rPr kumimoji="1" lang="zh-CN" altLang="en-US" sz="1800" b="0" i="0" u="none" strike="noStrike" kern="0" cap="none" spc="0" normalizeH="0" noProof="0">
                <a:ln>
                  <a:noFill/>
                </a:ln>
                <a:solidFill>
                  <a:schemeClr val="tx1">
                    <a:lumMod val="85000"/>
                    <a:lumOff val="15000"/>
                  </a:schemeClr>
                </a:solidFill>
                <a:effectLst/>
                <a:uLnTx/>
                <a:uFillTx/>
                <a:latin typeface="Calibri" panose="020F0502020204030204" pitchFamily="34" charset="0"/>
                <a:ea typeface="华文楷体" panose="02010600040101010101" pitchFamily="2" charset="-122"/>
              </a:rPr>
              <a:t>数据报</a:t>
            </a:r>
          </a:p>
        </p:txBody>
      </p:sp>
      <p:sp>
        <p:nvSpPr>
          <p:cNvPr id="174" name="Rectangle 10"/>
          <p:cNvSpPr>
            <a:spLocks noChangeArrowheads="1"/>
          </p:cNvSpPr>
          <p:nvPr/>
        </p:nvSpPr>
        <p:spPr bwMode="auto">
          <a:xfrm>
            <a:off x="7280275" y="4507353"/>
            <a:ext cx="14033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endParaRPr kumimoji="1" lang="zh-CN" altLang="zh-CN" sz="1800" b="0" i="0" u="none" strike="noStrike" kern="0" cap="none" spc="0" normalizeH="0" noProof="0">
              <a:ln>
                <a:noFill/>
              </a:ln>
              <a:solidFill>
                <a:srgbClr val="3333CC"/>
              </a:solidFill>
              <a:effectLst/>
              <a:uLnTx/>
              <a:uFillTx/>
              <a:latin typeface="Calibri" panose="020F0502020204030204" pitchFamily="34" charset="0"/>
              <a:ea typeface="华文楷体" panose="02010600040101010101" pitchFamily="2" charset="-122"/>
            </a:endParaRPr>
          </a:p>
        </p:txBody>
      </p:sp>
      <p:sp>
        <p:nvSpPr>
          <p:cNvPr id="175" name="Rectangle 11"/>
          <p:cNvSpPr>
            <a:spLocks noChangeArrowheads="1"/>
          </p:cNvSpPr>
          <p:nvPr/>
        </p:nvSpPr>
        <p:spPr bwMode="auto">
          <a:xfrm>
            <a:off x="7216775" y="4520053"/>
            <a:ext cx="1391408" cy="299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lnSpc>
                <a:spcPct val="85000"/>
              </a:lnSpc>
              <a:spcBef>
                <a:spcPct val="0"/>
              </a:spcBef>
              <a:spcAft>
                <a:spcPct val="0"/>
              </a:spcAft>
            </a:pPr>
            <a:r>
              <a:rPr kumimoji="1" lang="en-US" altLang="zh-CN" sz="1600">
                <a:solidFill>
                  <a:srgbClr val="3333CC"/>
                </a:solidFill>
                <a:latin typeface="Calibri" panose="020F0502020204030204" pitchFamily="34" charset="0"/>
                <a:ea typeface="华文楷体" panose="02010600040101010101" pitchFamily="2" charset="-122"/>
              </a:rPr>
              <a:t>1010…  …0110</a:t>
            </a:r>
          </a:p>
        </p:txBody>
      </p:sp>
      <p:sp>
        <p:nvSpPr>
          <p:cNvPr id="176" name="AutoShape 12"/>
          <p:cNvSpPr>
            <a:spLocks noChangeArrowheads="1"/>
          </p:cNvSpPr>
          <p:nvPr/>
        </p:nvSpPr>
        <p:spPr bwMode="auto">
          <a:xfrm flipV="1">
            <a:off x="7851775" y="4250178"/>
            <a:ext cx="304800" cy="334962"/>
          </a:xfrm>
          <a:prstGeom prst="downArrow">
            <a:avLst>
              <a:gd name="adj1" fmla="val 50000"/>
              <a:gd name="adj2" fmla="val 43231"/>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77" name="Rectangle 13"/>
          <p:cNvSpPr>
            <a:spLocks noChangeArrowheads="1"/>
          </p:cNvSpPr>
          <p:nvPr/>
        </p:nvSpPr>
        <p:spPr bwMode="auto">
          <a:xfrm>
            <a:off x="7485063" y="3907278"/>
            <a:ext cx="990600" cy="280987"/>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78" name="AutoShape 14"/>
          <p:cNvSpPr>
            <a:spLocks noChangeArrowheads="1"/>
          </p:cNvSpPr>
          <p:nvPr/>
        </p:nvSpPr>
        <p:spPr bwMode="auto">
          <a:xfrm flipV="1">
            <a:off x="7481888" y="3538978"/>
            <a:ext cx="990600" cy="369887"/>
          </a:xfrm>
          <a:prstGeom prst="downArrow">
            <a:avLst>
              <a:gd name="adj1" fmla="val 65389"/>
              <a:gd name="adj2" fmla="val 39394"/>
            </a:avLst>
          </a:prstGeom>
          <a:solidFill>
            <a:srgbClr val="FFCF01"/>
          </a:solidFill>
          <a:ln w="12700">
            <a:solidFill>
              <a:srgbClr val="000000"/>
            </a:solidFill>
            <a:miter lim="800000"/>
            <a:headEnd/>
            <a:tailEnd/>
          </a:ln>
          <a:effectLst>
            <a:outerShdw dist="35921" dir="2700000" algn="ctr" rotWithShape="0">
              <a:srgbClr val="1C1C1C"/>
            </a:outerShdw>
          </a:effec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79" name="Text Box 15"/>
          <p:cNvSpPr txBox="1">
            <a:spLocks noChangeArrowheads="1"/>
          </p:cNvSpPr>
          <p:nvPr/>
        </p:nvSpPr>
        <p:spPr bwMode="auto">
          <a:xfrm>
            <a:off x="6948488" y="385171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dirty="0">
                <a:solidFill>
                  <a:schemeClr val="accent5">
                    <a:lumMod val="50000"/>
                  </a:schemeClr>
                </a:solidFill>
                <a:latin typeface="Calibri" panose="020F0502020204030204" pitchFamily="34" charset="0"/>
                <a:ea typeface="华文楷体" panose="02010600040101010101" pitchFamily="2" charset="-122"/>
              </a:rPr>
              <a:t>帧</a:t>
            </a:r>
          </a:p>
        </p:txBody>
      </p:sp>
      <p:sp>
        <p:nvSpPr>
          <p:cNvPr id="180" name="Rectangle 16"/>
          <p:cNvSpPr>
            <a:spLocks noChangeArrowheads="1"/>
          </p:cNvSpPr>
          <p:nvPr/>
        </p:nvSpPr>
        <p:spPr bwMode="auto">
          <a:xfrm>
            <a:off x="7691438" y="3565965"/>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取出</a:t>
            </a:r>
          </a:p>
        </p:txBody>
      </p:sp>
      <p:sp>
        <p:nvSpPr>
          <p:cNvPr id="181" name="Line 17"/>
          <p:cNvSpPr>
            <a:spLocks noChangeShapeType="1"/>
          </p:cNvSpPr>
          <p:nvPr/>
        </p:nvSpPr>
        <p:spPr bwMode="auto">
          <a:xfrm>
            <a:off x="7480300" y="3902515"/>
            <a:ext cx="0" cy="28575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82" name="Line 18"/>
          <p:cNvSpPr>
            <a:spLocks noChangeShapeType="1"/>
          </p:cNvSpPr>
          <p:nvPr/>
        </p:nvSpPr>
        <p:spPr bwMode="auto">
          <a:xfrm>
            <a:off x="8470900" y="3904103"/>
            <a:ext cx="0" cy="28575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83" name="Freeform 21"/>
          <p:cNvSpPr>
            <a:spLocks/>
          </p:cNvSpPr>
          <p:nvPr/>
        </p:nvSpPr>
        <p:spPr bwMode="auto">
          <a:xfrm>
            <a:off x="2209800" y="4796277"/>
            <a:ext cx="5791200" cy="1020917"/>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2857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84" name="Rectangle 22"/>
          <p:cNvSpPr>
            <a:spLocks noChangeArrowheads="1"/>
          </p:cNvSpPr>
          <p:nvPr/>
        </p:nvSpPr>
        <p:spPr bwMode="auto">
          <a:xfrm>
            <a:off x="194014" y="3711633"/>
            <a:ext cx="875241" cy="597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pPr>
            <a:r>
              <a:rPr kumimoji="1" lang="zh-CN" altLang="en-US" dirty="0">
                <a:solidFill>
                  <a:schemeClr val="tx1">
                    <a:lumMod val="85000"/>
                    <a:lumOff val="15000"/>
                  </a:schemeClr>
                </a:solidFill>
                <a:latin typeface="Calibri" panose="020F0502020204030204" pitchFamily="34" charset="0"/>
                <a:ea typeface="华文楷体" panose="02010600040101010101" pitchFamily="2" charset="-122"/>
              </a:rPr>
              <a:t>数据</a:t>
            </a:r>
          </a:p>
          <a:p>
            <a:pPr algn="ctr" eaLnBrk="0" fontAlgn="base" hangingPunct="0">
              <a:lnSpc>
                <a:spcPts val="1800"/>
              </a:lnSpc>
              <a:spcBef>
                <a:spcPct val="0"/>
              </a:spcBef>
              <a:spcAft>
                <a:spcPct val="0"/>
              </a:spcAft>
            </a:pPr>
            <a:r>
              <a:rPr kumimoji="1" lang="zh-CN" altLang="en-US" dirty="0">
                <a:solidFill>
                  <a:schemeClr val="tx1">
                    <a:lumMod val="85000"/>
                    <a:lumOff val="15000"/>
                  </a:schemeClr>
                </a:solidFill>
                <a:latin typeface="Calibri" panose="020F0502020204030204" pitchFamily="34" charset="0"/>
                <a:ea typeface="华文楷体" panose="02010600040101010101" pitchFamily="2" charset="-122"/>
              </a:rPr>
              <a:t>链路层</a:t>
            </a:r>
          </a:p>
        </p:txBody>
      </p:sp>
      <p:sp>
        <p:nvSpPr>
          <p:cNvPr id="185" name="Rectangle 23"/>
          <p:cNvSpPr>
            <a:spLocks noChangeArrowheads="1"/>
          </p:cNvSpPr>
          <p:nvPr/>
        </p:nvSpPr>
        <p:spPr bwMode="auto">
          <a:xfrm>
            <a:off x="163513" y="3272278"/>
            <a:ext cx="875241" cy="325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lnSpc>
                <a:spcPct val="85000"/>
              </a:lnSpc>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网络层</a:t>
            </a:r>
          </a:p>
        </p:txBody>
      </p:sp>
      <p:sp>
        <p:nvSpPr>
          <p:cNvPr id="186" name="Rectangle 24"/>
          <p:cNvSpPr>
            <a:spLocks noChangeArrowheads="1"/>
          </p:cNvSpPr>
          <p:nvPr/>
        </p:nvSpPr>
        <p:spPr bwMode="auto">
          <a:xfrm>
            <a:off x="4724400" y="5758420"/>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sz="2000" b="1" dirty="0">
                <a:solidFill>
                  <a:srgbClr val="3333CC"/>
                </a:solidFill>
                <a:ea typeface="华文楷体" panose="02010600040101010101" pitchFamily="2" charset="-122"/>
              </a:rPr>
              <a:t>链路</a:t>
            </a:r>
          </a:p>
        </p:txBody>
      </p:sp>
      <p:sp>
        <p:nvSpPr>
          <p:cNvPr id="187" name="Rectangle 25"/>
          <p:cNvSpPr>
            <a:spLocks noChangeArrowheads="1"/>
          </p:cNvSpPr>
          <p:nvPr/>
        </p:nvSpPr>
        <p:spPr bwMode="auto">
          <a:xfrm>
            <a:off x="1828800" y="2786503"/>
            <a:ext cx="854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结点 </a:t>
            </a:r>
            <a:r>
              <a:rPr kumimoji="1" lang="en-US" altLang="zh-CN">
                <a:solidFill>
                  <a:schemeClr val="tx1">
                    <a:lumMod val="85000"/>
                    <a:lumOff val="15000"/>
                  </a:schemeClr>
                </a:solidFill>
                <a:latin typeface="Calibri" panose="020F0502020204030204" pitchFamily="34" charset="0"/>
                <a:ea typeface="华文楷体" panose="02010600040101010101" pitchFamily="2" charset="-122"/>
              </a:rPr>
              <a:t>A</a:t>
            </a:r>
          </a:p>
        </p:txBody>
      </p:sp>
      <p:sp>
        <p:nvSpPr>
          <p:cNvPr id="188" name="Rectangle 26"/>
          <p:cNvSpPr>
            <a:spLocks noChangeArrowheads="1"/>
          </p:cNvSpPr>
          <p:nvPr/>
        </p:nvSpPr>
        <p:spPr bwMode="auto">
          <a:xfrm>
            <a:off x="7607300" y="2786503"/>
            <a:ext cx="82234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结点 </a:t>
            </a:r>
            <a:r>
              <a:rPr kumimoji="1" lang="en-US" altLang="zh-CN">
                <a:solidFill>
                  <a:schemeClr val="tx1">
                    <a:lumMod val="85000"/>
                    <a:lumOff val="15000"/>
                  </a:schemeClr>
                </a:solidFill>
                <a:latin typeface="Calibri" panose="020F0502020204030204" pitchFamily="34" charset="0"/>
                <a:ea typeface="华文楷体" panose="02010600040101010101" pitchFamily="2" charset="-122"/>
              </a:rPr>
              <a:t>B</a:t>
            </a:r>
          </a:p>
        </p:txBody>
      </p:sp>
      <p:sp>
        <p:nvSpPr>
          <p:cNvPr id="189" name="Rectangle 27"/>
          <p:cNvSpPr>
            <a:spLocks noChangeArrowheads="1"/>
          </p:cNvSpPr>
          <p:nvPr/>
        </p:nvSpPr>
        <p:spPr bwMode="auto">
          <a:xfrm>
            <a:off x="163513" y="4491478"/>
            <a:ext cx="875241" cy="325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lnSpc>
                <a:spcPct val="85000"/>
              </a:lnSpc>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物理层</a:t>
            </a:r>
          </a:p>
        </p:txBody>
      </p:sp>
      <p:sp>
        <p:nvSpPr>
          <p:cNvPr id="190" name="Rectangle 28"/>
          <p:cNvSpPr>
            <a:spLocks noChangeArrowheads="1"/>
          </p:cNvSpPr>
          <p:nvPr/>
        </p:nvSpPr>
        <p:spPr bwMode="auto">
          <a:xfrm>
            <a:off x="22860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1" name="Rectangle 29"/>
          <p:cNvSpPr>
            <a:spLocks noChangeArrowheads="1"/>
          </p:cNvSpPr>
          <p:nvPr/>
        </p:nvSpPr>
        <p:spPr bwMode="auto">
          <a:xfrm>
            <a:off x="24384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2" name="Rectangle 30"/>
          <p:cNvSpPr>
            <a:spLocks noChangeArrowheads="1"/>
          </p:cNvSpPr>
          <p:nvPr/>
        </p:nvSpPr>
        <p:spPr bwMode="auto">
          <a:xfrm>
            <a:off x="38100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3" name="Rectangle 31"/>
          <p:cNvSpPr>
            <a:spLocks noChangeArrowheads="1"/>
          </p:cNvSpPr>
          <p:nvPr/>
        </p:nvSpPr>
        <p:spPr bwMode="auto">
          <a:xfrm>
            <a:off x="39624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4" name="Rectangle 32"/>
          <p:cNvSpPr>
            <a:spLocks noChangeArrowheads="1"/>
          </p:cNvSpPr>
          <p:nvPr/>
        </p:nvSpPr>
        <p:spPr bwMode="auto">
          <a:xfrm>
            <a:off x="57150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5" name="Rectangle 33"/>
          <p:cNvSpPr>
            <a:spLocks noChangeArrowheads="1"/>
          </p:cNvSpPr>
          <p:nvPr/>
        </p:nvSpPr>
        <p:spPr bwMode="auto">
          <a:xfrm>
            <a:off x="58674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6" name="Rectangle 34"/>
          <p:cNvSpPr>
            <a:spLocks noChangeArrowheads="1"/>
          </p:cNvSpPr>
          <p:nvPr/>
        </p:nvSpPr>
        <p:spPr bwMode="auto">
          <a:xfrm>
            <a:off x="73914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7" name="Rectangle 35"/>
          <p:cNvSpPr>
            <a:spLocks noChangeArrowheads="1"/>
          </p:cNvSpPr>
          <p:nvPr/>
        </p:nvSpPr>
        <p:spPr bwMode="auto">
          <a:xfrm>
            <a:off x="75438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8" name="Rectangle 36"/>
          <p:cNvSpPr>
            <a:spLocks noChangeArrowheads="1"/>
          </p:cNvSpPr>
          <p:nvPr/>
        </p:nvSpPr>
        <p:spPr bwMode="auto">
          <a:xfrm>
            <a:off x="76962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9" name="Rectangle 37"/>
          <p:cNvSpPr>
            <a:spLocks noChangeArrowheads="1"/>
          </p:cNvSpPr>
          <p:nvPr/>
        </p:nvSpPr>
        <p:spPr bwMode="auto">
          <a:xfrm>
            <a:off x="78486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200" name="Line 38"/>
          <p:cNvSpPr>
            <a:spLocks noChangeShapeType="1"/>
          </p:cNvSpPr>
          <p:nvPr/>
        </p:nvSpPr>
        <p:spPr bwMode="auto">
          <a:xfrm>
            <a:off x="4114800" y="5606020"/>
            <a:ext cx="304800" cy="0"/>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1" name="Line 39"/>
          <p:cNvSpPr>
            <a:spLocks noChangeShapeType="1"/>
          </p:cNvSpPr>
          <p:nvPr/>
        </p:nvSpPr>
        <p:spPr bwMode="auto">
          <a:xfrm rot="5400000">
            <a:off x="2171700" y="5339320"/>
            <a:ext cx="304800" cy="0"/>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2" name="Line 40"/>
          <p:cNvSpPr>
            <a:spLocks noChangeShapeType="1"/>
          </p:cNvSpPr>
          <p:nvPr/>
        </p:nvSpPr>
        <p:spPr bwMode="auto">
          <a:xfrm rot="16200000" flipV="1">
            <a:off x="7734300" y="5377420"/>
            <a:ext cx="304800" cy="0"/>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grpSp>
        <p:nvGrpSpPr>
          <p:cNvPr id="203" name="Group 41"/>
          <p:cNvGrpSpPr>
            <a:grpSpLocks/>
          </p:cNvGrpSpPr>
          <p:nvPr/>
        </p:nvGrpSpPr>
        <p:grpSpPr bwMode="auto">
          <a:xfrm>
            <a:off x="2590800" y="5529820"/>
            <a:ext cx="1066800" cy="152400"/>
            <a:chOff x="1344" y="912"/>
            <a:chExt cx="672" cy="96"/>
          </a:xfrm>
        </p:grpSpPr>
        <p:sp>
          <p:nvSpPr>
            <p:cNvPr id="204" name="Line 42"/>
            <p:cNvSpPr>
              <a:spLocks noChangeShapeType="1"/>
            </p:cNvSpPr>
            <p:nvPr/>
          </p:nvSpPr>
          <p:spPr bwMode="auto">
            <a:xfrm>
              <a:off x="1344" y="960"/>
              <a:ext cx="672" cy="0"/>
            </a:xfrm>
            <a:prstGeom prst="line">
              <a:avLst/>
            </a:prstGeom>
            <a:noFill/>
            <a:ln w="1270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5" name="Freeform 43"/>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808080"/>
            </a:solidFill>
            <a:ln w="12700" cap="flat" cmpd="sng">
              <a:solidFill>
                <a:srgbClr val="000000"/>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nvGrpSpPr>
          <p:cNvPr id="206" name="Group 44"/>
          <p:cNvGrpSpPr>
            <a:grpSpLocks/>
          </p:cNvGrpSpPr>
          <p:nvPr/>
        </p:nvGrpSpPr>
        <p:grpSpPr bwMode="auto">
          <a:xfrm>
            <a:off x="6096000" y="5529820"/>
            <a:ext cx="1066800" cy="157162"/>
            <a:chOff x="4080" y="3676"/>
            <a:chExt cx="672" cy="99"/>
          </a:xfrm>
        </p:grpSpPr>
        <p:sp>
          <p:nvSpPr>
            <p:cNvPr id="207" name="Line 45"/>
            <p:cNvSpPr>
              <a:spLocks noChangeShapeType="1"/>
            </p:cNvSpPr>
            <p:nvPr/>
          </p:nvSpPr>
          <p:spPr bwMode="auto">
            <a:xfrm>
              <a:off x="4080" y="3727"/>
              <a:ext cx="672" cy="0"/>
            </a:xfrm>
            <a:prstGeom prst="line">
              <a:avLst/>
            </a:prstGeom>
            <a:noFill/>
            <a:ln w="1270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8"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808080"/>
            </a:solidFill>
            <a:ln w="12700" cap="flat" cmpd="sng">
              <a:solidFill>
                <a:srgbClr val="000000"/>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grpSp>
      <p:sp>
        <p:nvSpPr>
          <p:cNvPr id="209" name="Rectangle 67"/>
          <p:cNvSpPr>
            <a:spLocks noChangeArrowheads="1"/>
          </p:cNvSpPr>
          <p:nvPr/>
        </p:nvSpPr>
        <p:spPr bwMode="auto">
          <a:xfrm>
            <a:off x="1219200" y="3119878"/>
            <a:ext cx="2011363" cy="1828800"/>
          </a:xfrm>
          <a:prstGeom prst="rect">
            <a:avLst/>
          </a:prstGeom>
          <a:solidFill>
            <a:srgbClr val="CCFFFF"/>
          </a:solidFill>
          <a:ln w="12700">
            <a:solidFill>
              <a:srgbClr val="000000"/>
            </a:solidFill>
            <a:prstDash val="dash"/>
            <a:miter lim="800000"/>
            <a:headEnd/>
            <a:tailEnd/>
          </a:ln>
          <a:effectLst>
            <a:outerShdw dist="53882" dir="2700000" algn="ctr" rotWithShape="0">
              <a:srgbClr val="1C1C1C"/>
            </a:outerShdw>
          </a:effectLst>
        </p:spPr>
        <p:txBody>
          <a:bodyPr wrap="none" anchor="ctr"/>
          <a:lstStyle/>
          <a:p>
            <a:pPr fontAlgn="base">
              <a:spcBef>
                <a:spcPct val="0"/>
              </a:spcBef>
              <a:spcAft>
                <a:spcPct val="0"/>
              </a:spcAft>
            </a:pPr>
            <a:endParaRPr lang="zh-CN" altLang="en-US" sz="2000" kern="0">
              <a:solidFill>
                <a:srgbClr val="000000"/>
              </a:solidFill>
              <a:latin typeface="Calibri" panose="020F0502020204030204" pitchFamily="34" charset="0"/>
              <a:ea typeface="华文楷体" panose="02010600040101010101" pitchFamily="2" charset="-122"/>
            </a:endParaRPr>
          </a:p>
        </p:txBody>
      </p:sp>
      <p:sp>
        <p:nvSpPr>
          <p:cNvPr id="210" name="Rectangle 68"/>
          <p:cNvSpPr>
            <a:spLocks noChangeArrowheads="1"/>
          </p:cNvSpPr>
          <p:nvPr/>
        </p:nvSpPr>
        <p:spPr bwMode="auto">
          <a:xfrm>
            <a:off x="1238250" y="3729478"/>
            <a:ext cx="1981200" cy="6096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211" name="Line 69"/>
          <p:cNvSpPr>
            <a:spLocks noChangeShapeType="1"/>
          </p:cNvSpPr>
          <p:nvPr/>
        </p:nvSpPr>
        <p:spPr bwMode="auto">
          <a:xfrm>
            <a:off x="1219200" y="3727890"/>
            <a:ext cx="2008188" cy="1588"/>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12" name="Rectangle 70"/>
          <p:cNvSpPr>
            <a:spLocks noChangeArrowheads="1"/>
          </p:cNvSpPr>
          <p:nvPr/>
        </p:nvSpPr>
        <p:spPr bwMode="auto">
          <a:xfrm>
            <a:off x="1525588" y="3881878"/>
            <a:ext cx="13906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endParaRPr kumimoji="1" lang="zh-CN" altLang="zh-CN" sz="1800" b="0" i="0" u="none" strike="noStrike" kern="0" cap="none" spc="0" normalizeH="0" noProof="0">
              <a:ln>
                <a:noFill/>
              </a:ln>
              <a:solidFill>
                <a:srgbClr val="3333CC"/>
              </a:solidFill>
              <a:effectLst/>
              <a:uLnTx/>
              <a:uFillTx/>
              <a:latin typeface="Calibri" panose="020F0502020204030204" pitchFamily="34" charset="0"/>
              <a:ea typeface="华文楷体" panose="02010600040101010101" pitchFamily="2" charset="-122"/>
            </a:endParaRPr>
          </a:p>
        </p:txBody>
      </p:sp>
      <p:sp>
        <p:nvSpPr>
          <p:cNvPr id="213" name="Line 71"/>
          <p:cNvSpPr>
            <a:spLocks noChangeShapeType="1"/>
          </p:cNvSpPr>
          <p:nvPr/>
        </p:nvSpPr>
        <p:spPr bwMode="auto">
          <a:xfrm>
            <a:off x="1219200" y="4337490"/>
            <a:ext cx="2008188" cy="1588"/>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14" name="Rectangle 72"/>
          <p:cNvSpPr>
            <a:spLocks noChangeArrowheads="1"/>
          </p:cNvSpPr>
          <p:nvPr/>
        </p:nvSpPr>
        <p:spPr bwMode="auto">
          <a:xfrm>
            <a:off x="1730375" y="3272278"/>
            <a:ext cx="990600" cy="304800"/>
          </a:xfrm>
          <a:prstGeom prst="rect">
            <a:avLst/>
          </a:prstGeom>
          <a:solidFill>
            <a:srgbClr val="DDDDDD"/>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r>
              <a:rPr kumimoji="1" lang="en-US" altLang="zh-CN" sz="1800" b="0" i="0" u="none" strike="noStrike" kern="0" cap="none" spc="0" normalizeH="0" noProof="0" dirty="0">
                <a:ln>
                  <a:noFill/>
                </a:ln>
                <a:solidFill>
                  <a:schemeClr val="tx1">
                    <a:lumMod val="85000"/>
                    <a:lumOff val="15000"/>
                  </a:schemeClr>
                </a:solidFill>
                <a:effectLst/>
                <a:uLnTx/>
                <a:uFillTx/>
                <a:latin typeface="Calibri" panose="020F0502020204030204" pitchFamily="34" charset="0"/>
                <a:ea typeface="华文楷体" panose="02010600040101010101" pitchFamily="2" charset="-122"/>
              </a:rPr>
              <a:t>IP </a:t>
            </a:r>
            <a:r>
              <a:rPr kumimoji="1" lang="zh-CN" altLang="en-US" sz="1800" b="0" i="0" u="none" strike="noStrike" kern="0" cap="none" spc="0" normalizeH="0" noProof="0" dirty="0">
                <a:ln>
                  <a:noFill/>
                </a:ln>
                <a:solidFill>
                  <a:schemeClr val="tx1">
                    <a:lumMod val="85000"/>
                    <a:lumOff val="15000"/>
                  </a:schemeClr>
                </a:solidFill>
                <a:effectLst/>
                <a:uLnTx/>
                <a:uFillTx/>
                <a:latin typeface="Calibri" panose="020F0502020204030204" pitchFamily="34" charset="0"/>
                <a:ea typeface="华文楷体" panose="02010600040101010101" pitchFamily="2" charset="-122"/>
              </a:rPr>
              <a:t>数据报</a:t>
            </a:r>
          </a:p>
        </p:txBody>
      </p:sp>
      <p:sp>
        <p:nvSpPr>
          <p:cNvPr id="215" name="Rectangle 73"/>
          <p:cNvSpPr>
            <a:spLocks noChangeArrowheads="1"/>
          </p:cNvSpPr>
          <p:nvPr/>
        </p:nvSpPr>
        <p:spPr bwMode="auto">
          <a:xfrm>
            <a:off x="1519238" y="4491478"/>
            <a:ext cx="14033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endParaRPr kumimoji="1" lang="zh-CN" altLang="zh-CN" sz="1800" b="0" i="0" u="none" strike="noStrike" kern="0" cap="none" spc="0" normalizeH="0" noProof="0">
              <a:ln>
                <a:noFill/>
              </a:ln>
              <a:solidFill>
                <a:srgbClr val="3333CC"/>
              </a:solidFill>
              <a:effectLst/>
              <a:uLnTx/>
              <a:uFillTx/>
              <a:latin typeface="Calibri" panose="020F0502020204030204" pitchFamily="34" charset="0"/>
              <a:ea typeface="华文楷体" panose="02010600040101010101" pitchFamily="2" charset="-122"/>
            </a:endParaRPr>
          </a:p>
        </p:txBody>
      </p:sp>
      <p:sp>
        <p:nvSpPr>
          <p:cNvPr id="216" name="Rectangle 74"/>
          <p:cNvSpPr>
            <a:spLocks noChangeArrowheads="1"/>
          </p:cNvSpPr>
          <p:nvPr/>
        </p:nvSpPr>
        <p:spPr bwMode="auto">
          <a:xfrm>
            <a:off x="1455738" y="4504178"/>
            <a:ext cx="1391408" cy="299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lnSpc>
                <a:spcPct val="85000"/>
              </a:lnSpc>
              <a:spcBef>
                <a:spcPct val="0"/>
              </a:spcBef>
              <a:spcAft>
                <a:spcPct val="0"/>
              </a:spcAft>
            </a:pPr>
            <a:r>
              <a:rPr kumimoji="1" lang="en-US" altLang="zh-CN" sz="1600">
                <a:solidFill>
                  <a:srgbClr val="3333CC"/>
                </a:solidFill>
                <a:latin typeface="Calibri" panose="020F0502020204030204" pitchFamily="34" charset="0"/>
                <a:ea typeface="华文楷体" panose="02010600040101010101" pitchFamily="2" charset="-122"/>
              </a:rPr>
              <a:t>1010…  …0110</a:t>
            </a:r>
          </a:p>
        </p:txBody>
      </p:sp>
      <p:sp>
        <p:nvSpPr>
          <p:cNvPr id="217" name="AutoShape 75"/>
          <p:cNvSpPr>
            <a:spLocks noChangeArrowheads="1"/>
          </p:cNvSpPr>
          <p:nvPr/>
        </p:nvSpPr>
        <p:spPr bwMode="auto">
          <a:xfrm>
            <a:off x="2071688" y="4339078"/>
            <a:ext cx="304800" cy="334962"/>
          </a:xfrm>
          <a:prstGeom prst="downArrow">
            <a:avLst>
              <a:gd name="adj1" fmla="val 50000"/>
              <a:gd name="adj2" fmla="val 43231"/>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18" name="Rectangle 76"/>
          <p:cNvSpPr>
            <a:spLocks noChangeArrowheads="1"/>
          </p:cNvSpPr>
          <p:nvPr/>
        </p:nvSpPr>
        <p:spPr bwMode="auto">
          <a:xfrm>
            <a:off x="1724025" y="3891403"/>
            <a:ext cx="990600" cy="280987"/>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219" name="AutoShape 77"/>
          <p:cNvSpPr>
            <a:spLocks noChangeArrowheads="1"/>
          </p:cNvSpPr>
          <p:nvPr/>
        </p:nvSpPr>
        <p:spPr bwMode="auto">
          <a:xfrm>
            <a:off x="1730375" y="3586603"/>
            <a:ext cx="990600" cy="369887"/>
          </a:xfrm>
          <a:prstGeom prst="downArrow">
            <a:avLst>
              <a:gd name="adj1" fmla="val 65389"/>
              <a:gd name="adj2" fmla="val 39394"/>
            </a:avLst>
          </a:prstGeom>
          <a:solidFill>
            <a:srgbClr val="FFCF01"/>
          </a:solidFill>
          <a:ln w="12700">
            <a:solidFill>
              <a:srgbClr val="000000"/>
            </a:solidFill>
            <a:miter lim="800000"/>
            <a:headEnd/>
            <a:tailEnd/>
          </a:ln>
          <a:effectLst>
            <a:outerShdw dist="35921" dir="2700000" algn="ctr" rotWithShape="0">
              <a:srgbClr val="1C1C1C"/>
            </a:outerShdw>
          </a:effec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20" name="Text Box 78"/>
          <p:cNvSpPr txBox="1">
            <a:spLocks noChangeArrowheads="1"/>
          </p:cNvSpPr>
          <p:nvPr/>
        </p:nvSpPr>
        <p:spPr bwMode="auto">
          <a:xfrm>
            <a:off x="2849679" y="3845591"/>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dirty="0">
                <a:solidFill>
                  <a:schemeClr val="accent5">
                    <a:lumMod val="50000"/>
                  </a:schemeClr>
                </a:solidFill>
                <a:latin typeface="Calibri" panose="020F0502020204030204" pitchFamily="34" charset="0"/>
                <a:ea typeface="华文楷体" panose="02010600040101010101" pitchFamily="2" charset="-122"/>
              </a:rPr>
              <a:t>帧</a:t>
            </a:r>
          </a:p>
        </p:txBody>
      </p:sp>
      <p:sp>
        <p:nvSpPr>
          <p:cNvPr id="221" name="Rectangle 79"/>
          <p:cNvSpPr>
            <a:spLocks noChangeArrowheads="1"/>
          </p:cNvSpPr>
          <p:nvPr/>
        </p:nvSpPr>
        <p:spPr bwMode="auto">
          <a:xfrm>
            <a:off x="1930400" y="3550090"/>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装入</a:t>
            </a:r>
          </a:p>
        </p:txBody>
      </p:sp>
      <p:sp>
        <p:nvSpPr>
          <p:cNvPr id="222" name="Line 80"/>
          <p:cNvSpPr>
            <a:spLocks noChangeShapeType="1"/>
          </p:cNvSpPr>
          <p:nvPr/>
        </p:nvSpPr>
        <p:spPr bwMode="auto">
          <a:xfrm>
            <a:off x="1719263" y="3886640"/>
            <a:ext cx="0" cy="28575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23" name="Line 81"/>
          <p:cNvSpPr>
            <a:spLocks noChangeShapeType="1"/>
          </p:cNvSpPr>
          <p:nvPr/>
        </p:nvSpPr>
        <p:spPr bwMode="auto">
          <a:xfrm>
            <a:off x="2709863" y="3888228"/>
            <a:ext cx="0" cy="28575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6" name="文本框 5"/>
          <p:cNvSpPr txBox="1"/>
          <p:nvPr/>
        </p:nvSpPr>
        <p:spPr>
          <a:xfrm>
            <a:off x="3313053" y="3857148"/>
            <a:ext cx="400110" cy="1423089"/>
          </a:xfrm>
          <a:prstGeom prst="rect">
            <a:avLst/>
          </a:prstGeom>
          <a:noFill/>
        </p:spPr>
        <p:txBody>
          <a:bodyPr vert="eaVert" wrap="square" rtlCol="0">
            <a:spAutoFit/>
          </a:bodyPr>
          <a:lstStyle/>
          <a:p>
            <a:pPr>
              <a:lnSpc>
                <a:spcPts val="1600"/>
              </a:lnSpc>
            </a:pPr>
            <a:r>
              <a:rPr lang="zh-CN" altLang="en-US" sz="1600" b="1" dirty="0">
                <a:solidFill>
                  <a:schemeClr val="accent5">
                    <a:lumMod val="50000"/>
                  </a:schemeClr>
                </a:solidFill>
                <a:latin typeface="华文楷体" panose="02010600040101010101" pitchFamily="2" charset="-122"/>
                <a:ea typeface="华文楷体" panose="02010600040101010101" pitchFamily="2" charset="-122"/>
              </a:rPr>
              <a:t>网络适配器</a:t>
            </a:r>
          </a:p>
        </p:txBody>
      </p:sp>
      <p:sp>
        <p:nvSpPr>
          <p:cNvPr id="225" name="文本框 224"/>
          <p:cNvSpPr txBox="1"/>
          <p:nvPr/>
        </p:nvSpPr>
        <p:spPr>
          <a:xfrm flipH="1">
            <a:off x="6472443" y="3851715"/>
            <a:ext cx="400110" cy="1522513"/>
          </a:xfrm>
          <a:prstGeom prst="rect">
            <a:avLst/>
          </a:prstGeom>
          <a:noFill/>
        </p:spPr>
        <p:txBody>
          <a:bodyPr vert="eaVert" wrap="square" rtlCol="0">
            <a:spAutoFit/>
          </a:bodyPr>
          <a:lstStyle/>
          <a:p>
            <a:pPr>
              <a:lnSpc>
                <a:spcPts val="1600"/>
              </a:lnSpc>
            </a:pPr>
            <a:r>
              <a:rPr lang="zh-CN" altLang="en-US" sz="1600" b="1" dirty="0">
                <a:solidFill>
                  <a:schemeClr val="accent5">
                    <a:lumMod val="50000"/>
                  </a:schemeClr>
                </a:solidFill>
                <a:latin typeface="华文楷体" panose="02010600040101010101" pitchFamily="2" charset="-122"/>
                <a:ea typeface="华文楷体" panose="02010600040101010101" pitchFamily="2" charset="-122"/>
              </a:rPr>
              <a:t>网络适配器</a:t>
            </a:r>
          </a:p>
        </p:txBody>
      </p:sp>
      <p:sp>
        <p:nvSpPr>
          <p:cNvPr id="226" name="圆角矩形标注 162"/>
          <p:cNvSpPr/>
          <p:nvPr/>
        </p:nvSpPr>
        <p:spPr>
          <a:xfrm>
            <a:off x="3818457" y="3135620"/>
            <a:ext cx="1205235" cy="550724"/>
          </a:xfrm>
          <a:prstGeom prst="wedgeRoundRectCallout">
            <a:avLst>
              <a:gd name="adj1" fmla="val -107229"/>
              <a:gd name="adj2" fmla="val 105156"/>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组帧</a:t>
            </a:r>
          </a:p>
        </p:txBody>
      </p:sp>
      <p:sp>
        <p:nvSpPr>
          <p:cNvPr id="227" name="圆角矩形标注 162"/>
          <p:cNvSpPr/>
          <p:nvPr/>
        </p:nvSpPr>
        <p:spPr>
          <a:xfrm>
            <a:off x="3783013" y="3947943"/>
            <a:ext cx="1697242" cy="550724"/>
          </a:xfrm>
          <a:prstGeom prst="wedgeRoundRectCallout">
            <a:avLst>
              <a:gd name="adj1" fmla="val -90352"/>
              <a:gd name="adj2" fmla="val 67148"/>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编码、调制</a:t>
            </a:r>
          </a:p>
        </p:txBody>
      </p:sp>
      <p:sp>
        <p:nvSpPr>
          <p:cNvPr id="228" name="Line 13"/>
          <p:cNvSpPr>
            <a:spLocks noChangeShapeType="1"/>
          </p:cNvSpPr>
          <p:nvPr/>
        </p:nvSpPr>
        <p:spPr bwMode="auto">
          <a:xfrm>
            <a:off x="2071688" y="5728747"/>
            <a:ext cx="5962853" cy="0"/>
          </a:xfrm>
          <a:prstGeom prst="line">
            <a:avLst/>
          </a:prstGeom>
          <a:noFill/>
          <a:ln w="539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29" name="Line 13"/>
          <p:cNvSpPr>
            <a:spLocks noChangeShapeType="1"/>
          </p:cNvSpPr>
          <p:nvPr/>
        </p:nvSpPr>
        <p:spPr bwMode="auto">
          <a:xfrm flipV="1">
            <a:off x="8034542" y="5007475"/>
            <a:ext cx="0" cy="758647"/>
          </a:xfrm>
          <a:prstGeom prst="line">
            <a:avLst/>
          </a:prstGeom>
          <a:noFill/>
          <a:ln w="539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30" name="Line 13"/>
          <p:cNvSpPr>
            <a:spLocks noChangeShapeType="1"/>
          </p:cNvSpPr>
          <p:nvPr/>
        </p:nvSpPr>
        <p:spPr bwMode="auto">
          <a:xfrm flipH="1">
            <a:off x="2071688" y="4974296"/>
            <a:ext cx="4794" cy="791825"/>
          </a:xfrm>
          <a:prstGeom prst="line">
            <a:avLst/>
          </a:prstGeom>
          <a:noFill/>
          <a:ln w="539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31" name="圆角矩形标注 162"/>
          <p:cNvSpPr/>
          <p:nvPr/>
        </p:nvSpPr>
        <p:spPr>
          <a:xfrm>
            <a:off x="4860337" y="3912869"/>
            <a:ext cx="1697242" cy="550724"/>
          </a:xfrm>
          <a:prstGeom prst="wedgeRoundRectCallout">
            <a:avLst>
              <a:gd name="adj1" fmla="val 86853"/>
              <a:gd name="adj2" fmla="val 103156"/>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解调、解码</a:t>
            </a:r>
          </a:p>
        </p:txBody>
      </p:sp>
      <p:sp>
        <p:nvSpPr>
          <p:cNvPr id="232" name="圆角矩形标注 162"/>
          <p:cNvSpPr/>
          <p:nvPr/>
        </p:nvSpPr>
        <p:spPr>
          <a:xfrm>
            <a:off x="4945856" y="3350692"/>
            <a:ext cx="1697242" cy="550724"/>
          </a:xfrm>
          <a:prstGeom prst="wedgeRoundRectCallout">
            <a:avLst>
              <a:gd name="adj1" fmla="val 86853"/>
              <a:gd name="adj2" fmla="val 103156"/>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识别帧</a:t>
            </a:r>
          </a:p>
        </p:txBody>
      </p:sp>
      <p:sp>
        <p:nvSpPr>
          <p:cNvPr id="72" name="圆角矩形标注 150"/>
          <p:cNvSpPr/>
          <p:nvPr/>
        </p:nvSpPr>
        <p:spPr>
          <a:xfrm>
            <a:off x="2913190" y="6210830"/>
            <a:ext cx="3153604" cy="576110"/>
          </a:xfrm>
          <a:prstGeom prst="wedgeRoundRectCallout">
            <a:avLst>
              <a:gd name="adj1" fmla="val -5754"/>
              <a:gd name="adj2" fmla="val -131309"/>
              <a:gd name="adj3" fmla="val 16667"/>
            </a:avLst>
          </a:prstGeom>
          <a:solidFill>
            <a:srgbClr val="950770"/>
          </a:solidFill>
          <a:ln>
            <a:solidFill>
              <a:srgbClr val="7105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比特在两个适配器间流动</a:t>
            </a:r>
          </a:p>
        </p:txBody>
      </p:sp>
      <p:sp>
        <p:nvSpPr>
          <p:cNvPr id="74" name="内容占位符 2"/>
          <p:cNvSpPr>
            <a:spLocks noGrp="1"/>
          </p:cNvSpPr>
          <p:nvPr>
            <p:ph idx="1"/>
          </p:nvPr>
        </p:nvSpPr>
        <p:spPr>
          <a:xfrm>
            <a:off x="457200" y="1444979"/>
            <a:ext cx="8229600" cy="1072682"/>
          </a:xfrm>
        </p:spPr>
        <p:txBody>
          <a:bodyPr/>
          <a:lstStyle/>
          <a:p>
            <a:r>
              <a:rPr lang="zh-CN" altLang="en-US" sz="2200" dirty="0"/>
              <a:t>实现大部分数据链层，以及物理层功能</a:t>
            </a:r>
            <a:endParaRPr lang="en-US" altLang="zh-CN" sz="2200" dirty="0"/>
          </a:p>
          <a:p>
            <a:pPr lvl="1"/>
            <a:r>
              <a:rPr lang="zh-CN" altLang="en-US" sz="1800" dirty="0"/>
              <a:t>实现调制编码、成帧、错误检测、可靠传输、介质访问控制等功能</a:t>
            </a:r>
          </a:p>
        </p:txBody>
      </p:sp>
    </p:spTree>
    <p:custDataLst>
      <p:tags r:id="rId1"/>
    </p:custDataLst>
    <p:extLst>
      <p:ext uri="{BB962C8B-B14F-4D97-AF65-F5344CB8AC3E}">
        <p14:creationId xmlns:p14="http://schemas.microsoft.com/office/powerpoint/2010/main" val="3126849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wipe(left)">
                                      <p:cBhvr>
                                        <p:cTn id="7" dur="500"/>
                                        <p:tgtEl>
                                          <p:spTgt spid="22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20"/>
                                        </p:tgtEl>
                                        <p:attrNameLst>
                                          <p:attrName>style.visibility</p:attrName>
                                        </p:attrNameLst>
                                      </p:cBhvr>
                                      <p:to>
                                        <p:strVal val="visible"/>
                                      </p:to>
                                    </p:set>
                                    <p:animEffect transition="in" filter="dissolve">
                                      <p:cBhvr>
                                        <p:cTn id="11" dur="500"/>
                                        <p:tgtEl>
                                          <p:spTgt spid="22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500"/>
                                        <p:tgtEl>
                                          <p:spTgt spid="226"/>
                                        </p:tgtEl>
                                      </p:cBhvr>
                                    </p:animEffect>
                                    <p:set>
                                      <p:cBhvr>
                                        <p:cTn id="16" dur="1" fill="hold">
                                          <p:stCondLst>
                                            <p:cond delay="499"/>
                                          </p:stCondLst>
                                        </p:cTn>
                                        <p:tgtEl>
                                          <p:spTgt spid="226"/>
                                        </p:tgtEl>
                                        <p:attrNameLst>
                                          <p:attrName>style.visibility</p:attrName>
                                        </p:attrNameLst>
                                      </p:cBhvr>
                                      <p:to>
                                        <p:strVal val="hidden"/>
                                      </p:to>
                                    </p:set>
                                  </p:childTnLst>
                                </p:cTn>
                              </p:par>
                              <p:par>
                                <p:cTn id="17" presetID="22" presetClass="entr" presetSubtype="8" fill="hold" grpId="0" nodeType="withEffect">
                                  <p:stCondLst>
                                    <p:cond delay="0"/>
                                  </p:stCondLst>
                                  <p:childTnLst>
                                    <p:set>
                                      <p:cBhvr>
                                        <p:cTn id="18" dur="1" fill="hold">
                                          <p:stCondLst>
                                            <p:cond delay="0"/>
                                          </p:stCondLst>
                                        </p:cTn>
                                        <p:tgtEl>
                                          <p:spTgt spid="227"/>
                                        </p:tgtEl>
                                        <p:attrNameLst>
                                          <p:attrName>style.visibility</p:attrName>
                                        </p:attrNameLst>
                                      </p:cBhvr>
                                      <p:to>
                                        <p:strVal val="visible"/>
                                      </p:to>
                                    </p:set>
                                    <p:animEffect transition="in" filter="wipe(left)">
                                      <p:cBhvr>
                                        <p:cTn id="19" dur="500"/>
                                        <p:tgtEl>
                                          <p:spTgt spid="227"/>
                                        </p:tgtEl>
                                      </p:cBhvr>
                                    </p:animEffect>
                                  </p:childTnLst>
                                </p:cTn>
                              </p:par>
                            </p:childTnLst>
                          </p:cTn>
                        </p:par>
                        <p:par>
                          <p:cTn id="20" fill="hold">
                            <p:stCondLst>
                              <p:cond delay="500"/>
                            </p:stCondLst>
                            <p:childTnLst>
                              <p:par>
                                <p:cTn id="21" presetID="22" presetClass="entr" presetSubtype="1" fill="hold" grpId="0" nodeType="afterEffect">
                                  <p:stCondLst>
                                    <p:cond delay="0"/>
                                  </p:stCondLst>
                                  <p:childTnLst>
                                    <p:set>
                                      <p:cBhvr>
                                        <p:cTn id="22" dur="1" fill="hold">
                                          <p:stCondLst>
                                            <p:cond delay="0"/>
                                          </p:stCondLst>
                                        </p:cTn>
                                        <p:tgtEl>
                                          <p:spTgt spid="230"/>
                                        </p:tgtEl>
                                        <p:attrNameLst>
                                          <p:attrName>style.visibility</p:attrName>
                                        </p:attrNameLst>
                                      </p:cBhvr>
                                      <p:to>
                                        <p:strVal val="visible"/>
                                      </p:to>
                                    </p:set>
                                    <p:animEffect transition="in" filter="wipe(up)">
                                      <p:cBhvr>
                                        <p:cTn id="23" dur="500"/>
                                        <p:tgtEl>
                                          <p:spTgt spid="230"/>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228"/>
                                        </p:tgtEl>
                                        <p:attrNameLst>
                                          <p:attrName>style.visibility</p:attrName>
                                        </p:attrNameLst>
                                      </p:cBhvr>
                                      <p:to>
                                        <p:strVal val="visible"/>
                                      </p:to>
                                    </p:set>
                                    <p:animEffect transition="in" filter="wipe(left)">
                                      <p:cBhvr>
                                        <p:cTn id="27" dur="500"/>
                                        <p:tgtEl>
                                          <p:spTgt spid="228"/>
                                        </p:tgtEl>
                                      </p:cBhvr>
                                    </p:animEffect>
                                  </p:childTnLst>
                                </p:cTn>
                              </p:par>
                            </p:childTnLst>
                          </p:cTn>
                        </p:par>
                        <p:par>
                          <p:cTn id="28" fill="hold">
                            <p:stCondLst>
                              <p:cond delay="1500"/>
                            </p:stCondLst>
                            <p:childTnLst>
                              <p:par>
                                <p:cTn id="29" presetID="22" presetClass="entr" presetSubtype="4" fill="hold" grpId="0" nodeType="afterEffect">
                                  <p:stCondLst>
                                    <p:cond delay="0"/>
                                  </p:stCondLst>
                                  <p:childTnLst>
                                    <p:set>
                                      <p:cBhvr>
                                        <p:cTn id="30" dur="1" fill="hold">
                                          <p:stCondLst>
                                            <p:cond delay="0"/>
                                          </p:stCondLst>
                                        </p:cTn>
                                        <p:tgtEl>
                                          <p:spTgt spid="229"/>
                                        </p:tgtEl>
                                        <p:attrNameLst>
                                          <p:attrName>style.visibility</p:attrName>
                                        </p:attrNameLst>
                                      </p:cBhvr>
                                      <p:to>
                                        <p:strVal val="visible"/>
                                      </p:to>
                                    </p:set>
                                    <p:animEffect transition="in" filter="wipe(down)">
                                      <p:cBhvr>
                                        <p:cTn id="31" dur="500"/>
                                        <p:tgtEl>
                                          <p:spTgt spid="2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72"/>
                                        </p:tgtEl>
                                        <p:attrNameLst>
                                          <p:attrName>style.visibility</p:attrName>
                                        </p:attrNameLst>
                                      </p:cBhvr>
                                      <p:to>
                                        <p:strVal val="visible"/>
                                      </p:to>
                                    </p:set>
                                    <p:animEffect transition="in" filter="wipe(up)">
                                      <p:cBhvr>
                                        <p:cTn id="36" dur="500"/>
                                        <p:tgtEl>
                                          <p:spTgt spid="7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231"/>
                                        </p:tgtEl>
                                        <p:attrNameLst>
                                          <p:attrName>style.visibility</p:attrName>
                                        </p:attrNameLst>
                                      </p:cBhvr>
                                      <p:to>
                                        <p:strVal val="visible"/>
                                      </p:to>
                                    </p:set>
                                    <p:animEffect transition="in" filter="wipe(right)">
                                      <p:cBhvr>
                                        <p:cTn id="41" dur="500"/>
                                        <p:tgtEl>
                                          <p:spTgt spid="231"/>
                                        </p:tgtEl>
                                      </p:cBhvr>
                                    </p:animEffect>
                                  </p:childTnLst>
                                </p:cTn>
                              </p:par>
                              <p:par>
                                <p:cTn id="42" presetID="10" presetClass="exit" presetSubtype="0" fill="hold" grpId="1" nodeType="withEffect">
                                  <p:stCondLst>
                                    <p:cond delay="0"/>
                                  </p:stCondLst>
                                  <p:childTnLst>
                                    <p:animEffect transition="out" filter="fade">
                                      <p:cBhvr>
                                        <p:cTn id="43" dur="500"/>
                                        <p:tgtEl>
                                          <p:spTgt spid="227"/>
                                        </p:tgtEl>
                                      </p:cBhvr>
                                    </p:animEffect>
                                    <p:set>
                                      <p:cBhvr>
                                        <p:cTn id="44" dur="1" fill="hold">
                                          <p:stCondLst>
                                            <p:cond delay="499"/>
                                          </p:stCondLst>
                                        </p:cTn>
                                        <p:tgtEl>
                                          <p:spTgt spid="227"/>
                                        </p:tgtEl>
                                        <p:attrNameLst>
                                          <p:attrName>style.visibility</p:attrName>
                                        </p:attrNameLst>
                                      </p:cBhvr>
                                      <p:to>
                                        <p:strVal val="hidden"/>
                                      </p:to>
                                    </p:set>
                                  </p:childTnLst>
                                </p:cTn>
                              </p:par>
                              <p:par>
                                <p:cTn id="45" presetID="22" presetClass="exit" presetSubtype="4" fill="hold" grpId="1" nodeType="withEffect">
                                  <p:stCondLst>
                                    <p:cond delay="0"/>
                                  </p:stCondLst>
                                  <p:childTnLst>
                                    <p:animEffect transition="out" filter="wipe(down)">
                                      <p:cBhvr>
                                        <p:cTn id="46" dur="500"/>
                                        <p:tgtEl>
                                          <p:spTgt spid="72"/>
                                        </p:tgtEl>
                                      </p:cBhvr>
                                    </p:animEffect>
                                    <p:set>
                                      <p:cBhvr>
                                        <p:cTn id="47" dur="1" fill="hold">
                                          <p:stCondLst>
                                            <p:cond delay="499"/>
                                          </p:stCondLst>
                                        </p:cTn>
                                        <p:tgtEl>
                                          <p:spTgt spid="72"/>
                                        </p:tgtEl>
                                        <p:attrNameLst>
                                          <p:attrName>style.visibility</p:attrName>
                                        </p:attrNameLst>
                                      </p:cBhvr>
                                      <p:to>
                                        <p:strVal val="hidden"/>
                                      </p:to>
                                    </p:set>
                                  </p:childTnLst>
                                </p:cTn>
                              </p:par>
                              <p:par>
                                <p:cTn id="48" presetID="10" presetClass="exit" presetSubtype="0" fill="hold" grpId="1" nodeType="withEffect">
                                  <p:stCondLst>
                                    <p:cond delay="0"/>
                                  </p:stCondLst>
                                  <p:childTnLst>
                                    <p:animEffect transition="out" filter="fade">
                                      <p:cBhvr>
                                        <p:cTn id="49" dur="500"/>
                                        <p:tgtEl>
                                          <p:spTgt spid="230"/>
                                        </p:tgtEl>
                                      </p:cBhvr>
                                    </p:animEffect>
                                    <p:set>
                                      <p:cBhvr>
                                        <p:cTn id="50" dur="1" fill="hold">
                                          <p:stCondLst>
                                            <p:cond delay="499"/>
                                          </p:stCondLst>
                                        </p:cTn>
                                        <p:tgtEl>
                                          <p:spTgt spid="230"/>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500"/>
                                        <p:tgtEl>
                                          <p:spTgt spid="228"/>
                                        </p:tgtEl>
                                      </p:cBhvr>
                                    </p:animEffect>
                                    <p:set>
                                      <p:cBhvr>
                                        <p:cTn id="53" dur="1" fill="hold">
                                          <p:stCondLst>
                                            <p:cond delay="499"/>
                                          </p:stCondLst>
                                        </p:cTn>
                                        <p:tgtEl>
                                          <p:spTgt spid="228"/>
                                        </p:tgtEl>
                                        <p:attrNameLst>
                                          <p:attrName>style.visibility</p:attrName>
                                        </p:attrNameLst>
                                      </p:cBhvr>
                                      <p:to>
                                        <p:strVal val="hidden"/>
                                      </p:to>
                                    </p:set>
                                  </p:childTnLst>
                                </p:cTn>
                              </p:par>
                              <p:par>
                                <p:cTn id="54" presetID="10" presetClass="exit" presetSubtype="0" fill="hold" grpId="1" nodeType="withEffect">
                                  <p:stCondLst>
                                    <p:cond delay="0"/>
                                  </p:stCondLst>
                                  <p:childTnLst>
                                    <p:animEffect transition="out" filter="fade">
                                      <p:cBhvr>
                                        <p:cTn id="55" dur="500"/>
                                        <p:tgtEl>
                                          <p:spTgt spid="229"/>
                                        </p:tgtEl>
                                      </p:cBhvr>
                                    </p:animEffect>
                                    <p:set>
                                      <p:cBhvr>
                                        <p:cTn id="56" dur="1" fill="hold">
                                          <p:stCondLst>
                                            <p:cond delay="499"/>
                                          </p:stCondLst>
                                        </p:cTn>
                                        <p:tgtEl>
                                          <p:spTgt spid="229"/>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grpId="1" nodeType="clickEffect">
                                  <p:stCondLst>
                                    <p:cond delay="0"/>
                                  </p:stCondLst>
                                  <p:childTnLst>
                                    <p:animEffect transition="out" filter="fade">
                                      <p:cBhvr>
                                        <p:cTn id="60" dur="500"/>
                                        <p:tgtEl>
                                          <p:spTgt spid="231"/>
                                        </p:tgtEl>
                                      </p:cBhvr>
                                    </p:animEffect>
                                    <p:set>
                                      <p:cBhvr>
                                        <p:cTn id="61" dur="1" fill="hold">
                                          <p:stCondLst>
                                            <p:cond delay="499"/>
                                          </p:stCondLst>
                                        </p:cTn>
                                        <p:tgtEl>
                                          <p:spTgt spid="231"/>
                                        </p:tgtEl>
                                        <p:attrNameLst>
                                          <p:attrName>style.visibility</p:attrName>
                                        </p:attrNameLst>
                                      </p:cBhvr>
                                      <p:to>
                                        <p:strVal val="hidden"/>
                                      </p:to>
                                    </p:set>
                                  </p:childTnLst>
                                </p:cTn>
                              </p:par>
                              <p:par>
                                <p:cTn id="62" presetID="22" presetClass="entr" presetSubtype="2" fill="hold" grpId="0" nodeType="withEffect">
                                  <p:stCondLst>
                                    <p:cond delay="0"/>
                                  </p:stCondLst>
                                  <p:childTnLst>
                                    <p:set>
                                      <p:cBhvr>
                                        <p:cTn id="63" dur="1" fill="hold">
                                          <p:stCondLst>
                                            <p:cond delay="0"/>
                                          </p:stCondLst>
                                        </p:cTn>
                                        <p:tgtEl>
                                          <p:spTgt spid="232"/>
                                        </p:tgtEl>
                                        <p:attrNameLst>
                                          <p:attrName>style.visibility</p:attrName>
                                        </p:attrNameLst>
                                      </p:cBhvr>
                                      <p:to>
                                        <p:strVal val="visible"/>
                                      </p:to>
                                    </p:set>
                                    <p:animEffect transition="in" filter="wipe(right)">
                                      <p:cBhvr>
                                        <p:cTn id="64" dur="500"/>
                                        <p:tgtEl>
                                          <p:spTgt spid="232"/>
                                        </p:tgtEl>
                                      </p:cBhvr>
                                    </p:animEffect>
                                  </p:childTnLst>
                                </p:cTn>
                              </p:par>
                            </p:childTnLst>
                          </p:cTn>
                        </p:par>
                        <p:par>
                          <p:cTn id="65" fill="hold">
                            <p:stCondLst>
                              <p:cond delay="500"/>
                            </p:stCondLst>
                            <p:childTnLst>
                              <p:par>
                                <p:cTn id="66" presetID="9" presetClass="entr" presetSubtype="0" fill="hold" grpId="0" nodeType="afterEffect">
                                  <p:stCondLst>
                                    <p:cond delay="0"/>
                                  </p:stCondLst>
                                  <p:childTnLst>
                                    <p:set>
                                      <p:cBhvr>
                                        <p:cTn id="67" dur="1" fill="hold">
                                          <p:stCondLst>
                                            <p:cond delay="0"/>
                                          </p:stCondLst>
                                        </p:cTn>
                                        <p:tgtEl>
                                          <p:spTgt spid="179"/>
                                        </p:tgtEl>
                                        <p:attrNameLst>
                                          <p:attrName>style.visibility</p:attrName>
                                        </p:attrNameLst>
                                      </p:cBhvr>
                                      <p:to>
                                        <p:strVal val="visible"/>
                                      </p:to>
                                    </p:set>
                                    <p:animEffect transition="in" filter="dissolve">
                                      <p:cBhvr>
                                        <p:cTn id="68" dur="500"/>
                                        <p:tgtEl>
                                          <p:spTgt spid="179"/>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grpId="1" nodeType="clickEffect">
                                  <p:stCondLst>
                                    <p:cond delay="0"/>
                                  </p:stCondLst>
                                  <p:childTnLst>
                                    <p:animEffect transition="out" filter="fade">
                                      <p:cBhvr>
                                        <p:cTn id="72" dur="500"/>
                                        <p:tgtEl>
                                          <p:spTgt spid="232"/>
                                        </p:tgtEl>
                                      </p:cBhvr>
                                    </p:animEffect>
                                    <p:set>
                                      <p:cBhvr>
                                        <p:cTn id="73" dur="1" fill="hold">
                                          <p:stCondLst>
                                            <p:cond delay="499"/>
                                          </p:stCondLst>
                                        </p:cTn>
                                        <p:tgtEl>
                                          <p:spTgt spid="2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P spid="220" grpId="0"/>
      <p:bldP spid="226" grpId="0" animBg="1"/>
      <p:bldP spid="226" grpId="1" animBg="1"/>
      <p:bldP spid="227" grpId="0" animBg="1"/>
      <p:bldP spid="227" grpId="1" animBg="1"/>
      <p:bldP spid="228" grpId="0" animBg="1"/>
      <p:bldP spid="228" grpId="1" animBg="1"/>
      <p:bldP spid="229" grpId="0" animBg="1"/>
      <p:bldP spid="229" grpId="1" animBg="1"/>
      <p:bldP spid="230" grpId="0" animBg="1"/>
      <p:bldP spid="230" grpId="1" animBg="1"/>
      <p:bldP spid="231" grpId="0" animBg="1"/>
      <p:bldP spid="231" grpId="1" animBg="1"/>
      <p:bldP spid="232" grpId="0" animBg="1"/>
      <p:bldP spid="232" grpId="1" animBg="1"/>
      <p:bldP spid="72" grpId="0" animBg="1"/>
      <p:bldP spid="72"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矩形 223"/>
          <p:cNvSpPr/>
          <p:nvPr/>
        </p:nvSpPr>
        <p:spPr>
          <a:xfrm>
            <a:off x="6544019" y="3894637"/>
            <a:ext cx="2555266" cy="1352550"/>
          </a:xfrm>
          <a:prstGeom prst="rect">
            <a:avLst/>
          </a:prstGeom>
          <a:solidFill>
            <a:srgbClr val="EFEFFF"/>
          </a:solidFill>
          <a:ln w="12700">
            <a:solidFill>
              <a:srgbClr val="000000"/>
            </a:solidFill>
            <a:miter lim="800000"/>
            <a:headEnd/>
            <a:tailEnd/>
          </a:ln>
          <a:effectLst>
            <a:outerShdw dist="53882" dir="2700000" algn="ctr" rotWithShape="0">
              <a:srgbClr val="1C1C1C"/>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fontAlgn="base">
              <a:spcBef>
                <a:spcPct val="0"/>
              </a:spcBef>
              <a:spcAft>
                <a:spcPct val="0"/>
              </a:spcAft>
            </a:pPr>
            <a:endParaRPr lang="zh-CN" altLang="en-US" sz="2000" kern="0">
              <a:solidFill>
                <a:srgbClr val="000000"/>
              </a:solidFill>
              <a:latin typeface="Calibri" panose="020F0502020204030204" pitchFamily="34" charset="0"/>
              <a:ea typeface="华文楷体" panose="02010600040101010101" pitchFamily="2" charset="-122"/>
            </a:endParaRPr>
          </a:p>
        </p:txBody>
      </p:sp>
      <p:sp>
        <p:nvSpPr>
          <p:cNvPr id="5" name="矩形 4"/>
          <p:cNvSpPr/>
          <p:nvPr/>
        </p:nvSpPr>
        <p:spPr>
          <a:xfrm>
            <a:off x="760164" y="3886639"/>
            <a:ext cx="2977076" cy="1338263"/>
          </a:xfrm>
          <a:prstGeom prst="rect">
            <a:avLst/>
          </a:prstGeom>
          <a:solidFill>
            <a:srgbClr val="EFEFFF"/>
          </a:solidFill>
          <a:ln w="12700">
            <a:solidFill>
              <a:srgbClr val="000000"/>
            </a:solidFill>
            <a:miter lim="800000"/>
            <a:headEnd/>
            <a:tailEnd/>
          </a:ln>
          <a:effectLst>
            <a:outerShdw dist="53882" dir="2700000" algn="ctr" rotWithShape="0">
              <a:srgbClr val="1C1C1C"/>
            </a:outerShdw>
          </a:effectLst>
        </p:spPr>
        <p:txBody>
          <a:bodyPr wrap="none" anchor="ctr"/>
          <a:lstStyle/>
          <a:p>
            <a:pPr fontAlgn="base">
              <a:spcBef>
                <a:spcPct val="0"/>
              </a:spcBef>
              <a:spcAft>
                <a:spcPct val="0"/>
              </a:spcAft>
            </a:pPr>
            <a:endParaRPr lang="zh-CN" altLang="en-US" sz="2000" kern="0">
              <a:solidFill>
                <a:srgbClr val="000000"/>
              </a:solidFill>
              <a:latin typeface="Calibri" panose="020F0502020204030204" pitchFamily="34" charset="0"/>
              <a:ea typeface="华文楷体" panose="02010600040101010101" pitchFamily="2" charset="-122"/>
            </a:endParaRPr>
          </a:p>
        </p:txBody>
      </p:sp>
      <p:sp>
        <p:nvSpPr>
          <p:cNvPr id="2" name="标题 1"/>
          <p:cNvSpPr>
            <a:spLocks noGrp="1"/>
          </p:cNvSpPr>
          <p:nvPr>
            <p:ph type="title"/>
          </p:nvPr>
        </p:nvSpPr>
        <p:spPr/>
        <p:txBody>
          <a:bodyPr/>
          <a:lstStyle/>
          <a:p>
            <a:r>
              <a:rPr lang="zh-CN" altLang="en-US" dirty="0"/>
              <a:t>网络适配器</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26</a:t>
            </a:fld>
            <a:endParaRPr lang="zh-CN" altLang="en-US" dirty="0"/>
          </a:p>
        </p:txBody>
      </p:sp>
      <p:sp>
        <p:nvSpPr>
          <p:cNvPr id="168" name="Rectangle 4"/>
          <p:cNvSpPr>
            <a:spLocks noChangeArrowheads="1"/>
          </p:cNvSpPr>
          <p:nvPr/>
        </p:nvSpPr>
        <p:spPr bwMode="auto">
          <a:xfrm>
            <a:off x="6980238" y="3135753"/>
            <a:ext cx="2011362" cy="1828800"/>
          </a:xfrm>
          <a:prstGeom prst="rect">
            <a:avLst/>
          </a:prstGeom>
          <a:solidFill>
            <a:srgbClr val="CCFFFF"/>
          </a:solidFill>
          <a:ln w="12700">
            <a:solidFill>
              <a:srgbClr val="000000"/>
            </a:solidFill>
            <a:prstDash val="dash"/>
            <a:miter lim="800000"/>
            <a:headEnd/>
            <a:tailEnd/>
          </a:ln>
          <a:effectLst>
            <a:outerShdw dist="53882" dir="2700000" algn="ctr" rotWithShape="0">
              <a:srgbClr val="1C1C1C"/>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69" name="Rectangle 5"/>
          <p:cNvSpPr>
            <a:spLocks noChangeArrowheads="1"/>
          </p:cNvSpPr>
          <p:nvPr/>
        </p:nvSpPr>
        <p:spPr bwMode="auto">
          <a:xfrm>
            <a:off x="6999288" y="3745353"/>
            <a:ext cx="1981200" cy="6096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70" name="Line 6"/>
          <p:cNvSpPr>
            <a:spLocks noChangeShapeType="1"/>
          </p:cNvSpPr>
          <p:nvPr/>
        </p:nvSpPr>
        <p:spPr bwMode="auto">
          <a:xfrm>
            <a:off x="6980238" y="3743765"/>
            <a:ext cx="2008187" cy="1588"/>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71" name="Rectangle 7"/>
          <p:cNvSpPr>
            <a:spLocks noChangeArrowheads="1"/>
          </p:cNvSpPr>
          <p:nvPr/>
        </p:nvSpPr>
        <p:spPr bwMode="auto">
          <a:xfrm>
            <a:off x="7286625" y="3897753"/>
            <a:ext cx="13906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endParaRPr kumimoji="1" lang="zh-CN" altLang="zh-CN" sz="1800" b="0" i="0" u="none" strike="noStrike" kern="0" cap="none" spc="0" normalizeH="0" noProof="0">
              <a:ln>
                <a:noFill/>
              </a:ln>
              <a:solidFill>
                <a:srgbClr val="3333CC"/>
              </a:solidFill>
              <a:effectLst/>
              <a:uLnTx/>
              <a:uFillTx/>
              <a:latin typeface="Calibri" panose="020F0502020204030204" pitchFamily="34" charset="0"/>
              <a:ea typeface="华文楷体" panose="02010600040101010101" pitchFamily="2" charset="-122"/>
            </a:endParaRPr>
          </a:p>
        </p:txBody>
      </p:sp>
      <p:sp>
        <p:nvSpPr>
          <p:cNvPr id="172" name="Line 8"/>
          <p:cNvSpPr>
            <a:spLocks noChangeShapeType="1"/>
          </p:cNvSpPr>
          <p:nvPr/>
        </p:nvSpPr>
        <p:spPr bwMode="auto">
          <a:xfrm>
            <a:off x="6980238" y="4353365"/>
            <a:ext cx="2008187" cy="1588"/>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73" name="Rectangle 9"/>
          <p:cNvSpPr>
            <a:spLocks noChangeArrowheads="1"/>
          </p:cNvSpPr>
          <p:nvPr/>
        </p:nvSpPr>
        <p:spPr bwMode="auto">
          <a:xfrm>
            <a:off x="7491413" y="3288153"/>
            <a:ext cx="990600" cy="304800"/>
          </a:xfrm>
          <a:prstGeom prst="rect">
            <a:avLst/>
          </a:prstGeom>
          <a:solidFill>
            <a:srgbClr val="DDDDDD"/>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r>
              <a:rPr kumimoji="1" lang="en-US" altLang="zh-CN" sz="1800" b="0" i="0" u="none" strike="noStrike" kern="0" cap="none" spc="0" normalizeH="0" noProof="0">
                <a:ln>
                  <a:noFill/>
                </a:ln>
                <a:solidFill>
                  <a:schemeClr val="tx1">
                    <a:lumMod val="85000"/>
                    <a:lumOff val="15000"/>
                  </a:schemeClr>
                </a:solidFill>
                <a:effectLst/>
                <a:uLnTx/>
                <a:uFillTx/>
                <a:latin typeface="Calibri" panose="020F0502020204030204" pitchFamily="34" charset="0"/>
                <a:ea typeface="华文楷体" panose="02010600040101010101" pitchFamily="2" charset="-122"/>
              </a:rPr>
              <a:t>IP </a:t>
            </a:r>
            <a:r>
              <a:rPr kumimoji="1" lang="zh-CN" altLang="en-US" sz="1800" b="0" i="0" u="none" strike="noStrike" kern="0" cap="none" spc="0" normalizeH="0" noProof="0">
                <a:ln>
                  <a:noFill/>
                </a:ln>
                <a:solidFill>
                  <a:schemeClr val="tx1">
                    <a:lumMod val="85000"/>
                    <a:lumOff val="15000"/>
                  </a:schemeClr>
                </a:solidFill>
                <a:effectLst/>
                <a:uLnTx/>
                <a:uFillTx/>
                <a:latin typeface="Calibri" panose="020F0502020204030204" pitchFamily="34" charset="0"/>
                <a:ea typeface="华文楷体" panose="02010600040101010101" pitchFamily="2" charset="-122"/>
              </a:rPr>
              <a:t>数据报</a:t>
            </a:r>
          </a:p>
        </p:txBody>
      </p:sp>
      <p:sp>
        <p:nvSpPr>
          <p:cNvPr id="174" name="Rectangle 10"/>
          <p:cNvSpPr>
            <a:spLocks noChangeArrowheads="1"/>
          </p:cNvSpPr>
          <p:nvPr/>
        </p:nvSpPr>
        <p:spPr bwMode="auto">
          <a:xfrm>
            <a:off x="7280275" y="4507353"/>
            <a:ext cx="14033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endParaRPr kumimoji="1" lang="zh-CN" altLang="zh-CN" sz="1800" b="0" i="0" u="none" strike="noStrike" kern="0" cap="none" spc="0" normalizeH="0" noProof="0">
              <a:ln>
                <a:noFill/>
              </a:ln>
              <a:solidFill>
                <a:srgbClr val="3333CC"/>
              </a:solidFill>
              <a:effectLst/>
              <a:uLnTx/>
              <a:uFillTx/>
              <a:latin typeface="Calibri" panose="020F0502020204030204" pitchFamily="34" charset="0"/>
              <a:ea typeface="华文楷体" panose="02010600040101010101" pitchFamily="2" charset="-122"/>
            </a:endParaRPr>
          </a:p>
        </p:txBody>
      </p:sp>
      <p:sp>
        <p:nvSpPr>
          <p:cNvPr id="175" name="Rectangle 11"/>
          <p:cNvSpPr>
            <a:spLocks noChangeArrowheads="1"/>
          </p:cNvSpPr>
          <p:nvPr/>
        </p:nvSpPr>
        <p:spPr bwMode="auto">
          <a:xfrm>
            <a:off x="7216775" y="4520053"/>
            <a:ext cx="1391408" cy="299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lnSpc>
                <a:spcPct val="85000"/>
              </a:lnSpc>
              <a:spcBef>
                <a:spcPct val="0"/>
              </a:spcBef>
              <a:spcAft>
                <a:spcPct val="0"/>
              </a:spcAft>
            </a:pPr>
            <a:r>
              <a:rPr kumimoji="1" lang="en-US" altLang="zh-CN" sz="1600">
                <a:solidFill>
                  <a:srgbClr val="3333CC"/>
                </a:solidFill>
                <a:latin typeface="Calibri" panose="020F0502020204030204" pitchFamily="34" charset="0"/>
                <a:ea typeface="华文楷体" panose="02010600040101010101" pitchFamily="2" charset="-122"/>
              </a:rPr>
              <a:t>1010…  …0110</a:t>
            </a:r>
          </a:p>
        </p:txBody>
      </p:sp>
      <p:sp>
        <p:nvSpPr>
          <p:cNvPr id="176" name="AutoShape 12"/>
          <p:cNvSpPr>
            <a:spLocks noChangeArrowheads="1"/>
          </p:cNvSpPr>
          <p:nvPr/>
        </p:nvSpPr>
        <p:spPr bwMode="auto">
          <a:xfrm flipV="1">
            <a:off x="7851775" y="4250178"/>
            <a:ext cx="304800" cy="334962"/>
          </a:xfrm>
          <a:prstGeom prst="downArrow">
            <a:avLst>
              <a:gd name="adj1" fmla="val 50000"/>
              <a:gd name="adj2" fmla="val 43231"/>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77" name="Rectangle 13"/>
          <p:cNvSpPr>
            <a:spLocks noChangeArrowheads="1"/>
          </p:cNvSpPr>
          <p:nvPr/>
        </p:nvSpPr>
        <p:spPr bwMode="auto">
          <a:xfrm>
            <a:off x="7485063" y="3907278"/>
            <a:ext cx="990600" cy="280987"/>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78" name="AutoShape 14"/>
          <p:cNvSpPr>
            <a:spLocks noChangeArrowheads="1"/>
          </p:cNvSpPr>
          <p:nvPr/>
        </p:nvSpPr>
        <p:spPr bwMode="auto">
          <a:xfrm flipV="1">
            <a:off x="7481888" y="3538978"/>
            <a:ext cx="990600" cy="369887"/>
          </a:xfrm>
          <a:prstGeom prst="downArrow">
            <a:avLst>
              <a:gd name="adj1" fmla="val 65389"/>
              <a:gd name="adj2" fmla="val 39394"/>
            </a:avLst>
          </a:prstGeom>
          <a:solidFill>
            <a:srgbClr val="FFCF01"/>
          </a:solidFill>
          <a:ln w="12700">
            <a:solidFill>
              <a:srgbClr val="000000"/>
            </a:solidFill>
            <a:miter lim="800000"/>
            <a:headEnd/>
            <a:tailEnd/>
          </a:ln>
          <a:effectLst>
            <a:outerShdw dist="35921" dir="2700000" algn="ctr" rotWithShape="0">
              <a:srgbClr val="1C1C1C"/>
            </a:outerShdw>
          </a:effec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79" name="Text Box 15"/>
          <p:cNvSpPr txBox="1">
            <a:spLocks noChangeArrowheads="1"/>
          </p:cNvSpPr>
          <p:nvPr/>
        </p:nvSpPr>
        <p:spPr bwMode="auto">
          <a:xfrm>
            <a:off x="6948488" y="385171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dirty="0">
                <a:solidFill>
                  <a:schemeClr val="accent5">
                    <a:lumMod val="50000"/>
                  </a:schemeClr>
                </a:solidFill>
                <a:latin typeface="Calibri" panose="020F0502020204030204" pitchFamily="34" charset="0"/>
                <a:ea typeface="华文楷体" panose="02010600040101010101" pitchFamily="2" charset="-122"/>
              </a:rPr>
              <a:t>帧</a:t>
            </a:r>
          </a:p>
        </p:txBody>
      </p:sp>
      <p:sp>
        <p:nvSpPr>
          <p:cNvPr id="180" name="Rectangle 16"/>
          <p:cNvSpPr>
            <a:spLocks noChangeArrowheads="1"/>
          </p:cNvSpPr>
          <p:nvPr/>
        </p:nvSpPr>
        <p:spPr bwMode="auto">
          <a:xfrm>
            <a:off x="7691438" y="3565965"/>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取出</a:t>
            </a:r>
          </a:p>
        </p:txBody>
      </p:sp>
      <p:sp>
        <p:nvSpPr>
          <p:cNvPr id="181" name="Line 17"/>
          <p:cNvSpPr>
            <a:spLocks noChangeShapeType="1"/>
          </p:cNvSpPr>
          <p:nvPr/>
        </p:nvSpPr>
        <p:spPr bwMode="auto">
          <a:xfrm>
            <a:off x="7480300" y="3902515"/>
            <a:ext cx="0" cy="28575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82" name="Line 18"/>
          <p:cNvSpPr>
            <a:spLocks noChangeShapeType="1"/>
          </p:cNvSpPr>
          <p:nvPr/>
        </p:nvSpPr>
        <p:spPr bwMode="auto">
          <a:xfrm>
            <a:off x="8470900" y="3904103"/>
            <a:ext cx="0" cy="28575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83" name="Freeform 21"/>
          <p:cNvSpPr>
            <a:spLocks/>
          </p:cNvSpPr>
          <p:nvPr/>
        </p:nvSpPr>
        <p:spPr bwMode="auto">
          <a:xfrm>
            <a:off x="2209800" y="4796277"/>
            <a:ext cx="5791200" cy="1020917"/>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2857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184" name="Rectangle 22"/>
          <p:cNvSpPr>
            <a:spLocks noChangeArrowheads="1"/>
          </p:cNvSpPr>
          <p:nvPr/>
        </p:nvSpPr>
        <p:spPr bwMode="auto">
          <a:xfrm>
            <a:off x="194014" y="3711633"/>
            <a:ext cx="875241" cy="597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pPr>
            <a:r>
              <a:rPr kumimoji="1" lang="zh-CN" altLang="en-US" dirty="0">
                <a:solidFill>
                  <a:schemeClr val="tx1">
                    <a:lumMod val="85000"/>
                    <a:lumOff val="15000"/>
                  </a:schemeClr>
                </a:solidFill>
                <a:latin typeface="Calibri" panose="020F0502020204030204" pitchFamily="34" charset="0"/>
                <a:ea typeface="华文楷体" panose="02010600040101010101" pitchFamily="2" charset="-122"/>
              </a:rPr>
              <a:t>数据</a:t>
            </a:r>
          </a:p>
          <a:p>
            <a:pPr algn="ctr" eaLnBrk="0" fontAlgn="base" hangingPunct="0">
              <a:lnSpc>
                <a:spcPts val="1800"/>
              </a:lnSpc>
              <a:spcBef>
                <a:spcPct val="0"/>
              </a:spcBef>
              <a:spcAft>
                <a:spcPct val="0"/>
              </a:spcAft>
            </a:pPr>
            <a:r>
              <a:rPr kumimoji="1" lang="zh-CN" altLang="en-US" dirty="0">
                <a:solidFill>
                  <a:schemeClr val="tx1">
                    <a:lumMod val="85000"/>
                    <a:lumOff val="15000"/>
                  </a:schemeClr>
                </a:solidFill>
                <a:latin typeface="Calibri" panose="020F0502020204030204" pitchFamily="34" charset="0"/>
                <a:ea typeface="华文楷体" panose="02010600040101010101" pitchFamily="2" charset="-122"/>
              </a:rPr>
              <a:t>链路层</a:t>
            </a:r>
          </a:p>
        </p:txBody>
      </p:sp>
      <p:sp>
        <p:nvSpPr>
          <p:cNvPr id="185" name="Rectangle 23"/>
          <p:cNvSpPr>
            <a:spLocks noChangeArrowheads="1"/>
          </p:cNvSpPr>
          <p:nvPr/>
        </p:nvSpPr>
        <p:spPr bwMode="auto">
          <a:xfrm>
            <a:off x="163513" y="3272278"/>
            <a:ext cx="875241" cy="325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lnSpc>
                <a:spcPct val="85000"/>
              </a:lnSpc>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网络层</a:t>
            </a:r>
          </a:p>
        </p:txBody>
      </p:sp>
      <p:sp>
        <p:nvSpPr>
          <p:cNvPr id="186" name="Rectangle 24"/>
          <p:cNvSpPr>
            <a:spLocks noChangeArrowheads="1"/>
          </p:cNvSpPr>
          <p:nvPr/>
        </p:nvSpPr>
        <p:spPr bwMode="auto">
          <a:xfrm>
            <a:off x="4724400" y="5758420"/>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sz="2000" b="1" dirty="0">
                <a:solidFill>
                  <a:srgbClr val="3333CC"/>
                </a:solidFill>
                <a:ea typeface="华文楷体" panose="02010600040101010101" pitchFamily="2" charset="-122"/>
              </a:rPr>
              <a:t>链路</a:t>
            </a:r>
          </a:p>
        </p:txBody>
      </p:sp>
      <p:sp>
        <p:nvSpPr>
          <p:cNvPr id="187" name="Rectangle 25"/>
          <p:cNvSpPr>
            <a:spLocks noChangeArrowheads="1"/>
          </p:cNvSpPr>
          <p:nvPr/>
        </p:nvSpPr>
        <p:spPr bwMode="auto">
          <a:xfrm>
            <a:off x="1828800" y="2786503"/>
            <a:ext cx="854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结点 </a:t>
            </a:r>
            <a:r>
              <a:rPr kumimoji="1" lang="en-US" altLang="zh-CN">
                <a:solidFill>
                  <a:schemeClr val="tx1">
                    <a:lumMod val="85000"/>
                    <a:lumOff val="15000"/>
                  </a:schemeClr>
                </a:solidFill>
                <a:latin typeface="Calibri" panose="020F0502020204030204" pitchFamily="34" charset="0"/>
                <a:ea typeface="华文楷体" panose="02010600040101010101" pitchFamily="2" charset="-122"/>
              </a:rPr>
              <a:t>A</a:t>
            </a:r>
          </a:p>
        </p:txBody>
      </p:sp>
      <p:sp>
        <p:nvSpPr>
          <p:cNvPr id="188" name="Rectangle 26"/>
          <p:cNvSpPr>
            <a:spLocks noChangeArrowheads="1"/>
          </p:cNvSpPr>
          <p:nvPr/>
        </p:nvSpPr>
        <p:spPr bwMode="auto">
          <a:xfrm>
            <a:off x="7607300" y="2786503"/>
            <a:ext cx="82234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结点 </a:t>
            </a:r>
            <a:r>
              <a:rPr kumimoji="1" lang="en-US" altLang="zh-CN">
                <a:solidFill>
                  <a:schemeClr val="tx1">
                    <a:lumMod val="85000"/>
                    <a:lumOff val="15000"/>
                  </a:schemeClr>
                </a:solidFill>
                <a:latin typeface="Calibri" panose="020F0502020204030204" pitchFamily="34" charset="0"/>
                <a:ea typeface="华文楷体" panose="02010600040101010101" pitchFamily="2" charset="-122"/>
              </a:rPr>
              <a:t>B</a:t>
            </a:r>
          </a:p>
        </p:txBody>
      </p:sp>
      <p:sp>
        <p:nvSpPr>
          <p:cNvPr id="189" name="Rectangle 27"/>
          <p:cNvSpPr>
            <a:spLocks noChangeArrowheads="1"/>
          </p:cNvSpPr>
          <p:nvPr/>
        </p:nvSpPr>
        <p:spPr bwMode="auto">
          <a:xfrm>
            <a:off x="163513" y="4491478"/>
            <a:ext cx="875241" cy="325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lnSpc>
                <a:spcPct val="85000"/>
              </a:lnSpc>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物理层</a:t>
            </a:r>
          </a:p>
        </p:txBody>
      </p:sp>
      <p:sp>
        <p:nvSpPr>
          <p:cNvPr id="190" name="Rectangle 28"/>
          <p:cNvSpPr>
            <a:spLocks noChangeArrowheads="1"/>
          </p:cNvSpPr>
          <p:nvPr/>
        </p:nvSpPr>
        <p:spPr bwMode="auto">
          <a:xfrm>
            <a:off x="22860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1" name="Rectangle 29"/>
          <p:cNvSpPr>
            <a:spLocks noChangeArrowheads="1"/>
          </p:cNvSpPr>
          <p:nvPr/>
        </p:nvSpPr>
        <p:spPr bwMode="auto">
          <a:xfrm>
            <a:off x="24384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2" name="Rectangle 30"/>
          <p:cNvSpPr>
            <a:spLocks noChangeArrowheads="1"/>
          </p:cNvSpPr>
          <p:nvPr/>
        </p:nvSpPr>
        <p:spPr bwMode="auto">
          <a:xfrm>
            <a:off x="38100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3" name="Rectangle 31"/>
          <p:cNvSpPr>
            <a:spLocks noChangeArrowheads="1"/>
          </p:cNvSpPr>
          <p:nvPr/>
        </p:nvSpPr>
        <p:spPr bwMode="auto">
          <a:xfrm>
            <a:off x="39624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4" name="Rectangle 32"/>
          <p:cNvSpPr>
            <a:spLocks noChangeArrowheads="1"/>
          </p:cNvSpPr>
          <p:nvPr/>
        </p:nvSpPr>
        <p:spPr bwMode="auto">
          <a:xfrm>
            <a:off x="57150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5" name="Rectangle 33"/>
          <p:cNvSpPr>
            <a:spLocks noChangeArrowheads="1"/>
          </p:cNvSpPr>
          <p:nvPr/>
        </p:nvSpPr>
        <p:spPr bwMode="auto">
          <a:xfrm>
            <a:off x="58674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6" name="Rectangle 34"/>
          <p:cNvSpPr>
            <a:spLocks noChangeArrowheads="1"/>
          </p:cNvSpPr>
          <p:nvPr/>
        </p:nvSpPr>
        <p:spPr bwMode="auto">
          <a:xfrm>
            <a:off x="73914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7" name="Rectangle 35"/>
          <p:cNvSpPr>
            <a:spLocks noChangeArrowheads="1"/>
          </p:cNvSpPr>
          <p:nvPr/>
        </p:nvSpPr>
        <p:spPr bwMode="auto">
          <a:xfrm>
            <a:off x="75438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8" name="Rectangle 36"/>
          <p:cNvSpPr>
            <a:spLocks noChangeArrowheads="1"/>
          </p:cNvSpPr>
          <p:nvPr/>
        </p:nvSpPr>
        <p:spPr bwMode="auto">
          <a:xfrm>
            <a:off x="76962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199" name="Rectangle 37"/>
          <p:cNvSpPr>
            <a:spLocks noChangeArrowheads="1"/>
          </p:cNvSpPr>
          <p:nvPr/>
        </p:nvSpPr>
        <p:spPr bwMode="auto">
          <a:xfrm>
            <a:off x="7848600" y="5529820"/>
            <a:ext cx="76200" cy="152400"/>
          </a:xfrm>
          <a:prstGeom prst="rect">
            <a:avLst/>
          </a:prstGeom>
          <a:solidFill>
            <a:srgbClr val="77777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200" name="Line 38"/>
          <p:cNvSpPr>
            <a:spLocks noChangeShapeType="1"/>
          </p:cNvSpPr>
          <p:nvPr/>
        </p:nvSpPr>
        <p:spPr bwMode="auto">
          <a:xfrm>
            <a:off x="4114800" y="5606020"/>
            <a:ext cx="304800" cy="0"/>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1" name="Line 39"/>
          <p:cNvSpPr>
            <a:spLocks noChangeShapeType="1"/>
          </p:cNvSpPr>
          <p:nvPr/>
        </p:nvSpPr>
        <p:spPr bwMode="auto">
          <a:xfrm rot="5400000">
            <a:off x="2171700" y="5339320"/>
            <a:ext cx="304800" cy="0"/>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2" name="Line 40"/>
          <p:cNvSpPr>
            <a:spLocks noChangeShapeType="1"/>
          </p:cNvSpPr>
          <p:nvPr/>
        </p:nvSpPr>
        <p:spPr bwMode="auto">
          <a:xfrm rot="16200000" flipV="1">
            <a:off x="7734300" y="5377420"/>
            <a:ext cx="304800" cy="0"/>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grpSp>
        <p:nvGrpSpPr>
          <p:cNvPr id="203" name="Group 41"/>
          <p:cNvGrpSpPr>
            <a:grpSpLocks/>
          </p:cNvGrpSpPr>
          <p:nvPr/>
        </p:nvGrpSpPr>
        <p:grpSpPr bwMode="auto">
          <a:xfrm>
            <a:off x="2590800" y="5529820"/>
            <a:ext cx="1066800" cy="152400"/>
            <a:chOff x="1344" y="912"/>
            <a:chExt cx="672" cy="96"/>
          </a:xfrm>
        </p:grpSpPr>
        <p:sp>
          <p:nvSpPr>
            <p:cNvPr id="204" name="Line 42"/>
            <p:cNvSpPr>
              <a:spLocks noChangeShapeType="1"/>
            </p:cNvSpPr>
            <p:nvPr/>
          </p:nvSpPr>
          <p:spPr bwMode="auto">
            <a:xfrm>
              <a:off x="1344" y="960"/>
              <a:ext cx="672" cy="0"/>
            </a:xfrm>
            <a:prstGeom prst="line">
              <a:avLst/>
            </a:prstGeom>
            <a:noFill/>
            <a:ln w="1270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5" name="Freeform 43"/>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808080"/>
            </a:solidFill>
            <a:ln w="12700" cap="flat" cmpd="sng">
              <a:solidFill>
                <a:srgbClr val="000000"/>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grpSp>
      <p:grpSp>
        <p:nvGrpSpPr>
          <p:cNvPr id="206" name="Group 44"/>
          <p:cNvGrpSpPr>
            <a:grpSpLocks/>
          </p:cNvGrpSpPr>
          <p:nvPr/>
        </p:nvGrpSpPr>
        <p:grpSpPr bwMode="auto">
          <a:xfrm>
            <a:off x="6096000" y="5529820"/>
            <a:ext cx="1066800" cy="157162"/>
            <a:chOff x="4080" y="3676"/>
            <a:chExt cx="672" cy="99"/>
          </a:xfrm>
        </p:grpSpPr>
        <p:sp>
          <p:nvSpPr>
            <p:cNvPr id="207" name="Line 45"/>
            <p:cNvSpPr>
              <a:spLocks noChangeShapeType="1"/>
            </p:cNvSpPr>
            <p:nvPr/>
          </p:nvSpPr>
          <p:spPr bwMode="auto">
            <a:xfrm>
              <a:off x="4080" y="3727"/>
              <a:ext cx="672" cy="0"/>
            </a:xfrm>
            <a:prstGeom prst="line">
              <a:avLst/>
            </a:prstGeom>
            <a:noFill/>
            <a:ln w="12700">
              <a:solidFill>
                <a:srgbClr val="00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08"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808080"/>
            </a:solidFill>
            <a:ln w="12700" cap="flat" cmpd="sng">
              <a:solidFill>
                <a:srgbClr val="000000"/>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grpSp>
      <p:sp>
        <p:nvSpPr>
          <p:cNvPr id="209" name="Rectangle 67"/>
          <p:cNvSpPr>
            <a:spLocks noChangeArrowheads="1"/>
          </p:cNvSpPr>
          <p:nvPr/>
        </p:nvSpPr>
        <p:spPr bwMode="auto">
          <a:xfrm>
            <a:off x="1219200" y="3119878"/>
            <a:ext cx="2011363" cy="1828800"/>
          </a:xfrm>
          <a:prstGeom prst="rect">
            <a:avLst/>
          </a:prstGeom>
          <a:solidFill>
            <a:srgbClr val="CCFFFF"/>
          </a:solidFill>
          <a:ln w="12700">
            <a:solidFill>
              <a:srgbClr val="000000"/>
            </a:solidFill>
            <a:prstDash val="dash"/>
            <a:miter lim="800000"/>
            <a:headEnd/>
            <a:tailEnd/>
          </a:ln>
          <a:effectLst>
            <a:outerShdw dist="53882" dir="2700000" algn="ctr" rotWithShape="0">
              <a:srgbClr val="1C1C1C"/>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10" name="Rectangle 68"/>
          <p:cNvSpPr>
            <a:spLocks noChangeArrowheads="1"/>
          </p:cNvSpPr>
          <p:nvPr/>
        </p:nvSpPr>
        <p:spPr bwMode="auto">
          <a:xfrm>
            <a:off x="1238250" y="3729478"/>
            <a:ext cx="1981200" cy="6096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211" name="Line 69"/>
          <p:cNvSpPr>
            <a:spLocks noChangeShapeType="1"/>
          </p:cNvSpPr>
          <p:nvPr/>
        </p:nvSpPr>
        <p:spPr bwMode="auto">
          <a:xfrm>
            <a:off x="1219200" y="3727890"/>
            <a:ext cx="2008188" cy="1588"/>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12" name="Rectangle 70"/>
          <p:cNvSpPr>
            <a:spLocks noChangeArrowheads="1"/>
          </p:cNvSpPr>
          <p:nvPr/>
        </p:nvSpPr>
        <p:spPr bwMode="auto">
          <a:xfrm>
            <a:off x="1525588" y="3881878"/>
            <a:ext cx="13906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endParaRPr kumimoji="1" lang="zh-CN" altLang="zh-CN" sz="1800" b="0" i="0" u="none" strike="noStrike" kern="0" cap="none" spc="0" normalizeH="0" noProof="0">
              <a:ln>
                <a:noFill/>
              </a:ln>
              <a:solidFill>
                <a:srgbClr val="3333CC"/>
              </a:solidFill>
              <a:effectLst/>
              <a:uLnTx/>
              <a:uFillTx/>
              <a:latin typeface="Calibri" panose="020F0502020204030204" pitchFamily="34" charset="0"/>
              <a:ea typeface="华文楷体" panose="02010600040101010101" pitchFamily="2" charset="-122"/>
            </a:endParaRPr>
          </a:p>
        </p:txBody>
      </p:sp>
      <p:sp>
        <p:nvSpPr>
          <p:cNvPr id="213" name="Line 71"/>
          <p:cNvSpPr>
            <a:spLocks noChangeShapeType="1"/>
          </p:cNvSpPr>
          <p:nvPr/>
        </p:nvSpPr>
        <p:spPr bwMode="auto">
          <a:xfrm>
            <a:off x="1219200" y="4337490"/>
            <a:ext cx="2008188" cy="1588"/>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14" name="Rectangle 72"/>
          <p:cNvSpPr>
            <a:spLocks noChangeArrowheads="1"/>
          </p:cNvSpPr>
          <p:nvPr/>
        </p:nvSpPr>
        <p:spPr bwMode="auto">
          <a:xfrm>
            <a:off x="1730375" y="3272278"/>
            <a:ext cx="990600" cy="304800"/>
          </a:xfrm>
          <a:prstGeom prst="rect">
            <a:avLst/>
          </a:prstGeom>
          <a:solidFill>
            <a:srgbClr val="DDDDDD"/>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r>
              <a:rPr kumimoji="1" lang="en-US" altLang="zh-CN" sz="1800" b="0" i="0" u="none" strike="noStrike" kern="0" cap="none" spc="0" normalizeH="0" noProof="0" dirty="0">
                <a:ln>
                  <a:noFill/>
                </a:ln>
                <a:solidFill>
                  <a:schemeClr val="tx1">
                    <a:lumMod val="85000"/>
                    <a:lumOff val="15000"/>
                  </a:schemeClr>
                </a:solidFill>
                <a:effectLst/>
                <a:uLnTx/>
                <a:uFillTx/>
                <a:latin typeface="Calibri" panose="020F0502020204030204" pitchFamily="34" charset="0"/>
                <a:ea typeface="华文楷体" panose="02010600040101010101" pitchFamily="2" charset="-122"/>
              </a:rPr>
              <a:t>IP </a:t>
            </a:r>
            <a:r>
              <a:rPr kumimoji="1" lang="zh-CN" altLang="en-US" sz="1800" b="0" i="0" u="none" strike="noStrike" kern="0" cap="none" spc="0" normalizeH="0" noProof="0" dirty="0">
                <a:ln>
                  <a:noFill/>
                </a:ln>
                <a:solidFill>
                  <a:schemeClr val="tx1">
                    <a:lumMod val="85000"/>
                    <a:lumOff val="15000"/>
                  </a:schemeClr>
                </a:solidFill>
                <a:effectLst/>
                <a:uLnTx/>
                <a:uFillTx/>
                <a:latin typeface="Calibri" panose="020F0502020204030204" pitchFamily="34" charset="0"/>
                <a:ea typeface="华文楷体" panose="02010600040101010101" pitchFamily="2" charset="-122"/>
              </a:rPr>
              <a:t>数据报</a:t>
            </a:r>
          </a:p>
        </p:txBody>
      </p:sp>
      <p:sp>
        <p:nvSpPr>
          <p:cNvPr id="215" name="Rectangle 73"/>
          <p:cNvSpPr>
            <a:spLocks noChangeArrowheads="1"/>
          </p:cNvSpPr>
          <p:nvPr/>
        </p:nvSpPr>
        <p:spPr bwMode="auto">
          <a:xfrm>
            <a:off x="1519238" y="4491478"/>
            <a:ext cx="1403350" cy="304800"/>
          </a:xfrm>
          <a:prstGeom prst="rect">
            <a:avLst/>
          </a:prstGeom>
          <a:solidFill>
            <a:srgbClr val="FFFFFF"/>
          </a:solidFill>
          <a:ln w="12700">
            <a:solidFill>
              <a:srgbClr val="000000"/>
            </a:solidFill>
            <a:miter lim="800000"/>
            <a:headEnd/>
            <a:tailEnd/>
          </a:ln>
          <a:effectLst>
            <a:outerShdw dist="35921" dir="2700000" algn="ctr" rotWithShape="0">
              <a:srgbClr val="1C1C1C"/>
            </a:outerShdw>
          </a:effectLst>
        </p:spPr>
        <p:txBody>
          <a:bodyPr wrap="none" anchor="ct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762000" eaLnBrk="0" fontAlgn="base" latinLnBrk="0" hangingPunct="0">
              <a:lnSpc>
                <a:spcPct val="100000"/>
              </a:lnSpc>
              <a:spcBef>
                <a:spcPct val="0"/>
              </a:spcBef>
              <a:spcAft>
                <a:spcPct val="0"/>
              </a:spcAft>
              <a:buClrTx/>
              <a:buSzTx/>
              <a:buFontTx/>
              <a:buNone/>
              <a:tabLst/>
              <a:defRPr/>
            </a:pPr>
            <a:endParaRPr kumimoji="1" lang="zh-CN" altLang="zh-CN" sz="1800" b="0" i="0" u="none" strike="noStrike" kern="0" cap="none" spc="0" normalizeH="0" noProof="0">
              <a:ln>
                <a:noFill/>
              </a:ln>
              <a:solidFill>
                <a:srgbClr val="3333CC"/>
              </a:solidFill>
              <a:effectLst/>
              <a:uLnTx/>
              <a:uFillTx/>
              <a:latin typeface="Calibri" panose="020F0502020204030204" pitchFamily="34" charset="0"/>
              <a:ea typeface="华文楷体" panose="02010600040101010101" pitchFamily="2" charset="-122"/>
            </a:endParaRPr>
          </a:p>
        </p:txBody>
      </p:sp>
      <p:sp>
        <p:nvSpPr>
          <p:cNvPr id="216" name="Rectangle 74"/>
          <p:cNvSpPr>
            <a:spLocks noChangeArrowheads="1"/>
          </p:cNvSpPr>
          <p:nvPr/>
        </p:nvSpPr>
        <p:spPr bwMode="auto">
          <a:xfrm>
            <a:off x="1455738" y="4504178"/>
            <a:ext cx="1391408" cy="299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lnSpc>
                <a:spcPct val="85000"/>
              </a:lnSpc>
              <a:spcBef>
                <a:spcPct val="0"/>
              </a:spcBef>
              <a:spcAft>
                <a:spcPct val="0"/>
              </a:spcAft>
            </a:pPr>
            <a:r>
              <a:rPr kumimoji="1" lang="en-US" altLang="zh-CN" sz="1600">
                <a:solidFill>
                  <a:srgbClr val="3333CC"/>
                </a:solidFill>
                <a:latin typeface="Calibri" panose="020F0502020204030204" pitchFamily="34" charset="0"/>
                <a:ea typeface="华文楷体" panose="02010600040101010101" pitchFamily="2" charset="-122"/>
              </a:rPr>
              <a:t>1010…  …0110</a:t>
            </a:r>
          </a:p>
        </p:txBody>
      </p:sp>
      <p:sp>
        <p:nvSpPr>
          <p:cNvPr id="217" name="AutoShape 75"/>
          <p:cNvSpPr>
            <a:spLocks noChangeArrowheads="1"/>
          </p:cNvSpPr>
          <p:nvPr/>
        </p:nvSpPr>
        <p:spPr bwMode="auto">
          <a:xfrm>
            <a:off x="2071688" y="4339078"/>
            <a:ext cx="304800" cy="334962"/>
          </a:xfrm>
          <a:prstGeom prst="downArrow">
            <a:avLst>
              <a:gd name="adj1" fmla="val 50000"/>
              <a:gd name="adj2" fmla="val 43231"/>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18" name="Rectangle 76"/>
          <p:cNvSpPr>
            <a:spLocks noChangeArrowheads="1"/>
          </p:cNvSpPr>
          <p:nvPr/>
        </p:nvSpPr>
        <p:spPr bwMode="auto">
          <a:xfrm>
            <a:off x="1724025" y="3891403"/>
            <a:ext cx="990600" cy="280987"/>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000">
              <a:solidFill>
                <a:srgbClr val="000000"/>
              </a:solidFill>
              <a:latin typeface="Calibri" panose="020F0502020204030204" pitchFamily="34" charset="0"/>
              <a:ea typeface="华文楷体" panose="02010600040101010101" pitchFamily="2" charset="-122"/>
            </a:endParaRPr>
          </a:p>
        </p:txBody>
      </p:sp>
      <p:sp>
        <p:nvSpPr>
          <p:cNvPr id="219" name="AutoShape 77"/>
          <p:cNvSpPr>
            <a:spLocks noChangeArrowheads="1"/>
          </p:cNvSpPr>
          <p:nvPr/>
        </p:nvSpPr>
        <p:spPr bwMode="auto">
          <a:xfrm>
            <a:off x="1730375" y="3586603"/>
            <a:ext cx="990600" cy="369887"/>
          </a:xfrm>
          <a:prstGeom prst="downArrow">
            <a:avLst>
              <a:gd name="adj1" fmla="val 65389"/>
              <a:gd name="adj2" fmla="val 39394"/>
            </a:avLst>
          </a:prstGeom>
          <a:solidFill>
            <a:srgbClr val="FFCF01"/>
          </a:solidFill>
          <a:ln w="12700">
            <a:solidFill>
              <a:srgbClr val="000000"/>
            </a:solidFill>
            <a:miter lim="800000"/>
            <a:headEnd/>
            <a:tailEnd/>
          </a:ln>
          <a:effectLst>
            <a:outerShdw dist="35921" dir="2700000" algn="ctr" rotWithShape="0">
              <a:srgbClr val="1C1C1C"/>
            </a:outerShdw>
          </a:effectLst>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20" name="Text Box 78"/>
          <p:cNvSpPr txBox="1">
            <a:spLocks noChangeArrowheads="1"/>
          </p:cNvSpPr>
          <p:nvPr/>
        </p:nvSpPr>
        <p:spPr bwMode="auto">
          <a:xfrm>
            <a:off x="2849679" y="3845591"/>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dirty="0">
                <a:solidFill>
                  <a:schemeClr val="accent5">
                    <a:lumMod val="50000"/>
                  </a:schemeClr>
                </a:solidFill>
                <a:latin typeface="Calibri" panose="020F0502020204030204" pitchFamily="34" charset="0"/>
                <a:ea typeface="华文楷体" panose="02010600040101010101" pitchFamily="2" charset="-122"/>
              </a:rPr>
              <a:t>帧</a:t>
            </a:r>
          </a:p>
        </p:txBody>
      </p:sp>
      <p:sp>
        <p:nvSpPr>
          <p:cNvPr id="221" name="Rectangle 79"/>
          <p:cNvSpPr>
            <a:spLocks noChangeArrowheads="1"/>
          </p:cNvSpPr>
          <p:nvPr/>
        </p:nvSpPr>
        <p:spPr bwMode="auto">
          <a:xfrm>
            <a:off x="1930400" y="3550090"/>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a:solidFill>
                  <a:schemeClr val="tx1">
                    <a:lumMod val="85000"/>
                    <a:lumOff val="15000"/>
                  </a:schemeClr>
                </a:solidFill>
                <a:latin typeface="Calibri" panose="020F0502020204030204" pitchFamily="34" charset="0"/>
                <a:ea typeface="华文楷体" panose="02010600040101010101" pitchFamily="2" charset="-122"/>
              </a:rPr>
              <a:t>装入</a:t>
            </a:r>
          </a:p>
        </p:txBody>
      </p:sp>
      <p:sp>
        <p:nvSpPr>
          <p:cNvPr id="222" name="Line 80"/>
          <p:cNvSpPr>
            <a:spLocks noChangeShapeType="1"/>
          </p:cNvSpPr>
          <p:nvPr/>
        </p:nvSpPr>
        <p:spPr bwMode="auto">
          <a:xfrm>
            <a:off x="1719263" y="3886640"/>
            <a:ext cx="0" cy="28575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223" name="Line 81"/>
          <p:cNvSpPr>
            <a:spLocks noChangeShapeType="1"/>
          </p:cNvSpPr>
          <p:nvPr/>
        </p:nvSpPr>
        <p:spPr bwMode="auto">
          <a:xfrm>
            <a:off x="2709863" y="3888228"/>
            <a:ext cx="0" cy="28575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noProof="0">
              <a:ln>
                <a:noFill/>
              </a:ln>
              <a:solidFill>
                <a:srgbClr val="000000"/>
              </a:solidFill>
              <a:effectLst/>
              <a:uLnTx/>
              <a:uFillTx/>
              <a:latin typeface="Calibri" panose="020F0502020204030204" pitchFamily="34" charset="0"/>
              <a:ea typeface="华文楷体" panose="02010600040101010101" pitchFamily="2" charset="-122"/>
            </a:endParaRPr>
          </a:p>
        </p:txBody>
      </p:sp>
      <p:sp>
        <p:nvSpPr>
          <p:cNvPr id="6" name="文本框 5"/>
          <p:cNvSpPr txBox="1"/>
          <p:nvPr/>
        </p:nvSpPr>
        <p:spPr>
          <a:xfrm>
            <a:off x="3313053" y="3857148"/>
            <a:ext cx="400110" cy="1423089"/>
          </a:xfrm>
          <a:prstGeom prst="rect">
            <a:avLst/>
          </a:prstGeom>
          <a:noFill/>
        </p:spPr>
        <p:txBody>
          <a:bodyPr vert="eaVert" wrap="square" rtlCol="0">
            <a:spAutoFit/>
          </a:bodyPr>
          <a:lstStyle/>
          <a:p>
            <a:pPr>
              <a:lnSpc>
                <a:spcPts val="1600"/>
              </a:lnSpc>
            </a:pPr>
            <a:r>
              <a:rPr lang="zh-CN" altLang="en-US" sz="1600" b="1" dirty="0">
                <a:solidFill>
                  <a:schemeClr val="accent5">
                    <a:lumMod val="50000"/>
                  </a:schemeClr>
                </a:solidFill>
                <a:latin typeface="华文楷体" panose="02010600040101010101" pitchFamily="2" charset="-122"/>
                <a:ea typeface="华文楷体" panose="02010600040101010101" pitchFamily="2" charset="-122"/>
              </a:rPr>
              <a:t>网络适配器</a:t>
            </a:r>
          </a:p>
        </p:txBody>
      </p:sp>
      <p:sp>
        <p:nvSpPr>
          <p:cNvPr id="225" name="文本框 224"/>
          <p:cNvSpPr txBox="1"/>
          <p:nvPr/>
        </p:nvSpPr>
        <p:spPr>
          <a:xfrm flipH="1">
            <a:off x="6472443" y="3851715"/>
            <a:ext cx="400110" cy="1522513"/>
          </a:xfrm>
          <a:prstGeom prst="rect">
            <a:avLst/>
          </a:prstGeom>
          <a:noFill/>
        </p:spPr>
        <p:txBody>
          <a:bodyPr vert="eaVert" wrap="square" rtlCol="0">
            <a:spAutoFit/>
          </a:bodyPr>
          <a:lstStyle/>
          <a:p>
            <a:pPr>
              <a:lnSpc>
                <a:spcPts val="1600"/>
              </a:lnSpc>
            </a:pPr>
            <a:r>
              <a:rPr lang="zh-CN" altLang="en-US" sz="1600" b="1" dirty="0">
                <a:solidFill>
                  <a:schemeClr val="accent5">
                    <a:lumMod val="50000"/>
                  </a:schemeClr>
                </a:solidFill>
                <a:latin typeface="华文楷体" panose="02010600040101010101" pitchFamily="2" charset="-122"/>
                <a:ea typeface="华文楷体" panose="02010600040101010101" pitchFamily="2" charset="-122"/>
              </a:rPr>
              <a:t>网络适配器</a:t>
            </a:r>
          </a:p>
        </p:txBody>
      </p:sp>
      <p:grpSp>
        <p:nvGrpSpPr>
          <p:cNvPr id="82" name="Group 15"/>
          <p:cNvGrpSpPr>
            <a:grpSpLocks/>
          </p:cNvGrpSpPr>
          <p:nvPr/>
        </p:nvGrpSpPr>
        <p:grpSpPr bwMode="auto">
          <a:xfrm>
            <a:off x="3259139" y="3855869"/>
            <a:ext cx="3768724" cy="473683"/>
            <a:chOff x="1066" y="2251"/>
            <a:chExt cx="3810" cy="544"/>
          </a:xfrm>
        </p:grpSpPr>
        <p:sp>
          <p:nvSpPr>
            <p:cNvPr id="85" name="Line 8"/>
            <p:cNvSpPr>
              <a:spLocks noChangeShapeType="1"/>
            </p:cNvSpPr>
            <p:nvPr/>
          </p:nvSpPr>
          <p:spPr bwMode="auto">
            <a:xfrm>
              <a:off x="1066" y="2523"/>
              <a:ext cx="3810" cy="0"/>
            </a:xfrm>
            <a:prstGeom prst="line">
              <a:avLst/>
            </a:prstGeom>
            <a:noFill/>
            <a:ln w="28575">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endParaRPr>
            </a:p>
          </p:txBody>
        </p:sp>
        <p:sp>
          <p:nvSpPr>
            <p:cNvPr id="86" name="AutoShape 7"/>
            <p:cNvSpPr>
              <a:spLocks noChangeArrowheads="1"/>
            </p:cNvSpPr>
            <p:nvPr/>
          </p:nvSpPr>
          <p:spPr bwMode="auto">
            <a:xfrm rot="-5400000">
              <a:off x="2676" y="686"/>
              <a:ext cx="544" cy="3674"/>
            </a:xfrm>
            <a:prstGeom prst="can">
              <a:avLst>
                <a:gd name="adj" fmla="val 22418"/>
              </a:avLst>
            </a:prstGeom>
            <a:gradFill rotWithShape="1">
              <a:gsLst>
                <a:gs pos="0">
                  <a:srgbClr val="CCECFF">
                    <a:gamma/>
                    <a:shade val="46275"/>
                    <a:invGamma/>
                  </a:srgbClr>
                </a:gs>
                <a:gs pos="50000">
                  <a:srgbClr val="CCECFF"/>
                </a:gs>
                <a:gs pos="100000">
                  <a:srgbClr val="CCECFF">
                    <a:gamma/>
                    <a:shade val="46275"/>
                    <a:invGamma/>
                  </a:srgbClr>
                </a:gs>
              </a:gsLst>
              <a:lin ang="0" scaled="1"/>
            </a:gradFill>
            <a:ln w="9525">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endParaRPr>
            </a:p>
          </p:txBody>
        </p:sp>
        <p:sp>
          <p:nvSpPr>
            <p:cNvPr id="87" name="Rectangle 9"/>
            <p:cNvSpPr>
              <a:spLocks noChangeArrowheads="1"/>
            </p:cNvSpPr>
            <p:nvPr/>
          </p:nvSpPr>
          <p:spPr bwMode="auto">
            <a:xfrm>
              <a:off x="1383" y="2387"/>
              <a:ext cx="1043" cy="272"/>
            </a:xfrm>
            <a:prstGeom prst="rect">
              <a:avLst/>
            </a:prstGeom>
            <a:solidFill>
              <a:srgbClr val="FFCCFF"/>
            </a:solidFill>
            <a:ln w="9525">
              <a:solidFill>
                <a:srgbClr val="00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0" i="0" u="none" strike="noStrike" kern="0" cap="none" spc="0" normalizeH="0" baseline="0" noProof="0">
                  <a:ln>
                    <a:noFill/>
                  </a:ln>
                  <a:solidFill>
                    <a:srgbClr val="333399"/>
                  </a:solidFill>
                  <a:effectLst/>
                  <a:uLnTx/>
                  <a:uFillTx/>
                  <a:latin typeface="华文楷体" panose="02010600040101010101" pitchFamily="2" charset="-122"/>
                  <a:ea typeface="华文楷体" panose="02010600040101010101" pitchFamily="2" charset="-122"/>
                </a:rPr>
                <a:t>帧</a:t>
              </a:r>
            </a:p>
          </p:txBody>
        </p:sp>
        <p:sp>
          <p:nvSpPr>
            <p:cNvPr id="88" name="Line 10"/>
            <p:cNvSpPr>
              <a:spLocks noChangeShapeType="1"/>
            </p:cNvSpPr>
            <p:nvPr/>
          </p:nvSpPr>
          <p:spPr bwMode="auto">
            <a:xfrm>
              <a:off x="1066" y="2523"/>
              <a:ext cx="117" cy="0"/>
            </a:xfrm>
            <a:prstGeom prst="line">
              <a:avLst/>
            </a:prstGeom>
            <a:noFill/>
            <a:ln w="28575">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endParaRPr>
            </a:p>
          </p:txBody>
        </p:sp>
        <p:sp>
          <p:nvSpPr>
            <p:cNvPr id="89" name="Rectangle 12"/>
            <p:cNvSpPr>
              <a:spLocks noChangeArrowheads="1"/>
            </p:cNvSpPr>
            <p:nvPr/>
          </p:nvSpPr>
          <p:spPr bwMode="auto">
            <a:xfrm>
              <a:off x="3243" y="2387"/>
              <a:ext cx="1043" cy="272"/>
            </a:xfrm>
            <a:prstGeom prst="rect">
              <a:avLst/>
            </a:prstGeom>
            <a:solidFill>
              <a:srgbClr val="FFCCFF"/>
            </a:solidFill>
            <a:ln w="9525">
              <a:solidFill>
                <a:srgbClr val="00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0" i="0" u="none" strike="noStrike" kern="0" cap="none" spc="0" normalizeH="0" baseline="0" noProof="0">
                  <a:ln>
                    <a:noFill/>
                  </a:ln>
                  <a:solidFill>
                    <a:srgbClr val="333399"/>
                  </a:solidFill>
                  <a:effectLst/>
                  <a:uLnTx/>
                  <a:uFillTx/>
                  <a:latin typeface="华文楷体" panose="02010600040101010101" pitchFamily="2" charset="-122"/>
                  <a:ea typeface="华文楷体" panose="02010600040101010101" pitchFamily="2" charset="-122"/>
                </a:rPr>
                <a:t>帧</a:t>
              </a:r>
            </a:p>
          </p:txBody>
        </p:sp>
        <p:sp>
          <p:nvSpPr>
            <p:cNvPr id="90" name="Line 13"/>
            <p:cNvSpPr>
              <a:spLocks noChangeShapeType="1"/>
            </p:cNvSpPr>
            <p:nvPr/>
          </p:nvSpPr>
          <p:spPr bwMode="auto">
            <a:xfrm>
              <a:off x="2426" y="2523"/>
              <a:ext cx="416" cy="0"/>
            </a:xfrm>
            <a:prstGeom prst="line">
              <a:avLst/>
            </a:prstGeom>
            <a:noFill/>
            <a:ln w="38100">
              <a:solidFill>
                <a:srgbClr val="FF0000"/>
              </a:solidFill>
              <a:prstDash val="sysDot"/>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endParaRPr>
            </a:p>
          </p:txBody>
        </p:sp>
        <p:sp>
          <p:nvSpPr>
            <p:cNvPr id="91" name="Line 14"/>
            <p:cNvSpPr>
              <a:spLocks noChangeShapeType="1"/>
            </p:cNvSpPr>
            <p:nvPr/>
          </p:nvSpPr>
          <p:spPr bwMode="auto">
            <a:xfrm>
              <a:off x="4285" y="2523"/>
              <a:ext cx="355" cy="0"/>
            </a:xfrm>
            <a:prstGeom prst="line">
              <a:avLst/>
            </a:prstGeom>
            <a:noFill/>
            <a:ln w="38100">
              <a:solidFill>
                <a:srgbClr val="FF0000"/>
              </a:solidFill>
              <a:prstDash val="sysDot"/>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endParaRPr>
            </a:p>
          </p:txBody>
        </p:sp>
      </p:grpSp>
      <p:sp>
        <p:nvSpPr>
          <p:cNvPr id="92" name="Rectangle 24"/>
          <p:cNvSpPr>
            <a:spLocks noChangeArrowheads="1"/>
          </p:cNvSpPr>
          <p:nvPr/>
        </p:nvSpPr>
        <p:spPr bwMode="auto">
          <a:xfrm>
            <a:off x="4503697" y="3484333"/>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sz="2000" b="1" dirty="0">
                <a:solidFill>
                  <a:srgbClr val="3333CC"/>
                </a:solidFill>
                <a:ea typeface="华文楷体" panose="02010600040101010101" pitchFamily="2" charset="-122"/>
              </a:rPr>
              <a:t>数据链路</a:t>
            </a:r>
          </a:p>
        </p:txBody>
      </p:sp>
      <p:sp>
        <p:nvSpPr>
          <p:cNvPr id="93" name="圆角矩形标注 162"/>
          <p:cNvSpPr/>
          <p:nvPr/>
        </p:nvSpPr>
        <p:spPr>
          <a:xfrm>
            <a:off x="4114801" y="2734718"/>
            <a:ext cx="2429218" cy="550724"/>
          </a:xfrm>
          <a:prstGeom prst="wedgeRoundRectCallout">
            <a:avLst>
              <a:gd name="adj1" fmla="val -92975"/>
              <a:gd name="adj2" fmla="val 159168"/>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错误检测、可靠传输、访问控制</a:t>
            </a:r>
          </a:p>
        </p:txBody>
      </p:sp>
      <p:sp>
        <p:nvSpPr>
          <p:cNvPr id="95" name="圆角矩形标注 162"/>
          <p:cNvSpPr/>
          <p:nvPr/>
        </p:nvSpPr>
        <p:spPr>
          <a:xfrm>
            <a:off x="4124326" y="2742246"/>
            <a:ext cx="2429218" cy="550724"/>
          </a:xfrm>
          <a:prstGeom prst="wedgeRoundRectCallout">
            <a:avLst>
              <a:gd name="adj1" fmla="val 74371"/>
              <a:gd name="adj2" fmla="val 159168"/>
              <a:gd name="adj3" fmla="val 16667"/>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错误检测、可靠传输、介质访问控制</a:t>
            </a:r>
          </a:p>
        </p:txBody>
      </p:sp>
      <p:sp>
        <p:nvSpPr>
          <p:cNvPr id="77" name="内容占位符 2"/>
          <p:cNvSpPr>
            <a:spLocks noGrp="1"/>
          </p:cNvSpPr>
          <p:nvPr>
            <p:ph idx="1"/>
          </p:nvPr>
        </p:nvSpPr>
        <p:spPr>
          <a:xfrm>
            <a:off x="457200" y="1444979"/>
            <a:ext cx="8229600" cy="1072682"/>
          </a:xfrm>
        </p:spPr>
        <p:txBody>
          <a:bodyPr/>
          <a:lstStyle/>
          <a:p>
            <a:r>
              <a:rPr lang="zh-CN" altLang="en-US" sz="2200" dirty="0"/>
              <a:t>实现大部分数据链层，以及物理层功能</a:t>
            </a:r>
            <a:endParaRPr lang="en-US" altLang="zh-CN" sz="2200" dirty="0"/>
          </a:p>
          <a:p>
            <a:pPr lvl="1"/>
            <a:r>
              <a:rPr lang="zh-CN" altLang="en-US" sz="1800" dirty="0"/>
              <a:t>实现调制编码、成帧、错误检测、可靠传输、介质访问控制等功能</a:t>
            </a:r>
          </a:p>
        </p:txBody>
      </p:sp>
    </p:spTree>
    <p:custDataLst>
      <p:tags r:id="rId1"/>
    </p:custDataLst>
    <p:extLst>
      <p:ext uri="{BB962C8B-B14F-4D97-AF65-F5344CB8AC3E}">
        <p14:creationId xmlns:p14="http://schemas.microsoft.com/office/powerpoint/2010/main" val="239511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left)">
                                      <p:cBhvr>
                                        <p:cTn id="7" dur="500"/>
                                        <p:tgtEl>
                                          <p:spTgt spid="8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2"/>
                                        </p:tgtEl>
                                        <p:attrNameLst>
                                          <p:attrName>style.visibility</p:attrName>
                                        </p:attrNameLst>
                                      </p:cBhvr>
                                      <p:to>
                                        <p:strVal val="visible"/>
                                      </p:to>
                                    </p:set>
                                    <p:animEffect transition="in" filter="dissolve">
                                      <p:cBhvr>
                                        <p:cTn id="11" dur="500"/>
                                        <p:tgtEl>
                                          <p:spTgt spid="9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wipe(down)">
                                      <p:cBhvr>
                                        <p:cTn id="16" dur="500"/>
                                        <p:tgtEl>
                                          <p:spTgt spid="9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95"/>
                                        </p:tgtEl>
                                        <p:attrNameLst>
                                          <p:attrName>style.visibility</p:attrName>
                                        </p:attrNameLst>
                                      </p:cBhvr>
                                      <p:to>
                                        <p:strVal val="visible"/>
                                      </p:to>
                                    </p:set>
                                    <p:animEffect transition="in" filter="wipe(down)">
                                      <p:cBhvr>
                                        <p:cTn id="19"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93" grpId="0" animBg="1"/>
      <p:bldP spid="9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网络链路</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27</a:t>
            </a:fld>
            <a:endParaRPr lang="zh-CN" altLang="en-US" dirty="0"/>
          </a:p>
        </p:txBody>
      </p:sp>
      <p:pic>
        <p:nvPicPr>
          <p:cNvPr id="15361" name="Picture 1"/>
          <p:cNvPicPr>
            <a:picLocks noChangeAspect="1" noChangeArrowheads="1"/>
          </p:cNvPicPr>
          <p:nvPr/>
        </p:nvPicPr>
        <p:blipFill>
          <a:blip r:embed="rId2" cstate="print"/>
          <a:srcRect/>
          <a:stretch>
            <a:fillRect/>
          </a:stretch>
        </p:blipFill>
        <p:spPr bwMode="auto">
          <a:xfrm>
            <a:off x="433388" y="1346835"/>
            <a:ext cx="8277225" cy="5048250"/>
          </a:xfrm>
          <a:prstGeom prst="rect">
            <a:avLst/>
          </a:prstGeom>
          <a:noFill/>
          <a:ln w="9525">
            <a:noFill/>
            <a:miter lim="800000"/>
            <a:headEnd/>
            <a:tailEnd/>
          </a:ln>
        </p:spPr>
      </p:pic>
      <p:sp>
        <p:nvSpPr>
          <p:cNvPr id="7" name="TextBox 6"/>
          <p:cNvSpPr txBox="1"/>
          <p:nvPr/>
        </p:nvSpPr>
        <p:spPr>
          <a:xfrm>
            <a:off x="4831080" y="1965960"/>
            <a:ext cx="2407920" cy="369332"/>
          </a:xfrm>
          <a:prstGeom prst="rect">
            <a:avLst/>
          </a:prstGeom>
          <a:noFill/>
        </p:spPr>
        <p:txBody>
          <a:bodyPr wrap="square" rtlCol="0">
            <a:spAutoFit/>
          </a:bodyPr>
          <a:lstStyle/>
          <a:p>
            <a:r>
              <a:rPr lang="zh-CN" altLang="en-US">
                <a:solidFill>
                  <a:srgbClr val="FF0000"/>
                </a:solidFill>
              </a:rPr>
              <a:t>（真空中理想状态）</a:t>
            </a:r>
          </a:p>
        </p:txBody>
      </p:sp>
    </p:spTree>
    <p:extLst>
      <p:ext uri="{BB962C8B-B14F-4D97-AF65-F5344CB8AC3E}">
        <p14:creationId xmlns:p14="http://schemas.microsoft.com/office/powerpoint/2010/main" val="1117788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网络链路</a:t>
            </a:r>
          </a:p>
        </p:txBody>
      </p:sp>
      <p:sp>
        <p:nvSpPr>
          <p:cNvPr id="3" name="内容占位符 2"/>
          <p:cNvSpPr>
            <a:spLocks noGrp="1"/>
          </p:cNvSpPr>
          <p:nvPr>
            <p:ph idx="1"/>
          </p:nvPr>
        </p:nvSpPr>
        <p:spPr>
          <a:xfrm>
            <a:off x="457200" y="1444978"/>
            <a:ext cx="8229600" cy="722025"/>
          </a:xfrm>
        </p:spPr>
        <p:txBody>
          <a:bodyPr/>
          <a:lstStyle/>
          <a:p>
            <a:r>
              <a:rPr lang="zh-CN" altLang="en-US" dirty="0"/>
              <a:t>通信领域使用的电磁波的频谱</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ea typeface="华文楷体" panose="02010600040101010101" pitchFamily="2" charset="-122"/>
              </a:rPr>
              <a:pPr/>
              <a:t>28</a:t>
            </a:fld>
            <a:endParaRPr lang="zh-CN" altLang="en-US" dirty="0">
              <a:ea typeface="华文楷体" panose="02010600040101010101" pitchFamily="2" charset="-122"/>
            </a:endParaRPr>
          </a:p>
        </p:txBody>
      </p:sp>
      <p:sp>
        <p:nvSpPr>
          <p:cNvPr id="5" name="Line 6"/>
          <p:cNvSpPr>
            <a:spLocks noChangeShapeType="1"/>
          </p:cNvSpPr>
          <p:nvPr/>
        </p:nvSpPr>
        <p:spPr bwMode="auto">
          <a:xfrm>
            <a:off x="6031456" y="3187601"/>
            <a:ext cx="2349500" cy="83820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6" name="Rectangle 7"/>
          <p:cNvSpPr>
            <a:spLocks noChangeArrowheads="1"/>
          </p:cNvSpPr>
          <p:nvPr/>
        </p:nvSpPr>
        <p:spPr bwMode="auto">
          <a:xfrm>
            <a:off x="7720556" y="3713063"/>
            <a:ext cx="361950" cy="238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7" name="Line 8"/>
          <p:cNvSpPr>
            <a:spLocks noChangeShapeType="1"/>
          </p:cNvSpPr>
          <p:nvPr/>
        </p:nvSpPr>
        <p:spPr bwMode="auto">
          <a:xfrm flipV="1">
            <a:off x="1343569" y="3187601"/>
            <a:ext cx="1171575" cy="83820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8" name="Rectangle 9"/>
          <p:cNvSpPr>
            <a:spLocks noChangeArrowheads="1"/>
          </p:cNvSpPr>
          <p:nvPr/>
        </p:nvSpPr>
        <p:spPr bwMode="auto">
          <a:xfrm>
            <a:off x="1243556" y="3713063"/>
            <a:ext cx="323850" cy="2190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9" name="Line 10"/>
          <p:cNvSpPr>
            <a:spLocks noChangeShapeType="1"/>
          </p:cNvSpPr>
          <p:nvPr/>
        </p:nvSpPr>
        <p:spPr bwMode="auto">
          <a:xfrm>
            <a:off x="2513556" y="4006751"/>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10" name="Rectangle 11"/>
          <p:cNvSpPr>
            <a:spLocks noChangeArrowheads="1"/>
          </p:cNvSpPr>
          <p:nvPr/>
        </p:nvSpPr>
        <p:spPr bwMode="auto">
          <a:xfrm>
            <a:off x="2394494" y="4760813"/>
            <a:ext cx="320675" cy="5603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11" name="Line 12"/>
          <p:cNvSpPr>
            <a:spLocks noChangeShapeType="1"/>
          </p:cNvSpPr>
          <p:nvPr/>
        </p:nvSpPr>
        <p:spPr bwMode="auto">
          <a:xfrm>
            <a:off x="1934119" y="4009926"/>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12" name="Rectangle 13"/>
          <p:cNvSpPr>
            <a:spLocks noChangeArrowheads="1"/>
          </p:cNvSpPr>
          <p:nvPr/>
        </p:nvSpPr>
        <p:spPr bwMode="auto">
          <a:xfrm>
            <a:off x="1848394" y="4779863"/>
            <a:ext cx="198437" cy="5683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13" name="Rectangle 14"/>
          <p:cNvSpPr>
            <a:spLocks noChangeArrowheads="1"/>
          </p:cNvSpPr>
          <p:nvPr/>
        </p:nvSpPr>
        <p:spPr bwMode="auto">
          <a:xfrm>
            <a:off x="1834106" y="4049613"/>
            <a:ext cx="223838" cy="311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14" name="Line 15"/>
          <p:cNvSpPr>
            <a:spLocks noChangeShapeType="1"/>
          </p:cNvSpPr>
          <p:nvPr/>
        </p:nvSpPr>
        <p:spPr bwMode="auto">
          <a:xfrm>
            <a:off x="3102519" y="4013101"/>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15" name="Rectangle 16"/>
          <p:cNvSpPr>
            <a:spLocks noChangeArrowheads="1"/>
          </p:cNvSpPr>
          <p:nvPr/>
        </p:nvSpPr>
        <p:spPr bwMode="auto">
          <a:xfrm>
            <a:off x="2691356" y="4402038"/>
            <a:ext cx="833438" cy="282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16" name="Line 17"/>
          <p:cNvSpPr>
            <a:spLocks noChangeShapeType="1"/>
          </p:cNvSpPr>
          <p:nvPr/>
        </p:nvSpPr>
        <p:spPr bwMode="auto">
          <a:xfrm>
            <a:off x="3686719" y="4019451"/>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17" name="Rectangle 18"/>
          <p:cNvSpPr>
            <a:spLocks noChangeArrowheads="1"/>
          </p:cNvSpPr>
          <p:nvPr/>
        </p:nvSpPr>
        <p:spPr bwMode="auto">
          <a:xfrm>
            <a:off x="3550194" y="4787801"/>
            <a:ext cx="266700" cy="496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18" name="Line 19"/>
          <p:cNvSpPr>
            <a:spLocks noChangeShapeType="1"/>
          </p:cNvSpPr>
          <p:nvPr/>
        </p:nvSpPr>
        <p:spPr bwMode="auto">
          <a:xfrm>
            <a:off x="4859881" y="4013101"/>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19" name="Rectangle 20"/>
          <p:cNvSpPr>
            <a:spLocks noChangeArrowheads="1"/>
          </p:cNvSpPr>
          <p:nvPr/>
        </p:nvSpPr>
        <p:spPr bwMode="auto">
          <a:xfrm>
            <a:off x="4780506" y="4475063"/>
            <a:ext cx="230188" cy="2778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20" name="Line 21"/>
          <p:cNvSpPr>
            <a:spLocks noChangeShapeType="1"/>
          </p:cNvSpPr>
          <p:nvPr/>
        </p:nvSpPr>
        <p:spPr bwMode="auto">
          <a:xfrm>
            <a:off x="1335631" y="2806601"/>
            <a:ext cx="75438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21" name="Line 22"/>
          <p:cNvSpPr>
            <a:spLocks noChangeShapeType="1"/>
          </p:cNvSpPr>
          <p:nvPr/>
        </p:nvSpPr>
        <p:spPr bwMode="auto">
          <a:xfrm>
            <a:off x="1354681" y="3187601"/>
            <a:ext cx="75438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22" name="Line 23"/>
          <p:cNvSpPr>
            <a:spLocks noChangeShapeType="1"/>
          </p:cNvSpPr>
          <p:nvPr/>
        </p:nvSpPr>
        <p:spPr bwMode="auto">
          <a:xfrm>
            <a:off x="1332456" y="2806601"/>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23" name="Line 24"/>
          <p:cNvSpPr>
            <a:spLocks noChangeShapeType="1"/>
          </p:cNvSpPr>
          <p:nvPr/>
        </p:nvSpPr>
        <p:spPr bwMode="auto">
          <a:xfrm>
            <a:off x="3542256" y="2811363"/>
            <a:ext cx="0"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24" name="Line 25"/>
          <p:cNvSpPr>
            <a:spLocks noChangeShapeType="1"/>
          </p:cNvSpPr>
          <p:nvPr/>
        </p:nvSpPr>
        <p:spPr bwMode="auto">
          <a:xfrm>
            <a:off x="2523081" y="2822476"/>
            <a:ext cx="0" cy="384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25" name="Line 26"/>
          <p:cNvSpPr>
            <a:spLocks noChangeShapeType="1"/>
          </p:cNvSpPr>
          <p:nvPr/>
        </p:nvSpPr>
        <p:spPr bwMode="auto">
          <a:xfrm>
            <a:off x="5666331" y="2806601"/>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26" name="Line 27"/>
          <p:cNvSpPr>
            <a:spLocks noChangeShapeType="1"/>
          </p:cNvSpPr>
          <p:nvPr/>
        </p:nvSpPr>
        <p:spPr bwMode="auto">
          <a:xfrm>
            <a:off x="7876131" y="2816126"/>
            <a:ext cx="0" cy="366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27" name="Line 28"/>
          <p:cNvSpPr>
            <a:spLocks noChangeShapeType="1"/>
          </p:cNvSpPr>
          <p:nvPr/>
        </p:nvSpPr>
        <p:spPr bwMode="auto">
          <a:xfrm flipV="1">
            <a:off x="1338806" y="4013101"/>
            <a:ext cx="7050088" cy="47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28" name="Text Box 29"/>
          <p:cNvSpPr txBox="1">
            <a:spLocks noChangeArrowheads="1"/>
          </p:cNvSpPr>
          <p:nvPr/>
        </p:nvSpPr>
        <p:spPr bwMode="auto">
          <a:xfrm>
            <a:off x="2700881" y="2825651"/>
            <a:ext cx="793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无线电</a:t>
            </a:r>
          </a:p>
        </p:txBody>
      </p:sp>
      <p:sp>
        <p:nvSpPr>
          <p:cNvPr id="29" name="Text Box 30"/>
          <p:cNvSpPr txBox="1">
            <a:spLocks noChangeArrowheads="1"/>
          </p:cNvSpPr>
          <p:nvPr/>
        </p:nvSpPr>
        <p:spPr bwMode="auto">
          <a:xfrm>
            <a:off x="3681956" y="2825651"/>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微波</a:t>
            </a:r>
          </a:p>
        </p:txBody>
      </p:sp>
      <p:sp>
        <p:nvSpPr>
          <p:cNvPr id="30" name="Line 31"/>
          <p:cNvSpPr>
            <a:spLocks noChangeShapeType="1"/>
          </p:cNvSpPr>
          <p:nvPr/>
        </p:nvSpPr>
        <p:spPr bwMode="auto">
          <a:xfrm>
            <a:off x="4596356" y="2806601"/>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31" name="Line 32"/>
          <p:cNvSpPr>
            <a:spLocks noChangeShapeType="1"/>
          </p:cNvSpPr>
          <p:nvPr/>
        </p:nvSpPr>
        <p:spPr bwMode="auto">
          <a:xfrm>
            <a:off x="5567906" y="2806601"/>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32" name="Text Box 33"/>
          <p:cNvSpPr txBox="1">
            <a:spLocks noChangeArrowheads="1"/>
          </p:cNvSpPr>
          <p:nvPr/>
        </p:nvSpPr>
        <p:spPr bwMode="auto">
          <a:xfrm>
            <a:off x="4723356" y="2825651"/>
            <a:ext cx="793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红外线</a:t>
            </a:r>
          </a:p>
        </p:txBody>
      </p:sp>
      <p:sp>
        <p:nvSpPr>
          <p:cNvPr id="33" name="Text Box 34"/>
          <p:cNvSpPr txBox="1">
            <a:spLocks noChangeArrowheads="1"/>
          </p:cNvSpPr>
          <p:nvPr/>
        </p:nvSpPr>
        <p:spPr bwMode="auto">
          <a:xfrm>
            <a:off x="4990056" y="3340001"/>
            <a:ext cx="793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可见光</a:t>
            </a:r>
          </a:p>
        </p:txBody>
      </p:sp>
      <p:sp>
        <p:nvSpPr>
          <p:cNvPr id="34" name="Text Box 35"/>
          <p:cNvSpPr txBox="1">
            <a:spLocks noChangeArrowheads="1"/>
          </p:cNvSpPr>
          <p:nvPr/>
        </p:nvSpPr>
        <p:spPr bwMode="auto">
          <a:xfrm>
            <a:off x="5790156" y="3340001"/>
            <a:ext cx="793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紫外线</a:t>
            </a:r>
          </a:p>
        </p:txBody>
      </p:sp>
      <p:sp>
        <p:nvSpPr>
          <p:cNvPr id="35" name="Line 36"/>
          <p:cNvSpPr>
            <a:spLocks noChangeShapeType="1"/>
          </p:cNvSpPr>
          <p:nvPr/>
        </p:nvSpPr>
        <p:spPr bwMode="auto">
          <a:xfrm>
            <a:off x="6044156" y="2806601"/>
            <a:ext cx="0" cy="3857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36" name="Text Box 37"/>
          <p:cNvSpPr txBox="1">
            <a:spLocks noChangeArrowheads="1"/>
          </p:cNvSpPr>
          <p:nvPr/>
        </p:nvSpPr>
        <p:spPr bwMode="auto">
          <a:xfrm>
            <a:off x="6501356" y="2825651"/>
            <a:ext cx="736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a:solidFill>
                  <a:srgbClr val="333399"/>
                </a:solidFill>
                <a:latin typeface="Times New Roman" panose="02020603050405020304" pitchFamily="18" charset="0"/>
                <a:ea typeface="华文楷体" panose="02010600040101010101" pitchFamily="2" charset="-122"/>
              </a:rPr>
              <a:t>X</a:t>
            </a:r>
            <a:r>
              <a:rPr kumimoji="1" lang="zh-CN" altLang="en-US" sz="1600">
                <a:solidFill>
                  <a:srgbClr val="333399"/>
                </a:solidFill>
                <a:latin typeface="Times New Roman" panose="02020603050405020304" pitchFamily="18" charset="0"/>
                <a:ea typeface="华文楷体" panose="02010600040101010101" pitchFamily="2" charset="-122"/>
              </a:rPr>
              <a:t>射线</a:t>
            </a:r>
          </a:p>
        </p:txBody>
      </p:sp>
      <p:sp>
        <p:nvSpPr>
          <p:cNvPr id="37" name="Text Box 38"/>
          <p:cNvSpPr txBox="1">
            <a:spLocks noChangeArrowheads="1"/>
          </p:cNvSpPr>
          <p:nvPr/>
        </p:nvSpPr>
        <p:spPr bwMode="auto">
          <a:xfrm>
            <a:off x="8025356" y="2793901"/>
            <a:ext cx="2682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a:solidFill>
                  <a:srgbClr val="333399"/>
                </a:solidFill>
                <a:latin typeface="Times New Roman" panose="02020603050405020304" pitchFamily="18" charset="0"/>
                <a:ea typeface="华文楷体" panose="02010600040101010101" pitchFamily="2" charset="-122"/>
                <a:sym typeface="Symbol" panose="05050102010706020507" pitchFamily="18" charset="2"/>
              </a:rPr>
              <a:t></a:t>
            </a:r>
          </a:p>
        </p:txBody>
      </p:sp>
      <p:sp>
        <p:nvSpPr>
          <p:cNvPr id="38" name="Text Box 39"/>
          <p:cNvSpPr txBox="1">
            <a:spLocks noChangeArrowheads="1"/>
          </p:cNvSpPr>
          <p:nvPr/>
        </p:nvSpPr>
        <p:spPr bwMode="auto">
          <a:xfrm>
            <a:off x="8174581" y="2825651"/>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射线</a:t>
            </a:r>
          </a:p>
        </p:txBody>
      </p:sp>
      <p:sp>
        <p:nvSpPr>
          <p:cNvPr id="39" name="Text Box 40"/>
          <p:cNvSpPr txBox="1">
            <a:spLocks noChangeArrowheads="1"/>
          </p:cNvSpPr>
          <p:nvPr/>
        </p:nvSpPr>
        <p:spPr bwMode="auto">
          <a:xfrm>
            <a:off x="1559469" y="4013101"/>
            <a:ext cx="793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双绞线</a:t>
            </a:r>
          </a:p>
        </p:txBody>
      </p:sp>
      <p:sp>
        <p:nvSpPr>
          <p:cNvPr id="40" name="Line 41"/>
          <p:cNvSpPr>
            <a:spLocks noChangeShapeType="1"/>
          </p:cNvSpPr>
          <p:nvPr/>
        </p:nvSpPr>
        <p:spPr bwMode="auto">
          <a:xfrm>
            <a:off x="1338806" y="4330601"/>
            <a:ext cx="1352550" cy="0"/>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41" name="Text Box 42"/>
          <p:cNvSpPr txBox="1">
            <a:spLocks noChangeArrowheads="1"/>
          </p:cNvSpPr>
          <p:nvPr/>
        </p:nvSpPr>
        <p:spPr bwMode="auto">
          <a:xfrm>
            <a:off x="2599281" y="4354413"/>
            <a:ext cx="996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dirty="0">
                <a:solidFill>
                  <a:srgbClr val="333399"/>
                </a:solidFill>
                <a:latin typeface="Times New Roman" panose="02020603050405020304" pitchFamily="18" charset="0"/>
                <a:ea typeface="华文楷体" panose="02010600040101010101" pitchFamily="2" charset="-122"/>
              </a:rPr>
              <a:t>同轴电缆</a:t>
            </a:r>
          </a:p>
        </p:txBody>
      </p:sp>
      <p:sp>
        <p:nvSpPr>
          <p:cNvPr id="42" name="Line 43"/>
          <p:cNvSpPr>
            <a:spLocks noChangeShapeType="1"/>
          </p:cNvSpPr>
          <p:nvPr/>
        </p:nvSpPr>
        <p:spPr bwMode="auto">
          <a:xfrm>
            <a:off x="1929356" y="4703663"/>
            <a:ext cx="22860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43" name="Text Box 44"/>
          <p:cNvSpPr txBox="1">
            <a:spLocks noChangeArrowheads="1"/>
          </p:cNvSpPr>
          <p:nvPr/>
        </p:nvSpPr>
        <p:spPr bwMode="auto">
          <a:xfrm>
            <a:off x="4291556" y="4017863"/>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卫星</a:t>
            </a:r>
          </a:p>
        </p:txBody>
      </p:sp>
      <p:sp>
        <p:nvSpPr>
          <p:cNvPr id="44" name="Line 45"/>
          <p:cNvSpPr>
            <a:spLocks noChangeShapeType="1"/>
          </p:cNvSpPr>
          <p:nvPr/>
        </p:nvSpPr>
        <p:spPr bwMode="auto">
          <a:xfrm>
            <a:off x="4062956" y="4360763"/>
            <a:ext cx="11430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45" name="Text Box 46"/>
          <p:cNvSpPr txBox="1">
            <a:spLocks noChangeArrowheads="1"/>
          </p:cNvSpPr>
          <p:nvPr/>
        </p:nvSpPr>
        <p:spPr bwMode="auto">
          <a:xfrm>
            <a:off x="4440781" y="4436963"/>
            <a:ext cx="996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地面微波</a:t>
            </a:r>
          </a:p>
        </p:txBody>
      </p:sp>
      <p:sp>
        <p:nvSpPr>
          <p:cNvPr id="46" name="Line 47"/>
          <p:cNvSpPr>
            <a:spLocks noChangeShapeType="1"/>
          </p:cNvSpPr>
          <p:nvPr/>
        </p:nvSpPr>
        <p:spPr bwMode="auto">
          <a:xfrm>
            <a:off x="4431256" y="4787801"/>
            <a:ext cx="9398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47" name="Text Box 48"/>
          <p:cNvSpPr txBox="1">
            <a:spLocks noChangeArrowheads="1"/>
          </p:cNvSpPr>
          <p:nvPr/>
        </p:nvSpPr>
        <p:spPr bwMode="auto">
          <a:xfrm>
            <a:off x="2157956" y="4819551"/>
            <a:ext cx="7937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lnSpc>
                <a:spcPct val="90000"/>
              </a:lnSpc>
            </a:pPr>
            <a:r>
              <a:rPr kumimoji="1" lang="en-US" altLang="zh-CN" sz="1600">
                <a:solidFill>
                  <a:srgbClr val="333399"/>
                </a:solidFill>
                <a:latin typeface="Times New Roman" panose="02020603050405020304" pitchFamily="18" charset="0"/>
                <a:ea typeface="华文楷体" panose="02010600040101010101" pitchFamily="2" charset="-122"/>
              </a:rPr>
              <a:t>  </a:t>
            </a:r>
            <a:r>
              <a:rPr kumimoji="1" lang="zh-CN" altLang="en-US" sz="1600">
                <a:solidFill>
                  <a:srgbClr val="333399"/>
                </a:solidFill>
                <a:latin typeface="Times New Roman" panose="02020603050405020304" pitchFamily="18" charset="0"/>
                <a:ea typeface="华文楷体" panose="02010600040101010101" pitchFamily="2" charset="-122"/>
              </a:rPr>
              <a:t>调幅</a:t>
            </a:r>
          </a:p>
          <a:p>
            <a:pPr algn="l">
              <a:lnSpc>
                <a:spcPct val="90000"/>
              </a:lnSpc>
            </a:pPr>
            <a:r>
              <a:rPr kumimoji="1" lang="zh-CN" altLang="en-US" sz="1600">
                <a:solidFill>
                  <a:srgbClr val="333399"/>
                </a:solidFill>
                <a:latin typeface="Times New Roman" panose="02020603050405020304" pitchFamily="18" charset="0"/>
                <a:ea typeface="华文楷体" panose="02010600040101010101" pitchFamily="2" charset="-122"/>
              </a:rPr>
              <a:t>无线电</a:t>
            </a:r>
          </a:p>
        </p:txBody>
      </p:sp>
      <p:sp>
        <p:nvSpPr>
          <p:cNvPr id="48" name="Text Box 49"/>
          <p:cNvSpPr txBox="1">
            <a:spLocks noChangeArrowheads="1"/>
          </p:cNvSpPr>
          <p:nvPr/>
        </p:nvSpPr>
        <p:spPr bwMode="auto">
          <a:xfrm>
            <a:off x="3224756" y="4767163"/>
            <a:ext cx="7937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lnSpc>
                <a:spcPct val="90000"/>
              </a:lnSpc>
            </a:pPr>
            <a:r>
              <a:rPr kumimoji="1" lang="en-US" altLang="zh-CN" sz="1600">
                <a:solidFill>
                  <a:srgbClr val="333399"/>
                </a:solidFill>
                <a:latin typeface="Times New Roman" panose="02020603050405020304" pitchFamily="18" charset="0"/>
                <a:ea typeface="华文楷体" panose="02010600040101010101" pitchFamily="2" charset="-122"/>
              </a:rPr>
              <a:t>  </a:t>
            </a:r>
            <a:r>
              <a:rPr kumimoji="1" lang="zh-CN" altLang="en-US" sz="1600">
                <a:solidFill>
                  <a:srgbClr val="333399"/>
                </a:solidFill>
                <a:latin typeface="Times New Roman" panose="02020603050405020304" pitchFamily="18" charset="0"/>
                <a:ea typeface="华文楷体" panose="02010600040101010101" pitchFamily="2" charset="-122"/>
              </a:rPr>
              <a:t>调频</a:t>
            </a:r>
          </a:p>
          <a:p>
            <a:pPr algn="l">
              <a:lnSpc>
                <a:spcPct val="90000"/>
              </a:lnSpc>
            </a:pPr>
            <a:r>
              <a:rPr kumimoji="1" lang="zh-CN" altLang="en-US" sz="1600">
                <a:solidFill>
                  <a:srgbClr val="333399"/>
                </a:solidFill>
                <a:latin typeface="Times New Roman" panose="02020603050405020304" pitchFamily="18" charset="0"/>
                <a:ea typeface="华文楷体" panose="02010600040101010101" pitchFamily="2" charset="-122"/>
              </a:rPr>
              <a:t>无线电</a:t>
            </a:r>
          </a:p>
        </p:txBody>
      </p:sp>
      <p:sp>
        <p:nvSpPr>
          <p:cNvPr id="49" name="Text Box 50"/>
          <p:cNvSpPr txBox="1">
            <a:spLocks noChangeArrowheads="1"/>
          </p:cNvSpPr>
          <p:nvPr/>
        </p:nvSpPr>
        <p:spPr bwMode="auto">
          <a:xfrm>
            <a:off x="1430881" y="4822726"/>
            <a:ext cx="7937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lnSpc>
                <a:spcPct val="90000"/>
              </a:lnSpc>
            </a:pPr>
            <a:r>
              <a:rPr kumimoji="1" lang="en-US" altLang="zh-CN" sz="1600" dirty="0">
                <a:solidFill>
                  <a:srgbClr val="333399"/>
                </a:solidFill>
                <a:latin typeface="Times New Roman" panose="02020603050405020304" pitchFamily="18" charset="0"/>
                <a:ea typeface="华文楷体" panose="02010600040101010101" pitchFamily="2" charset="-122"/>
              </a:rPr>
              <a:t>  </a:t>
            </a:r>
            <a:r>
              <a:rPr kumimoji="1" lang="zh-CN" altLang="en-US" sz="1600" dirty="0">
                <a:solidFill>
                  <a:srgbClr val="333399"/>
                </a:solidFill>
                <a:latin typeface="Times New Roman" panose="02020603050405020304" pitchFamily="18" charset="0"/>
                <a:ea typeface="华文楷体" panose="02010600040101010101" pitchFamily="2" charset="-122"/>
              </a:rPr>
              <a:t>海事</a:t>
            </a:r>
          </a:p>
          <a:p>
            <a:pPr algn="l">
              <a:lnSpc>
                <a:spcPct val="90000"/>
              </a:lnSpc>
            </a:pPr>
            <a:r>
              <a:rPr kumimoji="1" lang="zh-CN" altLang="en-US" sz="1600" dirty="0">
                <a:solidFill>
                  <a:srgbClr val="333399"/>
                </a:solidFill>
                <a:latin typeface="Times New Roman" panose="02020603050405020304" pitchFamily="18" charset="0"/>
                <a:ea typeface="华文楷体" panose="02010600040101010101" pitchFamily="2" charset="-122"/>
              </a:rPr>
              <a:t>无线电</a:t>
            </a:r>
          </a:p>
        </p:txBody>
      </p:sp>
      <p:sp>
        <p:nvSpPr>
          <p:cNvPr id="50" name="Line 51"/>
          <p:cNvSpPr>
            <a:spLocks noChangeShapeType="1"/>
          </p:cNvSpPr>
          <p:nvPr/>
        </p:nvSpPr>
        <p:spPr bwMode="auto">
          <a:xfrm>
            <a:off x="3491456" y="5321201"/>
            <a:ext cx="4318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51" name="Text Box 52"/>
          <p:cNvSpPr txBox="1">
            <a:spLocks noChangeArrowheads="1"/>
          </p:cNvSpPr>
          <p:nvPr/>
        </p:nvSpPr>
        <p:spPr bwMode="auto">
          <a:xfrm>
            <a:off x="7212556" y="4041676"/>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光纤</a:t>
            </a:r>
          </a:p>
        </p:txBody>
      </p:sp>
      <p:sp>
        <p:nvSpPr>
          <p:cNvPr id="52" name="Line 53"/>
          <p:cNvSpPr>
            <a:spLocks noChangeShapeType="1"/>
          </p:cNvSpPr>
          <p:nvPr/>
        </p:nvSpPr>
        <p:spPr bwMode="auto">
          <a:xfrm>
            <a:off x="7187156" y="4373463"/>
            <a:ext cx="5969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53" name="Text Box 54"/>
          <p:cNvSpPr txBox="1">
            <a:spLocks noChangeArrowheads="1"/>
          </p:cNvSpPr>
          <p:nvPr/>
        </p:nvSpPr>
        <p:spPr bwMode="auto">
          <a:xfrm>
            <a:off x="3681956" y="5365651"/>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电视</a:t>
            </a:r>
          </a:p>
        </p:txBody>
      </p:sp>
      <p:sp>
        <p:nvSpPr>
          <p:cNvPr id="54" name="Line 55"/>
          <p:cNvSpPr>
            <a:spLocks noChangeShapeType="1"/>
          </p:cNvSpPr>
          <p:nvPr/>
        </p:nvSpPr>
        <p:spPr bwMode="auto">
          <a:xfrm flipV="1">
            <a:off x="5434556" y="2959001"/>
            <a:ext cx="190500" cy="457200"/>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55" name="Line 56"/>
          <p:cNvSpPr>
            <a:spLocks noChangeShapeType="1"/>
          </p:cNvSpPr>
          <p:nvPr/>
        </p:nvSpPr>
        <p:spPr bwMode="auto">
          <a:xfrm flipH="1" flipV="1">
            <a:off x="5866356" y="2959001"/>
            <a:ext cx="82550" cy="45402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56" name="Line 57"/>
          <p:cNvSpPr>
            <a:spLocks noChangeShapeType="1"/>
          </p:cNvSpPr>
          <p:nvPr/>
        </p:nvSpPr>
        <p:spPr bwMode="auto">
          <a:xfrm>
            <a:off x="1472156" y="5397401"/>
            <a:ext cx="6858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57" name="Line 58"/>
          <p:cNvSpPr>
            <a:spLocks noChangeShapeType="1"/>
          </p:cNvSpPr>
          <p:nvPr/>
        </p:nvSpPr>
        <p:spPr bwMode="auto">
          <a:xfrm>
            <a:off x="2310356" y="5397401"/>
            <a:ext cx="4572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58" name="Line 59"/>
          <p:cNvSpPr>
            <a:spLocks noChangeShapeType="1"/>
          </p:cNvSpPr>
          <p:nvPr/>
        </p:nvSpPr>
        <p:spPr bwMode="auto">
          <a:xfrm>
            <a:off x="3529556" y="5702201"/>
            <a:ext cx="7493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59" name="Line 60"/>
          <p:cNvSpPr>
            <a:spLocks noChangeShapeType="1"/>
          </p:cNvSpPr>
          <p:nvPr/>
        </p:nvSpPr>
        <p:spPr bwMode="auto">
          <a:xfrm>
            <a:off x="1334044" y="5770463"/>
            <a:ext cx="70596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60" name="Line 61"/>
          <p:cNvSpPr>
            <a:spLocks noChangeShapeType="1"/>
          </p:cNvSpPr>
          <p:nvPr/>
        </p:nvSpPr>
        <p:spPr bwMode="auto">
          <a:xfrm>
            <a:off x="1345156" y="4017863"/>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61" name="Line 62"/>
          <p:cNvSpPr>
            <a:spLocks noChangeShapeType="1"/>
          </p:cNvSpPr>
          <p:nvPr/>
        </p:nvSpPr>
        <p:spPr bwMode="auto">
          <a:xfrm>
            <a:off x="4275681" y="4011513"/>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62" name="Line 63"/>
          <p:cNvSpPr>
            <a:spLocks noChangeShapeType="1"/>
          </p:cNvSpPr>
          <p:nvPr/>
        </p:nvSpPr>
        <p:spPr bwMode="auto">
          <a:xfrm>
            <a:off x="5444081" y="4019451"/>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63" name="Line 64"/>
          <p:cNvSpPr>
            <a:spLocks noChangeShapeType="1"/>
          </p:cNvSpPr>
          <p:nvPr/>
        </p:nvSpPr>
        <p:spPr bwMode="auto">
          <a:xfrm>
            <a:off x="6028281" y="4016276"/>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64" name="Line 65"/>
          <p:cNvSpPr>
            <a:spLocks noChangeShapeType="1"/>
          </p:cNvSpPr>
          <p:nvPr/>
        </p:nvSpPr>
        <p:spPr bwMode="auto">
          <a:xfrm>
            <a:off x="6617244" y="4017863"/>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65" name="Line 66"/>
          <p:cNvSpPr>
            <a:spLocks noChangeShapeType="1"/>
          </p:cNvSpPr>
          <p:nvPr/>
        </p:nvSpPr>
        <p:spPr bwMode="auto">
          <a:xfrm>
            <a:off x="7206206" y="4028976"/>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66" name="Line 67"/>
          <p:cNvSpPr>
            <a:spLocks noChangeShapeType="1"/>
          </p:cNvSpPr>
          <p:nvPr/>
        </p:nvSpPr>
        <p:spPr bwMode="auto">
          <a:xfrm>
            <a:off x="7790406" y="4021038"/>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67" name="Line 68"/>
          <p:cNvSpPr>
            <a:spLocks noChangeShapeType="1"/>
          </p:cNvSpPr>
          <p:nvPr/>
        </p:nvSpPr>
        <p:spPr bwMode="auto">
          <a:xfrm>
            <a:off x="8379369" y="4017863"/>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grpSp>
        <p:nvGrpSpPr>
          <p:cNvPr id="68" name="Group 69"/>
          <p:cNvGrpSpPr>
            <a:grpSpLocks/>
          </p:cNvGrpSpPr>
          <p:nvPr/>
        </p:nvGrpSpPr>
        <p:grpSpPr bwMode="auto">
          <a:xfrm>
            <a:off x="481556" y="2501802"/>
            <a:ext cx="752475" cy="368301"/>
            <a:chOff x="6" y="352"/>
            <a:chExt cx="474" cy="232"/>
          </a:xfrm>
        </p:grpSpPr>
        <p:sp>
          <p:nvSpPr>
            <p:cNvPr id="98" name="Text Box 70"/>
            <p:cNvSpPr txBox="1">
              <a:spLocks noChangeArrowheads="1"/>
            </p:cNvSpPr>
            <p:nvPr/>
          </p:nvSpPr>
          <p:spPr bwMode="auto">
            <a:xfrm>
              <a:off x="92" y="353"/>
              <a:ext cx="3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800" b="1">
                  <a:solidFill>
                    <a:srgbClr val="333399"/>
                  </a:solidFill>
                  <a:latin typeface="Times New Roman" panose="02020603050405020304" pitchFamily="18" charset="0"/>
                  <a:ea typeface="华文楷体" panose="02010600040101010101" pitchFamily="2" charset="-122"/>
                </a:rPr>
                <a:t>(Hz)</a:t>
              </a:r>
            </a:p>
          </p:txBody>
        </p:sp>
        <p:sp>
          <p:nvSpPr>
            <p:cNvPr id="99" name="Text Box 71"/>
            <p:cNvSpPr txBox="1">
              <a:spLocks noChangeArrowheads="1"/>
            </p:cNvSpPr>
            <p:nvPr/>
          </p:nvSpPr>
          <p:spPr bwMode="auto">
            <a:xfrm>
              <a:off x="6" y="352"/>
              <a:ext cx="1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800" b="1">
                  <a:solidFill>
                    <a:srgbClr val="333399"/>
                  </a:solidFill>
                  <a:latin typeface="Times New Roman" panose="02020603050405020304" pitchFamily="18" charset="0"/>
                  <a:ea typeface="华文楷体" panose="02010600040101010101" pitchFamily="2" charset="-122"/>
                </a:rPr>
                <a:t>f</a:t>
              </a:r>
            </a:p>
          </p:txBody>
        </p:sp>
      </p:grpSp>
      <p:grpSp>
        <p:nvGrpSpPr>
          <p:cNvPr id="69" name="Group 72"/>
          <p:cNvGrpSpPr>
            <a:grpSpLocks/>
          </p:cNvGrpSpPr>
          <p:nvPr/>
        </p:nvGrpSpPr>
        <p:grpSpPr bwMode="auto">
          <a:xfrm>
            <a:off x="487906" y="3721007"/>
            <a:ext cx="746125" cy="371476"/>
            <a:chOff x="78" y="1589"/>
            <a:chExt cx="470" cy="234"/>
          </a:xfrm>
        </p:grpSpPr>
        <p:sp>
          <p:nvSpPr>
            <p:cNvPr id="96" name="Text Box 73"/>
            <p:cNvSpPr txBox="1">
              <a:spLocks noChangeArrowheads="1"/>
            </p:cNvSpPr>
            <p:nvPr/>
          </p:nvSpPr>
          <p:spPr bwMode="auto">
            <a:xfrm>
              <a:off x="124" y="1589"/>
              <a:ext cx="4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800" b="1">
                  <a:solidFill>
                    <a:srgbClr val="333399"/>
                  </a:solidFill>
                  <a:latin typeface="Times New Roman" panose="02020603050405020304" pitchFamily="18" charset="0"/>
                  <a:ea typeface="华文楷体" panose="02010600040101010101" pitchFamily="2" charset="-122"/>
                </a:rPr>
                <a:t> (Hz)</a:t>
              </a:r>
            </a:p>
          </p:txBody>
        </p:sp>
        <p:sp>
          <p:nvSpPr>
            <p:cNvPr id="97" name="Text Box 74"/>
            <p:cNvSpPr txBox="1">
              <a:spLocks noChangeArrowheads="1"/>
            </p:cNvSpPr>
            <p:nvPr/>
          </p:nvSpPr>
          <p:spPr bwMode="auto">
            <a:xfrm>
              <a:off x="78" y="1592"/>
              <a:ext cx="1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800" b="1">
                  <a:solidFill>
                    <a:srgbClr val="333399"/>
                  </a:solidFill>
                  <a:latin typeface="Times New Roman" panose="02020603050405020304" pitchFamily="18" charset="0"/>
                  <a:ea typeface="华文楷体" panose="02010600040101010101" pitchFamily="2" charset="-122"/>
                </a:rPr>
                <a:t>f</a:t>
              </a:r>
            </a:p>
          </p:txBody>
        </p:sp>
      </p:grpSp>
      <p:sp>
        <p:nvSpPr>
          <p:cNvPr id="70" name="Line 75"/>
          <p:cNvSpPr>
            <a:spLocks noChangeShapeType="1"/>
          </p:cNvSpPr>
          <p:nvPr/>
        </p:nvSpPr>
        <p:spPr bwMode="auto">
          <a:xfrm>
            <a:off x="1548356" y="5770463"/>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71" name="Line 76"/>
          <p:cNvSpPr>
            <a:spLocks noChangeShapeType="1"/>
          </p:cNvSpPr>
          <p:nvPr/>
        </p:nvSpPr>
        <p:spPr bwMode="auto">
          <a:xfrm>
            <a:off x="2119856" y="5779988"/>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72" name="Line 77"/>
          <p:cNvSpPr>
            <a:spLocks noChangeShapeType="1"/>
          </p:cNvSpPr>
          <p:nvPr/>
        </p:nvSpPr>
        <p:spPr bwMode="auto">
          <a:xfrm>
            <a:off x="2696119" y="5784751"/>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73" name="Line 78"/>
          <p:cNvSpPr>
            <a:spLocks noChangeShapeType="1"/>
          </p:cNvSpPr>
          <p:nvPr/>
        </p:nvSpPr>
        <p:spPr bwMode="auto">
          <a:xfrm>
            <a:off x="3291431" y="5779988"/>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74" name="Line 79"/>
          <p:cNvSpPr>
            <a:spLocks noChangeShapeType="1"/>
          </p:cNvSpPr>
          <p:nvPr/>
        </p:nvSpPr>
        <p:spPr bwMode="auto">
          <a:xfrm>
            <a:off x="3858169" y="5779988"/>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75" name="Line 80"/>
          <p:cNvSpPr>
            <a:spLocks noChangeShapeType="1"/>
          </p:cNvSpPr>
          <p:nvPr/>
        </p:nvSpPr>
        <p:spPr bwMode="auto">
          <a:xfrm>
            <a:off x="4453481" y="5779988"/>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76" name="Line 81"/>
          <p:cNvSpPr>
            <a:spLocks noChangeShapeType="1"/>
          </p:cNvSpPr>
          <p:nvPr/>
        </p:nvSpPr>
        <p:spPr bwMode="auto">
          <a:xfrm>
            <a:off x="5044031" y="5779988"/>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77" name="Line 82"/>
          <p:cNvSpPr>
            <a:spLocks noChangeShapeType="1"/>
          </p:cNvSpPr>
          <p:nvPr/>
        </p:nvSpPr>
        <p:spPr bwMode="auto">
          <a:xfrm>
            <a:off x="5620294" y="5779988"/>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78" name="Line 83"/>
          <p:cNvSpPr>
            <a:spLocks noChangeShapeType="1"/>
          </p:cNvSpPr>
          <p:nvPr/>
        </p:nvSpPr>
        <p:spPr bwMode="auto">
          <a:xfrm>
            <a:off x="6220369" y="5784751"/>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79" name="Line 84"/>
          <p:cNvSpPr>
            <a:spLocks noChangeShapeType="1"/>
          </p:cNvSpPr>
          <p:nvPr/>
        </p:nvSpPr>
        <p:spPr bwMode="auto">
          <a:xfrm>
            <a:off x="6806156" y="5775226"/>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80" name="Line 85"/>
          <p:cNvSpPr>
            <a:spLocks noChangeShapeType="1"/>
          </p:cNvSpPr>
          <p:nvPr/>
        </p:nvSpPr>
        <p:spPr bwMode="auto">
          <a:xfrm>
            <a:off x="7401469" y="5784751"/>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81" name="Line 86"/>
          <p:cNvSpPr>
            <a:spLocks noChangeShapeType="1"/>
          </p:cNvSpPr>
          <p:nvPr/>
        </p:nvSpPr>
        <p:spPr bwMode="auto">
          <a:xfrm>
            <a:off x="7992019" y="5775226"/>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82" name="Text Box 87"/>
          <p:cNvSpPr txBox="1">
            <a:spLocks noChangeArrowheads="1"/>
          </p:cNvSpPr>
          <p:nvPr/>
        </p:nvSpPr>
        <p:spPr bwMode="auto">
          <a:xfrm>
            <a:off x="1613444" y="5779988"/>
            <a:ext cx="4429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b="1" dirty="0">
                <a:solidFill>
                  <a:srgbClr val="333399"/>
                </a:solidFill>
                <a:latin typeface="Times New Roman" panose="02020603050405020304" pitchFamily="18" charset="0"/>
                <a:ea typeface="华文楷体" panose="02010600040101010101" pitchFamily="2" charset="-122"/>
              </a:rPr>
              <a:t>LF</a:t>
            </a:r>
          </a:p>
        </p:txBody>
      </p:sp>
      <p:sp>
        <p:nvSpPr>
          <p:cNvPr id="83" name="Text Box 88"/>
          <p:cNvSpPr txBox="1">
            <a:spLocks noChangeArrowheads="1"/>
          </p:cNvSpPr>
          <p:nvPr/>
        </p:nvSpPr>
        <p:spPr bwMode="auto">
          <a:xfrm>
            <a:off x="2199231" y="5779988"/>
            <a:ext cx="500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b="1">
                <a:solidFill>
                  <a:srgbClr val="333399"/>
                </a:solidFill>
                <a:latin typeface="Times New Roman" panose="02020603050405020304" pitchFamily="18" charset="0"/>
                <a:ea typeface="华文楷体" panose="02010600040101010101" pitchFamily="2" charset="-122"/>
              </a:rPr>
              <a:t>MF</a:t>
            </a:r>
          </a:p>
        </p:txBody>
      </p:sp>
      <p:sp>
        <p:nvSpPr>
          <p:cNvPr id="84" name="Text Box 89"/>
          <p:cNvSpPr txBox="1">
            <a:spLocks noChangeArrowheads="1"/>
          </p:cNvSpPr>
          <p:nvPr/>
        </p:nvSpPr>
        <p:spPr bwMode="auto">
          <a:xfrm>
            <a:off x="2785019" y="5779988"/>
            <a:ext cx="466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b="1">
                <a:solidFill>
                  <a:srgbClr val="333399"/>
                </a:solidFill>
                <a:latin typeface="Times New Roman" panose="02020603050405020304" pitchFamily="18" charset="0"/>
                <a:ea typeface="华文楷体" panose="02010600040101010101" pitchFamily="2" charset="-122"/>
              </a:rPr>
              <a:t>HF</a:t>
            </a:r>
          </a:p>
        </p:txBody>
      </p:sp>
      <p:sp>
        <p:nvSpPr>
          <p:cNvPr id="85" name="Text Box 90"/>
          <p:cNvSpPr txBox="1">
            <a:spLocks noChangeArrowheads="1"/>
          </p:cNvSpPr>
          <p:nvPr/>
        </p:nvSpPr>
        <p:spPr bwMode="auto">
          <a:xfrm>
            <a:off x="3304131" y="5779988"/>
            <a:ext cx="6127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b="1">
                <a:solidFill>
                  <a:srgbClr val="333399"/>
                </a:solidFill>
                <a:latin typeface="Times New Roman" panose="02020603050405020304" pitchFamily="18" charset="0"/>
                <a:ea typeface="华文楷体" panose="02010600040101010101" pitchFamily="2" charset="-122"/>
              </a:rPr>
              <a:t>VHF</a:t>
            </a:r>
          </a:p>
        </p:txBody>
      </p:sp>
      <p:sp>
        <p:nvSpPr>
          <p:cNvPr id="86" name="Text Box 91"/>
          <p:cNvSpPr txBox="1">
            <a:spLocks noChangeArrowheads="1"/>
          </p:cNvSpPr>
          <p:nvPr/>
        </p:nvSpPr>
        <p:spPr bwMode="auto">
          <a:xfrm>
            <a:off x="3875631" y="5779988"/>
            <a:ext cx="6127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b="1">
                <a:solidFill>
                  <a:srgbClr val="333399"/>
                </a:solidFill>
                <a:latin typeface="Times New Roman" panose="02020603050405020304" pitchFamily="18" charset="0"/>
                <a:ea typeface="华文楷体" panose="02010600040101010101" pitchFamily="2" charset="-122"/>
              </a:rPr>
              <a:t>UHF</a:t>
            </a:r>
          </a:p>
        </p:txBody>
      </p:sp>
      <p:sp>
        <p:nvSpPr>
          <p:cNvPr id="87" name="Text Box 92"/>
          <p:cNvSpPr txBox="1">
            <a:spLocks noChangeArrowheads="1"/>
          </p:cNvSpPr>
          <p:nvPr/>
        </p:nvSpPr>
        <p:spPr bwMode="auto">
          <a:xfrm>
            <a:off x="4442369" y="5779988"/>
            <a:ext cx="5794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b="1">
                <a:solidFill>
                  <a:srgbClr val="333399"/>
                </a:solidFill>
                <a:latin typeface="Times New Roman" panose="02020603050405020304" pitchFamily="18" charset="0"/>
                <a:ea typeface="华文楷体" panose="02010600040101010101" pitchFamily="2" charset="-122"/>
              </a:rPr>
              <a:t>SHF</a:t>
            </a:r>
          </a:p>
        </p:txBody>
      </p:sp>
      <p:sp>
        <p:nvSpPr>
          <p:cNvPr id="88" name="Text Box 93"/>
          <p:cNvSpPr txBox="1">
            <a:spLocks noChangeArrowheads="1"/>
          </p:cNvSpPr>
          <p:nvPr/>
        </p:nvSpPr>
        <p:spPr bwMode="auto">
          <a:xfrm>
            <a:off x="5042444" y="5779988"/>
            <a:ext cx="6016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b="1">
                <a:solidFill>
                  <a:srgbClr val="333399"/>
                </a:solidFill>
                <a:latin typeface="Times New Roman" panose="02020603050405020304" pitchFamily="18" charset="0"/>
                <a:ea typeface="华文楷体" panose="02010600040101010101" pitchFamily="2" charset="-122"/>
              </a:rPr>
              <a:t>EHF</a:t>
            </a:r>
          </a:p>
        </p:txBody>
      </p:sp>
      <p:sp>
        <p:nvSpPr>
          <p:cNvPr id="89" name="Text Box 94"/>
          <p:cNvSpPr txBox="1">
            <a:spLocks noChangeArrowheads="1"/>
          </p:cNvSpPr>
          <p:nvPr/>
        </p:nvSpPr>
        <p:spPr bwMode="auto">
          <a:xfrm>
            <a:off x="5623469" y="5779988"/>
            <a:ext cx="6016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b="1">
                <a:solidFill>
                  <a:srgbClr val="333399"/>
                </a:solidFill>
                <a:latin typeface="Times New Roman" panose="02020603050405020304" pitchFamily="18" charset="0"/>
                <a:ea typeface="华文楷体" panose="02010600040101010101" pitchFamily="2" charset="-122"/>
              </a:rPr>
              <a:t>THF</a:t>
            </a:r>
          </a:p>
        </p:txBody>
      </p:sp>
      <p:sp>
        <p:nvSpPr>
          <p:cNvPr id="90" name="Text Box 95"/>
          <p:cNvSpPr txBox="1">
            <a:spLocks noChangeArrowheads="1"/>
          </p:cNvSpPr>
          <p:nvPr/>
        </p:nvSpPr>
        <p:spPr bwMode="auto">
          <a:xfrm>
            <a:off x="633956" y="5702201"/>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zh-CN" altLang="en-US" sz="1600">
                <a:solidFill>
                  <a:srgbClr val="333399"/>
                </a:solidFill>
                <a:latin typeface="Times New Roman" panose="02020603050405020304" pitchFamily="18" charset="0"/>
                <a:ea typeface="华文楷体" panose="02010600040101010101" pitchFamily="2" charset="-122"/>
              </a:rPr>
              <a:t>波段</a:t>
            </a:r>
          </a:p>
        </p:txBody>
      </p:sp>
      <p:sp>
        <p:nvSpPr>
          <p:cNvPr id="91" name="Text Box 96"/>
          <p:cNvSpPr txBox="1">
            <a:spLocks noChangeArrowheads="1"/>
          </p:cNvSpPr>
          <p:nvPr/>
        </p:nvSpPr>
        <p:spPr bwMode="auto">
          <a:xfrm>
            <a:off x="1135606" y="3692426"/>
            <a:ext cx="7575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4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5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6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7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8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9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10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11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12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13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14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15       </a:t>
            </a:r>
            <a:r>
              <a:rPr kumimoji="1" lang="en-US" altLang="zh-CN" sz="1600" b="1" dirty="0">
                <a:solidFill>
                  <a:srgbClr val="333399"/>
                </a:solidFill>
                <a:latin typeface="Times New Roman" panose="02020603050405020304" pitchFamily="18" charset="0"/>
                <a:ea typeface="华文楷体" panose="02010600040101010101" pitchFamily="2" charset="-122"/>
              </a:rPr>
              <a:t>10</a:t>
            </a:r>
            <a:r>
              <a:rPr kumimoji="1" lang="en-US" altLang="zh-CN" sz="1600" b="1" baseline="30000" dirty="0">
                <a:solidFill>
                  <a:srgbClr val="333399"/>
                </a:solidFill>
                <a:latin typeface="Times New Roman" panose="02020603050405020304" pitchFamily="18" charset="0"/>
                <a:ea typeface="华文楷体" panose="02010600040101010101" pitchFamily="2" charset="-122"/>
              </a:rPr>
              <a:t>16</a:t>
            </a:r>
            <a:endParaRPr kumimoji="1" lang="en-US" altLang="zh-CN" sz="1600" b="1" dirty="0">
              <a:solidFill>
                <a:srgbClr val="333399"/>
              </a:solidFill>
              <a:latin typeface="Times New Roman" panose="02020603050405020304" pitchFamily="18" charset="0"/>
              <a:ea typeface="华文楷体" panose="02010600040101010101" pitchFamily="2" charset="-122"/>
            </a:endParaRPr>
          </a:p>
        </p:txBody>
      </p:sp>
      <p:sp>
        <p:nvSpPr>
          <p:cNvPr id="92" name="Text Box 97"/>
          <p:cNvSpPr txBox="1">
            <a:spLocks noChangeArrowheads="1"/>
          </p:cNvSpPr>
          <p:nvPr/>
        </p:nvSpPr>
        <p:spPr bwMode="auto">
          <a:xfrm>
            <a:off x="1167356" y="2470051"/>
            <a:ext cx="764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0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2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4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6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8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10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12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14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16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18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20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22       </a:t>
            </a:r>
            <a:r>
              <a:rPr kumimoji="1" lang="en-US" altLang="zh-CN" sz="1600" b="1">
                <a:solidFill>
                  <a:srgbClr val="333399"/>
                </a:solidFill>
                <a:latin typeface="Times New Roman" panose="02020603050405020304" pitchFamily="18" charset="0"/>
                <a:ea typeface="华文楷体" panose="02010600040101010101" pitchFamily="2" charset="-122"/>
              </a:rPr>
              <a:t>10</a:t>
            </a:r>
            <a:r>
              <a:rPr kumimoji="1" lang="en-US" altLang="zh-CN" sz="1600" b="1" baseline="30000">
                <a:solidFill>
                  <a:srgbClr val="333399"/>
                </a:solidFill>
                <a:latin typeface="Times New Roman" panose="02020603050405020304" pitchFamily="18" charset="0"/>
                <a:ea typeface="华文楷体" panose="02010600040101010101" pitchFamily="2" charset="-122"/>
              </a:rPr>
              <a:t>24</a:t>
            </a:r>
            <a:endParaRPr kumimoji="1" lang="en-US" altLang="zh-CN" sz="1600" b="1">
              <a:solidFill>
                <a:srgbClr val="333399"/>
              </a:solidFill>
              <a:latin typeface="Times New Roman" panose="02020603050405020304" pitchFamily="18" charset="0"/>
              <a:ea typeface="华文楷体" panose="02010600040101010101" pitchFamily="2" charset="-122"/>
            </a:endParaRPr>
          </a:p>
        </p:txBody>
      </p:sp>
      <p:sp>
        <p:nvSpPr>
          <p:cNvPr id="93" name="Line 98"/>
          <p:cNvSpPr>
            <a:spLocks noChangeShapeType="1"/>
          </p:cNvSpPr>
          <p:nvPr/>
        </p:nvSpPr>
        <p:spPr bwMode="auto">
          <a:xfrm flipV="1">
            <a:off x="4088356" y="5318026"/>
            <a:ext cx="357188" cy="3175"/>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94" name="Rectangle 99"/>
          <p:cNvSpPr>
            <a:spLocks noChangeArrowheads="1"/>
          </p:cNvSpPr>
          <p:nvPr/>
        </p:nvSpPr>
        <p:spPr bwMode="auto">
          <a:xfrm>
            <a:off x="4215356" y="4787801"/>
            <a:ext cx="84138" cy="4429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endParaRPr lang="zh-CN" altLang="en-US">
              <a:ea typeface="华文楷体" panose="02010600040101010101" pitchFamily="2" charset="-122"/>
            </a:endParaRPr>
          </a:p>
        </p:txBody>
      </p:sp>
      <p:sp>
        <p:nvSpPr>
          <p:cNvPr id="95" name="Text Box 100"/>
          <p:cNvSpPr txBox="1">
            <a:spLocks noChangeArrowheads="1"/>
          </p:cNvSpPr>
          <p:nvPr/>
        </p:nvSpPr>
        <p:spPr bwMode="auto">
          <a:xfrm>
            <a:off x="3905794" y="4783038"/>
            <a:ext cx="8445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Tahoma" panose="020B0604030504040204" pitchFamily="34" charset="0"/>
                <a:ea typeface="宋体" panose="02010600030101010101" pitchFamily="2" charset="-122"/>
                <a:cs typeface="+mn-cs"/>
              </a:defRPr>
            </a:lvl9pPr>
          </a:lstStyle>
          <a:p>
            <a:pPr algn="l">
              <a:lnSpc>
                <a:spcPct val="90000"/>
              </a:lnSpc>
            </a:pPr>
            <a:r>
              <a:rPr kumimoji="1" lang="en-US" altLang="zh-CN" sz="1600">
                <a:solidFill>
                  <a:srgbClr val="333399"/>
                </a:solidFill>
                <a:latin typeface="Times New Roman" panose="02020603050405020304" pitchFamily="18" charset="0"/>
                <a:ea typeface="华文楷体" panose="02010600040101010101" pitchFamily="2" charset="-122"/>
              </a:rPr>
              <a:t>  </a:t>
            </a:r>
            <a:r>
              <a:rPr kumimoji="1" lang="zh-CN" altLang="en-US" sz="1600">
                <a:solidFill>
                  <a:srgbClr val="333399"/>
                </a:solidFill>
                <a:latin typeface="Times New Roman" panose="02020603050405020304" pitchFamily="18" charset="0"/>
                <a:ea typeface="华文楷体" panose="02010600040101010101" pitchFamily="2" charset="-122"/>
              </a:rPr>
              <a:t>移动</a:t>
            </a:r>
          </a:p>
          <a:p>
            <a:pPr algn="l">
              <a:lnSpc>
                <a:spcPct val="90000"/>
              </a:lnSpc>
            </a:pPr>
            <a:r>
              <a:rPr kumimoji="1" lang="zh-CN" altLang="en-US" sz="1600">
                <a:solidFill>
                  <a:srgbClr val="333399"/>
                </a:solidFill>
                <a:latin typeface="Times New Roman" panose="02020603050405020304" pitchFamily="18" charset="0"/>
                <a:ea typeface="华文楷体" panose="02010600040101010101" pitchFamily="2" charset="-122"/>
              </a:rPr>
              <a:t>无线电 </a:t>
            </a:r>
          </a:p>
        </p:txBody>
      </p:sp>
    </p:spTree>
    <p:extLst>
      <p:ext uri="{BB962C8B-B14F-4D97-AF65-F5344CB8AC3E}">
        <p14:creationId xmlns:p14="http://schemas.microsoft.com/office/powerpoint/2010/main" val="3516635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导引型传输媒体</a:t>
            </a:r>
          </a:p>
        </p:txBody>
      </p:sp>
      <p:sp>
        <p:nvSpPr>
          <p:cNvPr id="3" name="内容占位符 2"/>
          <p:cNvSpPr>
            <a:spLocks noGrp="1"/>
          </p:cNvSpPr>
          <p:nvPr>
            <p:ph idx="1"/>
          </p:nvPr>
        </p:nvSpPr>
        <p:spPr/>
        <p:txBody>
          <a:bodyPr/>
          <a:lstStyle/>
          <a:p>
            <a:r>
              <a:rPr lang="zh-CN" altLang="en-US" dirty="0"/>
              <a:t>双绞线</a:t>
            </a:r>
          </a:p>
          <a:p>
            <a:pPr lvl="1"/>
            <a:r>
              <a:rPr lang="zh-CN" altLang="en-US" dirty="0"/>
              <a:t>屏蔽双绞线 </a:t>
            </a:r>
            <a:r>
              <a:rPr lang="en-US" altLang="zh-CN" dirty="0"/>
              <a:t>STP (Shielded Twisted Pair)</a:t>
            </a:r>
          </a:p>
          <a:p>
            <a:pPr lvl="1"/>
            <a:r>
              <a:rPr lang="zh-CN" altLang="en-US" dirty="0"/>
              <a:t>无屏蔽双绞线 </a:t>
            </a:r>
            <a:r>
              <a:rPr lang="en-US" altLang="zh-CN" dirty="0"/>
              <a:t>UTP (Unshielded Twisted Pair) </a:t>
            </a:r>
          </a:p>
          <a:p>
            <a:r>
              <a:rPr lang="zh-CN" altLang="en-US" dirty="0"/>
              <a:t>同轴电缆</a:t>
            </a:r>
          </a:p>
          <a:p>
            <a:r>
              <a:rPr lang="zh-CN" altLang="en-US" dirty="0"/>
              <a:t>光缆 </a:t>
            </a:r>
          </a:p>
          <a:p>
            <a:endParaRPr lang="zh-CN" altLang="en-US"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29</a:t>
            </a:fld>
            <a:endParaRPr lang="zh-CN" altLang="en-US" dirty="0"/>
          </a:p>
        </p:txBody>
      </p:sp>
    </p:spTree>
    <p:extLst>
      <p:ext uri="{BB962C8B-B14F-4D97-AF65-F5344CB8AC3E}">
        <p14:creationId xmlns:p14="http://schemas.microsoft.com/office/powerpoint/2010/main" val="1792832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导引型传输媒体</a:t>
            </a:r>
          </a:p>
        </p:txBody>
      </p:sp>
      <p:sp>
        <p:nvSpPr>
          <p:cNvPr id="3" name="内容占位符 2"/>
          <p:cNvSpPr>
            <a:spLocks noGrp="1"/>
          </p:cNvSpPr>
          <p:nvPr>
            <p:ph idx="1"/>
          </p:nvPr>
        </p:nvSpPr>
        <p:spPr>
          <a:xfrm>
            <a:off x="457200" y="1269615"/>
            <a:ext cx="8229600" cy="1511154"/>
          </a:xfrm>
        </p:spPr>
        <p:txBody>
          <a:bodyPr/>
          <a:lstStyle/>
          <a:p>
            <a:r>
              <a:rPr lang="zh-CN" altLang="en-US" dirty="0"/>
              <a:t>双绞线</a:t>
            </a:r>
            <a:endParaRPr lang="en-US" altLang="zh-CN" dirty="0"/>
          </a:p>
          <a:p>
            <a:pPr lvl="1"/>
            <a:r>
              <a:rPr lang="zh-CN" altLang="en-US" sz="1800" dirty="0"/>
              <a:t>模拟、数字传输均可</a:t>
            </a:r>
            <a:endParaRPr lang="en-US" altLang="zh-CN" sz="1800" dirty="0"/>
          </a:p>
          <a:p>
            <a:pPr lvl="1"/>
            <a:r>
              <a:rPr lang="zh-CN" altLang="en-US" sz="1800" dirty="0"/>
              <a:t>通信距离几到几十公里，</a:t>
            </a:r>
            <a:r>
              <a:rPr lang="zh-CN" altLang="en-US" sz="1800"/>
              <a:t>通过放大器、中继器等增大</a:t>
            </a:r>
            <a:r>
              <a:rPr lang="zh-CN" altLang="en-US" sz="1800" dirty="0"/>
              <a:t>传输距离</a:t>
            </a:r>
            <a:endParaRPr lang="en-US" altLang="zh-CN" sz="1800" dirty="0"/>
          </a:p>
          <a:p>
            <a:pPr lvl="1"/>
            <a:r>
              <a:rPr lang="zh-CN" altLang="en-US" sz="1800" dirty="0"/>
              <a:t>导线越粗，传输距离越远</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30</a:t>
            </a:fld>
            <a:endParaRPr lang="zh-CN" altLang="en-US" dirty="0"/>
          </a:p>
        </p:txBody>
      </p:sp>
      <p:grpSp>
        <p:nvGrpSpPr>
          <p:cNvPr id="5" name="组合 4"/>
          <p:cNvGrpSpPr/>
          <p:nvPr/>
        </p:nvGrpSpPr>
        <p:grpSpPr>
          <a:xfrm>
            <a:off x="660009" y="3024230"/>
            <a:ext cx="3210533" cy="1185222"/>
            <a:chOff x="765175" y="1884363"/>
            <a:chExt cx="3711575" cy="1852259"/>
          </a:xfrm>
        </p:grpSpPr>
        <p:pic>
          <p:nvPicPr>
            <p:cNvPr id="6" name="Picture 20" descr="223b"/>
            <p:cNvPicPr>
              <a:picLocks noChangeAspect="1" noChangeArrowheads="1"/>
            </p:cNvPicPr>
            <p:nvPr/>
          </p:nvPicPr>
          <p:blipFill>
            <a:blip r:embed="rId4" cstate="print">
              <a:extLst>
                <a:ext uri="{28A0092B-C50C-407E-A947-70E740481C1C}">
                  <a14:useLocalDpi xmlns:a14="http://schemas.microsoft.com/office/drawing/2010/main" val="0"/>
                </a:ext>
              </a:extLst>
            </a:blip>
            <a:srcRect t="24692" b="39763"/>
            <a:stretch>
              <a:fillRect/>
            </a:stretch>
          </p:blipFill>
          <p:spPr bwMode="auto">
            <a:xfrm>
              <a:off x="765175" y="2420938"/>
              <a:ext cx="3711575" cy="885825"/>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22"/>
            <p:cNvSpPr txBox="1">
              <a:spLocks noChangeArrowheads="1"/>
            </p:cNvSpPr>
            <p:nvPr/>
          </p:nvSpPr>
          <p:spPr bwMode="auto">
            <a:xfrm>
              <a:off x="3686175" y="3228975"/>
              <a:ext cx="600482" cy="424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a:solidFill>
                    <a:srgbClr val="333399"/>
                  </a:solidFill>
                  <a:latin typeface="黑体" panose="02010609060101010101" pitchFamily="49" charset="-122"/>
                  <a:ea typeface="黑体" panose="02010609060101010101" pitchFamily="49" charset="-122"/>
                </a:rPr>
                <a:t>铜线</a:t>
              </a:r>
            </a:p>
          </p:txBody>
        </p:sp>
        <p:sp>
          <p:nvSpPr>
            <p:cNvPr id="8" name="Text Box 24"/>
            <p:cNvSpPr txBox="1">
              <a:spLocks noChangeArrowheads="1"/>
            </p:cNvSpPr>
            <p:nvPr/>
          </p:nvSpPr>
          <p:spPr bwMode="auto">
            <a:xfrm>
              <a:off x="805219" y="3289300"/>
              <a:ext cx="1553929" cy="447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pPr>
              <a:r>
                <a:rPr kumimoji="1" lang="zh-CN" altLang="en-US" sz="1400" dirty="0">
                  <a:solidFill>
                    <a:srgbClr val="333399"/>
                  </a:solidFill>
                  <a:latin typeface="黑体" panose="02010609060101010101" pitchFamily="49" charset="-122"/>
                  <a:ea typeface="黑体" panose="02010609060101010101" pitchFamily="49" charset="-122"/>
                </a:rPr>
                <a:t>聚氯乙烯 套层</a:t>
              </a:r>
            </a:p>
          </p:txBody>
        </p:sp>
        <p:sp>
          <p:nvSpPr>
            <p:cNvPr id="9" name="Text Box 27"/>
            <p:cNvSpPr txBox="1">
              <a:spLocks noChangeArrowheads="1"/>
            </p:cNvSpPr>
            <p:nvPr/>
          </p:nvSpPr>
          <p:spPr bwMode="auto">
            <a:xfrm>
              <a:off x="2503488" y="3225801"/>
              <a:ext cx="798754" cy="424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dirty="0">
                  <a:solidFill>
                    <a:srgbClr val="333399"/>
                  </a:solidFill>
                  <a:latin typeface="黑体" panose="02010609060101010101" pitchFamily="49" charset="-122"/>
                  <a:ea typeface="黑体" panose="02010609060101010101" pitchFamily="49" charset="-122"/>
                </a:rPr>
                <a:t>绝缘层</a:t>
              </a:r>
            </a:p>
          </p:txBody>
        </p:sp>
        <p:sp>
          <p:nvSpPr>
            <p:cNvPr id="10" name="Text Box 37"/>
            <p:cNvSpPr txBox="1">
              <a:spLocks noChangeArrowheads="1"/>
            </p:cNvSpPr>
            <p:nvPr/>
          </p:nvSpPr>
          <p:spPr bwMode="auto">
            <a:xfrm>
              <a:off x="1084262" y="1884363"/>
              <a:ext cx="2314120" cy="508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rgbClr val="333399"/>
                  </a:solidFill>
                  <a:latin typeface="Arial" panose="020B0604020202020204" pitchFamily="34" charset="0"/>
                  <a:ea typeface="黑体" panose="02010609060101010101" pitchFamily="49" charset="-122"/>
                </a:rPr>
                <a:t>无屏蔽双绞线 </a:t>
              </a:r>
              <a:r>
                <a:rPr lang="en-US" altLang="zh-CN" dirty="0">
                  <a:solidFill>
                    <a:srgbClr val="333399"/>
                  </a:solidFill>
                  <a:latin typeface="Arial" panose="020B0604020202020204" pitchFamily="34" charset="0"/>
                  <a:ea typeface="黑体" panose="02010609060101010101" pitchFamily="49" charset="-122"/>
                </a:rPr>
                <a:t>UTP</a:t>
              </a:r>
            </a:p>
          </p:txBody>
        </p:sp>
        <p:sp>
          <p:nvSpPr>
            <p:cNvPr id="11" name="Line 44"/>
            <p:cNvSpPr>
              <a:spLocks noChangeShapeType="1"/>
            </p:cNvSpPr>
            <p:nvPr/>
          </p:nvSpPr>
          <p:spPr bwMode="auto">
            <a:xfrm>
              <a:off x="2852738" y="2995613"/>
              <a:ext cx="46037" cy="3190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2" name="Line 45"/>
            <p:cNvSpPr>
              <a:spLocks noChangeShapeType="1"/>
            </p:cNvSpPr>
            <p:nvPr/>
          </p:nvSpPr>
          <p:spPr bwMode="auto">
            <a:xfrm>
              <a:off x="3840163" y="3036888"/>
              <a:ext cx="88900" cy="2460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3" name="Line 49"/>
            <p:cNvSpPr>
              <a:spLocks noChangeShapeType="1"/>
            </p:cNvSpPr>
            <p:nvPr/>
          </p:nvSpPr>
          <p:spPr bwMode="auto">
            <a:xfrm flipH="1">
              <a:off x="1530350" y="3111500"/>
              <a:ext cx="7938" cy="1873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pSp>
      <p:grpSp>
        <p:nvGrpSpPr>
          <p:cNvPr id="24" name="组合 23"/>
          <p:cNvGrpSpPr/>
          <p:nvPr/>
        </p:nvGrpSpPr>
        <p:grpSpPr>
          <a:xfrm>
            <a:off x="5587795" y="3011616"/>
            <a:ext cx="3181221" cy="1278733"/>
            <a:chOff x="4378400" y="1963060"/>
            <a:chExt cx="3934438" cy="1961641"/>
          </a:xfrm>
        </p:grpSpPr>
        <p:pic>
          <p:nvPicPr>
            <p:cNvPr id="14" name="Picture 21" descr="223"/>
            <p:cNvPicPr>
              <a:picLocks noChangeAspect="1" noChangeArrowheads="1"/>
            </p:cNvPicPr>
            <p:nvPr/>
          </p:nvPicPr>
          <p:blipFill>
            <a:blip r:embed="rId5" cstate="print">
              <a:extLst>
                <a:ext uri="{28A0092B-C50C-407E-A947-70E740481C1C}">
                  <a14:useLocalDpi xmlns:a14="http://schemas.microsoft.com/office/drawing/2010/main" val="0"/>
                </a:ext>
              </a:extLst>
            </a:blip>
            <a:srcRect t="17610" b="41142"/>
            <a:stretch>
              <a:fillRect/>
            </a:stretch>
          </p:blipFill>
          <p:spPr bwMode="auto">
            <a:xfrm>
              <a:off x="4843463" y="2444750"/>
              <a:ext cx="3465512" cy="862013"/>
            </a:xfrm>
            <a:prstGeom prst="rect">
              <a:avLst/>
            </a:prstGeom>
            <a:noFill/>
            <a:extLst>
              <a:ext uri="{909E8E84-426E-40DD-AFC4-6F175D3DCCD1}">
                <a14:hiddenFill xmlns:a14="http://schemas.microsoft.com/office/drawing/2010/main">
                  <a:solidFill>
                    <a:srgbClr val="FFFFFF"/>
                  </a:solidFill>
                </a14:hiddenFill>
              </a:ext>
            </a:extLst>
          </p:spPr>
        </p:pic>
        <p:sp>
          <p:nvSpPr>
            <p:cNvPr id="15" name="Text Box 23"/>
            <p:cNvSpPr txBox="1">
              <a:spLocks noChangeArrowheads="1"/>
            </p:cNvSpPr>
            <p:nvPr/>
          </p:nvSpPr>
          <p:spPr bwMode="auto">
            <a:xfrm>
              <a:off x="7624763" y="3317875"/>
              <a:ext cx="688075" cy="42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a:solidFill>
                    <a:srgbClr val="333399"/>
                  </a:solidFill>
                  <a:latin typeface="黑体" panose="02010609060101010101" pitchFamily="49" charset="-122"/>
                  <a:ea typeface="黑体" panose="02010609060101010101" pitchFamily="49" charset="-122"/>
                </a:rPr>
                <a:t>铜线</a:t>
              </a:r>
            </a:p>
          </p:txBody>
        </p:sp>
        <p:sp>
          <p:nvSpPr>
            <p:cNvPr id="16" name="Text Box 25"/>
            <p:cNvSpPr txBox="1">
              <a:spLocks noChangeArrowheads="1"/>
            </p:cNvSpPr>
            <p:nvPr/>
          </p:nvSpPr>
          <p:spPr bwMode="auto">
            <a:xfrm>
              <a:off x="4378400" y="3303590"/>
              <a:ext cx="1800150" cy="42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dirty="0">
                  <a:solidFill>
                    <a:srgbClr val="333399"/>
                  </a:solidFill>
                  <a:latin typeface="黑体" panose="02010609060101010101" pitchFamily="49" charset="-122"/>
                  <a:ea typeface="黑体" panose="02010609060101010101" pitchFamily="49" charset="-122"/>
                </a:rPr>
                <a:t>聚氯乙烯套层</a:t>
              </a:r>
            </a:p>
          </p:txBody>
        </p:sp>
        <p:sp>
          <p:nvSpPr>
            <p:cNvPr id="17" name="Text Box 26"/>
            <p:cNvSpPr txBox="1">
              <a:spLocks noChangeArrowheads="1"/>
            </p:cNvSpPr>
            <p:nvPr/>
          </p:nvSpPr>
          <p:spPr bwMode="auto">
            <a:xfrm>
              <a:off x="6075363" y="3248025"/>
              <a:ext cx="915269" cy="42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a:solidFill>
                    <a:srgbClr val="333399"/>
                  </a:solidFill>
                  <a:latin typeface="黑体" panose="02010609060101010101" pitchFamily="49" charset="-122"/>
                  <a:ea typeface="黑体" panose="02010609060101010101" pitchFamily="49" charset="-122"/>
                </a:rPr>
                <a:t>屏蔽层</a:t>
              </a:r>
            </a:p>
          </p:txBody>
        </p:sp>
        <p:sp>
          <p:nvSpPr>
            <p:cNvPr id="18" name="Text Box 28"/>
            <p:cNvSpPr txBox="1">
              <a:spLocks noChangeArrowheads="1"/>
            </p:cNvSpPr>
            <p:nvPr/>
          </p:nvSpPr>
          <p:spPr bwMode="auto">
            <a:xfrm>
              <a:off x="6784975" y="3497263"/>
              <a:ext cx="915269" cy="42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a:solidFill>
                    <a:srgbClr val="333399"/>
                  </a:solidFill>
                  <a:latin typeface="黑体" panose="02010609060101010101" pitchFamily="49" charset="-122"/>
                  <a:ea typeface="黑体" panose="02010609060101010101" pitchFamily="49" charset="-122"/>
                </a:rPr>
                <a:t>绝缘层</a:t>
              </a:r>
            </a:p>
          </p:txBody>
        </p:sp>
        <p:sp>
          <p:nvSpPr>
            <p:cNvPr id="19" name="Text Box 38"/>
            <p:cNvSpPr txBox="1">
              <a:spLocks noChangeArrowheads="1"/>
            </p:cNvSpPr>
            <p:nvPr/>
          </p:nvSpPr>
          <p:spPr bwMode="auto">
            <a:xfrm>
              <a:off x="5040313" y="1963060"/>
              <a:ext cx="2343349" cy="5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rgbClr val="333399"/>
                  </a:solidFill>
                  <a:latin typeface="Arial" panose="020B0604020202020204" pitchFamily="34" charset="0"/>
                  <a:ea typeface="黑体" panose="02010609060101010101" pitchFamily="49" charset="-122"/>
                </a:rPr>
                <a:t>屏蔽双绞线 </a:t>
              </a:r>
              <a:r>
                <a:rPr lang="en-US" altLang="zh-CN" dirty="0">
                  <a:solidFill>
                    <a:srgbClr val="333399"/>
                  </a:solidFill>
                  <a:latin typeface="Arial" panose="020B0604020202020204" pitchFamily="34" charset="0"/>
                  <a:ea typeface="黑体" panose="02010609060101010101" pitchFamily="49" charset="-122"/>
                </a:rPr>
                <a:t>STP</a:t>
              </a:r>
            </a:p>
          </p:txBody>
        </p:sp>
        <p:sp>
          <p:nvSpPr>
            <p:cNvPr id="20" name="Line 40"/>
            <p:cNvSpPr>
              <a:spLocks noChangeShapeType="1"/>
            </p:cNvSpPr>
            <p:nvPr/>
          </p:nvSpPr>
          <p:spPr bwMode="auto">
            <a:xfrm>
              <a:off x="7092950" y="2997200"/>
              <a:ext cx="46038" cy="5651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21" name="Line 41"/>
            <p:cNvSpPr>
              <a:spLocks noChangeShapeType="1"/>
            </p:cNvSpPr>
            <p:nvPr/>
          </p:nvSpPr>
          <p:spPr bwMode="auto">
            <a:xfrm>
              <a:off x="7680325" y="3041650"/>
              <a:ext cx="107950" cy="3175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22" name="Line 42"/>
            <p:cNvSpPr>
              <a:spLocks noChangeShapeType="1"/>
            </p:cNvSpPr>
            <p:nvPr/>
          </p:nvSpPr>
          <p:spPr bwMode="auto">
            <a:xfrm flipH="1">
              <a:off x="6508750" y="3038475"/>
              <a:ext cx="15875" cy="279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23" name="Line 43"/>
            <p:cNvSpPr>
              <a:spLocks noChangeShapeType="1"/>
            </p:cNvSpPr>
            <p:nvPr/>
          </p:nvSpPr>
          <p:spPr bwMode="auto">
            <a:xfrm flipH="1">
              <a:off x="5426075" y="3082925"/>
              <a:ext cx="123825" cy="3190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pSp>
      <p:pic>
        <p:nvPicPr>
          <p:cNvPr id="25" name="Picture 6" descr="lan1map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80643" y="3194135"/>
            <a:ext cx="1911256" cy="933744"/>
          </a:xfrm>
          <a:prstGeom prst="rect">
            <a:avLst/>
          </a:prstGeom>
          <a:noFill/>
          <a:extLst>
            <a:ext uri="{909E8E84-426E-40DD-AFC4-6F175D3DCCD1}">
              <a14:hiddenFill xmlns:a14="http://schemas.microsoft.com/office/drawing/2010/main">
                <a:solidFill>
                  <a:schemeClr val="tx1"/>
                </a:solidFill>
              </a14:hiddenFill>
            </a:ext>
          </a:extLst>
        </p:spPr>
      </p:pic>
      <p:graphicFrame>
        <p:nvGraphicFramePr>
          <p:cNvPr id="26" name="表格 25"/>
          <p:cNvGraphicFramePr>
            <a:graphicFrameLocks noGrp="1"/>
          </p:cNvGraphicFramePr>
          <p:nvPr/>
        </p:nvGraphicFramePr>
        <p:xfrm>
          <a:off x="1164618" y="4365882"/>
          <a:ext cx="6853105" cy="2365573"/>
        </p:xfrm>
        <a:graphic>
          <a:graphicData uri="http://schemas.openxmlformats.org/drawingml/2006/table">
            <a:tbl>
              <a:tblPr firstRow="1" bandRow="1">
                <a:tableStyleId>{5C22544A-7EE6-4342-B048-85BDC9FD1C3A}</a:tableStyleId>
              </a:tblPr>
              <a:tblGrid>
                <a:gridCol w="1131752">
                  <a:extLst>
                    <a:ext uri="{9D8B030D-6E8A-4147-A177-3AD203B41FA5}">
                      <a16:colId xmlns:a16="http://schemas.microsoft.com/office/drawing/2014/main" val="20000"/>
                    </a:ext>
                  </a:extLst>
                </a:gridCol>
                <a:gridCol w="936323">
                  <a:extLst>
                    <a:ext uri="{9D8B030D-6E8A-4147-A177-3AD203B41FA5}">
                      <a16:colId xmlns:a16="http://schemas.microsoft.com/office/drawing/2014/main" val="20001"/>
                    </a:ext>
                  </a:extLst>
                </a:gridCol>
                <a:gridCol w="4785030">
                  <a:extLst>
                    <a:ext uri="{9D8B030D-6E8A-4147-A177-3AD203B41FA5}">
                      <a16:colId xmlns:a16="http://schemas.microsoft.com/office/drawing/2014/main" val="20002"/>
                    </a:ext>
                  </a:extLst>
                </a:gridCol>
              </a:tblGrid>
              <a:tr h="337939">
                <a:tc>
                  <a:txBody>
                    <a:bodyPr/>
                    <a:lstStyle/>
                    <a:p>
                      <a:pPr algn="ctr"/>
                      <a:r>
                        <a:rPr lang="zh-CN" altLang="en-US" sz="1400" baseline="0" dirty="0">
                          <a:latin typeface="Calibri" panose="020F0502020204030204" pitchFamily="34" charset="0"/>
                          <a:ea typeface="华文楷体" panose="02010600040101010101" pitchFamily="2" charset="-122"/>
                        </a:rPr>
                        <a:t>绞合线类别</a:t>
                      </a:r>
                    </a:p>
                  </a:txBody>
                  <a:tcPr/>
                </a:tc>
                <a:tc>
                  <a:txBody>
                    <a:bodyPr/>
                    <a:lstStyle/>
                    <a:p>
                      <a:pPr algn="ctr"/>
                      <a:r>
                        <a:rPr lang="zh-CN" altLang="en-US" sz="1400" baseline="0" dirty="0">
                          <a:latin typeface="Calibri" panose="020F0502020204030204" pitchFamily="34" charset="0"/>
                          <a:ea typeface="华文楷体" panose="02010600040101010101" pitchFamily="2" charset="-122"/>
                        </a:rPr>
                        <a:t>带宽</a:t>
                      </a:r>
                    </a:p>
                  </a:txBody>
                  <a:tcPr/>
                </a:tc>
                <a:tc>
                  <a:txBody>
                    <a:bodyPr/>
                    <a:lstStyle/>
                    <a:p>
                      <a:pPr algn="ctr"/>
                      <a:r>
                        <a:rPr lang="zh-CN" altLang="en-US" sz="1400" baseline="0" dirty="0">
                          <a:latin typeface="Calibri" panose="020F0502020204030204" pitchFamily="34" charset="0"/>
                          <a:ea typeface="华文楷体" panose="02010600040101010101" pitchFamily="2" charset="-122"/>
                        </a:rPr>
                        <a:t>典型应用</a:t>
                      </a:r>
                    </a:p>
                  </a:txBody>
                  <a:tcPr/>
                </a:tc>
                <a:extLst>
                  <a:ext uri="{0D108BD9-81ED-4DB2-BD59-A6C34878D82A}">
                    <a16:rowId xmlns:a16="http://schemas.microsoft.com/office/drawing/2014/main" val="10000"/>
                  </a:ext>
                </a:extLst>
              </a:tr>
              <a:tr h="337939">
                <a:tc>
                  <a:txBody>
                    <a:bodyPr/>
                    <a:lstStyle/>
                    <a:p>
                      <a:pPr marL="0" algn="ctr" defTabSz="914377" rtl="0" eaLnBrk="1" latinLnBrk="0" hangingPunct="1"/>
                      <a:r>
                        <a:rPr lang="en-US" altLang="zh-CN" sz="1400" kern="1200" baseline="0" dirty="0">
                          <a:solidFill>
                            <a:schemeClr val="dk1"/>
                          </a:solidFill>
                          <a:latin typeface="Calibri" panose="020F0502020204030204" pitchFamily="34" charset="0"/>
                          <a:ea typeface="华文楷体" panose="02010600040101010101" pitchFamily="2" charset="-122"/>
                          <a:cs typeface="+mn-cs"/>
                        </a:rPr>
                        <a:t>3</a:t>
                      </a:r>
                      <a:endParaRPr lang="zh-CN" altLang="en-US" sz="1400" kern="1200" baseline="0" dirty="0">
                        <a:solidFill>
                          <a:schemeClr val="dk1"/>
                        </a:solidFill>
                        <a:latin typeface="Calibri" panose="020F0502020204030204" pitchFamily="34" charset="0"/>
                        <a:ea typeface="华文楷体" panose="02010600040101010101" pitchFamily="2" charset="-122"/>
                        <a:cs typeface="+mn-cs"/>
                      </a:endParaRPr>
                    </a:p>
                  </a:txBody>
                  <a:tcPr/>
                </a:tc>
                <a:tc>
                  <a:txBody>
                    <a:bodyPr/>
                    <a:lstStyle/>
                    <a:p>
                      <a:pPr marL="0" algn="ctr" defTabSz="914377" rtl="0" eaLnBrk="1" latinLnBrk="0" hangingPunct="1"/>
                      <a:r>
                        <a:rPr lang="en-US" altLang="zh-CN" sz="1400" kern="1200" baseline="0" dirty="0">
                          <a:solidFill>
                            <a:schemeClr val="dk1"/>
                          </a:solidFill>
                          <a:latin typeface="Calibri" panose="020F0502020204030204" pitchFamily="34" charset="0"/>
                          <a:ea typeface="华文楷体" panose="02010600040101010101" pitchFamily="2" charset="-122"/>
                          <a:cs typeface="+mn-cs"/>
                        </a:rPr>
                        <a:t>16MHz</a:t>
                      </a:r>
                      <a:endParaRPr lang="zh-CN" altLang="en-US" sz="1400" kern="1200" baseline="0" dirty="0">
                        <a:solidFill>
                          <a:schemeClr val="dk1"/>
                        </a:solidFill>
                        <a:latin typeface="Calibri" panose="020F0502020204030204" pitchFamily="34" charset="0"/>
                        <a:ea typeface="华文楷体" panose="02010600040101010101" pitchFamily="2" charset="-122"/>
                        <a:cs typeface="+mn-cs"/>
                      </a:endParaRPr>
                    </a:p>
                  </a:txBody>
                  <a:tcPr/>
                </a:tc>
                <a:tc>
                  <a:txBody>
                    <a:bodyPr/>
                    <a:lstStyle/>
                    <a:p>
                      <a:pPr marL="0" algn="l" defTabSz="914377" rtl="0" eaLnBrk="1" latinLnBrk="0" hangingPunct="1"/>
                      <a:r>
                        <a:rPr lang="zh-CN" altLang="en-US" sz="1400" kern="1200" baseline="0" dirty="0">
                          <a:solidFill>
                            <a:schemeClr val="dk1"/>
                          </a:solidFill>
                          <a:latin typeface="Calibri" panose="020F0502020204030204" pitchFamily="34" charset="0"/>
                          <a:ea typeface="华文楷体" panose="02010600040101010101" pitchFamily="2" charset="-122"/>
                          <a:cs typeface="+mn-cs"/>
                        </a:rPr>
                        <a:t>低速网络、模拟电话</a:t>
                      </a:r>
                    </a:p>
                  </a:txBody>
                  <a:tcPr/>
                </a:tc>
                <a:extLst>
                  <a:ext uri="{0D108BD9-81ED-4DB2-BD59-A6C34878D82A}">
                    <a16:rowId xmlns:a16="http://schemas.microsoft.com/office/drawing/2014/main" val="10001"/>
                  </a:ext>
                </a:extLst>
              </a:tr>
              <a:tr h="337939">
                <a:tc>
                  <a:txBody>
                    <a:bodyPr/>
                    <a:lstStyle/>
                    <a:p>
                      <a:pPr algn="ctr"/>
                      <a:r>
                        <a:rPr lang="en-US" altLang="zh-CN" sz="1400" baseline="0" dirty="0">
                          <a:latin typeface="Calibri" panose="020F0502020204030204" pitchFamily="34" charset="0"/>
                          <a:ea typeface="华文楷体" panose="02010600040101010101" pitchFamily="2" charset="-122"/>
                        </a:rPr>
                        <a:t>4</a:t>
                      </a:r>
                      <a:endParaRPr lang="zh-CN" altLang="en-US" sz="1400" baseline="0" dirty="0">
                        <a:latin typeface="Calibri" panose="020F0502020204030204" pitchFamily="34" charset="0"/>
                        <a:ea typeface="华文楷体" panose="02010600040101010101" pitchFamily="2" charset="-122"/>
                      </a:endParaRPr>
                    </a:p>
                  </a:txBody>
                  <a:tcPr/>
                </a:tc>
                <a:tc>
                  <a:txBody>
                    <a:bodyPr/>
                    <a:lstStyle/>
                    <a:p>
                      <a:pPr algn="ctr"/>
                      <a:r>
                        <a:rPr lang="en-US" altLang="zh-CN" sz="1400" baseline="0" dirty="0">
                          <a:latin typeface="Calibri" panose="020F0502020204030204" pitchFamily="34" charset="0"/>
                          <a:ea typeface="华文楷体" panose="02010600040101010101" pitchFamily="2" charset="-122"/>
                        </a:rPr>
                        <a:t>20MHz</a:t>
                      </a:r>
                      <a:endParaRPr lang="zh-CN" altLang="en-US" sz="1400" baseline="0" dirty="0">
                        <a:latin typeface="Calibri" panose="020F0502020204030204" pitchFamily="34" charset="0"/>
                        <a:ea typeface="华文楷体" panose="02010600040101010101" pitchFamily="2" charset="-122"/>
                      </a:endParaRPr>
                    </a:p>
                  </a:txBody>
                  <a:tcPr/>
                </a:tc>
                <a:tc>
                  <a:txBody>
                    <a:bodyPr/>
                    <a:lstStyle/>
                    <a:p>
                      <a:r>
                        <a:rPr lang="zh-CN" altLang="en-US" sz="1400" baseline="0" dirty="0">
                          <a:latin typeface="Calibri" panose="020F0502020204030204" pitchFamily="34" charset="0"/>
                          <a:ea typeface="华文楷体" panose="02010600040101010101" pitchFamily="2" charset="-122"/>
                        </a:rPr>
                        <a:t>短距离的</a:t>
                      </a:r>
                      <a:r>
                        <a:rPr lang="en-US" altLang="zh-CN" sz="1400" baseline="0" dirty="0">
                          <a:latin typeface="Calibri" panose="020F0502020204030204" pitchFamily="34" charset="0"/>
                          <a:ea typeface="华文楷体" panose="02010600040101010101" pitchFamily="2" charset="-122"/>
                        </a:rPr>
                        <a:t>10BASE-T </a:t>
                      </a:r>
                      <a:r>
                        <a:rPr lang="zh-CN" altLang="en-US" sz="1400" baseline="0" dirty="0">
                          <a:latin typeface="Calibri" panose="020F0502020204030204" pitchFamily="34" charset="0"/>
                          <a:ea typeface="华文楷体" panose="02010600040101010101" pitchFamily="2" charset="-122"/>
                        </a:rPr>
                        <a:t>以太网</a:t>
                      </a:r>
                    </a:p>
                  </a:txBody>
                  <a:tcPr/>
                </a:tc>
                <a:extLst>
                  <a:ext uri="{0D108BD9-81ED-4DB2-BD59-A6C34878D82A}">
                    <a16:rowId xmlns:a16="http://schemas.microsoft.com/office/drawing/2014/main" val="10002"/>
                  </a:ext>
                </a:extLst>
              </a:tr>
              <a:tr h="337939">
                <a:tc>
                  <a:txBody>
                    <a:bodyPr/>
                    <a:lstStyle/>
                    <a:p>
                      <a:pPr algn="ctr"/>
                      <a:r>
                        <a:rPr lang="en-US" altLang="zh-CN" sz="1400" baseline="0" dirty="0">
                          <a:latin typeface="Calibri" panose="020F0502020204030204" pitchFamily="34" charset="0"/>
                          <a:ea typeface="华文楷体" panose="02010600040101010101" pitchFamily="2" charset="-122"/>
                        </a:rPr>
                        <a:t>5</a:t>
                      </a:r>
                      <a:endParaRPr lang="zh-CN" altLang="en-US" sz="1400" baseline="0" dirty="0">
                        <a:latin typeface="Calibri" panose="020F0502020204030204" pitchFamily="34" charset="0"/>
                        <a:ea typeface="华文楷体" panose="02010600040101010101" pitchFamily="2" charset="-122"/>
                      </a:endParaRPr>
                    </a:p>
                  </a:txBody>
                  <a:tcPr/>
                </a:tc>
                <a:tc>
                  <a:txBody>
                    <a:bodyPr/>
                    <a:lstStyle/>
                    <a:p>
                      <a:pPr algn="ctr"/>
                      <a:r>
                        <a:rPr lang="en-US" altLang="zh-CN" sz="1400" baseline="0" dirty="0">
                          <a:latin typeface="Calibri" panose="020F0502020204030204" pitchFamily="34" charset="0"/>
                          <a:ea typeface="华文楷体" panose="02010600040101010101" pitchFamily="2" charset="-122"/>
                        </a:rPr>
                        <a:t>100MHz</a:t>
                      </a:r>
                      <a:endParaRPr lang="zh-CN" altLang="en-US" sz="1400" baseline="0" dirty="0">
                        <a:latin typeface="Calibri" panose="020F0502020204030204" pitchFamily="34" charset="0"/>
                        <a:ea typeface="华文楷体" panose="02010600040101010101" pitchFamily="2" charset="-122"/>
                      </a:endParaRPr>
                    </a:p>
                  </a:txBody>
                  <a:tcPr/>
                </a:tc>
                <a:tc>
                  <a:txBody>
                    <a:bodyPr/>
                    <a:lstStyle/>
                    <a:p>
                      <a:r>
                        <a:rPr lang="en-US" altLang="zh-CN" sz="1400" baseline="0" dirty="0">
                          <a:latin typeface="Calibri" panose="020F0502020204030204" pitchFamily="34" charset="0"/>
                          <a:ea typeface="华文楷体" panose="02010600040101010101" pitchFamily="2" charset="-122"/>
                        </a:rPr>
                        <a:t>10BASE-T</a:t>
                      </a:r>
                      <a:r>
                        <a:rPr lang="zh-CN" altLang="en-US" sz="1400" baseline="0" dirty="0">
                          <a:latin typeface="Calibri" panose="020F0502020204030204" pitchFamily="34" charset="0"/>
                          <a:ea typeface="华文楷体" panose="02010600040101010101" pitchFamily="2" charset="-122"/>
                        </a:rPr>
                        <a:t>以太网、某些</a:t>
                      </a:r>
                      <a:r>
                        <a:rPr lang="en-US" altLang="zh-CN" sz="1400" baseline="0" dirty="0">
                          <a:latin typeface="Calibri" panose="020F0502020204030204" pitchFamily="34" charset="0"/>
                          <a:ea typeface="华文楷体" panose="02010600040101010101" pitchFamily="2" charset="-122"/>
                        </a:rPr>
                        <a:t>100BASE-T</a:t>
                      </a:r>
                      <a:r>
                        <a:rPr lang="zh-CN" altLang="en-US" sz="1400" baseline="0" dirty="0">
                          <a:latin typeface="Calibri" panose="020F0502020204030204" pitchFamily="34" charset="0"/>
                          <a:ea typeface="华文楷体" panose="02010600040101010101" pitchFamily="2" charset="-122"/>
                        </a:rPr>
                        <a:t>快速以太网</a:t>
                      </a:r>
                    </a:p>
                  </a:txBody>
                  <a:tcPr/>
                </a:tc>
                <a:extLst>
                  <a:ext uri="{0D108BD9-81ED-4DB2-BD59-A6C34878D82A}">
                    <a16:rowId xmlns:a16="http://schemas.microsoft.com/office/drawing/2014/main" val="10003"/>
                  </a:ext>
                </a:extLst>
              </a:tr>
              <a:tr h="337939">
                <a:tc>
                  <a:txBody>
                    <a:bodyPr/>
                    <a:lstStyle/>
                    <a:p>
                      <a:pPr algn="ctr"/>
                      <a:r>
                        <a:rPr lang="en-US" altLang="zh-CN" sz="1400" baseline="0" dirty="0">
                          <a:latin typeface="Calibri" panose="020F0502020204030204" pitchFamily="34" charset="0"/>
                          <a:ea typeface="华文楷体" panose="02010600040101010101" pitchFamily="2" charset="-122"/>
                        </a:rPr>
                        <a:t>5E(</a:t>
                      </a:r>
                      <a:r>
                        <a:rPr lang="zh-CN" altLang="en-US" sz="1400" baseline="0" dirty="0">
                          <a:latin typeface="Calibri" panose="020F0502020204030204" pitchFamily="34" charset="0"/>
                          <a:ea typeface="华文楷体" panose="02010600040101010101" pitchFamily="2" charset="-122"/>
                        </a:rPr>
                        <a:t>超</a:t>
                      </a:r>
                      <a:r>
                        <a:rPr lang="en-US" altLang="zh-CN" sz="1400" baseline="0" dirty="0">
                          <a:latin typeface="Calibri" panose="020F0502020204030204" pitchFamily="34" charset="0"/>
                          <a:ea typeface="华文楷体" panose="02010600040101010101" pitchFamily="2" charset="-122"/>
                        </a:rPr>
                        <a:t>5</a:t>
                      </a:r>
                      <a:r>
                        <a:rPr lang="zh-CN" altLang="en-US" sz="1400" baseline="0" dirty="0">
                          <a:latin typeface="Calibri" panose="020F0502020204030204" pitchFamily="34" charset="0"/>
                          <a:ea typeface="华文楷体" panose="02010600040101010101" pitchFamily="2" charset="-122"/>
                        </a:rPr>
                        <a:t>类</a:t>
                      </a:r>
                      <a:r>
                        <a:rPr lang="en-US" altLang="zh-CN" sz="1400" baseline="0" dirty="0">
                          <a:latin typeface="Calibri" panose="020F0502020204030204" pitchFamily="34" charset="0"/>
                          <a:ea typeface="华文楷体" panose="02010600040101010101" pitchFamily="2" charset="-122"/>
                        </a:rPr>
                        <a:t>)</a:t>
                      </a:r>
                      <a:endParaRPr lang="zh-CN" altLang="en-US" sz="1400" baseline="0" dirty="0">
                        <a:latin typeface="Calibri" panose="020F0502020204030204" pitchFamily="34" charset="0"/>
                        <a:ea typeface="华文楷体" panose="02010600040101010101" pitchFamily="2" charset="-122"/>
                      </a:endParaRPr>
                    </a:p>
                  </a:txBody>
                  <a:tcPr/>
                </a:tc>
                <a:tc>
                  <a:txBody>
                    <a:bodyPr/>
                    <a:lstStyle/>
                    <a:p>
                      <a:pPr algn="ctr"/>
                      <a:r>
                        <a:rPr lang="en-US" altLang="zh-CN" sz="1400" baseline="0" dirty="0">
                          <a:latin typeface="Calibri" panose="020F0502020204030204" pitchFamily="34" charset="0"/>
                          <a:ea typeface="华文楷体" panose="02010600040101010101" pitchFamily="2" charset="-122"/>
                        </a:rPr>
                        <a:t>100MHz</a:t>
                      </a:r>
                      <a:endParaRPr lang="zh-CN" altLang="en-US" sz="1400" baseline="0" dirty="0">
                        <a:latin typeface="Calibri" panose="020F0502020204030204" pitchFamily="34" charset="0"/>
                        <a:ea typeface="华文楷体" panose="02010600040101010101" pitchFamily="2" charset="-122"/>
                      </a:endParaRPr>
                    </a:p>
                  </a:txBody>
                  <a:tcPr/>
                </a:tc>
                <a:tc>
                  <a:txBody>
                    <a:bodyPr/>
                    <a:lstStyle/>
                    <a:p>
                      <a:r>
                        <a:rPr lang="en-US" altLang="zh-CN" sz="1400" baseline="0" dirty="0">
                          <a:latin typeface="Calibri" panose="020F0502020204030204" pitchFamily="34" charset="0"/>
                          <a:ea typeface="华文楷体" panose="02010600040101010101" pitchFamily="2" charset="-122"/>
                        </a:rPr>
                        <a:t>100BASE-T</a:t>
                      </a:r>
                      <a:r>
                        <a:rPr lang="zh-CN" altLang="en-US" sz="1400" baseline="0" dirty="0">
                          <a:latin typeface="Calibri" panose="020F0502020204030204" pitchFamily="34" charset="0"/>
                          <a:ea typeface="华文楷体" panose="02010600040101010101" pitchFamily="2" charset="-122"/>
                        </a:rPr>
                        <a:t>快速以太网、某些</a:t>
                      </a:r>
                      <a:r>
                        <a:rPr lang="en-US" altLang="zh-CN" sz="1400" baseline="0" dirty="0">
                          <a:latin typeface="Calibri" panose="020F0502020204030204" pitchFamily="34" charset="0"/>
                          <a:ea typeface="华文楷体" panose="02010600040101010101" pitchFamily="2" charset="-122"/>
                        </a:rPr>
                        <a:t>1000BASE-T</a:t>
                      </a:r>
                      <a:r>
                        <a:rPr lang="zh-CN" altLang="en-US" sz="1400" baseline="0" dirty="0">
                          <a:latin typeface="Calibri" panose="020F0502020204030204" pitchFamily="34" charset="0"/>
                          <a:ea typeface="华文楷体" panose="02010600040101010101" pitchFamily="2" charset="-122"/>
                        </a:rPr>
                        <a:t>吉比特以太网</a:t>
                      </a:r>
                    </a:p>
                  </a:txBody>
                  <a:tcPr/>
                </a:tc>
                <a:extLst>
                  <a:ext uri="{0D108BD9-81ED-4DB2-BD59-A6C34878D82A}">
                    <a16:rowId xmlns:a16="http://schemas.microsoft.com/office/drawing/2014/main" val="10004"/>
                  </a:ext>
                </a:extLst>
              </a:tr>
              <a:tr h="337939">
                <a:tc>
                  <a:txBody>
                    <a:bodyPr/>
                    <a:lstStyle/>
                    <a:p>
                      <a:pPr algn="ctr"/>
                      <a:r>
                        <a:rPr lang="en-US" altLang="zh-CN" sz="1400" baseline="0" dirty="0">
                          <a:latin typeface="Calibri" panose="020F0502020204030204" pitchFamily="34" charset="0"/>
                          <a:ea typeface="华文楷体" panose="02010600040101010101" pitchFamily="2" charset="-122"/>
                        </a:rPr>
                        <a:t>6</a:t>
                      </a:r>
                      <a:endParaRPr lang="zh-CN" altLang="en-US" sz="1400" baseline="0" dirty="0">
                        <a:latin typeface="Calibri" panose="020F0502020204030204" pitchFamily="34" charset="0"/>
                        <a:ea typeface="华文楷体" panose="02010600040101010101" pitchFamily="2" charset="-122"/>
                      </a:endParaRPr>
                    </a:p>
                  </a:txBody>
                  <a:tcPr/>
                </a:tc>
                <a:tc>
                  <a:txBody>
                    <a:bodyPr/>
                    <a:lstStyle/>
                    <a:p>
                      <a:pPr algn="ctr"/>
                      <a:r>
                        <a:rPr lang="en-US" altLang="zh-CN" sz="1400" baseline="0" dirty="0">
                          <a:latin typeface="Calibri" panose="020F0502020204030204" pitchFamily="34" charset="0"/>
                          <a:ea typeface="华文楷体" panose="02010600040101010101" pitchFamily="2" charset="-122"/>
                        </a:rPr>
                        <a:t>250MHz</a:t>
                      </a:r>
                      <a:endParaRPr lang="zh-CN" altLang="en-US" sz="1400" baseline="0" dirty="0">
                        <a:latin typeface="Calibri" panose="020F0502020204030204" pitchFamily="34" charset="0"/>
                        <a:ea typeface="华文楷体" panose="02010600040101010101" pitchFamily="2" charset="-122"/>
                      </a:endParaRPr>
                    </a:p>
                  </a:txBody>
                  <a:tcPr/>
                </a:tc>
                <a:tc>
                  <a:txBody>
                    <a:bodyPr/>
                    <a:lstStyle/>
                    <a:p>
                      <a:r>
                        <a:rPr lang="en-US" altLang="zh-CN" sz="1400" baseline="0" dirty="0">
                          <a:latin typeface="Calibri" panose="020F0502020204030204" pitchFamily="34" charset="0"/>
                          <a:ea typeface="华文楷体" panose="02010600040101010101" pitchFamily="2" charset="-122"/>
                        </a:rPr>
                        <a:t>1000BASE-T</a:t>
                      </a:r>
                      <a:r>
                        <a:rPr lang="zh-CN" altLang="en-US" sz="1400" baseline="0" dirty="0">
                          <a:latin typeface="Calibri" panose="020F0502020204030204" pitchFamily="34" charset="0"/>
                          <a:ea typeface="华文楷体" panose="02010600040101010101" pitchFamily="2" charset="-122"/>
                        </a:rPr>
                        <a:t>吉比特以太网、</a:t>
                      </a:r>
                      <a:r>
                        <a:rPr lang="en-US" altLang="zh-CN" sz="1400" baseline="0" dirty="0">
                          <a:latin typeface="Calibri" panose="020F0502020204030204" pitchFamily="34" charset="0"/>
                          <a:ea typeface="华文楷体" panose="02010600040101010101" pitchFamily="2" charset="-122"/>
                        </a:rPr>
                        <a:t>ATM</a:t>
                      </a:r>
                      <a:r>
                        <a:rPr lang="zh-CN" altLang="en-US" sz="1400" baseline="0" dirty="0">
                          <a:latin typeface="Calibri" panose="020F0502020204030204" pitchFamily="34" charset="0"/>
                          <a:ea typeface="华文楷体" panose="02010600040101010101" pitchFamily="2" charset="-122"/>
                        </a:rPr>
                        <a:t>网络</a:t>
                      </a:r>
                    </a:p>
                  </a:txBody>
                  <a:tcPr/>
                </a:tc>
                <a:extLst>
                  <a:ext uri="{0D108BD9-81ED-4DB2-BD59-A6C34878D82A}">
                    <a16:rowId xmlns:a16="http://schemas.microsoft.com/office/drawing/2014/main" val="10005"/>
                  </a:ext>
                </a:extLst>
              </a:tr>
              <a:tr h="337939">
                <a:tc>
                  <a:txBody>
                    <a:bodyPr/>
                    <a:lstStyle/>
                    <a:p>
                      <a:pPr algn="ctr"/>
                      <a:r>
                        <a:rPr lang="en-US" altLang="zh-CN" sz="1400" baseline="0" dirty="0">
                          <a:latin typeface="Calibri" panose="020F0502020204030204" pitchFamily="34" charset="0"/>
                          <a:ea typeface="华文楷体" panose="02010600040101010101" pitchFamily="2" charset="-122"/>
                        </a:rPr>
                        <a:t>7</a:t>
                      </a:r>
                      <a:endParaRPr lang="zh-CN" altLang="en-US" sz="1400" baseline="0" dirty="0">
                        <a:latin typeface="Calibri" panose="020F0502020204030204" pitchFamily="34" charset="0"/>
                        <a:ea typeface="华文楷体" panose="02010600040101010101" pitchFamily="2" charset="-122"/>
                      </a:endParaRPr>
                    </a:p>
                  </a:txBody>
                  <a:tcPr/>
                </a:tc>
                <a:tc>
                  <a:txBody>
                    <a:bodyPr/>
                    <a:lstStyle/>
                    <a:p>
                      <a:pPr algn="ctr"/>
                      <a:r>
                        <a:rPr lang="en-US" altLang="zh-CN" sz="1400" baseline="0" dirty="0">
                          <a:latin typeface="Calibri" panose="020F0502020204030204" pitchFamily="34" charset="0"/>
                          <a:ea typeface="华文楷体" panose="02010600040101010101" pitchFamily="2" charset="-122"/>
                        </a:rPr>
                        <a:t>600MHz</a:t>
                      </a:r>
                      <a:endParaRPr lang="zh-CN" altLang="en-US" sz="1400" baseline="0" dirty="0">
                        <a:latin typeface="Calibri" panose="020F0502020204030204" pitchFamily="34" charset="0"/>
                        <a:ea typeface="华文楷体" panose="02010600040101010101" pitchFamily="2" charset="-122"/>
                      </a:endParaRPr>
                    </a:p>
                  </a:txBody>
                  <a:tcPr/>
                </a:tc>
                <a:tc>
                  <a:txBody>
                    <a:bodyPr/>
                    <a:lstStyle/>
                    <a:p>
                      <a:r>
                        <a:rPr lang="zh-CN" altLang="en-US" sz="1400" baseline="0" dirty="0">
                          <a:latin typeface="Calibri" panose="020F0502020204030204" pitchFamily="34" charset="0"/>
                          <a:ea typeface="华文楷体" panose="02010600040101010101" pitchFamily="2" charset="-122"/>
                        </a:rPr>
                        <a:t>只使用</a:t>
                      </a:r>
                      <a:r>
                        <a:rPr lang="en-US" altLang="zh-CN" sz="1400" baseline="0" dirty="0">
                          <a:latin typeface="Calibri" panose="020F0502020204030204" pitchFamily="34" charset="0"/>
                          <a:ea typeface="华文楷体" panose="02010600040101010101" pitchFamily="2" charset="-122"/>
                        </a:rPr>
                        <a:t>STP</a:t>
                      </a:r>
                      <a:r>
                        <a:rPr lang="zh-CN" altLang="en-US" sz="1400" baseline="0" dirty="0">
                          <a:latin typeface="Calibri" panose="020F0502020204030204" pitchFamily="34" charset="0"/>
                          <a:ea typeface="华文楷体" panose="02010600040101010101" pitchFamily="2" charset="-122"/>
                        </a:rPr>
                        <a:t>，可用于</a:t>
                      </a:r>
                      <a:r>
                        <a:rPr lang="en-US" altLang="zh-CN" sz="1400" baseline="0" dirty="0">
                          <a:latin typeface="Calibri" panose="020F0502020204030204" pitchFamily="34" charset="0"/>
                          <a:ea typeface="华文楷体" panose="02010600040101010101" pitchFamily="2" charset="-122"/>
                        </a:rPr>
                        <a:t>10</a:t>
                      </a:r>
                      <a:r>
                        <a:rPr lang="zh-CN" altLang="en-US" sz="1400" baseline="0" dirty="0">
                          <a:latin typeface="Calibri" panose="020F0502020204030204" pitchFamily="34" charset="0"/>
                          <a:ea typeface="华文楷体" panose="02010600040101010101" pitchFamily="2" charset="-122"/>
                        </a:rPr>
                        <a:t>吉比特以太网</a:t>
                      </a:r>
                    </a:p>
                  </a:txBody>
                  <a:tcP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186513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left)">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left)">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up)">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导引型传输媒体</a:t>
            </a:r>
          </a:p>
        </p:txBody>
      </p:sp>
      <p:sp>
        <p:nvSpPr>
          <p:cNvPr id="3" name="内容占位符 2"/>
          <p:cNvSpPr>
            <a:spLocks noGrp="1"/>
          </p:cNvSpPr>
          <p:nvPr>
            <p:ph idx="1"/>
          </p:nvPr>
        </p:nvSpPr>
        <p:spPr>
          <a:xfrm>
            <a:off x="457200" y="1269614"/>
            <a:ext cx="8229600" cy="1774211"/>
          </a:xfrm>
        </p:spPr>
        <p:txBody>
          <a:bodyPr/>
          <a:lstStyle/>
          <a:p>
            <a:r>
              <a:rPr lang="zh-CN" altLang="en-US" dirty="0"/>
              <a:t>同轴电缆</a:t>
            </a:r>
            <a:endParaRPr lang="en-US" altLang="zh-CN" dirty="0"/>
          </a:p>
          <a:p>
            <a:pPr lvl="1">
              <a:lnSpc>
                <a:spcPct val="150000"/>
              </a:lnSpc>
            </a:pPr>
            <a:r>
              <a:rPr lang="zh-CN" altLang="en-US" sz="1800" dirty="0"/>
              <a:t>屏蔽性好，抗干扰强</a:t>
            </a:r>
          </a:p>
          <a:p>
            <a:pPr lvl="1">
              <a:lnSpc>
                <a:spcPct val="150000"/>
              </a:lnSpc>
            </a:pPr>
            <a:r>
              <a:rPr lang="zh-CN" altLang="en-US" sz="1800" dirty="0"/>
              <a:t>局域网发展初期曾广泛使用，目前主要用于有线电视网</a:t>
            </a:r>
            <a:endParaRPr lang="en-US" altLang="zh-CN" sz="18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31</a:t>
            </a:fld>
            <a:endParaRPr lang="zh-CN" altLang="en-US" dirty="0"/>
          </a:p>
        </p:txBody>
      </p:sp>
      <p:grpSp>
        <p:nvGrpSpPr>
          <p:cNvPr id="59" name="组合 58"/>
          <p:cNvGrpSpPr/>
          <p:nvPr/>
        </p:nvGrpSpPr>
        <p:grpSpPr>
          <a:xfrm>
            <a:off x="1225922" y="3475364"/>
            <a:ext cx="5012041" cy="1021476"/>
            <a:chOff x="2052638" y="4654550"/>
            <a:chExt cx="5256212" cy="1295400"/>
          </a:xfrm>
        </p:grpSpPr>
        <p:pic>
          <p:nvPicPr>
            <p:cNvPr id="49" name="Picture 31" descr="222"/>
            <p:cNvPicPr>
              <a:picLocks noChangeAspect="1" noChangeArrowheads="1"/>
            </p:cNvPicPr>
            <p:nvPr/>
          </p:nvPicPr>
          <p:blipFill>
            <a:blip r:embed="rId3" cstate="print">
              <a:extLst>
                <a:ext uri="{28A0092B-C50C-407E-A947-70E740481C1C}">
                  <a14:useLocalDpi xmlns:a14="http://schemas.microsoft.com/office/drawing/2010/main" val="0"/>
                </a:ext>
              </a:extLst>
            </a:blip>
            <a:srcRect t="37741" r="21053" b="25261"/>
            <a:stretch>
              <a:fillRect/>
            </a:stretch>
          </p:blipFill>
          <p:spPr bwMode="auto">
            <a:xfrm>
              <a:off x="2052638" y="5006976"/>
              <a:ext cx="4225925" cy="942974"/>
            </a:xfrm>
            <a:prstGeom prst="rect">
              <a:avLst/>
            </a:prstGeom>
            <a:noFill/>
            <a:extLst>
              <a:ext uri="{909E8E84-426E-40DD-AFC4-6F175D3DCCD1}">
                <a14:hiddenFill xmlns:a14="http://schemas.microsoft.com/office/drawing/2010/main">
                  <a:solidFill>
                    <a:srgbClr val="FFFFFF"/>
                  </a:solidFill>
                </a14:hiddenFill>
              </a:ext>
            </a:extLst>
          </p:spPr>
        </p:pic>
        <p:sp>
          <p:nvSpPr>
            <p:cNvPr id="50" name="Text Box 33"/>
            <p:cNvSpPr txBox="1">
              <a:spLocks noChangeArrowheads="1"/>
            </p:cNvSpPr>
            <p:nvPr/>
          </p:nvSpPr>
          <p:spPr bwMode="auto">
            <a:xfrm>
              <a:off x="4029075" y="4689475"/>
              <a:ext cx="1839913"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1400">
                  <a:solidFill>
                    <a:srgbClr val="333399"/>
                  </a:solidFill>
                  <a:latin typeface="黑体" panose="02010609060101010101" pitchFamily="49" charset="-122"/>
                  <a:ea typeface="黑体" panose="02010609060101010101" pitchFamily="49" charset="-122"/>
                </a:rPr>
                <a:t>外导体屏蔽层</a:t>
              </a:r>
            </a:p>
          </p:txBody>
        </p:sp>
        <p:sp>
          <p:nvSpPr>
            <p:cNvPr id="51" name="Text Box 34"/>
            <p:cNvSpPr txBox="1">
              <a:spLocks noChangeArrowheads="1"/>
            </p:cNvSpPr>
            <p:nvPr/>
          </p:nvSpPr>
          <p:spPr bwMode="auto">
            <a:xfrm>
              <a:off x="5984875" y="4654550"/>
              <a:ext cx="963613" cy="307777"/>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1400">
                  <a:solidFill>
                    <a:srgbClr val="333399"/>
                  </a:solidFill>
                  <a:latin typeface="黑体" panose="02010609060101010101" pitchFamily="49" charset="-122"/>
                  <a:ea typeface="黑体" panose="02010609060101010101" pitchFamily="49" charset="-122"/>
                </a:rPr>
                <a:t>绝缘层</a:t>
              </a:r>
            </a:p>
          </p:txBody>
        </p:sp>
        <p:sp>
          <p:nvSpPr>
            <p:cNvPr id="52" name="Text Box 35"/>
            <p:cNvSpPr txBox="1">
              <a:spLocks noChangeArrowheads="1"/>
            </p:cNvSpPr>
            <p:nvPr/>
          </p:nvSpPr>
          <p:spPr bwMode="auto">
            <a:xfrm>
              <a:off x="2197100" y="4687888"/>
              <a:ext cx="1911350"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1400">
                  <a:solidFill>
                    <a:srgbClr val="333399"/>
                  </a:solidFill>
                  <a:latin typeface="黑体" panose="02010609060101010101" pitchFamily="49" charset="-122"/>
                  <a:ea typeface="黑体" panose="02010609060101010101" pitchFamily="49" charset="-122"/>
                </a:rPr>
                <a:t>绝缘保护套层</a:t>
              </a:r>
            </a:p>
          </p:txBody>
        </p:sp>
        <p:sp>
          <p:nvSpPr>
            <p:cNvPr id="53" name="Rectangle 36"/>
            <p:cNvSpPr>
              <a:spLocks noChangeArrowheads="1"/>
            </p:cNvSpPr>
            <p:nvPr/>
          </p:nvSpPr>
          <p:spPr bwMode="auto">
            <a:xfrm>
              <a:off x="5908675" y="5627688"/>
              <a:ext cx="517525" cy="2762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p>
          </p:txBody>
        </p:sp>
        <p:sp>
          <p:nvSpPr>
            <p:cNvPr id="54" name="Text Box 32"/>
            <p:cNvSpPr txBox="1">
              <a:spLocks noChangeArrowheads="1"/>
            </p:cNvSpPr>
            <p:nvPr/>
          </p:nvSpPr>
          <p:spPr bwMode="auto">
            <a:xfrm>
              <a:off x="6192838" y="5302250"/>
              <a:ext cx="1116012"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1400">
                  <a:solidFill>
                    <a:srgbClr val="333399"/>
                  </a:solidFill>
                  <a:latin typeface="黑体" panose="02010609060101010101" pitchFamily="49" charset="-122"/>
                  <a:ea typeface="黑体" panose="02010609060101010101" pitchFamily="49" charset="-122"/>
                </a:rPr>
                <a:t>内导体</a:t>
              </a:r>
            </a:p>
          </p:txBody>
        </p:sp>
        <p:sp>
          <p:nvSpPr>
            <p:cNvPr id="56" name="Line 46"/>
            <p:cNvSpPr>
              <a:spLocks noChangeShapeType="1"/>
            </p:cNvSpPr>
            <p:nvPr/>
          </p:nvSpPr>
          <p:spPr bwMode="auto">
            <a:xfrm flipH="1">
              <a:off x="4689475" y="5084763"/>
              <a:ext cx="26988" cy="26193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57" name="Line 47"/>
            <p:cNvSpPr>
              <a:spLocks noChangeShapeType="1"/>
            </p:cNvSpPr>
            <p:nvPr/>
          </p:nvSpPr>
          <p:spPr bwMode="auto">
            <a:xfrm flipH="1">
              <a:off x="5380038" y="5013325"/>
              <a:ext cx="709612" cy="3762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58" name="Line 48"/>
            <p:cNvSpPr>
              <a:spLocks noChangeShapeType="1"/>
            </p:cNvSpPr>
            <p:nvPr/>
          </p:nvSpPr>
          <p:spPr bwMode="auto">
            <a:xfrm>
              <a:off x="3087688" y="5043488"/>
              <a:ext cx="22225" cy="1285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pSp>
    </p:spTree>
    <p:extLst>
      <p:ext uri="{BB962C8B-B14F-4D97-AF65-F5344CB8AC3E}">
        <p14:creationId xmlns:p14="http://schemas.microsoft.com/office/powerpoint/2010/main" val="118519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wipe(left)">
                                      <p:cBhvr>
                                        <p:cTn id="1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导引型传输媒体</a:t>
            </a:r>
          </a:p>
        </p:txBody>
      </p:sp>
      <p:sp>
        <p:nvSpPr>
          <p:cNvPr id="3" name="内容占位符 2"/>
          <p:cNvSpPr>
            <a:spLocks noGrp="1"/>
          </p:cNvSpPr>
          <p:nvPr>
            <p:ph idx="1"/>
          </p:nvPr>
        </p:nvSpPr>
        <p:spPr>
          <a:xfrm>
            <a:off x="457200" y="1269614"/>
            <a:ext cx="8229600" cy="2752239"/>
          </a:xfrm>
        </p:spPr>
        <p:txBody>
          <a:bodyPr/>
          <a:lstStyle/>
          <a:p>
            <a:r>
              <a:rPr lang="zh-CN" altLang="en-US" dirty="0"/>
              <a:t>光纤</a:t>
            </a:r>
            <a:endParaRPr lang="en-US" altLang="zh-CN" dirty="0"/>
          </a:p>
          <a:p>
            <a:pPr lvl="1"/>
            <a:r>
              <a:rPr lang="zh-CN" altLang="en-US" sz="1800" dirty="0"/>
              <a:t>通过传递光脉冲信号进行通信，有脉冲为</a:t>
            </a:r>
            <a:r>
              <a:rPr lang="en-US" altLang="zh-CN" sz="1800" dirty="0"/>
              <a:t>1</a:t>
            </a:r>
            <a:r>
              <a:rPr lang="zh-CN" altLang="en-US" sz="1800" dirty="0"/>
              <a:t>，无脉冲为</a:t>
            </a:r>
            <a:r>
              <a:rPr lang="en-US" altLang="zh-CN" sz="1800" dirty="0"/>
              <a:t>0</a:t>
            </a:r>
            <a:r>
              <a:rPr lang="zh-CN" altLang="en-US" sz="1800" dirty="0"/>
              <a:t>，光线在纤芯中传输的方式是不断地全反射</a:t>
            </a:r>
          </a:p>
          <a:p>
            <a:pPr lvl="1"/>
            <a:r>
              <a:rPr lang="zh-CN" altLang="en-US" sz="1800" dirty="0"/>
              <a:t>优点</a:t>
            </a:r>
            <a:endParaRPr lang="en-US" altLang="zh-CN" sz="1800" dirty="0"/>
          </a:p>
          <a:p>
            <a:pPr lvl="2"/>
            <a:r>
              <a:rPr lang="zh-CN" altLang="en-US" sz="1600" dirty="0"/>
              <a:t>传输损耗小，中继距离长，适合远距离传输</a:t>
            </a:r>
            <a:endParaRPr lang="en-US" altLang="zh-CN" sz="1600" dirty="0"/>
          </a:p>
          <a:p>
            <a:pPr lvl="2"/>
            <a:r>
              <a:rPr lang="zh-CN" altLang="en-US" sz="1600" dirty="0"/>
              <a:t>抗电磁干扰和抗雷电性好</a:t>
            </a:r>
            <a:endParaRPr lang="en-US" altLang="zh-CN" sz="1600" dirty="0"/>
          </a:p>
          <a:p>
            <a:pPr lvl="2"/>
            <a:r>
              <a:rPr lang="zh-CN" altLang="en-US" sz="1600" dirty="0"/>
              <a:t>无串音干扰，保密性好，不易被窃听和截取</a:t>
            </a:r>
            <a:endParaRPr lang="en-US" altLang="zh-CN" sz="1600" dirty="0"/>
          </a:p>
          <a:p>
            <a:pPr lvl="1"/>
            <a:r>
              <a:rPr lang="zh-CN" altLang="en-US" sz="1800" dirty="0"/>
              <a:t>广泛</a:t>
            </a:r>
            <a:r>
              <a:rPr lang="zh-CN" altLang="en-US" sz="1800"/>
              <a:t>应用于互联网、</a:t>
            </a:r>
            <a:r>
              <a:rPr lang="zh-CN" altLang="en-US" sz="1800" dirty="0"/>
              <a:t>电信网、有线电视网的主干网络，高速局域网</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32</a:t>
            </a:fld>
            <a:endParaRPr lang="zh-CN" altLang="en-US" dirty="0"/>
          </a:p>
        </p:txBody>
      </p:sp>
      <p:grpSp>
        <p:nvGrpSpPr>
          <p:cNvPr id="5" name="组合 4"/>
          <p:cNvGrpSpPr/>
          <p:nvPr/>
        </p:nvGrpSpPr>
        <p:grpSpPr>
          <a:xfrm>
            <a:off x="1217510" y="4344026"/>
            <a:ext cx="6708980" cy="1555733"/>
            <a:chOff x="1217510" y="4344026"/>
            <a:chExt cx="6708980" cy="1555733"/>
          </a:xfrm>
        </p:grpSpPr>
        <p:sp>
          <p:nvSpPr>
            <p:cNvPr id="44" name="Rectangle 3"/>
            <p:cNvSpPr>
              <a:spLocks noChangeArrowheads="1"/>
            </p:cNvSpPr>
            <p:nvPr/>
          </p:nvSpPr>
          <p:spPr bwMode="auto">
            <a:xfrm>
              <a:off x="3030578" y="5255416"/>
              <a:ext cx="4715319" cy="188648"/>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ndParaRPr>
            </a:p>
          </p:txBody>
        </p:sp>
        <p:sp>
          <p:nvSpPr>
            <p:cNvPr id="45" name="Rectangle 4"/>
            <p:cNvSpPr>
              <a:spLocks noChangeArrowheads="1"/>
            </p:cNvSpPr>
            <p:nvPr/>
          </p:nvSpPr>
          <p:spPr bwMode="auto">
            <a:xfrm>
              <a:off x="3030578" y="5444064"/>
              <a:ext cx="4715319" cy="265822"/>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ndParaRPr>
            </a:p>
          </p:txBody>
        </p:sp>
        <p:sp>
          <p:nvSpPr>
            <p:cNvPr id="46" name="Rectangle 5"/>
            <p:cNvSpPr>
              <a:spLocks noChangeArrowheads="1"/>
            </p:cNvSpPr>
            <p:nvPr/>
          </p:nvSpPr>
          <p:spPr bwMode="auto">
            <a:xfrm>
              <a:off x="3030578" y="5709886"/>
              <a:ext cx="4715319" cy="189873"/>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ndParaRPr>
            </a:p>
          </p:txBody>
        </p:sp>
        <p:sp>
          <p:nvSpPr>
            <p:cNvPr id="47" name="AutoShape 6"/>
            <p:cNvSpPr>
              <a:spLocks noChangeArrowheads="1"/>
            </p:cNvSpPr>
            <p:nvPr/>
          </p:nvSpPr>
          <p:spPr bwMode="auto">
            <a:xfrm rot="5400000">
              <a:off x="1869719" y="5158244"/>
              <a:ext cx="644343" cy="838687"/>
            </a:xfrm>
            <a:prstGeom prst="can">
              <a:avLst>
                <a:gd name="adj" fmla="val 26046"/>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8" name="AutoShape 7"/>
            <p:cNvSpPr>
              <a:spLocks noChangeArrowheads="1"/>
            </p:cNvSpPr>
            <p:nvPr/>
          </p:nvSpPr>
          <p:spPr bwMode="auto">
            <a:xfrm rot="5400000">
              <a:off x="2530359" y="5367303"/>
              <a:ext cx="265822" cy="419344"/>
            </a:xfrm>
            <a:prstGeom prst="can">
              <a:avLst>
                <a:gd name="adj" fmla="val 20711"/>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49" name="Group 8"/>
            <p:cNvGrpSpPr>
              <a:grpSpLocks/>
            </p:cNvGrpSpPr>
            <p:nvPr/>
          </p:nvGrpSpPr>
          <p:grpSpPr bwMode="auto">
            <a:xfrm>
              <a:off x="3030578" y="5255416"/>
              <a:ext cx="4715319" cy="644343"/>
              <a:chOff x="912" y="912"/>
              <a:chExt cx="4608" cy="816"/>
            </a:xfrm>
          </p:grpSpPr>
          <p:sp>
            <p:nvSpPr>
              <p:cNvPr id="50" name="Line 9"/>
              <p:cNvSpPr>
                <a:spLocks noChangeShapeType="1"/>
              </p:cNvSpPr>
              <p:nvPr/>
            </p:nvSpPr>
            <p:spPr bwMode="auto">
              <a:xfrm>
                <a:off x="912" y="912"/>
                <a:ext cx="460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1" name="Line 10"/>
              <p:cNvSpPr>
                <a:spLocks noChangeShapeType="1"/>
              </p:cNvSpPr>
              <p:nvPr/>
            </p:nvSpPr>
            <p:spPr bwMode="auto">
              <a:xfrm>
                <a:off x="912" y="1152"/>
                <a:ext cx="460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2" name="Line 11"/>
              <p:cNvSpPr>
                <a:spLocks noChangeShapeType="1"/>
              </p:cNvSpPr>
              <p:nvPr/>
            </p:nvSpPr>
            <p:spPr bwMode="auto">
              <a:xfrm>
                <a:off x="912" y="1488"/>
                <a:ext cx="460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3" name="Line 12"/>
              <p:cNvSpPr>
                <a:spLocks noChangeShapeType="1"/>
              </p:cNvSpPr>
              <p:nvPr/>
            </p:nvSpPr>
            <p:spPr bwMode="auto">
              <a:xfrm>
                <a:off x="912" y="1728"/>
                <a:ext cx="460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54" name="Line 13"/>
            <p:cNvSpPr>
              <a:spLocks noChangeShapeType="1"/>
            </p:cNvSpPr>
            <p:nvPr/>
          </p:nvSpPr>
          <p:spPr bwMode="auto">
            <a:xfrm>
              <a:off x="2935690" y="5575137"/>
              <a:ext cx="4990800" cy="2450"/>
            </a:xfrm>
            <a:prstGeom prst="line">
              <a:avLst/>
            </a:prstGeom>
            <a:noFill/>
            <a:ln w="19050">
              <a:solidFill>
                <a:srgbClr val="333399"/>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pPr>
              <a:endParaRPr lang="zh-CN" altLang="en-US">
                <a:solidFill>
                  <a:srgbClr val="000000"/>
                </a:solidFill>
                <a:latin typeface="Tahoma" panose="020B0604030504040204" pitchFamily="34" charset="0"/>
              </a:endParaRPr>
            </a:p>
          </p:txBody>
        </p:sp>
        <p:sp>
          <p:nvSpPr>
            <p:cNvPr id="55" name="Text Box 14"/>
            <p:cNvSpPr txBox="1">
              <a:spLocks noChangeArrowheads="1"/>
            </p:cNvSpPr>
            <p:nvPr/>
          </p:nvSpPr>
          <p:spPr bwMode="auto">
            <a:xfrm>
              <a:off x="2466358" y="4344026"/>
              <a:ext cx="969272" cy="451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1600">
                  <a:solidFill>
                    <a:srgbClr val="333399"/>
                  </a:solidFill>
                  <a:latin typeface="黑体" panose="02010609060101010101" pitchFamily="49" charset="-122"/>
                  <a:ea typeface="黑体" panose="02010609060101010101" pitchFamily="49" charset="-122"/>
                </a:rPr>
                <a:t>高折射率</a:t>
              </a:r>
            </a:p>
            <a:p>
              <a:pPr algn="ctr" fontAlgn="base">
                <a:spcBef>
                  <a:spcPct val="0"/>
                </a:spcBef>
                <a:spcAft>
                  <a:spcPct val="0"/>
                </a:spcAft>
              </a:pPr>
              <a:r>
                <a:rPr kumimoji="1" lang="en-US" altLang="zh-CN" sz="1600">
                  <a:solidFill>
                    <a:srgbClr val="333399"/>
                  </a:solidFill>
                  <a:latin typeface="黑体" panose="02010609060101010101" pitchFamily="49" charset="-122"/>
                  <a:ea typeface="黑体" panose="02010609060101010101" pitchFamily="49" charset="-122"/>
                </a:rPr>
                <a:t>(</a:t>
              </a:r>
              <a:r>
                <a:rPr kumimoji="1" lang="zh-CN" altLang="en-US" sz="1600">
                  <a:solidFill>
                    <a:srgbClr val="333399"/>
                  </a:solidFill>
                  <a:latin typeface="黑体" panose="02010609060101010101" pitchFamily="49" charset="-122"/>
                  <a:ea typeface="黑体" panose="02010609060101010101" pitchFamily="49" charset="-122"/>
                </a:rPr>
                <a:t>纤芯</a:t>
              </a:r>
              <a:r>
                <a:rPr kumimoji="1" lang="en-US" altLang="zh-CN" sz="1600">
                  <a:solidFill>
                    <a:srgbClr val="333399"/>
                  </a:solidFill>
                  <a:latin typeface="黑体" panose="02010609060101010101" pitchFamily="49" charset="-122"/>
                  <a:ea typeface="黑体" panose="02010609060101010101" pitchFamily="49" charset="-122"/>
                </a:rPr>
                <a:t>)</a:t>
              </a:r>
            </a:p>
          </p:txBody>
        </p:sp>
        <p:sp>
          <p:nvSpPr>
            <p:cNvPr id="56" name="Text Box 15"/>
            <p:cNvSpPr txBox="1">
              <a:spLocks noChangeArrowheads="1"/>
            </p:cNvSpPr>
            <p:nvPr/>
          </p:nvSpPr>
          <p:spPr bwMode="auto">
            <a:xfrm>
              <a:off x="1217510" y="4344026"/>
              <a:ext cx="969272" cy="451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1600">
                  <a:solidFill>
                    <a:srgbClr val="333399"/>
                  </a:solidFill>
                  <a:latin typeface="黑体" panose="02010609060101010101" pitchFamily="49" charset="-122"/>
                  <a:ea typeface="黑体" panose="02010609060101010101" pitchFamily="49" charset="-122"/>
                </a:rPr>
                <a:t>低折射率</a:t>
              </a:r>
            </a:p>
            <a:p>
              <a:pPr algn="ctr" fontAlgn="base">
                <a:spcBef>
                  <a:spcPct val="0"/>
                </a:spcBef>
                <a:spcAft>
                  <a:spcPct val="0"/>
                </a:spcAft>
              </a:pPr>
              <a:r>
                <a:rPr kumimoji="1" lang="en-US" altLang="zh-CN" sz="1600">
                  <a:solidFill>
                    <a:srgbClr val="333399"/>
                  </a:solidFill>
                  <a:latin typeface="黑体" panose="02010609060101010101" pitchFamily="49" charset="-122"/>
                  <a:ea typeface="黑体" panose="02010609060101010101" pitchFamily="49" charset="-122"/>
                </a:rPr>
                <a:t>(</a:t>
              </a:r>
              <a:r>
                <a:rPr kumimoji="1" lang="zh-CN" altLang="en-US" sz="1600">
                  <a:solidFill>
                    <a:srgbClr val="333399"/>
                  </a:solidFill>
                  <a:latin typeface="黑体" panose="02010609060101010101" pitchFamily="49" charset="-122"/>
                  <a:ea typeface="黑体" panose="02010609060101010101" pitchFamily="49" charset="-122"/>
                </a:rPr>
                <a:t>包层</a:t>
              </a:r>
              <a:r>
                <a:rPr kumimoji="1" lang="en-US" altLang="zh-CN" sz="1600">
                  <a:solidFill>
                    <a:srgbClr val="333399"/>
                  </a:solidFill>
                  <a:latin typeface="黑体" panose="02010609060101010101" pitchFamily="49" charset="-122"/>
                  <a:ea typeface="黑体" panose="02010609060101010101" pitchFamily="49" charset="-122"/>
                </a:rPr>
                <a:t>)</a:t>
              </a:r>
            </a:p>
          </p:txBody>
        </p:sp>
        <p:sp>
          <p:nvSpPr>
            <p:cNvPr id="57" name="Line 16"/>
            <p:cNvSpPr>
              <a:spLocks noChangeShapeType="1"/>
            </p:cNvSpPr>
            <p:nvPr/>
          </p:nvSpPr>
          <p:spPr bwMode="auto">
            <a:xfrm flipH="1">
              <a:off x="2715305" y="4898945"/>
              <a:ext cx="212732" cy="545119"/>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pPr>
              <a:endParaRPr lang="zh-CN" altLang="en-US">
                <a:solidFill>
                  <a:srgbClr val="000000"/>
                </a:solidFill>
                <a:latin typeface="Tahoma" panose="020B0604030504040204" pitchFamily="34" charset="0"/>
              </a:endParaRPr>
            </a:p>
          </p:txBody>
        </p:sp>
        <p:sp>
          <p:nvSpPr>
            <p:cNvPr id="58" name="Line 17"/>
            <p:cNvSpPr>
              <a:spLocks noChangeShapeType="1"/>
            </p:cNvSpPr>
            <p:nvPr/>
          </p:nvSpPr>
          <p:spPr bwMode="auto">
            <a:xfrm>
              <a:off x="1816930" y="4843821"/>
              <a:ext cx="374961" cy="4115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fontAlgn="base">
                <a:spcBef>
                  <a:spcPct val="0"/>
                </a:spcBef>
                <a:spcAft>
                  <a:spcPct val="0"/>
                </a:spcAft>
              </a:pPr>
              <a:endParaRPr lang="zh-CN" altLang="en-US">
                <a:solidFill>
                  <a:srgbClr val="000000"/>
                </a:solidFill>
                <a:latin typeface="Tahoma" panose="020B0604030504040204" pitchFamily="34" charset="0"/>
              </a:endParaRPr>
            </a:p>
          </p:txBody>
        </p:sp>
        <p:sp>
          <p:nvSpPr>
            <p:cNvPr id="59" name="Text Box 18"/>
            <p:cNvSpPr txBox="1">
              <a:spLocks noChangeArrowheads="1"/>
            </p:cNvSpPr>
            <p:nvPr/>
          </p:nvSpPr>
          <p:spPr bwMode="auto">
            <a:xfrm>
              <a:off x="3136179" y="4918544"/>
              <a:ext cx="3738624" cy="261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1600" dirty="0">
                  <a:solidFill>
                    <a:srgbClr val="333399"/>
                  </a:solidFill>
                  <a:latin typeface="黑体" panose="02010609060101010101" pitchFamily="49" charset="-122"/>
                  <a:ea typeface="黑体" panose="02010609060101010101" pitchFamily="49" charset="-122"/>
                </a:rPr>
                <a:t>光线在纤芯中传输的方式是不断地全反射</a:t>
              </a:r>
            </a:p>
          </p:txBody>
        </p:sp>
      </p:grpSp>
      <p:sp>
        <p:nvSpPr>
          <p:cNvPr id="60" name="Freeform 19"/>
          <p:cNvSpPr>
            <a:spLocks/>
          </p:cNvSpPr>
          <p:nvPr/>
        </p:nvSpPr>
        <p:spPr bwMode="auto">
          <a:xfrm>
            <a:off x="3056595" y="5444064"/>
            <a:ext cx="4695423" cy="265822"/>
          </a:xfrm>
          <a:custGeom>
            <a:avLst/>
            <a:gdLst>
              <a:gd name="T0" fmla="*/ 0 w 4302"/>
              <a:gd name="T1" fmla="*/ 108 h 336"/>
              <a:gd name="T2" fmla="*/ 384 w 4302"/>
              <a:gd name="T3" fmla="*/ 0 h 336"/>
              <a:gd name="T4" fmla="*/ 1560 w 4302"/>
              <a:gd name="T5" fmla="*/ 336 h 336"/>
              <a:gd name="T6" fmla="*/ 2742 w 4302"/>
              <a:gd name="T7" fmla="*/ 0 h 336"/>
              <a:gd name="T8" fmla="*/ 3918 w 4302"/>
              <a:gd name="T9" fmla="*/ 330 h 336"/>
              <a:gd name="T10" fmla="*/ 4302 w 4302"/>
              <a:gd name="T11" fmla="*/ 204 h 336"/>
            </a:gdLst>
            <a:ahLst/>
            <a:cxnLst>
              <a:cxn ang="0">
                <a:pos x="T0" y="T1"/>
              </a:cxn>
              <a:cxn ang="0">
                <a:pos x="T2" y="T3"/>
              </a:cxn>
              <a:cxn ang="0">
                <a:pos x="T4" y="T5"/>
              </a:cxn>
              <a:cxn ang="0">
                <a:pos x="T6" y="T7"/>
              </a:cxn>
              <a:cxn ang="0">
                <a:pos x="T8" y="T9"/>
              </a:cxn>
              <a:cxn ang="0">
                <a:pos x="T10" y="T11"/>
              </a:cxn>
            </a:cxnLst>
            <a:rect l="0" t="0" r="r" b="b"/>
            <a:pathLst>
              <a:path w="4302" h="336">
                <a:moveTo>
                  <a:pt x="0" y="108"/>
                </a:moveTo>
                <a:lnTo>
                  <a:pt x="384" y="0"/>
                </a:lnTo>
                <a:lnTo>
                  <a:pt x="1560" y="336"/>
                </a:lnTo>
                <a:lnTo>
                  <a:pt x="2742" y="0"/>
                </a:lnTo>
                <a:lnTo>
                  <a:pt x="3918" y="330"/>
                </a:lnTo>
                <a:lnTo>
                  <a:pt x="4302" y="204"/>
                </a:lnTo>
              </a:path>
            </a:pathLst>
          </a:custGeom>
          <a:noFill/>
          <a:ln w="57150" cmpd="sng">
            <a:solidFill>
              <a:srgbClr val="FF0000"/>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000000"/>
              </a:solidFill>
              <a:effectLst/>
              <a:uLnTx/>
              <a:uFillTx/>
              <a:latin typeface="Tahoma" panose="020B0604030504040204" pitchFamily="34" charset="0"/>
            </a:endParaRPr>
          </a:p>
        </p:txBody>
      </p:sp>
    </p:spTree>
    <p:custDataLst>
      <p:tags r:id="rId1"/>
    </p:custDataLst>
    <p:extLst>
      <p:ext uri="{BB962C8B-B14F-4D97-AF65-F5344CB8AC3E}">
        <p14:creationId xmlns:p14="http://schemas.microsoft.com/office/powerpoint/2010/main" val="388839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wipe(left)">
                                      <p:cBhvr>
                                        <p:cTn id="19" dur="1000"/>
                                        <p:tgtEl>
                                          <p:spTgt spid="60"/>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dissolve">
                                      <p:cBhvr>
                                        <p:cTn id="24" dur="500"/>
                                        <p:tgtEl>
                                          <p:spTgt spid="3">
                                            <p:txEl>
                                              <p:pRg st="2" end="2"/>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dissolve">
                                      <p:cBhvr>
                                        <p:cTn id="27" dur="500"/>
                                        <p:tgtEl>
                                          <p:spTgt spid="3">
                                            <p:txEl>
                                              <p:pRg st="3" end="3"/>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ssolve">
                                      <p:cBhvr>
                                        <p:cTn id="30" dur="500"/>
                                        <p:tgtEl>
                                          <p:spTgt spid="3">
                                            <p:txEl>
                                              <p:pRg st="4" end="4"/>
                                            </p:txEl>
                                          </p:spTgt>
                                        </p:tgtEl>
                                      </p:cBhvr>
                                    </p:animEffect>
                                  </p:childTnLst>
                                </p:cTn>
                              </p:par>
                              <p:par>
                                <p:cTn id="31" presetID="9" presetClass="entr" presetSubtype="0"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dissolv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dissolve">
                                      <p:cBhvr>
                                        <p:cTn id="3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596542" y="2927233"/>
            <a:ext cx="6349202" cy="1137643"/>
            <a:chOff x="1596542" y="2644899"/>
            <a:chExt cx="6349202" cy="1137643"/>
          </a:xfrm>
        </p:grpSpPr>
        <p:grpSp>
          <p:nvGrpSpPr>
            <p:cNvPr id="70" name="Group 33"/>
            <p:cNvGrpSpPr>
              <a:grpSpLocks/>
            </p:cNvGrpSpPr>
            <p:nvPr/>
          </p:nvGrpSpPr>
          <p:grpSpPr bwMode="auto">
            <a:xfrm>
              <a:off x="1718533" y="2644899"/>
              <a:ext cx="6127916" cy="1137643"/>
              <a:chOff x="912" y="912"/>
              <a:chExt cx="4608" cy="816"/>
            </a:xfrm>
          </p:grpSpPr>
          <p:sp>
            <p:nvSpPr>
              <p:cNvPr id="71" name="Line 34"/>
              <p:cNvSpPr>
                <a:spLocks noChangeShapeType="1"/>
              </p:cNvSpPr>
              <p:nvPr/>
            </p:nvSpPr>
            <p:spPr bwMode="auto">
              <a:xfrm>
                <a:off x="912" y="91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72" name="Line 35"/>
              <p:cNvSpPr>
                <a:spLocks noChangeShapeType="1"/>
              </p:cNvSpPr>
              <p:nvPr/>
            </p:nvSpPr>
            <p:spPr bwMode="auto">
              <a:xfrm>
                <a:off x="912" y="115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73" name="Line 36"/>
              <p:cNvSpPr>
                <a:spLocks noChangeShapeType="1"/>
              </p:cNvSpPr>
              <p:nvPr/>
            </p:nvSpPr>
            <p:spPr bwMode="auto">
              <a:xfrm>
                <a:off x="912" y="148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74" name="Line 37"/>
              <p:cNvSpPr>
                <a:spLocks noChangeShapeType="1"/>
              </p:cNvSpPr>
              <p:nvPr/>
            </p:nvSpPr>
            <p:spPr bwMode="auto">
              <a:xfrm>
                <a:off x="912" y="172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grpSp>
        <p:grpSp>
          <p:nvGrpSpPr>
            <p:cNvPr id="12" name="组合 11"/>
            <p:cNvGrpSpPr/>
            <p:nvPr/>
          </p:nvGrpSpPr>
          <p:grpSpPr>
            <a:xfrm>
              <a:off x="1596542" y="2646293"/>
              <a:ext cx="6349202" cy="1136249"/>
              <a:chOff x="1596542" y="2646293"/>
              <a:chExt cx="6349202" cy="1136249"/>
            </a:xfrm>
          </p:grpSpPr>
          <p:sp>
            <p:nvSpPr>
              <p:cNvPr id="75" name="Line 38"/>
              <p:cNvSpPr>
                <a:spLocks noChangeShapeType="1"/>
              </p:cNvSpPr>
              <p:nvPr/>
            </p:nvSpPr>
            <p:spPr bwMode="auto">
              <a:xfrm>
                <a:off x="1596542" y="3209537"/>
                <a:ext cx="6349202" cy="4183"/>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p>
            </p:txBody>
          </p:sp>
          <p:sp>
            <p:nvSpPr>
              <p:cNvPr id="68" name="Rectangle 31"/>
              <p:cNvSpPr>
                <a:spLocks noChangeArrowheads="1"/>
              </p:cNvSpPr>
              <p:nvPr/>
            </p:nvSpPr>
            <p:spPr bwMode="auto">
              <a:xfrm>
                <a:off x="1704348" y="2646293"/>
                <a:ext cx="6127916" cy="334601"/>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华文楷体" panose="02010600040101010101" pitchFamily="2" charset="-122"/>
                  <a:ea typeface="华文楷体" panose="02010600040101010101" pitchFamily="2" charset="-122"/>
                </a:endParaRPr>
              </a:p>
            </p:txBody>
          </p:sp>
          <p:sp>
            <p:nvSpPr>
              <p:cNvPr id="69" name="Rectangle 32"/>
              <p:cNvSpPr>
                <a:spLocks noChangeArrowheads="1"/>
              </p:cNvSpPr>
              <p:nvPr/>
            </p:nvSpPr>
            <p:spPr bwMode="auto">
              <a:xfrm>
                <a:off x="1718533" y="3447941"/>
                <a:ext cx="6127916" cy="334601"/>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华文楷体" panose="02010600040101010101" pitchFamily="2" charset="-122"/>
                  <a:ea typeface="华文楷体" panose="02010600040101010101" pitchFamily="2" charset="-122"/>
                </a:endParaRPr>
              </a:p>
            </p:txBody>
          </p:sp>
        </p:grpSp>
      </p:grpSp>
      <p:sp>
        <p:nvSpPr>
          <p:cNvPr id="2" name="标题 1"/>
          <p:cNvSpPr>
            <a:spLocks noGrp="1"/>
          </p:cNvSpPr>
          <p:nvPr>
            <p:ph type="title"/>
          </p:nvPr>
        </p:nvSpPr>
        <p:spPr/>
        <p:txBody>
          <a:bodyPr/>
          <a:lstStyle/>
          <a:p>
            <a:r>
              <a:rPr lang="zh-CN" altLang="en-US" dirty="0"/>
              <a:t>导引型传输媒体</a:t>
            </a:r>
          </a:p>
        </p:txBody>
      </p:sp>
      <p:sp>
        <p:nvSpPr>
          <p:cNvPr id="3" name="内容占位符 2"/>
          <p:cNvSpPr>
            <a:spLocks noGrp="1"/>
          </p:cNvSpPr>
          <p:nvPr>
            <p:ph idx="1"/>
          </p:nvPr>
        </p:nvSpPr>
        <p:spPr>
          <a:xfrm>
            <a:off x="457200" y="1269615"/>
            <a:ext cx="8229600" cy="1610584"/>
          </a:xfrm>
        </p:spPr>
        <p:txBody>
          <a:bodyPr/>
          <a:lstStyle/>
          <a:p>
            <a:r>
              <a:rPr lang="zh-CN" altLang="en-US" dirty="0"/>
              <a:t>光纤</a:t>
            </a:r>
            <a:endParaRPr lang="en-US" altLang="zh-CN" dirty="0"/>
          </a:p>
          <a:p>
            <a:pPr lvl="1"/>
            <a:r>
              <a:rPr lang="zh-CN" altLang="en-US" dirty="0"/>
              <a:t>多模光纤</a:t>
            </a:r>
            <a:endParaRPr lang="en-US" altLang="zh-CN" dirty="0"/>
          </a:p>
          <a:p>
            <a:pPr lvl="2"/>
            <a:r>
              <a:rPr lang="zh-CN" altLang="en-US" sz="1600" dirty="0"/>
              <a:t>可能存在多条不同入射角的光线在一条光纤中传输</a:t>
            </a:r>
            <a:endParaRPr lang="en-US" altLang="zh-CN" sz="1600" dirty="0"/>
          </a:p>
          <a:p>
            <a:pPr lvl="2"/>
            <a:r>
              <a:rPr lang="zh-CN" altLang="en-US" sz="1600" dirty="0"/>
              <a:t>光脉冲传输时会逐渐展宽，失真</a:t>
            </a:r>
            <a:endParaRPr lang="en-US" altLang="zh-CN" sz="1600"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33</a:t>
            </a:fld>
            <a:endParaRPr lang="zh-CN" altLang="en-US" dirty="0"/>
          </a:p>
        </p:txBody>
      </p:sp>
      <p:grpSp>
        <p:nvGrpSpPr>
          <p:cNvPr id="24" name="Group 3"/>
          <p:cNvGrpSpPr>
            <a:grpSpLocks/>
          </p:cNvGrpSpPr>
          <p:nvPr/>
        </p:nvGrpSpPr>
        <p:grpSpPr bwMode="auto">
          <a:xfrm>
            <a:off x="1557177" y="5417692"/>
            <a:ext cx="6351369" cy="808441"/>
            <a:chOff x="682" y="3072"/>
            <a:chExt cx="4476" cy="528"/>
          </a:xfrm>
        </p:grpSpPr>
        <p:sp>
          <p:nvSpPr>
            <p:cNvPr id="41" name="Rectangle 4"/>
            <p:cNvSpPr>
              <a:spLocks noChangeArrowheads="1"/>
            </p:cNvSpPr>
            <p:nvPr/>
          </p:nvSpPr>
          <p:spPr bwMode="auto">
            <a:xfrm>
              <a:off x="768" y="3168"/>
              <a:ext cx="4320" cy="336"/>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华文楷体" panose="02010600040101010101" pitchFamily="2" charset="-122"/>
                <a:ea typeface="华文楷体" panose="02010600040101010101" pitchFamily="2" charset="-122"/>
              </a:endParaRPr>
            </a:p>
          </p:txBody>
        </p:sp>
        <p:grpSp>
          <p:nvGrpSpPr>
            <p:cNvPr id="42" name="Group 5"/>
            <p:cNvGrpSpPr>
              <a:grpSpLocks/>
            </p:cNvGrpSpPr>
            <p:nvPr/>
          </p:nvGrpSpPr>
          <p:grpSpPr bwMode="auto">
            <a:xfrm>
              <a:off x="682" y="3072"/>
              <a:ext cx="4476" cy="528"/>
              <a:chOff x="682" y="3072"/>
              <a:chExt cx="4476" cy="528"/>
            </a:xfrm>
          </p:grpSpPr>
          <p:sp>
            <p:nvSpPr>
              <p:cNvPr id="43" name="Rectangle 6"/>
              <p:cNvSpPr>
                <a:spLocks noChangeArrowheads="1"/>
              </p:cNvSpPr>
              <p:nvPr/>
            </p:nvSpPr>
            <p:spPr bwMode="auto">
              <a:xfrm>
                <a:off x="768" y="3072"/>
                <a:ext cx="4320" cy="240"/>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华文楷体" panose="02010600040101010101" pitchFamily="2" charset="-122"/>
                  <a:ea typeface="华文楷体" panose="02010600040101010101" pitchFamily="2" charset="-122"/>
                </a:endParaRPr>
              </a:p>
            </p:txBody>
          </p:sp>
          <p:sp>
            <p:nvSpPr>
              <p:cNvPr id="61" name="Rectangle 7"/>
              <p:cNvSpPr>
                <a:spLocks noChangeArrowheads="1"/>
              </p:cNvSpPr>
              <p:nvPr/>
            </p:nvSpPr>
            <p:spPr bwMode="auto">
              <a:xfrm>
                <a:off x="768" y="3360"/>
                <a:ext cx="4320" cy="240"/>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华文楷体" panose="02010600040101010101" pitchFamily="2" charset="-122"/>
                  <a:ea typeface="华文楷体" panose="02010600040101010101" pitchFamily="2" charset="-122"/>
                </a:endParaRPr>
              </a:p>
            </p:txBody>
          </p:sp>
          <p:sp>
            <p:nvSpPr>
              <p:cNvPr id="62" name="Line 8"/>
              <p:cNvSpPr>
                <a:spLocks noChangeShapeType="1"/>
              </p:cNvSpPr>
              <p:nvPr/>
            </p:nvSpPr>
            <p:spPr bwMode="auto">
              <a:xfrm>
                <a:off x="768" y="3072"/>
                <a:ext cx="4320"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63" name="Line 9"/>
              <p:cNvSpPr>
                <a:spLocks noChangeShapeType="1"/>
              </p:cNvSpPr>
              <p:nvPr/>
            </p:nvSpPr>
            <p:spPr bwMode="auto">
              <a:xfrm>
                <a:off x="768" y="3312"/>
                <a:ext cx="4320"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64" name="Line 10"/>
              <p:cNvSpPr>
                <a:spLocks noChangeShapeType="1"/>
              </p:cNvSpPr>
              <p:nvPr/>
            </p:nvSpPr>
            <p:spPr bwMode="auto">
              <a:xfrm>
                <a:off x="768" y="3360"/>
                <a:ext cx="4320"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65" name="Line 11"/>
              <p:cNvSpPr>
                <a:spLocks noChangeShapeType="1"/>
              </p:cNvSpPr>
              <p:nvPr/>
            </p:nvSpPr>
            <p:spPr bwMode="auto">
              <a:xfrm>
                <a:off x="768" y="3600"/>
                <a:ext cx="4320"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66" name="Line 12"/>
              <p:cNvSpPr>
                <a:spLocks noChangeShapeType="1"/>
              </p:cNvSpPr>
              <p:nvPr/>
            </p:nvSpPr>
            <p:spPr bwMode="auto">
              <a:xfrm>
                <a:off x="682" y="3333"/>
                <a:ext cx="4476" cy="3"/>
              </a:xfrm>
              <a:prstGeom prst="line">
                <a:avLst/>
              </a:prstGeom>
              <a:noFill/>
              <a:ln w="9525">
                <a:solidFill>
                  <a:schemeClr val="tx1"/>
                </a:solidFill>
                <a:prstDash val="lgDash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grpSp>
      </p:grpSp>
      <p:grpSp>
        <p:nvGrpSpPr>
          <p:cNvPr id="27" name="Group 14"/>
          <p:cNvGrpSpPr>
            <a:grpSpLocks/>
          </p:cNvGrpSpPr>
          <p:nvPr/>
        </p:nvGrpSpPr>
        <p:grpSpPr bwMode="auto">
          <a:xfrm>
            <a:off x="657542" y="4930790"/>
            <a:ext cx="1006059" cy="1252471"/>
            <a:chOff x="48" y="2930"/>
            <a:chExt cx="709" cy="818"/>
          </a:xfrm>
        </p:grpSpPr>
        <p:grpSp>
          <p:nvGrpSpPr>
            <p:cNvPr id="35" name="Group 15"/>
            <p:cNvGrpSpPr>
              <a:grpSpLocks/>
            </p:cNvGrpSpPr>
            <p:nvPr/>
          </p:nvGrpSpPr>
          <p:grpSpPr bwMode="auto">
            <a:xfrm>
              <a:off x="158" y="3220"/>
              <a:ext cx="480" cy="528"/>
              <a:chOff x="240" y="2448"/>
              <a:chExt cx="480" cy="528"/>
            </a:xfrm>
          </p:grpSpPr>
          <p:grpSp>
            <p:nvGrpSpPr>
              <p:cNvPr id="37" name="Group 16"/>
              <p:cNvGrpSpPr>
                <a:grpSpLocks/>
              </p:cNvGrpSpPr>
              <p:nvPr/>
            </p:nvGrpSpPr>
            <p:grpSpPr bwMode="auto">
              <a:xfrm>
                <a:off x="240" y="2448"/>
                <a:ext cx="480" cy="528"/>
                <a:chOff x="240" y="2448"/>
                <a:chExt cx="672" cy="672"/>
              </a:xfrm>
            </p:grpSpPr>
            <p:sp>
              <p:nvSpPr>
                <p:cNvPr id="39" name="Rectangle 17"/>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华文楷体" panose="02010600040101010101" pitchFamily="2" charset="-122"/>
                    <a:ea typeface="华文楷体" panose="02010600040101010101" pitchFamily="2" charset="-122"/>
                  </a:endParaRPr>
                </a:p>
              </p:txBody>
            </p:sp>
            <p:sp>
              <p:nvSpPr>
                <p:cNvPr id="40" name="Line 18"/>
                <p:cNvSpPr>
                  <a:spLocks noChangeShapeType="1"/>
                </p:cNvSpPr>
                <p:nvPr/>
              </p:nvSpPr>
              <p:spPr bwMode="auto">
                <a:xfrm>
                  <a:off x="576" y="2448"/>
                  <a:ext cx="0" cy="672"/>
                </a:xfrm>
                <a:prstGeom prst="line">
                  <a:avLst/>
                </a:prstGeom>
                <a:noFill/>
                <a:ln w="63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grpSp>
          <p:sp>
            <p:nvSpPr>
              <p:cNvPr id="38" name="Freeform 19"/>
              <p:cNvSpPr>
                <a:spLocks/>
              </p:cNvSpPr>
              <p:nvPr/>
            </p:nvSpPr>
            <p:spPr bwMode="auto">
              <a:xfrm>
                <a:off x="240" y="2450"/>
                <a:ext cx="480" cy="526"/>
              </a:xfrm>
              <a:custGeom>
                <a:avLst/>
                <a:gdLst>
                  <a:gd name="T0" fmla="*/ 0 w 672"/>
                  <a:gd name="T1" fmla="*/ 670 h 670"/>
                  <a:gd name="T2" fmla="*/ 126 w 672"/>
                  <a:gd name="T3" fmla="*/ 637 h 670"/>
                  <a:gd name="T4" fmla="*/ 192 w 672"/>
                  <a:gd name="T5" fmla="*/ 526 h 670"/>
                  <a:gd name="T6" fmla="*/ 240 w 672"/>
                  <a:gd name="T7" fmla="*/ 334 h 670"/>
                  <a:gd name="T8" fmla="*/ 279 w 672"/>
                  <a:gd name="T9" fmla="*/ 139 h 670"/>
                  <a:gd name="T10" fmla="*/ 303 w 672"/>
                  <a:gd name="T11" fmla="*/ 40 h 670"/>
                  <a:gd name="T12" fmla="*/ 339 w 672"/>
                  <a:gd name="T13" fmla="*/ 1 h 670"/>
                  <a:gd name="T14" fmla="*/ 369 w 672"/>
                  <a:gd name="T15" fmla="*/ 34 h 670"/>
                  <a:gd name="T16" fmla="*/ 396 w 672"/>
                  <a:gd name="T17" fmla="*/ 136 h 670"/>
                  <a:gd name="T18" fmla="*/ 432 w 672"/>
                  <a:gd name="T19" fmla="*/ 337 h 670"/>
                  <a:gd name="T20" fmla="*/ 456 w 672"/>
                  <a:gd name="T21" fmla="*/ 457 h 670"/>
                  <a:gd name="T22" fmla="*/ 504 w 672"/>
                  <a:gd name="T23" fmla="*/ 595 h 670"/>
                  <a:gd name="T24" fmla="*/ 573 w 672"/>
                  <a:gd name="T25" fmla="*/ 643 h 670"/>
                  <a:gd name="T26" fmla="*/ 612 w 672"/>
                  <a:gd name="T27" fmla="*/ 655 h 670"/>
                  <a:gd name="T28" fmla="*/ 672 w 672"/>
                  <a:gd name="T2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grpSp>
        <p:sp>
          <p:nvSpPr>
            <p:cNvPr id="36" name="Text Box 20"/>
            <p:cNvSpPr txBox="1">
              <a:spLocks noChangeArrowheads="1"/>
            </p:cNvSpPr>
            <p:nvPr/>
          </p:nvSpPr>
          <p:spPr bwMode="auto">
            <a:xfrm>
              <a:off x="48" y="2930"/>
              <a:ext cx="709"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a:solidFill>
                    <a:srgbClr val="333399"/>
                  </a:solidFill>
                  <a:latin typeface="华文楷体" panose="02010600040101010101" pitchFamily="2" charset="-122"/>
                  <a:ea typeface="华文楷体" panose="02010600040101010101" pitchFamily="2" charset="-122"/>
                </a:rPr>
                <a:t>输入脉冲</a:t>
              </a:r>
            </a:p>
          </p:txBody>
        </p:sp>
      </p:grpSp>
      <p:grpSp>
        <p:nvGrpSpPr>
          <p:cNvPr id="28" name="Group 21"/>
          <p:cNvGrpSpPr>
            <a:grpSpLocks/>
          </p:cNvGrpSpPr>
          <p:nvPr/>
        </p:nvGrpSpPr>
        <p:grpSpPr bwMode="auto">
          <a:xfrm>
            <a:off x="7701375" y="4956819"/>
            <a:ext cx="1006059" cy="1226442"/>
            <a:chOff x="5012" y="2947"/>
            <a:chExt cx="709" cy="801"/>
          </a:xfrm>
        </p:grpSpPr>
        <p:sp>
          <p:nvSpPr>
            <p:cNvPr id="29" name="Text Box 22"/>
            <p:cNvSpPr txBox="1">
              <a:spLocks noChangeArrowheads="1"/>
            </p:cNvSpPr>
            <p:nvPr/>
          </p:nvSpPr>
          <p:spPr bwMode="auto">
            <a:xfrm>
              <a:off x="5012" y="2947"/>
              <a:ext cx="709"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a:solidFill>
                    <a:srgbClr val="333399"/>
                  </a:solidFill>
                  <a:latin typeface="华文楷体" panose="02010600040101010101" pitchFamily="2" charset="-122"/>
                  <a:ea typeface="华文楷体" panose="02010600040101010101" pitchFamily="2" charset="-122"/>
                </a:rPr>
                <a:t>输出脉冲</a:t>
              </a:r>
            </a:p>
          </p:txBody>
        </p:sp>
        <p:grpSp>
          <p:nvGrpSpPr>
            <p:cNvPr id="30" name="Group 23"/>
            <p:cNvGrpSpPr>
              <a:grpSpLocks/>
            </p:cNvGrpSpPr>
            <p:nvPr/>
          </p:nvGrpSpPr>
          <p:grpSpPr bwMode="auto">
            <a:xfrm>
              <a:off x="5148" y="3220"/>
              <a:ext cx="480" cy="528"/>
              <a:chOff x="240" y="2448"/>
              <a:chExt cx="480" cy="528"/>
            </a:xfrm>
          </p:grpSpPr>
          <p:grpSp>
            <p:nvGrpSpPr>
              <p:cNvPr id="31" name="Group 24"/>
              <p:cNvGrpSpPr>
                <a:grpSpLocks/>
              </p:cNvGrpSpPr>
              <p:nvPr/>
            </p:nvGrpSpPr>
            <p:grpSpPr bwMode="auto">
              <a:xfrm>
                <a:off x="240" y="2448"/>
                <a:ext cx="480" cy="528"/>
                <a:chOff x="240" y="2448"/>
                <a:chExt cx="672" cy="672"/>
              </a:xfrm>
            </p:grpSpPr>
            <p:sp>
              <p:nvSpPr>
                <p:cNvPr id="33" name="Rectangle 25"/>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华文楷体" panose="02010600040101010101" pitchFamily="2" charset="-122"/>
                    <a:ea typeface="华文楷体" panose="02010600040101010101" pitchFamily="2" charset="-122"/>
                  </a:endParaRPr>
                </a:p>
              </p:txBody>
            </p:sp>
            <p:sp>
              <p:nvSpPr>
                <p:cNvPr id="34" name="Line 26"/>
                <p:cNvSpPr>
                  <a:spLocks noChangeShapeType="1"/>
                </p:cNvSpPr>
                <p:nvPr/>
              </p:nvSpPr>
              <p:spPr bwMode="auto">
                <a:xfrm>
                  <a:off x="576" y="2448"/>
                  <a:ext cx="0" cy="672"/>
                </a:xfrm>
                <a:prstGeom prst="line">
                  <a:avLst/>
                </a:prstGeom>
                <a:noFill/>
                <a:ln w="63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grpSp>
          <p:sp>
            <p:nvSpPr>
              <p:cNvPr id="32" name="Freeform 27"/>
              <p:cNvSpPr>
                <a:spLocks/>
              </p:cNvSpPr>
              <p:nvPr/>
            </p:nvSpPr>
            <p:spPr bwMode="auto">
              <a:xfrm>
                <a:off x="240" y="2450"/>
                <a:ext cx="480" cy="526"/>
              </a:xfrm>
              <a:custGeom>
                <a:avLst/>
                <a:gdLst>
                  <a:gd name="T0" fmla="*/ 0 w 672"/>
                  <a:gd name="T1" fmla="*/ 670 h 670"/>
                  <a:gd name="T2" fmla="*/ 126 w 672"/>
                  <a:gd name="T3" fmla="*/ 637 h 670"/>
                  <a:gd name="T4" fmla="*/ 192 w 672"/>
                  <a:gd name="T5" fmla="*/ 526 h 670"/>
                  <a:gd name="T6" fmla="*/ 240 w 672"/>
                  <a:gd name="T7" fmla="*/ 334 h 670"/>
                  <a:gd name="T8" fmla="*/ 279 w 672"/>
                  <a:gd name="T9" fmla="*/ 139 h 670"/>
                  <a:gd name="T10" fmla="*/ 303 w 672"/>
                  <a:gd name="T11" fmla="*/ 40 h 670"/>
                  <a:gd name="T12" fmla="*/ 339 w 672"/>
                  <a:gd name="T13" fmla="*/ 1 h 670"/>
                  <a:gd name="T14" fmla="*/ 369 w 672"/>
                  <a:gd name="T15" fmla="*/ 34 h 670"/>
                  <a:gd name="T16" fmla="*/ 396 w 672"/>
                  <a:gd name="T17" fmla="*/ 136 h 670"/>
                  <a:gd name="T18" fmla="*/ 432 w 672"/>
                  <a:gd name="T19" fmla="*/ 337 h 670"/>
                  <a:gd name="T20" fmla="*/ 456 w 672"/>
                  <a:gd name="T21" fmla="*/ 457 h 670"/>
                  <a:gd name="T22" fmla="*/ 504 w 672"/>
                  <a:gd name="T23" fmla="*/ 595 h 670"/>
                  <a:gd name="T24" fmla="*/ 573 w 672"/>
                  <a:gd name="T25" fmla="*/ 643 h 670"/>
                  <a:gd name="T26" fmla="*/ 612 w 672"/>
                  <a:gd name="T27" fmla="*/ 655 h 670"/>
                  <a:gd name="T28" fmla="*/ 672 w 672"/>
                  <a:gd name="T2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grpSp>
      </p:grpSp>
      <p:sp>
        <p:nvSpPr>
          <p:cNvPr id="87" name="Line 50"/>
          <p:cNvSpPr>
            <a:spLocks noChangeShapeType="1"/>
          </p:cNvSpPr>
          <p:nvPr/>
        </p:nvSpPr>
        <p:spPr bwMode="auto">
          <a:xfrm flipV="1">
            <a:off x="1682094" y="5823186"/>
            <a:ext cx="6213728" cy="10718"/>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67" name="Freeform 30"/>
          <p:cNvSpPr>
            <a:spLocks/>
          </p:cNvSpPr>
          <p:nvPr/>
        </p:nvSpPr>
        <p:spPr bwMode="auto">
          <a:xfrm>
            <a:off x="1800806" y="3285681"/>
            <a:ext cx="6042806" cy="468441"/>
          </a:xfrm>
          <a:custGeom>
            <a:avLst/>
            <a:gdLst>
              <a:gd name="T0" fmla="*/ 0 w 4260"/>
              <a:gd name="T1" fmla="*/ 150 h 336"/>
              <a:gd name="T2" fmla="*/ 666 w 4260"/>
              <a:gd name="T3" fmla="*/ 0 h 336"/>
              <a:gd name="T4" fmla="*/ 2310 w 4260"/>
              <a:gd name="T5" fmla="*/ 336 h 336"/>
              <a:gd name="T6" fmla="*/ 3936 w 4260"/>
              <a:gd name="T7" fmla="*/ 0 h 336"/>
              <a:gd name="T8" fmla="*/ 4260 w 4260"/>
              <a:gd name="T9" fmla="*/ 72 h 336"/>
            </a:gdLst>
            <a:ahLst/>
            <a:cxnLst>
              <a:cxn ang="0">
                <a:pos x="T0" y="T1"/>
              </a:cxn>
              <a:cxn ang="0">
                <a:pos x="T2" y="T3"/>
              </a:cxn>
              <a:cxn ang="0">
                <a:pos x="T4" y="T5"/>
              </a:cxn>
              <a:cxn ang="0">
                <a:pos x="T6" y="T7"/>
              </a:cxn>
              <a:cxn ang="0">
                <a:pos x="T8" y="T9"/>
              </a:cxn>
            </a:cxnLst>
            <a:rect l="0" t="0" r="r" b="b"/>
            <a:pathLst>
              <a:path w="4260" h="336">
                <a:moveTo>
                  <a:pt x="0" y="150"/>
                </a:moveTo>
                <a:lnTo>
                  <a:pt x="666" y="0"/>
                </a:lnTo>
                <a:lnTo>
                  <a:pt x="2310" y="336"/>
                </a:lnTo>
                <a:lnTo>
                  <a:pt x="3936" y="0"/>
                </a:lnTo>
                <a:lnTo>
                  <a:pt x="4260" y="72"/>
                </a:lnTo>
              </a:path>
            </a:pathLst>
          </a:custGeom>
          <a:noFill/>
          <a:ln w="38100" cmpd="sng">
            <a:solidFill>
              <a:srgbClr val="339933"/>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华文楷体" panose="02010600040101010101" pitchFamily="2" charset="-122"/>
              <a:ea typeface="华文楷体" panose="02010600040101010101" pitchFamily="2" charset="-122"/>
            </a:endParaRPr>
          </a:p>
        </p:txBody>
      </p:sp>
      <p:grpSp>
        <p:nvGrpSpPr>
          <p:cNvPr id="77" name="Group 40"/>
          <p:cNvGrpSpPr>
            <a:grpSpLocks/>
          </p:cNvGrpSpPr>
          <p:nvPr/>
        </p:nvGrpSpPr>
        <p:grpSpPr bwMode="auto">
          <a:xfrm>
            <a:off x="697214" y="2733958"/>
            <a:ext cx="1005716" cy="1140431"/>
            <a:chOff x="38" y="1288"/>
            <a:chExt cx="709" cy="818"/>
          </a:xfrm>
        </p:grpSpPr>
        <p:sp>
          <p:nvSpPr>
            <p:cNvPr id="83" name="Rectangle 41"/>
            <p:cNvSpPr>
              <a:spLocks noChangeArrowheads="1"/>
            </p:cNvSpPr>
            <p:nvPr/>
          </p:nvSpPr>
          <p:spPr bwMode="auto">
            <a:xfrm>
              <a:off x="177" y="1578"/>
              <a:ext cx="480" cy="528"/>
            </a:xfrm>
            <a:prstGeom prst="rect">
              <a:avLst/>
            </a:prstGeom>
            <a:solidFill>
              <a:srgbClr val="FFFF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华文楷体" panose="02010600040101010101" pitchFamily="2" charset="-122"/>
                <a:ea typeface="华文楷体" panose="02010600040101010101" pitchFamily="2" charset="-122"/>
              </a:endParaRPr>
            </a:p>
          </p:txBody>
        </p:sp>
        <p:sp>
          <p:nvSpPr>
            <p:cNvPr id="84" name="Line 42"/>
            <p:cNvSpPr>
              <a:spLocks noChangeShapeType="1"/>
            </p:cNvSpPr>
            <p:nvPr/>
          </p:nvSpPr>
          <p:spPr bwMode="auto">
            <a:xfrm>
              <a:off x="417" y="1578"/>
              <a:ext cx="0" cy="528"/>
            </a:xfrm>
            <a:prstGeom prst="line">
              <a:avLst/>
            </a:prstGeom>
            <a:noFill/>
            <a:ln w="63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85" name="Freeform 43"/>
            <p:cNvSpPr>
              <a:spLocks/>
            </p:cNvSpPr>
            <p:nvPr/>
          </p:nvSpPr>
          <p:spPr bwMode="auto">
            <a:xfrm>
              <a:off x="177" y="1580"/>
              <a:ext cx="480" cy="526"/>
            </a:xfrm>
            <a:custGeom>
              <a:avLst/>
              <a:gdLst>
                <a:gd name="T0" fmla="*/ 0 w 672"/>
                <a:gd name="T1" fmla="*/ 670 h 670"/>
                <a:gd name="T2" fmla="*/ 126 w 672"/>
                <a:gd name="T3" fmla="*/ 637 h 670"/>
                <a:gd name="T4" fmla="*/ 192 w 672"/>
                <a:gd name="T5" fmla="*/ 526 h 670"/>
                <a:gd name="T6" fmla="*/ 240 w 672"/>
                <a:gd name="T7" fmla="*/ 334 h 670"/>
                <a:gd name="T8" fmla="*/ 279 w 672"/>
                <a:gd name="T9" fmla="*/ 139 h 670"/>
                <a:gd name="T10" fmla="*/ 303 w 672"/>
                <a:gd name="T11" fmla="*/ 40 h 670"/>
                <a:gd name="T12" fmla="*/ 339 w 672"/>
                <a:gd name="T13" fmla="*/ 1 h 670"/>
                <a:gd name="T14" fmla="*/ 369 w 672"/>
                <a:gd name="T15" fmla="*/ 34 h 670"/>
                <a:gd name="T16" fmla="*/ 396 w 672"/>
                <a:gd name="T17" fmla="*/ 136 h 670"/>
                <a:gd name="T18" fmla="*/ 432 w 672"/>
                <a:gd name="T19" fmla="*/ 337 h 670"/>
                <a:gd name="T20" fmla="*/ 456 w 672"/>
                <a:gd name="T21" fmla="*/ 457 h 670"/>
                <a:gd name="T22" fmla="*/ 504 w 672"/>
                <a:gd name="T23" fmla="*/ 595 h 670"/>
                <a:gd name="T24" fmla="*/ 573 w 672"/>
                <a:gd name="T25" fmla="*/ 643 h 670"/>
                <a:gd name="T26" fmla="*/ 612 w 672"/>
                <a:gd name="T27" fmla="*/ 655 h 670"/>
                <a:gd name="T28" fmla="*/ 672 w 672"/>
                <a:gd name="T2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86" name="Text Box 44"/>
            <p:cNvSpPr txBox="1">
              <a:spLocks noChangeArrowheads="1"/>
            </p:cNvSpPr>
            <p:nvPr/>
          </p:nvSpPr>
          <p:spPr bwMode="auto">
            <a:xfrm>
              <a:off x="38" y="1288"/>
              <a:ext cx="709"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a:solidFill>
                    <a:srgbClr val="333399"/>
                  </a:solidFill>
                  <a:latin typeface="华文楷体" panose="02010600040101010101" pitchFamily="2" charset="-122"/>
                  <a:ea typeface="华文楷体" panose="02010600040101010101" pitchFamily="2" charset="-122"/>
                </a:rPr>
                <a:t>输入脉冲</a:t>
              </a:r>
            </a:p>
          </p:txBody>
        </p:sp>
      </p:grpSp>
      <p:grpSp>
        <p:nvGrpSpPr>
          <p:cNvPr id="78" name="Group 45"/>
          <p:cNvGrpSpPr>
            <a:grpSpLocks/>
          </p:cNvGrpSpPr>
          <p:nvPr/>
        </p:nvGrpSpPr>
        <p:grpSpPr bwMode="auto">
          <a:xfrm>
            <a:off x="7752829" y="2757659"/>
            <a:ext cx="1005716" cy="1116730"/>
            <a:chOff x="5012" y="1305"/>
            <a:chExt cx="709" cy="801"/>
          </a:xfrm>
        </p:grpSpPr>
        <p:sp>
          <p:nvSpPr>
            <p:cNvPr id="79" name="Rectangle 46"/>
            <p:cNvSpPr>
              <a:spLocks noChangeArrowheads="1"/>
            </p:cNvSpPr>
            <p:nvPr/>
          </p:nvSpPr>
          <p:spPr bwMode="auto">
            <a:xfrm>
              <a:off x="5110" y="1578"/>
              <a:ext cx="476" cy="528"/>
            </a:xfrm>
            <a:prstGeom prst="rect">
              <a:avLst/>
            </a:prstGeom>
            <a:solidFill>
              <a:srgbClr val="FFFF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华文楷体" panose="02010600040101010101" pitchFamily="2" charset="-122"/>
                <a:ea typeface="华文楷体" panose="02010600040101010101" pitchFamily="2" charset="-122"/>
              </a:endParaRPr>
            </a:p>
          </p:txBody>
        </p:sp>
        <p:sp>
          <p:nvSpPr>
            <p:cNvPr id="80" name="Line 47"/>
            <p:cNvSpPr>
              <a:spLocks noChangeShapeType="1"/>
            </p:cNvSpPr>
            <p:nvPr/>
          </p:nvSpPr>
          <p:spPr bwMode="auto">
            <a:xfrm>
              <a:off x="5348" y="1578"/>
              <a:ext cx="0" cy="528"/>
            </a:xfrm>
            <a:prstGeom prst="line">
              <a:avLst/>
            </a:prstGeom>
            <a:noFill/>
            <a:ln w="63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81" name="Freeform 48"/>
            <p:cNvSpPr>
              <a:spLocks/>
            </p:cNvSpPr>
            <p:nvPr/>
          </p:nvSpPr>
          <p:spPr bwMode="auto">
            <a:xfrm>
              <a:off x="5108" y="1726"/>
              <a:ext cx="480" cy="222"/>
            </a:xfrm>
            <a:custGeom>
              <a:avLst/>
              <a:gdLst>
                <a:gd name="T0" fmla="*/ 0 w 678"/>
                <a:gd name="T1" fmla="*/ 280 h 283"/>
                <a:gd name="T2" fmla="*/ 87 w 678"/>
                <a:gd name="T3" fmla="*/ 244 h 283"/>
                <a:gd name="T4" fmla="*/ 150 w 678"/>
                <a:gd name="T5" fmla="*/ 193 h 283"/>
                <a:gd name="T6" fmla="*/ 201 w 678"/>
                <a:gd name="T7" fmla="*/ 130 h 283"/>
                <a:gd name="T8" fmla="*/ 258 w 678"/>
                <a:gd name="T9" fmla="*/ 43 h 283"/>
                <a:gd name="T10" fmla="*/ 339 w 678"/>
                <a:gd name="T11" fmla="*/ 1 h 283"/>
                <a:gd name="T12" fmla="*/ 426 w 678"/>
                <a:gd name="T13" fmla="*/ 37 h 283"/>
                <a:gd name="T14" fmla="*/ 492 w 678"/>
                <a:gd name="T15" fmla="*/ 139 h 283"/>
                <a:gd name="T16" fmla="*/ 528 w 678"/>
                <a:gd name="T17" fmla="*/ 190 h 283"/>
                <a:gd name="T18" fmla="*/ 591 w 678"/>
                <a:gd name="T19" fmla="*/ 238 h 283"/>
                <a:gd name="T20" fmla="*/ 678 w 678"/>
                <a:gd name="T21" fmla="*/ 283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78" h="283">
                  <a:moveTo>
                    <a:pt x="0" y="280"/>
                  </a:moveTo>
                  <a:cubicBezTo>
                    <a:pt x="14" y="274"/>
                    <a:pt x="62" y="258"/>
                    <a:pt x="87" y="244"/>
                  </a:cubicBezTo>
                  <a:cubicBezTo>
                    <a:pt x="112" y="230"/>
                    <a:pt x="131" y="212"/>
                    <a:pt x="150" y="193"/>
                  </a:cubicBezTo>
                  <a:cubicBezTo>
                    <a:pt x="169" y="174"/>
                    <a:pt x="183" y="155"/>
                    <a:pt x="201" y="130"/>
                  </a:cubicBezTo>
                  <a:cubicBezTo>
                    <a:pt x="219" y="105"/>
                    <a:pt x="235" y="64"/>
                    <a:pt x="258" y="43"/>
                  </a:cubicBezTo>
                  <a:cubicBezTo>
                    <a:pt x="281" y="22"/>
                    <a:pt x="311" y="2"/>
                    <a:pt x="339" y="1"/>
                  </a:cubicBezTo>
                  <a:cubicBezTo>
                    <a:pt x="367" y="0"/>
                    <a:pt x="401" y="14"/>
                    <a:pt x="426" y="37"/>
                  </a:cubicBezTo>
                  <a:cubicBezTo>
                    <a:pt x="451" y="60"/>
                    <a:pt x="475" y="113"/>
                    <a:pt x="492" y="139"/>
                  </a:cubicBezTo>
                  <a:cubicBezTo>
                    <a:pt x="509" y="165"/>
                    <a:pt x="512" y="174"/>
                    <a:pt x="528" y="190"/>
                  </a:cubicBezTo>
                  <a:cubicBezTo>
                    <a:pt x="544" y="206"/>
                    <a:pt x="566" y="222"/>
                    <a:pt x="591" y="238"/>
                  </a:cubicBezTo>
                  <a:cubicBezTo>
                    <a:pt x="616" y="254"/>
                    <a:pt x="660" y="274"/>
                    <a:pt x="678" y="283"/>
                  </a:cubicBez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latin typeface="华文楷体" panose="02010600040101010101" pitchFamily="2" charset="-122"/>
                <a:ea typeface="华文楷体" panose="02010600040101010101" pitchFamily="2" charset="-122"/>
              </a:endParaRPr>
            </a:p>
          </p:txBody>
        </p:sp>
        <p:sp>
          <p:nvSpPr>
            <p:cNvPr id="82" name="Text Box 49"/>
            <p:cNvSpPr txBox="1">
              <a:spLocks noChangeArrowheads="1"/>
            </p:cNvSpPr>
            <p:nvPr/>
          </p:nvSpPr>
          <p:spPr bwMode="auto">
            <a:xfrm>
              <a:off x="5012" y="1305"/>
              <a:ext cx="709"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a:solidFill>
                    <a:srgbClr val="333399"/>
                  </a:solidFill>
                  <a:latin typeface="华文楷体" panose="02010600040101010101" pitchFamily="2" charset="-122"/>
                  <a:ea typeface="华文楷体" panose="02010600040101010101" pitchFamily="2" charset="-122"/>
                </a:rPr>
                <a:t>输出脉冲</a:t>
              </a:r>
            </a:p>
          </p:txBody>
        </p:sp>
      </p:grpSp>
      <p:sp>
        <p:nvSpPr>
          <p:cNvPr id="88" name="Freeform 51"/>
          <p:cNvSpPr>
            <a:spLocks/>
          </p:cNvSpPr>
          <p:nvPr/>
        </p:nvSpPr>
        <p:spPr bwMode="auto">
          <a:xfrm>
            <a:off x="1704348" y="3265133"/>
            <a:ext cx="6122242" cy="460076"/>
          </a:xfrm>
          <a:custGeom>
            <a:avLst/>
            <a:gdLst>
              <a:gd name="T0" fmla="*/ 0 w 4316"/>
              <a:gd name="T1" fmla="*/ 128 h 330"/>
              <a:gd name="T2" fmla="*/ 434 w 4316"/>
              <a:gd name="T3" fmla="*/ 0 h 330"/>
              <a:gd name="T4" fmla="*/ 1586 w 4316"/>
              <a:gd name="T5" fmla="*/ 330 h 330"/>
              <a:gd name="T6" fmla="*/ 2738 w 4316"/>
              <a:gd name="T7" fmla="*/ 0 h 330"/>
              <a:gd name="T8" fmla="*/ 3944 w 4316"/>
              <a:gd name="T9" fmla="*/ 330 h 330"/>
              <a:gd name="T10" fmla="*/ 4316 w 4316"/>
              <a:gd name="T11" fmla="*/ 204 h 330"/>
            </a:gdLst>
            <a:ahLst/>
            <a:cxnLst>
              <a:cxn ang="0">
                <a:pos x="T0" y="T1"/>
              </a:cxn>
              <a:cxn ang="0">
                <a:pos x="T2" y="T3"/>
              </a:cxn>
              <a:cxn ang="0">
                <a:pos x="T4" y="T5"/>
              </a:cxn>
              <a:cxn ang="0">
                <a:pos x="T6" y="T7"/>
              </a:cxn>
              <a:cxn ang="0">
                <a:pos x="T8" y="T9"/>
              </a:cxn>
              <a:cxn ang="0">
                <a:pos x="T10" y="T11"/>
              </a:cxn>
            </a:cxnLst>
            <a:rect l="0" t="0" r="r" b="b"/>
            <a:pathLst>
              <a:path w="4316" h="330">
                <a:moveTo>
                  <a:pt x="0" y="128"/>
                </a:moveTo>
                <a:lnTo>
                  <a:pt x="434" y="0"/>
                </a:lnTo>
                <a:lnTo>
                  <a:pt x="1586" y="330"/>
                </a:lnTo>
                <a:lnTo>
                  <a:pt x="2738" y="0"/>
                </a:lnTo>
                <a:lnTo>
                  <a:pt x="3944" y="330"/>
                </a:lnTo>
                <a:lnTo>
                  <a:pt x="4316" y="204"/>
                </a:lnTo>
              </a:path>
            </a:pathLst>
          </a:custGeom>
          <a:noFill/>
          <a:ln w="38100" cmpd="sng">
            <a:solidFill>
              <a:srgbClr val="339933"/>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90" name="内容占位符 2"/>
          <p:cNvSpPr txBox="1">
            <a:spLocks/>
          </p:cNvSpPr>
          <p:nvPr/>
        </p:nvSpPr>
        <p:spPr bwMode="auto">
          <a:xfrm>
            <a:off x="455490" y="4305033"/>
            <a:ext cx="8229600" cy="81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891" indent="-342891" algn="l" rtl="0" eaLnBrk="1" fontAlgn="base" hangingPunct="1">
              <a:lnSpc>
                <a:spcPct val="150000"/>
              </a:lnSpc>
              <a:spcBef>
                <a:spcPct val="20000"/>
              </a:spcBef>
              <a:spcAft>
                <a:spcPct val="0"/>
              </a:spcAft>
              <a:buClr>
                <a:schemeClr val="bg2"/>
              </a:buClr>
              <a:buSzPct val="75000"/>
              <a:buFont typeface="Wingdings" panose="05000000000000000000" pitchFamily="2" charset="2"/>
              <a:buChar char="n"/>
              <a:defRPr sz="2400" b="0" baseline="0">
                <a:solidFill>
                  <a:schemeClr val="tx1"/>
                </a:solidFill>
                <a:latin typeface="Calibri" panose="020F0502020204030204" pitchFamily="34" charset="0"/>
                <a:ea typeface="黑体" panose="02010609060101010101" pitchFamily="49" charset="-122"/>
                <a:cs typeface="+mn-cs"/>
              </a:defRPr>
            </a:lvl1pPr>
            <a:lvl2pPr marL="742932" indent="-285744" algn="l" rtl="0" eaLnBrk="1" fontAlgn="base" hangingPunct="1">
              <a:spcBef>
                <a:spcPct val="20000"/>
              </a:spcBef>
              <a:spcAft>
                <a:spcPct val="0"/>
              </a:spcAft>
              <a:buClr>
                <a:schemeClr val="accent2"/>
              </a:buClr>
              <a:buSzPct val="80000"/>
              <a:buFont typeface="Wingdings" panose="05000000000000000000" pitchFamily="2" charset="2"/>
              <a:buChar char="¨"/>
              <a:defRPr sz="2000" b="0" baseline="0">
                <a:solidFill>
                  <a:schemeClr val="tx1"/>
                </a:solidFill>
                <a:latin typeface="Calibri" panose="020F0502020204030204" pitchFamily="34" charset="0"/>
                <a:ea typeface="黑体" panose="02010609060101010101" pitchFamily="49" charset="-122"/>
              </a:defRPr>
            </a:lvl2pPr>
            <a:lvl3pPr marL="1142971" indent="-228594" algn="l" rtl="0" eaLnBrk="1" fontAlgn="base" hangingPunct="1">
              <a:spcBef>
                <a:spcPct val="20000"/>
              </a:spcBef>
              <a:spcAft>
                <a:spcPct val="0"/>
              </a:spcAft>
              <a:buClr>
                <a:schemeClr val="bg2"/>
              </a:buClr>
              <a:buSzPct val="65000"/>
              <a:buFont typeface="Wingdings" panose="05000000000000000000" pitchFamily="2" charset="2"/>
              <a:buChar char="n"/>
              <a:defRPr sz="1800" b="0" baseline="0">
                <a:solidFill>
                  <a:schemeClr val="tx1"/>
                </a:solidFill>
                <a:latin typeface="Calibri" panose="020F0502020204030204" pitchFamily="34" charset="0"/>
                <a:ea typeface="黑体" panose="02010609060101010101" pitchFamily="49" charset="-122"/>
              </a:defRPr>
            </a:lvl3pPr>
            <a:lvl4pPr marL="1600160" indent="-228594" algn="l" rtl="0" eaLnBrk="1" fontAlgn="base" hangingPunct="1">
              <a:spcBef>
                <a:spcPct val="20000"/>
              </a:spcBef>
              <a:spcAft>
                <a:spcPct val="0"/>
              </a:spcAft>
              <a:buClr>
                <a:schemeClr val="accent2"/>
              </a:buClr>
              <a:buSzPct val="70000"/>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4pPr>
            <a:lvl5pPr marL="2057349" indent="-228594" algn="l" rtl="0" eaLnBrk="1" fontAlgn="base" hangingPunct="1">
              <a:spcBef>
                <a:spcPct val="20000"/>
              </a:spcBef>
              <a:spcAft>
                <a:spcPct val="0"/>
              </a:spcAft>
              <a:buClr>
                <a:schemeClr val="bg2"/>
              </a:buClr>
              <a:buFont typeface="Wingdings" panose="05000000000000000000" pitchFamily="2" charset="2"/>
              <a:buChar char="§"/>
              <a:defRPr sz="1600" b="0" baseline="0">
                <a:solidFill>
                  <a:schemeClr val="tx1"/>
                </a:solidFill>
                <a:latin typeface="Calibri" panose="020F0502020204030204" pitchFamily="34" charset="0"/>
                <a:ea typeface="黑体" panose="02010609060101010101" pitchFamily="49" charset="-122"/>
              </a:defRPr>
            </a:lvl5pPr>
            <a:lvl6pPr marL="2514537"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726"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8914"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103" indent="-228594"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lvl="1"/>
            <a:r>
              <a:rPr lang="zh-CN" altLang="en-US" kern="0" dirty="0"/>
              <a:t>单模光纤</a:t>
            </a:r>
            <a:endParaRPr lang="en-US" altLang="zh-CN" kern="0" dirty="0"/>
          </a:p>
          <a:p>
            <a:pPr lvl="2"/>
            <a:r>
              <a:rPr lang="zh-CN" altLang="en-US" sz="1600" kern="0" dirty="0"/>
              <a:t>直径减小到只有一个光的波长，使得光线直线传播，不反射</a:t>
            </a:r>
            <a:endParaRPr lang="en-US" altLang="zh-CN" sz="1600" kern="0" dirty="0"/>
          </a:p>
        </p:txBody>
      </p:sp>
    </p:spTree>
    <p:custDataLst>
      <p:tags r:id="rId1"/>
    </p:custDataLst>
    <p:extLst>
      <p:ext uri="{BB962C8B-B14F-4D97-AF65-F5344CB8AC3E}">
        <p14:creationId xmlns:p14="http://schemas.microsoft.com/office/powerpoint/2010/main" val="8956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90"/>
                                        </p:tgtEl>
                                        <p:attrNameLst>
                                          <p:attrName>style.visibility</p:attrName>
                                        </p:attrNameLst>
                                      </p:cBhvr>
                                      <p:to>
                                        <p:strVal val="visible"/>
                                      </p:to>
                                    </p:set>
                                    <p:animEffect transition="in" filter="dissolve">
                                      <p:cBhvr>
                                        <p:cTn id="13" dur="500"/>
                                        <p:tgtEl>
                                          <p:spTgt spid="90"/>
                                        </p:tgtEl>
                                      </p:cBhvr>
                                    </p:animEffect>
                                  </p:child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par>
                                <p:cTn id="18" presetID="9" presetClass="entr" presetSubtype="0"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dissolve">
                                      <p:cBhvr>
                                        <p:cTn id="20" dur="500"/>
                                        <p:tgtEl>
                                          <p:spTgt spid="24"/>
                                        </p:tgtEl>
                                      </p:cBhvr>
                                    </p:animEffect>
                                  </p:childTnLst>
                                </p:cTn>
                              </p:par>
                              <p:par>
                                <p:cTn id="21" presetID="9"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dissolve">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77"/>
                                        </p:tgtEl>
                                        <p:attrNameLst>
                                          <p:attrName>style.visibility</p:attrName>
                                        </p:attrNameLst>
                                      </p:cBhvr>
                                      <p:to>
                                        <p:strVal val="visible"/>
                                      </p:to>
                                    </p:set>
                                    <p:animEffect transition="in" filter="dissolve">
                                      <p:cBhvr>
                                        <p:cTn id="28" dur="500"/>
                                        <p:tgtEl>
                                          <p:spTgt spid="7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dissolve">
                                      <p:cBhvr>
                                        <p:cTn id="31" dur="500"/>
                                        <p:tgtEl>
                                          <p:spTgt spid="3">
                                            <p:txEl>
                                              <p:pRg st="2" end="2"/>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dissolve">
                                      <p:cBhvr>
                                        <p:cTn id="34" dur="500"/>
                                        <p:tgtEl>
                                          <p:spTgt spid="3">
                                            <p:txEl>
                                              <p:pRg st="3" end="3"/>
                                            </p:txEl>
                                          </p:spTgt>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88"/>
                                        </p:tgtEl>
                                        <p:attrNameLst>
                                          <p:attrName>style.visibility</p:attrName>
                                        </p:attrNameLst>
                                      </p:cBhvr>
                                      <p:to>
                                        <p:strVal val="visible"/>
                                      </p:to>
                                    </p:set>
                                    <p:animEffect transition="in" filter="wipe(left)">
                                      <p:cBhvr>
                                        <p:cTn id="38" dur="500"/>
                                        <p:tgtEl>
                                          <p:spTgt spid="88"/>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67"/>
                                        </p:tgtEl>
                                        <p:attrNameLst>
                                          <p:attrName>style.visibility</p:attrName>
                                        </p:attrNameLst>
                                      </p:cBhvr>
                                      <p:to>
                                        <p:strVal val="visible"/>
                                      </p:to>
                                    </p:set>
                                    <p:animEffect transition="in" filter="wipe(left)">
                                      <p:cBhvr>
                                        <p:cTn id="41" dur="500"/>
                                        <p:tgtEl>
                                          <p:spTgt spid="67"/>
                                        </p:tgtEl>
                                      </p:cBhvr>
                                    </p:animEffect>
                                  </p:childTnLst>
                                </p:cTn>
                              </p:par>
                            </p:childTnLst>
                          </p:cTn>
                        </p:par>
                        <p:par>
                          <p:cTn id="42" fill="hold">
                            <p:stCondLst>
                              <p:cond delay="1000"/>
                            </p:stCondLst>
                            <p:childTnLst>
                              <p:par>
                                <p:cTn id="43" presetID="9" presetClass="entr" presetSubtype="0" fill="hold" nodeType="afterEffect">
                                  <p:stCondLst>
                                    <p:cond delay="0"/>
                                  </p:stCondLst>
                                  <p:childTnLst>
                                    <p:set>
                                      <p:cBhvr>
                                        <p:cTn id="44" dur="1" fill="hold">
                                          <p:stCondLst>
                                            <p:cond delay="0"/>
                                          </p:stCondLst>
                                        </p:cTn>
                                        <p:tgtEl>
                                          <p:spTgt spid="78"/>
                                        </p:tgtEl>
                                        <p:attrNameLst>
                                          <p:attrName>style.visibility</p:attrName>
                                        </p:attrNameLst>
                                      </p:cBhvr>
                                      <p:to>
                                        <p:strVal val="visible"/>
                                      </p:to>
                                    </p:set>
                                    <p:animEffect transition="in" filter="dissolve">
                                      <p:cBhvr>
                                        <p:cTn id="45" dur="500"/>
                                        <p:tgtEl>
                                          <p:spTgt spid="7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dissolve">
                                      <p:cBhvr>
                                        <p:cTn id="50" dur="500"/>
                                        <p:tgtEl>
                                          <p:spTgt spid="27"/>
                                        </p:tgtEl>
                                      </p:cBhvr>
                                    </p:animEffect>
                                  </p:childTnLst>
                                </p:cTn>
                              </p:par>
                              <p:par>
                                <p:cTn id="51" presetID="9" presetClass="entr" presetSubtype="0" fill="hold" nodeType="withEffect">
                                  <p:stCondLst>
                                    <p:cond delay="0"/>
                                  </p:stCondLst>
                                  <p:childTnLst>
                                    <p:set>
                                      <p:cBhvr>
                                        <p:cTn id="52" dur="1" fill="hold">
                                          <p:stCondLst>
                                            <p:cond delay="0"/>
                                          </p:stCondLst>
                                        </p:cTn>
                                        <p:tgtEl>
                                          <p:spTgt spid="90">
                                            <p:txEl>
                                              <p:pRg st="1" end="1"/>
                                            </p:txEl>
                                          </p:spTgt>
                                        </p:tgtEl>
                                        <p:attrNameLst>
                                          <p:attrName>style.visibility</p:attrName>
                                        </p:attrNameLst>
                                      </p:cBhvr>
                                      <p:to>
                                        <p:strVal val="visible"/>
                                      </p:to>
                                    </p:set>
                                    <p:animEffect transition="in" filter="dissolve">
                                      <p:cBhvr>
                                        <p:cTn id="53" dur="500"/>
                                        <p:tgtEl>
                                          <p:spTgt spid="90">
                                            <p:txEl>
                                              <p:pRg st="1" end="1"/>
                                            </p:txEl>
                                          </p:spTgt>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87"/>
                                        </p:tgtEl>
                                        <p:attrNameLst>
                                          <p:attrName>style.visibility</p:attrName>
                                        </p:attrNameLst>
                                      </p:cBhvr>
                                      <p:to>
                                        <p:strVal val="visible"/>
                                      </p:to>
                                    </p:set>
                                    <p:animEffect transition="in" filter="wipe(left)">
                                      <p:cBhvr>
                                        <p:cTn id="57" dur="2000"/>
                                        <p:tgtEl>
                                          <p:spTgt spid="87"/>
                                        </p:tgtEl>
                                      </p:cBhvr>
                                    </p:animEffect>
                                  </p:childTnLst>
                                </p:cTn>
                              </p:par>
                            </p:childTnLst>
                          </p:cTn>
                        </p:par>
                        <p:par>
                          <p:cTn id="58" fill="hold">
                            <p:stCondLst>
                              <p:cond delay="2500"/>
                            </p:stCondLst>
                            <p:childTnLst>
                              <p:par>
                                <p:cTn id="59" presetID="9" presetClass="entr" presetSubtype="0" fill="hold" nodeType="after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dissolve">
                                      <p:cBhvr>
                                        <p:cTn id="6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7" grpId="0" animBg="1"/>
      <p:bldP spid="88" grpId="0" animBg="1"/>
      <p:bldP spid="9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非导引型传输媒体</a:t>
            </a:r>
          </a:p>
        </p:txBody>
      </p:sp>
      <p:sp>
        <p:nvSpPr>
          <p:cNvPr id="3" name="内容占位符 2"/>
          <p:cNvSpPr>
            <a:spLocks noGrp="1"/>
          </p:cNvSpPr>
          <p:nvPr>
            <p:ph idx="1"/>
          </p:nvPr>
        </p:nvSpPr>
        <p:spPr/>
        <p:txBody>
          <a:bodyPr/>
          <a:lstStyle/>
          <a:p>
            <a:r>
              <a:rPr lang="zh-CN" altLang="en-US" dirty="0"/>
              <a:t>无线介质</a:t>
            </a:r>
            <a:endParaRPr lang="en-US" altLang="zh-CN" dirty="0"/>
          </a:p>
          <a:p>
            <a:pPr lvl="1"/>
            <a:r>
              <a:rPr lang="zh-CN" altLang="en-US" dirty="0"/>
              <a:t>发送和接收都通过天线实现的</a:t>
            </a:r>
            <a:endParaRPr lang="en-US" altLang="zh-CN" dirty="0"/>
          </a:p>
          <a:p>
            <a:pPr lvl="1"/>
            <a:r>
              <a:rPr lang="zh-CN" altLang="en-US" dirty="0"/>
              <a:t>发送时，天线将电磁能量发射到介质中（通常是空气）</a:t>
            </a:r>
            <a:endParaRPr lang="en-US" altLang="zh-CN" dirty="0"/>
          </a:p>
          <a:p>
            <a:pPr lvl="1"/>
            <a:r>
              <a:rPr lang="zh-CN" altLang="en-US" dirty="0"/>
              <a:t>接收时，天线从周围的介质中获得电磁波</a:t>
            </a:r>
            <a:endParaRPr lang="en-US" altLang="zh-CN" dirty="0"/>
          </a:p>
          <a:p>
            <a:r>
              <a:rPr lang="zh-CN" altLang="en-US" dirty="0"/>
              <a:t>无线传输两种基本类型</a:t>
            </a:r>
            <a:endParaRPr lang="en-US" altLang="zh-CN" dirty="0"/>
          </a:p>
          <a:p>
            <a:pPr lvl="1"/>
            <a:r>
              <a:rPr lang="zh-CN" altLang="en-US" dirty="0"/>
              <a:t>定向：发送天线将电磁波聚集成波束发射出去，因此，发送和接收前天线必须仔细校准</a:t>
            </a:r>
            <a:endParaRPr lang="en-US" altLang="zh-CN" dirty="0"/>
          </a:p>
          <a:p>
            <a:pPr lvl="1"/>
            <a:r>
              <a:rPr lang="zh-CN" altLang="en-US" dirty="0"/>
              <a:t>全向：发送信号沿所有方向传播，并能够被多数天线接收到</a:t>
            </a:r>
            <a:endParaRPr lang="en-US" altLang="zh-CN"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34</a:t>
            </a:fld>
            <a:endParaRPr lang="zh-CN" altLang="en-US" dirty="0"/>
          </a:p>
        </p:txBody>
      </p:sp>
    </p:spTree>
    <p:custDataLst>
      <p:tags r:id="rId1"/>
    </p:custDataLst>
    <p:extLst>
      <p:ext uri="{BB962C8B-B14F-4D97-AF65-F5344CB8AC3E}">
        <p14:creationId xmlns:p14="http://schemas.microsoft.com/office/powerpoint/2010/main" val="128587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dissolve">
                                      <p:cBhvr>
                                        <p:cTn id="21" dur="500"/>
                                        <p:tgtEl>
                                          <p:spTgt spid="3">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dissolve">
                                      <p:cBhvr>
                                        <p:cTn id="24" dur="500"/>
                                        <p:tgtEl>
                                          <p:spTgt spid="3">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非导引型传输媒体</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35</a:t>
            </a:fld>
            <a:endParaRPr lang="zh-CN" altLang="en-US" dirty="0"/>
          </a:p>
        </p:txBody>
      </p:sp>
      <p:pic>
        <p:nvPicPr>
          <p:cNvPr id="4097" name="Picture 1"/>
          <p:cNvPicPr>
            <a:picLocks noChangeAspect="1" noChangeArrowheads="1"/>
          </p:cNvPicPr>
          <p:nvPr/>
        </p:nvPicPr>
        <p:blipFill>
          <a:blip r:embed="rId3" cstate="print"/>
          <a:srcRect/>
          <a:stretch>
            <a:fillRect/>
          </a:stretch>
        </p:blipFill>
        <p:spPr bwMode="auto">
          <a:xfrm>
            <a:off x="433388" y="1221819"/>
            <a:ext cx="8277225" cy="4683035"/>
          </a:xfrm>
          <a:prstGeom prst="rect">
            <a:avLst/>
          </a:prstGeom>
          <a:noFill/>
          <a:ln w="9525">
            <a:noFill/>
            <a:miter lim="800000"/>
            <a:headEnd/>
            <a:tailEnd/>
          </a:ln>
        </p:spPr>
      </p:pic>
      <p:sp>
        <p:nvSpPr>
          <p:cNvPr id="7" name="TextBox 6"/>
          <p:cNvSpPr txBox="1"/>
          <p:nvPr/>
        </p:nvSpPr>
        <p:spPr>
          <a:xfrm>
            <a:off x="5230678" y="4435872"/>
            <a:ext cx="3122909" cy="369332"/>
          </a:xfrm>
          <a:prstGeom prst="rect">
            <a:avLst/>
          </a:prstGeom>
          <a:noFill/>
        </p:spPr>
        <p:txBody>
          <a:bodyPr wrap="square" rtlCol="0">
            <a:spAutoFit/>
          </a:bodyPr>
          <a:lstStyle/>
          <a:p>
            <a:r>
              <a:rPr lang="zh-CN" altLang="en-US" dirty="0">
                <a:solidFill>
                  <a:srgbClr val="FF0000"/>
                </a:solidFill>
              </a:rPr>
              <a:t>夜视仪、遥控器、测距仪等</a:t>
            </a:r>
          </a:p>
        </p:txBody>
      </p:sp>
      <p:pic>
        <p:nvPicPr>
          <p:cNvPr id="3" name="图片 2"/>
          <p:cNvPicPr>
            <a:picLocks noChangeAspect="1"/>
          </p:cNvPicPr>
          <p:nvPr/>
        </p:nvPicPr>
        <p:blipFill>
          <a:blip r:embed="rId4"/>
          <a:stretch>
            <a:fillRect/>
          </a:stretch>
        </p:blipFill>
        <p:spPr>
          <a:xfrm>
            <a:off x="945397" y="4923964"/>
            <a:ext cx="7338447" cy="1842190"/>
          </a:xfrm>
          <a:prstGeom prst="rect">
            <a:avLst/>
          </a:prstGeom>
        </p:spPr>
      </p:pic>
    </p:spTree>
    <p:extLst>
      <p:ext uri="{BB962C8B-B14F-4D97-AF65-F5344CB8AC3E}">
        <p14:creationId xmlns:p14="http://schemas.microsoft.com/office/powerpoint/2010/main" val="2726468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非导引型传输媒体</a:t>
            </a:r>
          </a:p>
        </p:txBody>
      </p:sp>
      <p:sp>
        <p:nvSpPr>
          <p:cNvPr id="3" name="内容占位符 2"/>
          <p:cNvSpPr>
            <a:spLocks noGrp="1"/>
          </p:cNvSpPr>
          <p:nvPr>
            <p:ph idx="1"/>
          </p:nvPr>
        </p:nvSpPr>
        <p:spPr>
          <a:xfrm>
            <a:off x="457200" y="1444978"/>
            <a:ext cx="8229600" cy="1811789"/>
          </a:xfrm>
        </p:spPr>
        <p:txBody>
          <a:bodyPr/>
          <a:lstStyle/>
          <a:p>
            <a:r>
              <a:rPr lang="zh-CN" altLang="en-US" dirty="0"/>
              <a:t>无线局域网使用的</a:t>
            </a:r>
            <a:r>
              <a:rPr lang="en-US" altLang="zh-CN" dirty="0"/>
              <a:t>ISM</a:t>
            </a:r>
            <a:r>
              <a:rPr lang="zh-CN" altLang="en-US" dirty="0"/>
              <a:t>频段</a:t>
            </a:r>
            <a:endParaRPr lang="en-US" altLang="zh-CN" dirty="0"/>
          </a:p>
          <a:p>
            <a:pPr lvl="1"/>
            <a:r>
              <a:rPr lang="en-US" altLang="zh-CN" dirty="0"/>
              <a:t>ISM</a:t>
            </a:r>
            <a:r>
              <a:rPr lang="zh-CN" altLang="en-US" dirty="0"/>
              <a:t>：</a:t>
            </a:r>
            <a:r>
              <a:rPr lang="en-US" altLang="zh-CN" dirty="0"/>
              <a:t>Industrial, Scientific, and Medical</a:t>
            </a:r>
            <a:r>
              <a:rPr lang="zh-CN" altLang="en-US" dirty="0"/>
              <a:t>，工、科、医频段</a:t>
            </a:r>
            <a:endParaRPr lang="en-US" altLang="zh-CN" dirty="0"/>
          </a:p>
          <a:p>
            <a:pPr lvl="1"/>
            <a:r>
              <a:rPr lang="zh-CN" altLang="en-US" dirty="0"/>
              <a:t>无需无线电频谱管理机构的许可证，可自由使用</a:t>
            </a:r>
          </a:p>
          <a:p>
            <a:pPr lvl="1"/>
            <a:r>
              <a:rPr lang="zh-CN" altLang="en-US" dirty="0"/>
              <a:t>无线局域网使用其中的</a:t>
            </a:r>
            <a:r>
              <a:rPr lang="en-US" altLang="zh-CN" dirty="0"/>
              <a:t>2.4GHz</a:t>
            </a:r>
            <a:r>
              <a:rPr lang="zh-CN" altLang="en-US" dirty="0"/>
              <a:t>和</a:t>
            </a:r>
            <a:r>
              <a:rPr lang="en-US" altLang="zh-CN" dirty="0"/>
              <a:t>5.8GHz</a:t>
            </a:r>
            <a:r>
              <a:rPr lang="zh-CN" altLang="en-US" dirty="0"/>
              <a:t>频段</a:t>
            </a:r>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36</a:t>
            </a:fld>
            <a:endParaRPr lang="zh-CN" altLang="en-US" dirty="0"/>
          </a:p>
        </p:txBody>
      </p:sp>
      <p:grpSp>
        <p:nvGrpSpPr>
          <p:cNvPr id="25" name="组合 24"/>
          <p:cNvGrpSpPr/>
          <p:nvPr/>
        </p:nvGrpSpPr>
        <p:grpSpPr>
          <a:xfrm>
            <a:off x="764087" y="3569918"/>
            <a:ext cx="7722957" cy="2021700"/>
            <a:chOff x="551144" y="3620022"/>
            <a:chExt cx="7722957" cy="2021700"/>
          </a:xfrm>
        </p:grpSpPr>
        <p:sp>
          <p:nvSpPr>
            <p:cNvPr id="20" name="Rectangle 2"/>
            <p:cNvSpPr>
              <a:spLocks noChangeArrowheads="1"/>
            </p:cNvSpPr>
            <p:nvPr/>
          </p:nvSpPr>
          <p:spPr bwMode="auto">
            <a:xfrm>
              <a:off x="551144" y="3620022"/>
              <a:ext cx="7722957" cy="2021700"/>
            </a:xfrm>
            <a:prstGeom prst="rect">
              <a:avLst/>
            </a:prstGeom>
            <a:solidFill>
              <a:srgbClr val="F4F4FA"/>
            </a:solidFill>
            <a:ln w="25400">
              <a:solidFill>
                <a:srgbClr val="DCDCEC"/>
              </a:solidFill>
            </a:ln>
            <a:effectLst/>
          </p:spPr>
          <p:txBody>
            <a:bodyPr wrap="none" anchor="ctr"/>
            <a:lstStyle/>
            <a:p>
              <a:r>
                <a:rPr lang="en-US" altLang="zh-CN" sz="1600" b="1" dirty="0"/>
                <a:t> </a:t>
              </a:r>
              <a:endParaRPr lang="zh-CN" altLang="en-US" sz="1600" b="1" dirty="0"/>
            </a:p>
          </p:txBody>
        </p:sp>
        <p:sp>
          <p:nvSpPr>
            <p:cNvPr id="5" name="Text Box 5"/>
            <p:cNvSpPr txBox="1">
              <a:spLocks noChangeArrowheads="1"/>
            </p:cNvSpPr>
            <p:nvPr/>
          </p:nvSpPr>
          <p:spPr bwMode="auto">
            <a:xfrm>
              <a:off x="667314" y="3757061"/>
              <a:ext cx="595035" cy="304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5000"/>
                </a:lnSpc>
              </a:pPr>
              <a:r>
                <a:rPr lang="zh-CN" altLang="en-US" sz="1600" dirty="0">
                  <a:solidFill>
                    <a:srgbClr val="333399"/>
                  </a:solidFill>
                  <a:latin typeface="华文楷体" panose="02010600040101010101" pitchFamily="2" charset="-122"/>
                  <a:ea typeface="华文楷体" panose="02010600040101010101" pitchFamily="2" charset="-122"/>
                </a:rPr>
                <a:t>频带</a:t>
              </a:r>
              <a:endParaRPr lang="en-US" altLang="zh-CN" sz="1600" dirty="0">
                <a:solidFill>
                  <a:srgbClr val="333399"/>
                </a:solidFill>
                <a:latin typeface="Times New Roman" panose="02020603050405020304" pitchFamily="18" charset="0"/>
              </a:endParaRPr>
            </a:p>
          </p:txBody>
        </p:sp>
        <p:sp>
          <p:nvSpPr>
            <p:cNvPr id="6" name="Text Box 6"/>
            <p:cNvSpPr txBox="1">
              <a:spLocks noChangeArrowheads="1"/>
            </p:cNvSpPr>
            <p:nvPr/>
          </p:nvSpPr>
          <p:spPr bwMode="auto">
            <a:xfrm>
              <a:off x="645090" y="5131922"/>
              <a:ext cx="7064755"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lang="zh-CN" altLang="en-US" sz="1600" dirty="0">
                  <a:solidFill>
                    <a:srgbClr val="333399"/>
                  </a:solidFill>
                  <a:latin typeface="华文楷体" panose="02010600040101010101" pitchFamily="2" charset="-122"/>
                  <a:ea typeface="华文楷体" panose="02010600040101010101" pitchFamily="2" charset="-122"/>
                </a:rPr>
                <a:t>频率</a:t>
              </a:r>
              <a:r>
                <a:rPr lang="zh-CN" altLang="en-US" sz="1600" dirty="0">
                  <a:solidFill>
                    <a:srgbClr val="333399"/>
                  </a:solidFill>
                  <a:latin typeface="Times New Roman" panose="02020603050405020304" pitchFamily="18" charset="0"/>
                </a:rPr>
                <a:t>        </a:t>
              </a:r>
              <a:r>
                <a:rPr lang="en-US" altLang="zh-CN" sz="1400" dirty="0">
                  <a:solidFill>
                    <a:srgbClr val="333399"/>
                  </a:solidFill>
                  <a:latin typeface="Times New Roman" panose="02020603050405020304" pitchFamily="18" charset="0"/>
                </a:rPr>
                <a:t>902      928                 2.4                 2.4835                        5.725                         5.850</a:t>
              </a:r>
            </a:p>
            <a:p>
              <a:pPr algn="l">
                <a:lnSpc>
                  <a:spcPct val="85000"/>
                </a:lnSpc>
              </a:pPr>
              <a:r>
                <a:rPr lang="en-US" altLang="zh-CN" sz="1400" dirty="0">
                  <a:solidFill>
                    <a:srgbClr val="333399"/>
                  </a:solidFill>
                  <a:latin typeface="Times New Roman" panose="02020603050405020304" pitchFamily="18" charset="0"/>
                </a:rPr>
                <a:t>                  MHz    </a:t>
              </a:r>
              <a:r>
                <a:rPr lang="en-US" altLang="zh-CN" sz="1400" dirty="0" err="1">
                  <a:solidFill>
                    <a:srgbClr val="333399"/>
                  </a:solidFill>
                  <a:latin typeface="Times New Roman" panose="02020603050405020304" pitchFamily="18" charset="0"/>
                </a:rPr>
                <a:t>MHz</a:t>
              </a:r>
              <a:r>
                <a:rPr lang="en-US" altLang="zh-CN" sz="1400" dirty="0">
                  <a:solidFill>
                    <a:srgbClr val="333399"/>
                  </a:solidFill>
                  <a:latin typeface="Times New Roman" panose="02020603050405020304" pitchFamily="18" charset="0"/>
                </a:rPr>
                <a:t>               GHz              </a:t>
              </a:r>
              <a:r>
                <a:rPr lang="en-US" altLang="zh-CN" sz="1400" dirty="0" err="1">
                  <a:solidFill>
                    <a:srgbClr val="333399"/>
                  </a:solidFill>
                  <a:latin typeface="Times New Roman" panose="02020603050405020304" pitchFamily="18" charset="0"/>
                </a:rPr>
                <a:t>GHz</a:t>
              </a:r>
              <a:r>
                <a:rPr lang="en-US" altLang="zh-CN" sz="1400" dirty="0">
                  <a:solidFill>
                    <a:srgbClr val="333399"/>
                  </a:solidFill>
                  <a:latin typeface="Times New Roman" panose="02020603050405020304" pitchFamily="18" charset="0"/>
                </a:rPr>
                <a:t>                            </a:t>
              </a:r>
              <a:r>
                <a:rPr lang="en-US" altLang="zh-CN" sz="1400" dirty="0" err="1">
                  <a:solidFill>
                    <a:srgbClr val="333399"/>
                  </a:solidFill>
                  <a:latin typeface="Times New Roman" panose="02020603050405020304" pitchFamily="18" charset="0"/>
                </a:rPr>
                <a:t>GHz</a:t>
              </a:r>
              <a:r>
                <a:rPr lang="en-US" altLang="zh-CN" sz="1400" dirty="0">
                  <a:solidFill>
                    <a:srgbClr val="333399"/>
                  </a:solidFill>
                  <a:latin typeface="Times New Roman" panose="02020603050405020304" pitchFamily="18" charset="0"/>
                </a:rPr>
                <a:t>                          </a:t>
              </a:r>
              <a:r>
                <a:rPr lang="en-US" altLang="zh-CN" sz="1400" dirty="0" err="1">
                  <a:solidFill>
                    <a:srgbClr val="333399"/>
                  </a:solidFill>
                  <a:latin typeface="Times New Roman" panose="02020603050405020304" pitchFamily="18" charset="0"/>
                </a:rPr>
                <a:t>GHz</a:t>
              </a:r>
              <a:endParaRPr lang="en-US" altLang="zh-CN" sz="1400" dirty="0">
                <a:solidFill>
                  <a:srgbClr val="333399"/>
                </a:solidFill>
                <a:latin typeface="Times New Roman" panose="02020603050405020304" pitchFamily="18" charset="0"/>
              </a:endParaRPr>
            </a:p>
          </p:txBody>
        </p:sp>
        <p:sp>
          <p:nvSpPr>
            <p:cNvPr id="7" name="Line 7"/>
            <p:cNvSpPr>
              <a:spLocks noChangeShapeType="1"/>
            </p:cNvSpPr>
            <p:nvPr/>
          </p:nvSpPr>
          <p:spPr bwMode="auto">
            <a:xfrm>
              <a:off x="1339801" y="4079453"/>
              <a:ext cx="6261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dirty="0"/>
            </a:p>
          </p:txBody>
        </p:sp>
        <p:sp>
          <p:nvSpPr>
            <p:cNvPr id="8" name="Line 8"/>
            <p:cNvSpPr>
              <a:spLocks noChangeShapeType="1"/>
            </p:cNvSpPr>
            <p:nvPr/>
          </p:nvSpPr>
          <p:spPr bwMode="auto">
            <a:xfrm>
              <a:off x="1339801" y="5064254"/>
              <a:ext cx="6261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9" name="Rectangle 9"/>
            <p:cNvSpPr>
              <a:spLocks noChangeArrowheads="1"/>
            </p:cNvSpPr>
            <p:nvPr/>
          </p:nvSpPr>
          <p:spPr bwMode="auto">
            <a:xfrm>
              <a:off x="1648861" y="4079453"/>
              <a:ext cx="541526" cy="984801"/>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0" name="Rectangle 10"/>
            <p:cNvSpPr>
              <a:spLocks noChangeArrowheads="1"/>
            </p:cNvSpPr>
            <p:nvPr/>
          </p:nvSpPr>
          <p:spPr bwMode="auto">
            <a:xfrm>
              <a:off x="3194158" y="4079453"/>
              <a:ext cx="1160988" cy="984801"/>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1" name="Rectangle 11"/>
            <p:cNvSpPr>
              <a:spLocks noChangeArrowheads="1"/>
            </p:cNvSpPr>
            <p:nvPr/>
          </p:nvSpPr>
          <p:spPr bwMode="auto">
            <a:xfrm>
              <a:off x="5745914" y="4079453"/>
              <a:ext cx="1624577" cy="984801"/>
            </a:xfrm>
            <a:prstGeom prst="rect">
              <a:avLst/>
            </a:prstGeom>
            <a:solidFill>
              <a:srgbClr val="B2B2B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2" name="Line 12"/>
            <p:cNvSpPr>
              <a:spLocks noChangeShapeType="1"/>
            </p:cNvSpPr>
            <p:nvPr/>
          </p:nvSpPr>
          <p:spPr bwMode="auto">
            <a:xfrm>
              <a:off x="1648861" y="3981577"/>
              <a:ext cx="541526"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dirty="0"/>
            </a:p>
          </p:txBody>
        </p:sp>
        <p:sp>
          <p:nvSpPr>
            <p:cNvPr id="13" name="Line 13"/>
            <p:cNvSpPr>
              <a:spLocks noChangeShapeType="1"/>
            </p:cNvSpPr>
            <p:nvPr/>
          </p:nvSpPr>
          <p:spPr bwMode="auto">
            <a:xfrm>
              <a:off x="3194158" y="3981577"/>
              <a:ext cx="116098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4" name="Line 14"/>
            <p:cNvSpPr>
              <a:spLocks noChangeShapeType="1"/>
            </p:cNvSpPr>
            <p:nvPr/>
          </p:nvSpPr>
          <p:spPr bwMode="auto">
            <a:xfrm>
              <a:off x="5745914" y="3981577"/>
              <a:ext cx="1624577"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5" name="Text Box 15"/>
            <p:cNvSpPr txBox="1">
              <a:spLocks noChangeArrowheads="1"/>
            </p:cNvSpPr>
            <p:nvPr/>
          </p:nvSpPr>
          <p:spPr bwMode="auto">
            <a:xfrm>
              <a:off x="2534384" y="3830534"/>
              <a:ext cx="362613" cy="310958"/>
            </a:xfrm>
            <a:prstGeom prst="rect">
              <a:avLst/>
            </a:prstGeom>
            <a:solidFill>
              <a:srgbClr val="F4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dirty="0">
                  <a:solidFill>
                    <a:srgbClr val="333399"/>
                  </a:solidFill>
                  <a:latin typeface="Arial" panose="020B0604020202020204" pitchFamily="34" charset="0"/>
                  <a:sym typeface="Symbol" panose="05050102010706020507" pitchFamily="18" charset="2"/>
                </a:rPr>
                <a:t></a:t>
              </a:r>
            </a:p>
          </p:txBody>
        </p:sp>
        <p:sp>
          <p:nvSpPr>
            <p:cNvPr id="16" name="Text Box 16"/>
            <p:cNvSpPr txBox="1">
              <a:spLocks noChangeArrowheads="1"/>
            </p:cNvSpPr>
            <p:nvPr/>
          </p:nvSpPr>
          <p:spPr bwMode="auto">
            <a:xfrm>
              <a:off x="2518259" y="4786334"/>
              <a:ext cx="362613" cy="310958"/>
            </a:xfrm>
            <a:prstGeom prst="rect">
              <a:avLst/>
            </a:prstGeom>
            <a:solidFill>
              <a:srgbClr val="F4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a:latin typeface="Arial" panose="020B0604020202020204" pitchFamily="34" charset="0"/>
                  <a:sym typeface="Symbol" panose="05050102010706020507" pitchFamily="18" charset="2"/>
                </a:rPr>
                <a:t></a:t>
              </a:r>
            </a:p>
          </p:txBody>
        </p:sp>
        <p:sp>
          <p:nvSpPr>
            <p:cNvPr id="17" name="Text Box 17"/>
            <p:cNvSpPr txBox="1">
              <a:spLocks noChangeArrowheads="1"/>
            </p:cNvSpPr>
            <p:nvPr/>
          </p:nvSpPr>
          <p:spPr bwMode="auto">
            <a:xfrm>
              <a:off x="4850986" y="3808784"/>
              <a:ext cx="362613" cy="310958"/>
            </a:xfrm>
            <a:prstGeom prst="rect">
              <a:avLst/>
            </a:prstGeom>
            <a:solidFill>
              <a:srgbClr val="F4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a:solidFill>
                    <a:srgbClr val="333399"/>
                  </a:solidFill>
                  <a:latin typeface="Arial" panose="020B0604020202020204" pitchFamily="34" charset="0"/>
                  <a:sym typeface="Symbol" panose="05050102010706020507" pitchFamily="18" charset="2"/>
                </a:rPr>
                <a:t></a:t>
              </a:r>
            </a:p>
          </p:txBody>
        </p:sp>
        <p:sp>
          <p:nvSpPr>
            <p:cNvPr id="18" name="Text Box 18"/>
            <p:cNvSpPr txBox="1">
              <a:spLocks noChangeArrowheads="1"/>
            </p:cNvSpPr>
            <p:nvPr/>
          </p:nvSpPr>
          <p:spPr bwMode="auto">
            <a:xfrm>
              <a:off x="4873829" y="4809294"/>
              <a:ext cx="362613" cy="310958"/>
            </a:xfrm>
            <a:prstGeom prst="rect">
              <a:avLst/>
            </a:prstGeom>
            <a:solidFill>
              <a:srgbClr val="F4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a:solidFill>
                    <a:srgbClr val="333399"/>
                  </a:solidFill>
                  <a:latin typeface="Arial" panose="020B0604020202020204" pitchFamily="34" charset="0"/>
                  <a:sym typeface="Symbol" panose="05050102010706020507" pitchFamily="18" charset="2"/>
                </a:rPr>
                <a:t></a:t>
              </a:r>
            </a:p>
          </p:txBody>
        </p:sp>
        <p:sp>
          <p:nvSpPr>
            <p:cNvPr id="22" name="矩形 21"/>
            <p:cNvSpPr/>
            <p:nvPr/>
          </p:nvSpPr>
          <p:spPr>
            <a:xfrm>
              <a:off x="1551427" y="3726014"/>
              <a:ext cx="779381" cy="307777"/>
            </a:xfrm>
            <a:prstGeom prst="rect">
              <a:avLst/>
            </a:prstGeom>
          </p:spPr>
          <p:txBody>
            <a:bodyPr wrap="none">
              <a:spAutoFit/>
            </a:bodyPr>
            <a:lstStyle/>
            <a:p>
              <a:r>
                <a:rPr lang="en-US" altLang="zh-CN" sz="1400" dirty="0">
                  <a:solidFill>
                    <a:srgbClr val="333399"/>
                  </a:solidFill>
                  <a:latin typeface="Times New Roman" panose="02020603050405020304" pitchFamily="18" charset="0"/>
                </a:rPr>
                <a:t>26 MHz</a:t>
              </a:r>
              <a:endParaRPr lang="zh-CN" altLang="en-US" dirty="0"/>
            </a:p>
          </p:txBody>
        </p:sp>
        <p:sp>
          <p:nvSpPr>
            <p:cNvPr id="23" name="矩形 22"/>
            <p:cNvSpPr/>
            <p:nvPr/>
          </p:nvSpPr>
          <p:spPr>
            <a:xfrm>
              <a:off x="3330947" y="3738639"/>
              <a:ext cx="914033" cy="307777"/>
            </a:xfrm>
            <a:prstGeom prst="rect">
              <a:avLst/>
            </a:prstGeom>
          </p:spPr>
          <p:txBody>
            <a:bodyPr wrap="none">
              <a:spAutoFit/>
            </a:bodyPr>
            <a:lstStyle/>
            <a:p>
              <a:r>
                <a:rPr lang="en-US" altLang="zh-CN" sz="1400" dirty="0">
                  <a:solidFill>
                    <a:srgbClr val="333399"/>
                  </a:solidFill>
                  <a:latin typeface="Times New Roman" panose="02020603050405020304" pitchFamily="18" charset="0"/>
                </a:rPr>
                <a:t>83.5 MHz</a:t>
              </a:r>
              <a:endParaRPr lang="zh-CN" altLang="en-US" dirty="0"/>
            </a:p>
          </p:txBody>
        </p:sp>
        <p:sp>
          <p:nvSpPr>
            <p:cNvPr id="24" name="矩形 23"/>
            <p:cNvSpPr/>
            <p:nvPr/>
          </p:nvSpPr>
          <p:spPr>
            <a:xfrm>
              <a:off x="6101185" y="3738639"/>
              <a:ext cx="869149" cy="307777"/>
            </a:xfrm>
            <a:prstGeom prst="rect">
              <a:avLst/>
            </a:prstGeom>
          </p:spPr>
          <p:txBody>
            <a:bodyPr wrap="none">
              <a:spAutoFit/>
            </a:bodyPr>
            <a:lstStyle/>
            <a:p>
              <a:r>
                <a:rPr lang="en-US" altLang="zh-CN" sz="1400" dirty="0">
                  <a:solidFill>
                    <a:srgbClr val="333399"/>
                  </a:solidFill>
                  <a:latin typeface="Times New Roman" panose="02020603050405020304" pitchFamily="18" charset="0"/>
                </a:rPr>
                <a:t>125 MHz</a:t>
              </a:r>
              <a:endParaRPr lang="zh-CN" altLang="en-US" dirty="0"/>
            </a:p>
          </p:txBody>
        </p:sp>
      </p:grpSp>
    </p:spTree>
    <p:extLst>
      <p:ext uri="{BB962C8B-B14F-4D97-AF65-F5344CB8AC3E}">
        <p14:creationId xmlns:p14="http://schemas.microsoft.com/office/powerpoint/2010/main" val="117129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left)">
                                      <p:cBhvr>
                                        <p:cTn id="2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两种链路类型</a:t>
            </a:r>
          </a:p>
        </p:txBody>
      </p:sp>
      <p:sp>
        <p:nvSpPr>
          <p:cNvPr id="3" name="内容占位符 2"/>
          <p:cNvSpPr>
            <a:spLocks noGrp="1"/>
          </p:cNvSpPr>
          <p:nvPr>
            <p:ph idx="1"/>
          </p:nvPr>
        </p:nvSpPr>
        <p:spPr>
          <a:xfrm>
            <a:off x="472698" y="1251252"/>
            <a:ext cx="8229600" cy="5034843"/>
          </a:xfrm>
        </p:spPr>
        <p:txBody>
          <a:bodyPr/>
          <a:lstStyle/>
          <a:p>
            <a:r>
              <a:rPr lang="zh-CN" altLang="en-US" dirty="0"/>
              <a:t>点对点链路 </a:t>
            </a:r>
            <a:r>
              <a:rPr lang="en-US" altLang="zh-CN" dirty="0"/>
              <a:t>(point-to-point)</a:t>
            </a:r>
          </a:p>
          <a:p>
            <a:pPr lvl="1"/>
            <a:r>
              <a:rPr lang="zh-CN" altLang="en-US" dirty="0"/>
              <a:t>链路一端的单个发送方和另一端的单个接收方组成</a:t>
            </a:r>
            <a:endParaRPr lang="en-US" altLang="zh-CN" dirty="0"/>
          </a:p>
          <a:p>
            <a:pPr lvl="1"/>
            <a:r>
              <a:rPr lang="zh-CN" altLang="en-US" dirty="0"/>
              <a:t>许多链路层协议为点对点链路设计</a:t>
            </a:r>
            <a:endParaRPr lang="en-US" altLang="zh-CN" dirty="0"/>
          </a:p>
          <a:p>
            <a:pPr lvl="2"/>
            <a:r>
              <a:rPr lang="zh-CN" altLang="en-US" dirty="0"/>
              <a:t>点对点协议</a:t>
            </a:r>
            <a:r>
              <a:rPr lang="en-US" altLang="zh-CN" dirty="0"/>
              <a:t>(Point-to-Point Protocol, PPP)</a:t>
            </a:r>
          </a:p>
          <a:p>
            <a:pPr lvl="2"/>
            <a:r>
              <a:rPr lang="zh-CN" altLang="en-US" dirty="0"/>
              <a:t>高级数据链路控制协议 </a:t>
            </a:r>
            <a:r>
              <a:rPr lang="en-US" altLang="zh-CN" dirty="0"/>
              <a:t>(High-level Data Link Control, HDLC)</a:t>
            </a:r>
          </a:p>
          <a:p>
            <a:pPr>
              <a:spcBef>
                <a:spcPts val="1800"/>
              </a:spcBef>
            </a:pPr>
            <a:r>
              <a:rPr lang="zh-CN" altLang="en-US" dirty="0"/>
              <a:t>广播链路（多路访问）</a:t>
            </a:r>
            <a:endParaRPr lang="en-US" altLang="zh-CN" dirty="0"/>
          </a:p>
          <a:p>
            <a:pPr lvl="1"/>
            <a:r>
              <a:rPr lang="zh-CN" altLang="en-US" dirty="0"/>
              <a:t>能够让多个结点都连接到相同的、单一的、共享的广播信道</a:t>
            </a:r>
            <a:endParaRPr lang="en-US" altLang="zh-CN" dirty="0"/>
          </a:p>
          <a:p>
            <a:pPr lvl="1"/>
            <a:r>
              <a:rPr lang="zh-CN" altLang="en-US" dirty="0"/>
              <a:t>任何结点发送一帧时，所有结点都能接收到</a:t>
            </a:r>
            <a:endParaRPr lang="en-US" altLang="zh-CN" dirty="0"/>
          </a:p>
          <a:p>
            <a:pPr lvl="1"/>
            <a:r>
              <a:rPr lang="zh-CN" altLang="en-US" dirty="0"/>
              <a:t>需要解决媒体共享的问题 </a:t>
            </a:r>
            <a:r>
              <a:rPr lang="en-US" altLang="zh-CN" dirty="0"/>
              <a:t>(</a:t>
            </a:r>
            <a:r>
              <a:rPr lang="zh-CN" altLang="en-US" dirty="0"/>
              <a:t>介质接入控制</a:t>
            </a:r>
            <a:r>
              <a:rPr lang="en-US" altLang="zh-CN" dirty="0"/>
              <a:t>)</a:t>
            </a:r>
          </a:p>
          <a:p>
            <a:pPr lvl="1"/>
            <a:r>
              <a:rPr lang="zh-CN" altLang="en-US" dirty="0"/>
              <a:t>以太网、无线局域网</a:t>
            </a:r>
            <a:endParaRPr lang="en-US" altLang="zh-CN" dirty="0"/>
          </a:p>
        </p:txBody>
      </p:sp>
      <p:sp>
        <p:nvSpPr>
          <p:cNvPr id="4" name="灯片编号占位符 3"/>
          <p:cNvSpPr>
            <a:spLocks noGrp="1"/>
          </p:cNvSpPr>
          <p:nvPr>
            <p:ph type="sldNum" sz="quarter" idx="11"/>
          </p:nvPr>
        </p:nvSpPr>
        <p:spPr/>
        <p:txBody>
          <a:bodyPr/>
          <a:lstStyle/>
          <a:p>
            <a:fld id="{1A7A0873-376A-4A4E-91BA-7081C35D808C}" type="slidenum">
              <a:rPr lang="zh-CN" altLang="en-US" smtClean="0"/>
              <a:pPr/>
              <a:t>37</a:t>
            </a:fld>
            <a:endParaRPr lang="zh-CN" altLang="en-US" dirty="0"/>
          </a:p>
        </p:txBody>
      </p:sp>
      <p:grpSp>
        <p:nvGrpSpPr>
          <p:cNvPr id="5" name="组合 4"/>
          <p:cNvGrpSpPr/>
          <p:nvPr/>
        </p:nvGrpSpPr>
        <p:grpSpPr>
          <a:xfrm>
            <a:off x="778532" y="5748535"/>
            <a:ext cx="7736852" cy="903024"/>
            <a:chOff x="1158240" y="2548128"/>
            <a:chExt cx="7736852" cy="903024"/>
          </a:xfrm>
        </p:grpSpPr>
        <p:sp>
          <p:nvSpPr>
            <p:cNvPr id="6" name="圆角矩形 5"/>
            <p:cNvSpPr/>
            <p:nvPr/>
          </p:nvSpPr>
          <p:spPr>
            <a:xfrm>
              <a:off x="1158240" y="2548128"/>
              <a:ext cx="7736852" cy="854467"/>
            </a:xfrm>
            <a:prstGeom prst="roundRect">
              <a:avLst>
                <a:gd name="adj" fmla="val 1407"/>
              </a:avLst>
            </a:prstGeom>
            <a:solidFill>
              <a:srgbClr val="EBEBF5"/>
            </a:solidFill>
            <a:ln>
              <a:solidFill>
                <a:srgbClr val="EFEF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 name="Text Box 48"/>
            <p:cNvSpPr txBox="1">
              <a:spLocks noChangeArrowheads="1"/>
            </p:cNvSpPr>
            <p:nvPr/>
          </p:nvSpPr>
          <p:spPr bwMode="auto">
            <a:xfrm>
              <a:off x="2319967" y="3094818"/>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dirty="0">
                  <a:latin typeface="Times New Roman" panose="02020603050405020304" pitchFamily="18" charset="0"/>
                  <a:ea typeface="黑体" panose="02010609060101010101" pitchFamily="49" charset="-122"/>
                </a:rPr>
                <a:t>点对点</a:t>
              </a:r>
              <a:endParaRPr kumimoji="1" lang="zh-CN" altLang="en-US" sz="1400" dirty="0">
                <a:ea typeface="黑体" panose="02010609060101010101" pitchFamily="49" charset="-122"/>
              </a:endParaRPr>
            </a:p>
          </p:txBody>
        </p:sp>
        <p:grpSp>
          <p:nvGrpSpPr>
            <p:cNvPr id="8" name="组合 7"/>
            <p:cNvGrpSpPr/>
            <p:nvPr/>
          </p:nvGrpSpPr>
          <p:grpSpPr>
            <a:xfrm>
              <a:off x="1274064" y="2750376"/>
              <a:ext cx="3237386" cy="379975"/>
              <a:chOff x="993648" y="3091752"/>
              <a:chExt cx="3237386" cy="379975"/>
            </a:xfrm>
          </p:grpSpPr>
          <p:sp>
            <p:nvSpPr>
              <p:cNvPr id="20" name="圆角矩形 19"/>
              <p:cNvSpPr/>
              <p:nvPr/>
            </p:nvSpPr>
            <p:spPr>
              <a:xfrm>
                <a:off x="1450848" y="3307081"/>
                <a:ext cx="2304288" cy="45719"/>
              </a:xfrm>
              <a:prstGeom prst="roundRect">
                <a:avLst/>
              </a:prstGeom>
              <a:solidFill>
                <a:schemeClr val="bg1">
                  <a:lumMod val="75000"/>
                </a:schemeClr>
              </a:solidFill>
              <a:ln w="158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3648" y="3091752"/>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5136" y="3095027"/>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组合 8"/>
            <p:cNvGrpSpPr/>
            <p:nvPr/>
          </p:nvGrpSpPr>
          <p:grpSpPr>
            <a:xfrm>
              <a:off x="5132830" y="2592678"/>
              <a:ext cx="3108961" cy="587909"/>
              <a:chOff x="4901182" y="3031590"/>
              <a:chExt cx="3108961" cy="587909"/>
            </a:xfrm>
          </p:grpSpPr>
          <p:sp>
            <p:nvSpPr>
              <p:cNvPr id="11" name="圆角矩形 10"/>
              <p:cNvSpPr/>
              <p:nvPr/>
            </p:nvSpPr>
            <p:spPr>
              <a:xfrm>
                <a:off x="4901182" y="3573780"/>
                <a:ext cx="3108961" cy="45719"/>
              </a:xfrm>
              <a:prstGeom prst="roundRect">
                <a:avLst/>
              </a:prstGeom>
              <a:solidFill>
                <a:schemeClr val="bg1">
                  <a:lumMod val="75000"/>
                </a:schemeClr>
              </a:solidFill>
              <a:ln w="158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5365383" y="3385430"/>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3"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4693" y="3031590"/>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p:nvPr/>
            </p:nvCxnSpPr>
            <p:spPr>
              <a:xfrm>
                <a:off x="6054231" y="3391526"/>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3541" y="3037686"/>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直接连接符 15"/>
              <p:cNvCxnSpPr/>
              <p:nvPr/>
            </p:nvCxnSpPr>
            <p:spPr>
              <a:xfrm>
                <a:off x="6846711" y="3391526"/>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7"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6021" y="3037686"/>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连接符 17"/>
              <p:cNvCxnSpPr/>
              <p:nvPr/>
            </p:nvCxnSpPr>
            <p:spPr>
              <a:xfrm>
                <a:off x="7474599" y="3397622"/>
                <a:ext cx="0" cy="18835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9"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3909" y="3043782"/>
                <a:ext cx="475898" cy="3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Text Box 48"/>
            <p:cNvSpPr txBox="1">
              <a:spLocks noChangeArrowheads="1"/>
            </p:cNvSpPr>
            <p:nvPr/>
          </p:nvSpPr>
          <p:spPr bwMode="auto">
            <a:xfrm>
              <a:off x="6063270" y="3143375"/>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dirty="0">
                  <a:ea typeface="黑体" panose="02010609060101010101" pitchFamily="49" charset="-122"/>
                </a:rPr>
                <a:t>多路访问</a:t>
              </a:r>
            </a:p>
          </p:txBody>
        </p:sp>
      </p:grpSp>
    </p:spTree>
    <p:custDataLst>
      <p:tags r:id="rId1"/>
    </p:custDataLst>
    <p:extLst>
      <p:ext uri="{BB962C8B-B14F-4D97-AF65-F5344CB8AC3E}">
        <p14:creationId xmlns:p14="http://schemas.microsoft.com/office/powerpoint/2010/main" val="49076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dissolv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ssolv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ssolve">
                                      <p:cBhvr>
                                        <p:cTn id="20" dur="500"/>
                                        <p:tgtEl>
                                          <p:spTgt spid="3">
                                            <p:txEl>
                                              <p:pRg st="2" end="2"/>
                                            </p:txEl>
                                          </p:spTgt>
                                        </p:tgtEl>
                                      </p:cBhvr>
                                    </p:animEffect>
                                  </p:childTnLst>
                                </p:cTn>
                              </p:par>
                            </p:childTnLst>
                          </p:cTn>
                        </p:par>
                        <p:par>
                          <p:cTn id="21" fill="hold">
                            <p:stCondLst>
                              <p:cond delay="500"/>
                            </p:stCondLst>
                            <p:childTnLst>
                              <p:par>
                                <p:cTn id="22" presetID="9" presetClass="entr" presetSubtype="0" fill="hold" nodeType="after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dissolve">
                                      <p:cBhvr>
                                        <p:cTn id="24" dur="500"/>
                                        <p:tgtEl>
                                          <p:spTgt spid="3">
                                            <p:txEl>
                                              <p:pRg st="3" end="3"/>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500"/>
                                        <p:tgtEl>
                                          <p:spTgt spid="3">
                                            <p:txEl>
                                              <p:pRg st="6" end="6"/>
                                            </p:txEl>
                                          </p:spTgt>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dissolv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dissolv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dissolve">
                                      <p:cBhvr>
                                        <p:cTn id="46" dur="500"/>
                                        <p:tgtEl>
                                          <p:spTgt spid="3">
                                            <p:txEl>
                                              <p:pRg st="9" end="9"/>
                                            </p:txEl>
                                          </p:spTgt>
                                        </p:tgtEl>
                                      </p:cBhvr>
                                    </p:animEffect>
                                  </p:childTnLst>
                                </p:cTn>
                              </p:par>
                            </p:childTnLst>
                          </p:cTn>
                        </p:par>
                        <p:par>
                          <p:cTn id="47" fill="hold">
                            <p:stCondLst>
                              <p:cond delay="500"/>
                            </p:stCondLst>
                            <p:childTnLst>
                              <p:par>
                                <p:cTn id="48" presetID="22" presetClass="entr" presetSubtype="4" fill="hold" nodeType="after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ipe(down)">
                                      <p:cBhvr>
                                        <p:cTn id="5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4.1|23.4|13.8|15.4"/>
</p:tagLst>
</file>

<file path=ppt/tags/tag2.xml><?xml version="1.0" encoding="utf-8"?>
<p:tagLst xmlns:a="http://schemas.openxmlformats.org/drawingml/2006/main" xmlns:r="http://schemas.openxmlformats.org/officeDocument/2006/relationships" xmlns:p="http://schemas.openxmlformats.org/presentationml/2006/main">
  <p:tag name="TIMING" val="|9.6"/>
</p:tagLst>
</file>

<file path=ppt/tags/tag3.xml><?xml version="1.0" encoding="utf-8"?>
<p:tagLst xmlns:a="http://schemas.openxmlformats.org/drawingml/2006/main" xmlns:r="http://schemas.openxmlformats.org/officeDocument/2006/relationships" xmlns:p="http://schemas.openxmlformats.org/presentationml/2006/main">
  <p:tag name="TIMING" val="|6|20.1|3.1|15.3|2.7|34.3|2.3|23.4|1.5|24.6"/>
</p:tagLst>
</file>

<file path=ppt/tags/tag4.xml><?xml version="1.0" encoding="utf-8"?>
<p:tagLst xmlns:a="http://schemas.openxmlformats.org/drawingml/2006/main" xmlns:r="http://schemas.openxmlformats.org/officeDocument/2006/relationships" xmlns:p="http://schemas.openxmlformats.org/presentationml/2006/main">
  <p:tag name="TIMING" val="|6.6"/>
</p:tagLst>
</file>

<file path=ppt/tags/tag5.xml><?xml version="1.0" encoding="utf-8"?>
<p:tagLst xmlns:a="http://schemas.openxmlformats.org/drawingml/2006/main" xmlns:r="http://schemas.openxmlformats.org/officeDocument/2006/relationships" xmlns:p="http://schemas.openxmlformats.org/presentationml/2006/main">
  <p:tag name="TIMING" val="|1.6|20|16.5|5.5|12.7|35.6|15.2"/>
</p:tagLst>
</file>

<file path=ppt/tags/tag6.xml><?xml version="1.0" encoding="utf-8"?>
<p:tagLst xmlns:a="http://schemas.openxmlformats.org/drawingml/2006/main" xmlns:r="http://schemas.openxmlformats.org/officeDocument/2006/relationships" xmlns:p="http://schemas.openxmlformats.org/presentationml/2006/main">
  <p:tag name="TIMING" val="|2.2|6.3|6|14.7|10.1|20.2|2.2|35.7"/>
</p:tagLst>
</file>

<file path=ppt/tags/tag7.xml><?xml version="1.0" encoding="utf-8"?>
<p:tagLst xmlns:a="http://schemas.openxmlformats.org/drawingml/2006/main" xmlns:r="http://schemas.openxmlformats.org/officeDocument/2006/relationships" xmlns:p="http://schemas.openxmlformats.org/presentationml/2006/main">
  <p:tag name="TIMING" val="|16.4|2.6|37.8|43.6|1.9|34.4|5.2|3|47.1"/>
</p:tagLst>
</file>

<file path=ppt/tags/tag8.xml><?xml version="1.0" encoding="utf-8"?>
<p:tagLst xmlns:a="http://schemas.openxmlformats.org/drawingml/2006/main" xmlns:r="http://schemas.openxmlformats.org/officeDocument/2006/relationships" xmlns:p="http://schemas.openxmlformats.org/presentationml/2006/main">
  <p:tag name="TIMING" val="|113.7|52.9"/>
</p:tagLst>
</file>

<file path=ppt/tags/tag9.xml><?xml version="1.0" encoding="utf-8"?>
<p:tagLst xmlns:a="http://schemas.openxmlformats.org/drawingml/2006/main" xmlns:r="http://schemas.openxmlformats.org/officeDocument/2006/relationships" xmlns:p="http://schemas.openxmlformats.org/presentationml/2006/main">
  <p:tag name="TIMING" val="|113.7|52.9"/>
</p:tagLst>
</file>

<file path=ppt/tags/tag10.xml><?xml version="1.0" encoding="utf-8"?>
<p:tagLst xmlns:a="http://schemas.openxmlformats.org/drawingml/2006/main" xmlns:r="http://schemas.openxmlformats.org/officeDocument/2006/relationships" xmlns:p="http://schemas.openxmlformats.org/presentationml/2006/main">
  <p:tag name="TIMING" val="|46.9|96.2"/>
</p:tagLst>
</file>

<file path=ppt/tags/tag11.xml><?xml version="1.0" encoding="utf-8"?>
<p:tagLst xmlns:a="http://schemas.openxmlformats.org/drawingml/2006/main" xmlns:r="http://schemas.openxmlformats.org/officeDocument/2006/relationships" xmlns:p="http://schemas.openxmlformats.org/presentationml/2006/main">
  <p:tag name="TIMING" val="|14.6"/>
</p:tagLst>
</file>

<file path=ppt/tags/tag12.xml><?xml version="1.0" encoding="utf-8"?>
<p:tagLst xmlns:a="http://schemas.openxmlformats.org/drawingml/2006/main" xmlns:r="http://schemas.openxmlformats.org/officeDocument/2006/relationships" xmlns:p="http://schemas.openxmlformats.org/presentationml/2006/main">
  <p:tag name="TIMING" val="|12.9|8.9|5.7|2.2|16|3.2|4.4|3.3|10.6|3.7|5.6|8.5"/>
</p:tagLst>
</file>

<file path=ppt/tags/tag13.xml><?xml version="1.0" encoding="utf-8"?>
<p:tagLst xmlns:a="http://schemas.openxmlformats.org/drawingml/2006/main" xmlns:r="http://schemas.openxmlformats.org/officeDocument/2006/relationships" xmlns:p="http://schemas.openxmlformats.org/presentationml/2006/main">
  <p:tag name="TIMING" val="|50.2|39.9"/>
</p:tagLst>
</file>

<file path=ppt/tags/tag14.xml><?xml version="1.0" encoding="utf-8"?>
<p:tagLst xmlns:a="http://schemas.openxmlformats.org/drawingml/2006/main" xmlns:r="http://schemas.openxmlformats.org/officeDocument/2006/relationships" xmlns:p="http://schemas.openxmlformats.org/presentationml/2006/main">
  <p:tag name="TIMING" val="|43.4|38.3"/>
</p:tagLst>
</file>

<file path=ppt/tags/tag15.xml><?xml version="1.0" encoding="utf-8"?>
<p:tagLst xmlns:a="http://schemas.openxmlformats.org/drawingml/2006/main" xmlns:r="http://schemas.openxmlformats.org/officeDocument/2006/relationships" xmlns:p="http://schemas.openxmlformats.org/presentationml/2006/main">
  <p:tag name="TIMING" val="|53.2"/>
</p:tagLst>
</file>

<file path=ppt/tags/tag16.xml><?xml version="1.0" encoding="utf-8"?>
<p:tagLst xmlns:a="http://schemas.openxmlformats.org/drawingml/2006/main" xmlns:r="http://schemas.openxmlformats.org/officeDocument/2006/relationships" xmlns:p="http://schemas.openxmlformats.org/presentationml/2006/main">
  <p:tag name="TIMING" val="|2.7|77.7"/>
</p:tagLst>
</file>

<file path=ppt/tags/tag17.xml><?xml version="1.0" encoding="utf-8"?>
<p:tagLst xmlns:a="http://schemas.openxmlformats.org/drawingml/2006/main" xmlns:r="http://schemas.openxmlformats.org/officeDocument/2006/relationships" xmlns:p="http://schemas.openxmlformats.org/presentationml/2006/main">
  <p:tag name="TIMING" val="|25.4|15.5|26.7|21.6|7.1|12.9"/>
</p:tagLst>
</file>

<file path=ppt/tags/tag18.xml><?xml version="1.0" encoding="utf-8"?>
<p:tagLst xmlns:a="http://schemas.openxmlformats.org/drawingml/2006/main" xmlns:r="http://schemas.openxmlformats.org/officeDocument/2006/relationships" xmlns:p="http://schemas.openxmlformats.org/presentationml/2006/main">
  <p:tag name="TIMING" val="|45.2"/>
</p:tagLst>
</file>

<file path=ppt/tags/tag19.xml><?xml version="1.0" encoding="utf-8"?>
<p:tagLst xmlns:a="http://schemas.openxmlformats.org/drawingml/2006/main" xmlns:r="http://schemas.openxmlformats.org/officeDocument/2006/relationships" xmlns:p="http://schemas.openxmlformats.org/presentationml/2006/main">
  <p:tag name="TIMING" val="|1.3|26|4.7|8.8|9.1"/>
</p:tagLst>
</file>

<file path=ppt/tags/tag20.xml><?xml version="1.0" encoding="utf-8"?>
<p:tagLst xmlns:a="http://schemas.openxmlformats.org/drawingml/2006/main" xmlns:r="http://schemas.openxmlformats.org/officeDocument/2006/relationships" xmlns:p="http://schemas.openxmlformats.org/presentationml/2006/main">
  <p:tag name="TIMING" val="|28.9|9.4|25.6"/>
</p:tagLst>
</file>

<file path=ppt/tags/tag21.xml><?xml version="1.0" encoding="utf-8"?>
<p:tagLst xmlns:a="http://schemas.openxmlformats.org/drawingml/2006/main" xmlns:r="http://schemas.openxmlformats.org/officeDocument/2006/relationships" xmlns:p="http://schemas.openxmlformats.org/presentationml/2006/main">
  <p:tag name="TIMING" val="|10.1|32.3"/>
</p:tagLst>
</file>

<file path=ppt/tags/tag22.xml><?xml version="1.0" encoding="utf-8"?>
<p:tagLst xmlns:a="http://schemas.openxmlformats.org/drawingml/2006/main" xmlns:r="http://schemas.openxmlformats.org/officeDocument/2006/relationships" xmlns:p="http://schemas.openxmlformats.org/presentationml/2006/main">
  <p:tag name="TIMING" val="|34.7"/>
</p:tagLst>
</file>

<file path=ppt/tags/tag23.xml><?xml version="1.0" encoding="utf-8"?>
<p:tagLst xmlns:a="http://schemas.openxmlformats.org/drawingml/2006/main" xmlns:r="http://schemas.openxmlformats.org/officeDocument/2006/relationships" xmlns:p="http://schemas.openxmlformats.org/presentationml/2006/main">
  <p:tag name="TIMING" val="|12.7|8.1|19.4|27.6|4.8"/>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F935A313-AA73-40DA-9A7E-280E38D4ACF7}" vid="{2C9FAF92-E915-4571-AAA6-F0001F18E262}"/>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F935A313-AA73-40DA-9A7E-280E38D4ACF7}" vid="{2C9FAF92-E915-4571-AAA6-F0001F18E262}"/>
    </a:ext>
  </a:ext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F935A313-AA73-40DA-9A7E-280E38D4ACF7}" vid="{2C9FAF92-E915-4571-AAA6-F0001F18E262}"/>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第一章概述</Template>
  <TotalTime>18605</TotalTime>
  <Words>2546</Words>
  <Application>Microsoft Office PowerPoint</Application>
  <PresentationFormat>全屏显示(4:3)</PresentationFormat>
  <Paragraphs>514</Paragraphs>
  <Slides>37</Slides>
  <Notes>18</Notes>
  <HiddenSlides>0</HiddenSlides>
  <MMClips>0</MMClips>
  <ScaleCrop>false</ScaleCrop>
  <HeadingPairs>
    <vt:vector size="8" baseType="variant">
      <vt:variant>
        <vt:lpstr>已用的字体</vt:lpstr>
      </vt:variant>
      <vt:variant>
        <vt:i4>9</vt:i4>
      </vt:variant>
      <vt:variant>
        <vt:lpstr>主题</vt:lpstr>
      </vt:variant>
      <vt:variant>
        <vt:i4>4</vt:i4>
      </vt:variant>
      <vt:variant>
        <vt:lpstr>嵌入 OLE 服务器</vt:lpstr>
      </vt:variant>
      <vt:variant>
        <vt:i4>1</vt:i4>
      </vt:variant>
      <vt:variant>
        <vt:lpstr>幻灯片标题</vt:lpstr>
      </vt:variant>
      <vt:variant>
        <vt:i4>37</vt:i4>
      </vt:variant>
    </vt:vector>
  </HeadingPairs>
  <TitlesOfParts>
    <vt:vector size="51" baseType="lpstr">
      <vt:lpstr>黑体</vt:lpstr>
      <vt:lpstr>华文楷体</vt:lpstr>
      <vt:lpstr>Arial</vt:lpstr>
      <vt:lpstr>Arial Black</vt:lpstr>
      <vt:lpstr>Calibri</vt:lpstr>
      <vt:lpstr>Cambria Math</vt:lpstr>
      <vt:lpstr>Tahoma</vt:lpstr>
      <vt:lpstr>Times New Roman</vt:lpstr>
      <vt:lpstr>Wingdings</vt:lpstr>
      <vt:lpstr>Pixel</vt:lpstr>
      <vt:lpstr>自定义设计方案</vt:lpstr>
      <vt:lpstr>1_自定义设计方案</vt:lpstr>
      <vt:lpstr>2_自定义设计方案</vt:lpstr>
      <vt:lpstr>Visio</vt:lpstr>
      <vt:lpstr>第二章 直连网络(1)   </vt:lpstr>
      <vt:lpstr>回顾网络构成</vt:lpstr>
      <vt:lpstr>回顾数据封装过程</vt:lpstr>
      <vt:lpstr>构建直连网络需要解决的问题</vt:lpstr>
      <vt:lpstr>提纲</vt:lpstr>
      <vt:lpstr>常用术语</vt:lpstr>
      <vt:lpstr>信道相关概念</vt:lpstr>
      <vt:lpstr>信道相关概念</vt:lpstr>
      <vt:lpstr>信道相关概念</vt:lpstr>
      <vt:lpstr>(一）编码</vt:lpstr>
      <vt:lpstr>(一）编码</vt:lpstr>
      <vt:lpstr>(一）编码（非差分编码：0、1固定编码，无关联）</vt:lpstr>
      <vt:lpstr>(一）编码（差分编码：0、1之间有关联）</vt:lpstr>
      <vt:lpstr>(一）编码（双相码：相位相关，有关联）</vt:lpstr>
      <vt:lpstr>（二）带通调制/载波调制</vt:lpstr>
      <vt:lpstr>数字信号调制</vt:lpstr>
      <vt:lpstr>模拟信号调制</vt:lpstr>
      <vt:lpstr>信道容量与计算</vt:lpstr>
      <vt:lpstr>信道容量与计算</vt:lpstr>
      <vt:lpstr>信道容量与计算</vt:lpstr>
      <vt:lpstr>提纲</vt:lpstr>
      <vt:lpstr>2.2 网络构件</vt:lpstr>
      <vt:lpstr>网络结点</vt:lpstr>
      <vt:lpstr>网络适配器</vt:lpstr>
      <vt:lpstr>网络适配器</vt:lpstr>
      <vt:lpstr>网络适配器</vt:lpstr>
      <vt:lpstr>网络链路</vt:lpstr>
      <vt:lpstr>网络链路</vt:lpstr>
      <vt:lpstr>导引型传输媒体</vt:lpstr>
      <vt:lpstr>导引型传输媒体</vt:lpstr>
      <vt:lpstr>导引型传输媒体</vt:lpstr>
      <vt:lpstr>导引型传输媒体</vt:lpstr>
      <vt:lpstr>导引型传输媒体</vt:lpstr>
      <vt:lpstr>非导引型传输媒体</vt:lpstr>
      <vt:lpstr>非导引型传输媒体</vt:lpstr>
      <vt:lpstr>非导引型传输媒体</vt:lpstr>
      <vt:lpstr>两种链路类型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计算机网络概述</dc:title>
  <dc:creator>zhw</dc:creator>
  <cp:lastModifiedBy>Yujun Zhang</cp:lastModifiedBy>
  <cp:revision>852</cp:revision>
  <dcterms:created xsi:type="dcterms:W3CDTF">2017-02-02T15:53:23Z</dcterms:created>
  <dcterms:modified xsi:type="dcterms:W3CDTF">2026-09-06T15:45:34Z</dcterms:modified>
</cp:coreProperties>
</file>