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7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14.xml" ContentType="application/vnd.openxmlformats-officedocument.presentationml.notesSlide+xml"/>
  <Override PartName="/ppt/tags/tag18.xml" ContentType="application/vnd.openxmlformats-officedocument.presentationml.tags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21.xml" ContentType="application/vnd.openxmlformats-officedocument.presentationml.tags+xml"/>
  <Override PartName="/ppt/notesSlides/notesSlide21.xml" ContentType="application/vnd.openxmlformats-officedocument.presentationml.notesSlid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27.xml" ContentType="application/vnd.openxmlformats-officedocument.presentationml.tags+xml"/>
  <Override PartName="/ppt/notesSlides/notesSlide27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28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29.xml" ContentType="application/vnd.openxmlformats-officedocument.presentationml.notesSlide+xml"/>
  <Override PartName="/ppt/tags/tag32.xml" ContentType="application/vnd.openxmlformats-officedocument.presentationml.tags+xml"/>
  <Override PartName="/ppt/notesSlides/notesSlide30.xml" ContentType="application/vnd.openxmlformats-officedocument.presentationml.notesSlide+xml"/>
  <Override PartName="/ppt/tags/tag33.xml" ContentType="application/vnd.openxmlformats-officedocument.presentationml.tags+xml"/>
  <Override PartName="/ppt/notesSlides/notesSlide31.xml" ContentType="application/vnd.openxmlformats-officedocument.presentationml.notesSlide+xml"/>
  <Override PartName="/ppt/tags/tag34.xml" ContentType="application/vnd.openxmlformats-officedocument.presentationml.tags+xml"/>
  <Override PartName="/ppt/notesSlides/notesSlide32.xml" ContentType="application/vnd.openxmlformats-officedocument.presentationml.notesSlide+xml"/>
  <Override PartName="/ppt/tags/tag35.xml" ContentType="application/vnd.openxmlformats-officedocument.presentationml.tags+xml"/>
  <Override PartName="/ppt/notesSlides/notesSlide33.xml" ContentType="application/vnd.openxmlformats-officedocument.presentationml.notesSlide+xml"/>
  <Override PartName="/ppt/tags/tag36.xml" ContentType="application/vnd.openxmlformats-officedocument.presentationml.tags+xml"/>
  <Override PartName="/ppt/notesSlides/notesSlide34.xml" ContentType="application/vnd.openxmlformats-officedocument.presentationml.notesSlide+xml"/>
  <Override PartName="/ppt/tags/tag37.xml" ContentType="application/vnd.openxmlformats-officedocument.presentationml.tags+xml"/>
  <Override PartName="/ppt/notesSlides/notesSlide35.xml" ContentType="application/vnd.openxmlformats-officedocument.presentationml.notesSlide+xml"/>
  <Override PartName="/ppt/tags/tag38.xml" ContentType="application/vnd.openxmlformats-officedocument.presentationml.tags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  <p:sldMasterId id="2147483685" r:id="rId3"/>
    <p:sldMasterId id="2147483698" r:id="rId4"/>
    <p:sldMasterId id="2147483711" r:id="rId5"/>
    <p:sldMasterId id="2147483724" r:id="rId6"/>
    <p:sldMasterId id="2147483737" r:id="rId7"/>
    <p:sldMasterId id="2147483750" r:id="rId8"/>
  </p:sldMasterIdLst>
  <p:notesMasterIdLst>
    <p:notesMasterId r:id="rId60"/>
  </p:notesMasterIdLst>
  <p:handoutMasterIdLst>
    <p:handoutMasterId r:id="rId61"/>
  </p:handoutMasterIdLst>
  <p:sldIdLst>
    <p:sldId id="610" r:id="rId9"/>
    <p:sldId id="256" r:id="rId10"/>
    <p:sldId id="584" r:id="rId11"/>
    <p:sldId id="585" r:id="rId12"/>
    <p:sldId id="586" r:id="rId13"/>
    <p:sldId id="587" r:id="rId14"/>
    <p:sldId id="588" r:id="rId15"/>
    <p:sldId id="589" r:id="rId16"/>
    <p:sldId id="590" r:id="rId17"/>
    <p:sldId id="591" r:id="rId18"/>
    <p:sldId id="592" r:id="rId19"/>
    <p:sldId id="593" r:id="rId20"/>
    <p:sldId id="492" r:id="rId21"/>
    <p:sldId id="493" r:id="rId22"/>
    <p:sldId id="494" r:id="rId23"/>
    <p:sldId id="495" r:id="rId24"/>
    <p:sldId id="496" r:id="rId25"/>
    <p:sldId id="497" r:id="rId26"/>
    <p:sldId id="498" r:id="rId27"/>
    <p:sldId id="499" r:id="rId28"/>
    <p:sldId id="500" r:id="rId29"/>
    <p:sldId id="501" r:id="rId30"/>
    <p:sldId id="502" r:id="rId31"/>
    <p:sldId id="503" r:id="rId32"/>
    <p:sldId id="504" r:id="rId33"/>
    <p:sldId id="505" r:id="rId34"/>
    <p:sldId id="527" r:id="rId35"/>
    <p:sldId id="506" r:id="rId36"/>
    <p:sldId id="507" r:id="rId37"/>
    <p:sldId id="508" r:id="rId38"/>
    <p:sldId id="509" r:id="rId39"/>
    <p:sldId id="510" r:id="rId40"/>
    <p:sldId id="511" r:id="rId41"/>
    <p:sldId id="512" r:id="rId42"/>
    <p:sldId id="513" r:id="rId43"/>
    <p:sldId id="514" r:id="rId44"/>
    <p:sldId id="515" r:id="rId45"/>
    <p:sldId id="516" r:id="rId46"/>
    <p:sldId id="517" r:id="rId47"/>
    <p:sldId id="518" r:id="rId48"/>
    <p:sldId id="519" r:id="rId49"/>
    <p:sldId id="520" r:id="rId50"/>
    <p:sldId id="521" r:id="rId51"/>
    <p:sldId id="522" r:id="rId52"/>
    <p:sldId id="523" r:id="rId53"/>
    <p:sldId id="524" r:id="rId54"/>
    <p:sldId id="525" r:id="rId55"/>
    <p:sldId id="526" r:id="rId56"/>
    <p:sldId id="611" r:id="rId57"/>
    <p:sldId id="613" r:id="rId58"/>
    <p:sldId id="612" r:id="rId5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2F2F8"/>
    <a:srgbClr val="9898CC"/>
    <a:srgbClr val="808080"/>
    <a:srgbClr val="336699"/>
    <a:srgbClr val="0000CC"/>
    <a:srgbClr val="000000"/>
    <a:srgbClr val="CC9900"/>
    <a:srgbClr val="9A96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70015" autoAdjust="0"/>
  </p:normalViewPr>
  <p:slideViewPr>
    <p:cSldViewPr snapToGrid="0">
      <p:cViewPr varScale="1">
        <p:scale>
          <a:sx n="53" d="100"/>
          <a:sy n="53" d="100"/>
        </p:scale>
        <p:origin x="1684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0" d="100"/>
          <a:sy n="70" d="100"/>
        </p:scale>
        <p:origin x="324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63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9" Type="http://schemas.openxmlformats.org/officeDocument/2006/relationships/slide" Target="slides/slide21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5" Type="http://schemas.openxmlformats.org/officeDocument/2006/relationships/slideMaster" Target="slideMasters/slideMaster5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notesMaster" Target="notesMasters/notesMaster1.xml"/><Relationship Id="rId65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DB2FCF-0690-4A6A-96F6-85812F51A4F3}" type="datetimeFigureOut">
              <a:rPr lang="zh-CN" altLang="en-US" smtClean="0"/>
              <a:pPr/>
              <a:t>2026/9/15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8B26C7-ACEE-4CF9-9452-6A324A8A449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52289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5F783-0C0C-4437-971D-53EACF12D7BE}" type="datetimeFigureOut">
              <a:rPr lang="zh-CN" altLang="en-US" smtClean="0"/>
              <a:pPr/>
              <a:t>2026/9/15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DC233E-39C6-4AB0-A67B-6BD0A5E8E2F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33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1802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4056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316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44031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675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29239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5353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665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3645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7039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146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1387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091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5071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8112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56774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4563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41154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8464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4831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2013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3749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8477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53818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9333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5575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0055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39926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8804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8871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05082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96535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1060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6454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9069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927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hidden">
          <a:xfrm>
            <a:off x="0" y="0"/>
            <a:ext cx="3505200" cy="6858000"/>
          </a:xfrm>
          <a:prstGeom prst="rect">
            <a:avLst/>
          </a:prstGeom>
          <a:gradFill rotWithShape="0">
            <a:gsLst>
              <a:gs pos="0">
                <a:srgbClr val="CCE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1187453" y="1706566"/>
            <a:ext cx="574675" cy="642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573090" y="3582988"/>
            <a:ext cx="576262" cy="64135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7" name="Picture 21" descr="logo－t-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1" y="1700213"/>
            <a:ext cx="79565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1187450" y="1690690"/>
            <a:ext cx="1103313" cy="64293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2281241" y="1066800"/>
            <a:ext cx="585787" cy="6350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1141413" y="3582988"/>
            <a:ext cx="584200" cy="641350"/>
          </a:xfrm>
          <a:prstGeom prst="rect">
            <a:avLst/>
          </a:prstGeom>
          <a:solidFill>
            <a:srgbClr val="00196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2281241" y="1690690"/>
            <a:ext cx="585787" cy="642937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1141413" y="2324106"/>
            <a:ext cx="584200" cy="6334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1716091" y="2324106"/>
            <a:ext cx="574675" cy="6334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" name="Rectangle 34"/>
          <p:cNvSpPr>
            <a:spLocks noChangeArrowheads="1"/>
          </p:cNvSpPr>
          <p:nvPr/>
        </p:nvSpPr>
        <p:spPr bwMode="auto">
          <a:xfrm>
            <a:off x="1141413" y="2947994"/>
            <a:ext cx="584200" cy="6445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15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8" y="6289675"/>
            <a:ext cx="22907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28"/>
          <p:cNvGrpSpPr>
            <a:grpSpLocks/>
          </p:cNvGrpSpPr>
          <p:nvPr/>
        </p:nvGrpSpPr>
        <p:grpSpPr bwMode="auto">
          <a:xfrm>
            <a:off x="339725" y="6335713"/>
            <a:ext cx="1951038" cy="412750"/>
            <a:chOff x="317485" y="6328079"/>
            <a:chExt cx="1950259" cy="413289"/>
          </a:xfrm>
        </p:grpSpPr>
        <p:grpSp>
          <p:nvGrpSpPr>
            <p:cNvPr id="17" name="Group 19"/>
            <p:cNvGrpSpPr>
              <a:grpSpLocks/>
            </p:cNvGrpSpPr>
            <p:nvPr userDrawn="1"/>
          </p:nvGrpSpPr>
          <p:grpSpPr bwMode="auto">
            <a:xfrm>
              <a:off x="317485" y="6328079"/>
              <a:ext cx="504751" cy="413289"/>
              <a:chOff x="249" y="414"/>
              <a:chExt cx="681" cy="586"/>
            </a:xfrm>
          </p:grpSpPr>
          <p:pic>
            <p:nvPicPr>
              <p:cNvPr id="20" name="Picture 20" descr="logo－b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36"/>
                <a:ext cx="681" cy="5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Picture 21" descr="logo"/>
              <p:cNvPicPr>
                <a:picLocks noChangeAspect="1" noChangeArrowheads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14"/>
                <a:ext cx="681" cy="5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8" name="Picture 22" descr="logo－zi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082" y="6386484"/>
              <a:ext cx="974503" cy="2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3" descr="logo－Y-H-1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831" y="6616168"/>
              <a:ext cx="13319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651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10651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1547664" y="2028036"/>
            <a:ext cx="7560840" cy="2010569"/>
          </a:xfrm>
        </p:spPr>
        <p:txBody>
          <a:bodyPr/>
          <a:lstStyle>
            <a:lvl1pPr algn="ctr">
              <a:defRPr sz="40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23" name="Rectangle 1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4" name="Rectangle 1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5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0A3781D2-0FC0-429B-B9FE-5030B6E54291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72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560"/>
          </a:xfrm>
        </p:spPr>
        <p:txBody>
          <a:bodyPr/>
          <a:lstStyle>
            <a:lvl1pPr>
              <a:defRPr sz="3600" b="1">
                <a:effectLst/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034843"/>
          </a:xfrm>
        </p:spPr>
        <p:txBody>
          <a:bodyPr/>
          <a:lstStyle>
            <a:lvl1pPr>
              <a:lnSpc>
                <a:spcPct val="150000"/>
              </a:lnSpc>
              <a:defRPr sz="2400" b="0" baseline="0"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>
              <a:defRPr sz="2000" b="0" baseline="0"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defRPr sz="1800" b="0" baseline="0"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827911" y="6705599"/>
            <a:ext cx="208843" cy="152401"/>
          </a:xfrm>
          <a:ln/>
        </p:spPr>
        <p:txBody>
          <a:bodyPr lIns="0" tIns="0" rIns="0" bIns="0"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AE9093-A4E2-4ED4-AAFA-F803B756B8DD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40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D3EE5A-7480-4B4A-838B-B5929882DECF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621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0C815E-B128-4FAE-9EDE-FEA89F6F958C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541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6C8468-6983-4678-9AAB-4D2ABEF84341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057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2D5C6D-787B-474F-BCC3-F53F5951B20A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879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3B29B9-1B90-4121-8663-FE563B07C9D8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16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397EA2-195E-4D7E-B5BC-907A7C70C3E2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093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F8BEF2-D925-49E7-9561-3704E2CF9A2D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97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AEF739-1766-471D-BA9F-A4322C6F8843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707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922407-BCB3-4B2A-B7F9-3492D5F65C0B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259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036C-30ED-475C-AF32-13C3C17B8B0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777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1201-E2F4-433C-8650-6712FD08D17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062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EC36-783B-4B7F-9CA0-04709EFBA72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013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C250-9652-46DA-95BA-C2F9287BD97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042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372F-15A7-45C4-87DB-D1434446AB2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245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A9C2-71DD-4310-BBAB-E4D4958B0EF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201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2078-E184-453C-8552-860B076765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179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7BEB-2C37-43CB-8768-1A49ECD4CEA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362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59AD-F653-4BF1-8B95-DD00660FBC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2651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E879-AB21-456C-9121-AD17927CB7B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3464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66897-8650-4CA3-9E1A-F1B827F867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8255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5F98-A751-4323-93BF-DB3E7A688F2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636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036C-30ED-475C-AF32-13C3C17B8B0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4100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1201-E2F4-433C-8650-6712FD08D17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2743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EC36-783B-4B7F-9CA0-04709EFBA72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3953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C250-9652-46DA-95BA-C2F9287BD97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0649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372F-15A7-45C4-87DB-D1434446AB2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5923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A9C2-71DD-4310-BBAB-E4D4958B0EF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1224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2078-E184-453C-8552-860B076765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4012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7BEB-2C37-43CB-8768-1A49ECD4CEA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3475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59AD-F653-4BF1-8B95-DD00660FBC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8411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E879-AB21-456C-9121-AD17927CB7B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2611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66897-8650-4CA3-9E1A-F1B827F867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8777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5F98-A751-4323-93BF-DB3E7A688F2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62413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036C-30ED-475C-AF32-13C3C17B8B0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5376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1201-E2F4-433C-8650-6712FD08D17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0881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EC36-783B-4B7F-9CA0-04709EFBA72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6054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C250-9652-46DA-95BA-C2F9287BD97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647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372F-15A7-45C4-87DB-D1434446AB2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1128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A9C2-71DD-4310-BBAB-E4D4958B0EF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9005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2078-E184-453C-8552-860B076765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1979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7BEB-2C37-43CB-8768-1A49ECD4CEA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93717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59AD-F653-4BF1-8B95-DD00660FBC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844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E879-AB21-456C-9121-AD17927CB7B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89665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66897-8650-4CA3-9E1A-F1B827F867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4178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5F98-A751-4323-93BF-DB3E7A688F2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13468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036C-30ED-475C-AF32-13C3C17B8B0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5679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1201-E2F4-433C-8650-6712FD08D17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89570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EC36-783B-4B7F-9CA0-04709EFBA72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1116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C250-9652-46DA-95BA-C2F9287BD97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121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372F-15A7-45C4-87DB-D1434446AB2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8959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A9C2-71DD-4310-BBAB-E4D4958B0EF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4987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2078-E184-453C-8552-860B076765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83074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7BEB-2C37-43CB-8768-1A49ECD4CEA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62978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59AD-F653-4BF1-8B95-DD00660FBC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59520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E879-AB21-456C-9121-AD17927CB7B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8550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66897-8650-4CA3-9E1A-F1B827F867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02012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5F98-A751-4323-93BF-DB3E7A688F2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863823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036C-30ED-475C-AF32-13C3C17B8B0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03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1201-E2F4-433C-8650-6712FD08D17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23334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EC36-783B-4B7F-9CA0-04709EFBA72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10667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C250-9652-46DA-95BA-C2F9287BD97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41257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372F-15A7-45C4-87DB-D1434446AB2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96519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A9C2-71DD-4310-BBAB-E4D4958B0EF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9115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2078-E184-453C-8552-860B076765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13845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7BEB-2C37-43CB-8768-1A49ECD4CEA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9719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59AD-F653-4BF1-8B95-DD00660FBC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92249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E879-AB21-456C-9121-AD17927CB7B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1851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66897-8650-4CA3-9E1A-F1B827F867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87017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5F98-A751-4323-93BF-DB3E7A688F2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90913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036C-30ED-475C-AF32-13C3C17B8B0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32831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1201-E2F4-433C-8650-6712FD08D17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02019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EC36-783B-4B7F-9CA0-04709EFBA72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31004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C250-9652-46DA-95BA-C2F9287BD97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59386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372F-15A7-45C4-87DB-D1434446AB2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93530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A9C2-71DD-4310-BBAB-E4D4958B0EF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04988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2078-E184-453C-8552-860B076765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21865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7BEB-2C37-43CB-8768-1A49ECD4CEA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7282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59AD-F653-4BF1-8B95-DD00660FBC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90069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E879-AB21-456C-9121-AD17927CB7B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99699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66897-8650-4CA3-9E1A-F1B827F867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99108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5F98-A751-4323-93BF-DB3E7A688F2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367342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036C-30ED-475C-AF32-13C3C17B8B0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93990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1201-E2F4-433C-8650-6712FD08D17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64042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EC36-783B-4B7F-9CA0-04709EFBA72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94913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C250-9652-46DA-95BA-C2F9287BD97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73814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372F-15A7-45C4-87DB-D1434446AB2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04137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A9C2-71DD-4310-BBAB-E4D4958B0EF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62278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2078-E184-453C-8552-860B076765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96712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7BEB-2C37-43CB-8768-1A49ECD4CEA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2236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59AD-F653-4BF1-8B95-DD00660FBC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07763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E879-AB21-456C-9121-AD17927CB7B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81406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66897-8650-4CA3-9E1A-F1B827F867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95583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5F98-A751-4323-93BF-DB3E7A688F2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9446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5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fld id="{3642891A-AB75-4714-BBBF-90ED55B80069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73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3A97BF3E-1736-4D84-A356-468CCD4E93B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199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3A97BF3E-1736-4D84-A356-468CCD4E93B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983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3A97BF3E-1736-4D84-A356-468CCD4E93B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48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3A97BF3E-1736-4D84-A356-468CCD4E93B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638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3A97BF3E-1736-4D84-A356-468CCD4E93B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602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3A97BF3E-1736-4D84-A356-468CCD4E93B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985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3A97BF3E-1736-4D84-A356-468CCD4E93B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530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91.png"/><Relationship Id="rId5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9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4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7" Type="http://schemas.openxmlformats.org/officeDocument/2006/relationships/image" Target="NUL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4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6" Type="http://schemas.openxmlformats.org/officeDocument/2006/relationships/image" Target="../media/image1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4" Type="http://schemas.openxmlformats.org/officeDocument/2006/relationships/image" Target="../media/image1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4" Type="http://schemas.openxmlformats.org/officeDocument/2006/relationships/image" Target="../media/image1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notesSlide" Target="../notesSlides/notesSlide33.xml"/><Relationship Id="rId7" Type="http://schemas.openxmlformats.org/officeDocument/2006/relationships/image" Target="NUL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Relationship Id="rId4" Type="http://schemas.openxmlformats.org/officeDocument/2006/relationships/image" Target="../media/image11.png"/><Relationship Id="rId9" Type="http://schemas.openxmlformats.org/officeDocument/2006/relationships/image" Target="NUL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notesSlide" Target="../notesSlides/notesSlide34.xml"/><Relationship Id="rId7" Type="http://schemas.openxmlformats.org/officeDocument/2006/relationships/image" Target="NUL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4" Type="http://schemas.openxmlformats.org/officeDocument/2006/relationships/image" Target="../media/image11.png"/><Relationship Id="rId9" Type="http://schemas.openxmlformats.org/officeDocument/2006/relationships/image" Target="NUL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4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两种链路类型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2698" y="1251252"/>
            <a:ext cx="8229600" cy="5034843"/>
          </a:xfrm>
        </p:spPr>
        <p:txBody>
          <a:bodyPr/>
          <a:lstStyle/>
          <a:p>
            <a:r>
              <a:rPr lang="zh-CN" altLang="en-US" dirty="0"/>
              <a:t>点对点链路 </a:t>
            </a:r>
            <a:r>
              <a:rPr lang="en-US" altLang="zh-CN" dirty="0"/>
              <a:t>(point-to-point)</a:t>
            </a:r>
          </a:p>
          <a:p>
            <a:pPr lvl="1"/>
            <a:r>
              <a:rPr lang="zh-CN" altLang="en-US" dirty="0"/>
              <a:t>链路一端的单个发送方和另一端的单个接收方组成</a:t>
            </a:r>
            <a:endParaRPr lang="en-US" altLang="zh-CN" dirty="0"/>
          </a:p>
          <a:p>
            <a:pPr lvl="1"/>
            <a:r>
              <a:rPr lang="zh-CN" altLang="en-US" dirty="0"/>
              <a:t>许多链路层协议为点对点链路设计</a:t>
            </a:r>
            <a:endParaRPr lang="en-US" altLang="zh-CN" dirty="0"/>
          </a:p>
          <a:p>
            <a:pPr lvl="2"/>
            <a:r>
              <a:rPr lang="zh-CN" altLang="en-US" dirty="0"/>
              <a:t>点对点协议</a:t>
            </a:r>
            <a:r>
              <a:rPr lang="en-US" altLang="zh-CN" dirty="0"/>
              <a:t>(Point-to-Point Protocol, PPP)</a:t>
            </a:r>
          </a:p>
          <a:p>
            <a:pPr lvl="2"/>
            <a:r>
              <a:rPr lang="zh-CN" altLang="en-US" dirty="0"/>
              <a:t>高级数据链路控制协议 </a:t>
            </a:r>
            <a:r>
              <a:rPr lang="en-US" altLang="zh-CN" dirty="0"/>
              <a:t>(High-level Data Link Control, HDLC)</a:t>
            </a:r>
          </a:p>
          <a:p>
            <a:pPr>
              <a:spcBef>
                <a:spcPts val="1800"/>
              </a:spcBef>
            </a:pPr>
            <a:r>
              <a:rPr lang="zh-CN" altLang="en-US" dirty="0"/>
              <a:t>广播链路（多路访问）</a:t>
            </a:r>
            <a:endParaRPr lang="en-US" altLang="zh-CN" dirty="0"/>
          </a:p>
          <a:p>
            <a:pPr lvl="1"/>
            <a:r>
              <a:rPr lang="zh-CN" altLang="en-US" dirty="0"/>
              <a:t>能够让多个结点都连接到相同的、单一的、共享的广播信道</a:t>
            </a:r>
            <a:endParaRPr lang="en-US" altLang="zh-CN" dirty="0"/>
          </a:p>
          <a:p>
            <a:pPr lvl="1"/>
            <a:r>
              <a:rPr lang="zh-CN" altLang="en-US" dirty="0"/>
              <a:t>任何结点发送一帧时，所有结点都能接收到</a:t>
            </a:r>
            <a:endParaRPr lang="en-US" altLang="zh-CN" dirty="0"/>
          </a:p>
          <a:p>
            <a:pPr lvl="1"/>
            <a:r>
              <a:rPr lang="zh-CN" altLang="en-US" dirty="0"/>
              <a:t>需要解决媒体共享的问题 </a:t>
            </a:r>
            <a:r>
              <a:rPr lang="en-US" altLang="zh-CN" dirty="0"/>
              <a:t>(</a:t>
            </a:r>
            <a:r>
              <a:rPr lang="zh-CN" altLang="en-US" dirty="0"/>
              <a:t>介质接入控制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以太网、无线局域网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</a:t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778532" y="5748535"/>
            <a:ext cx="7736852" cy="903024"/>
            <a:chOff x="1158240" y="2548128"/>
            <a:chExt cx="7736852" cy="903024"/>
          </a:xfrm>
        </p:grpSpPr>
        <p:sp>
          <p:nvSpPr>
            <p:cNvPr id="6" name="圆角矩形 5"/>
            <p:cNvSpPr/>
            <p:nvPr/>
          </p:nvSpPr>
          <p:spPr>
            <a:xfrm>
              <a:off x="1158240" y="2548128"/>
              <a:ext cx="7736852" cy="854467"/>
            </a:xfrm>
            <a:prstGeom prst="roundRect">
              <a:avLst>
                <a:gd name="adj" fmla="val 1407"/>
              </a:avLst>
            </a:prstGeom>
            <a:solidFill>
              <a:srgbClr val="EBEBF5"/>
            </a:solidFill>
            <a:ln>
              <a:solidFill>
                <a:srgbClr val="EFEFF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Text Box 48"/>
            <p:cNvSpPr txBox="1">
              <a:spLocks noChangeArrowheads="1"/>
            </p:cNvSpPr>
            <p:nvPr/>
          </p:nvSpPr>
          <p:spPr bwMode="auto">
            <a:xfrm>
              <a:off x="2319967" y="3094818"/>
              <a:ext cx="723275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点对点</a:t>
              </a:r>
              <a:endParaRPr kumimoji="1" lang="zh-CN" altLang="en-US" sz="1400" dirty="0">
                <a:ea typeface="黑体" panose="02010609060101010101" pitchFamily="49" charset="-122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1274064" y="2750376"/>
              <a:ext cx="3237386" cy="379975"/>
              <a:chOff x="993648" y="3091752"/>
              <a:chExt cx="3237386" cy="379975"/>
            </a:xfrm>
          </p:grpSpPr>
          <p:sp>
            <p:nvSpPr>
              <p:cNvPr id="20" name="圆角矩形 19"/>
              <p:cNvSpPr/>
              <p:nvPr/>
            </p:nvSpPr>
            <p:spPr>
              <a:xfrm>
                <a:off x="1450848" y="3307081"/>
                <a:ext cx="2304288" cy="4571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21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93648" y="3091752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2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55136" y="3095027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9" name="组合 8"/>
            <p:cNvGrpSpPr/>
            <p:nvPr/>
          </p:nvGrpSpPr>
          <p:grpSpPr>
            <a:xfrm>
              <a:off x="5132830" y="2592678"/>
              <a:ext cx="3108961" cy="587909"/>
              <a:chOff x="4901182" y="3031590"/>
              <a:chExt cx="3108961" cy="587909"/>
            </a:xfrm>
          </p:grpSpPr>
          <p:sp>
            <p:nvSpPr>
              <p:cNvPr id="11" name="圆角矩形 10"/>
              <p:cNvSpPr/>
              <p:nvPr/>
            </p:nvSpPr>
            <p:spPr>
              <a:xfrm>
                <a:off x="4901182" y="3573780"/>
                <a:ext cx="3108961" cy="45719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5365383" y="3385430"/>
                <a:ext cx="0" cy="18835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3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94693" y="3031590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4" name="直接连接符 13"/>
              <p:cNvCxnSpPr/>
              <p:nvPr/>
            </p:nvCxnSpPr>
            <p:spPr>
              <a:xfrm>
                <a:off x="6054231" y="3391526"/>
                <a:ext cx="0" cy="18835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83541" y="3037686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6" name="直接连接符 15"/>
              <p:cNvCxnSpPr/>
              <p:nvPr/>
            </p:nvCxnSpPr>
            <p:spPr>
              <a:xfrm>
                <a:off x="6846711" y="3391526"/>
                <a:ext cx="0" cy="18835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7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76021" y="3037686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8" name="直接连接符 17"/>
              <p:cNvCxnSpPr/>
              <p:nvPr/>
            </p:nvCxnSpPr>
            <p:spPr>
              <a:xfrm>
                <a:off x="7474599" y="3397622"/>
                <a:ext cx="0" cy="188350"/>
              </a:xfrm>
              <a:prstGeom prst="line">
                <a:avLst/>
              </a:prstGeom>
              <a:ln w="158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9" name="Picture 37"/>
              <p:cNvPicPr>
                <a:picLocks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03909" y="3043782"/>
                <a:ext cx="475898" cy="3767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0" name="Text Box 48"/>
            <p:cNvSpPr txBox="1">
              <a:spLocks noChangeArrowheads="1"/>
            </p:cNvSpPr>
            <p:nvPr/>
          </p:nvSpPr>
          <p:spPr bwMode="auto">
            <a:xfrm>
              <a:off x="6063270" y="3143375"/>
              <a:ext cx="902811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sz="1400" dirty="0">
                  <a:ea typeface="黑体" panose="02010609060101010101" pitchFamily="49" charset="-122"/>
                </a:rPr>
                <a:t>多路访问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9076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第二章 直连网络</a:t>
            </a:r>
            <a:r>
              <a:rPr lang="en-US" altLang="zh-CN" dirty="0"/>
              <a:t>(2)      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3500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442524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2.1  </a:t>
            </a:r>
            <a:r>
              <a:rPr lang="zh-CN" altLang="en-US" dirty="0"/>
              <a:t>数据通信的基本概念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2.2  </a:t>
            </a:r>
            <a:r>
              <a:rPr lang="zh-CN" altLang="en-US" dirty="0"/>
              <a:t>网络构件</a:t>
            </a:r>
            <a:endParaRPr lang="en-US" altLang="zh-CN" dirty="0"/>
          </a:p>
          <a:p>
            <a:r>
              <a:rPr lang="en-US" altLang="zh-CN"/>
              <a:t>2.3  </a:t>
            </a:r>
            <a:r>
              <a:rPr lang="zh-CN" altLang="en-US" dirty="0"/>
              <a:t>组帧</a:t>
            </a:r>
          </a:p>
          <a:p>
            <a:r>
              <a:rPr lang="en-US" altLang="zh-CN"/>
              <a:t>2.4  </a:t>
            </a:r>
            <a:r>
              <a:rPr lang="zh-CN" altLang="en-US" dirty="0"/>
              <a:t>差错检测</a:t>
            </a:r>
          </a:p>
          <a:p>
            <a:r>
              <a:rPr lang="en-US" altLang="zh-CN"/>
              <a:t>2.5  </a:t>
            </a:r>
            <a:r>
              <a:rPr lang="zh-CN" altLang="en-US" dirty="0"/>
              <a:t>可靠传输</a:t>
            </a:r>
          </a:p>
          <a:p>
            <a:r>
              <a:rPr lang="en-US" altLang="zh-CN"/>
              <a:t>2.6  </a:t>
            </a:r>
            <a:r>
              <a:rPr lang="zh-CN" altLang="en-US" dirty="0"/>
              <a:t>媒体共享</a:t>
            </a:r>
            <a:endParaRPr lang="en-US" altLang="zh-CN" dirty="0"/>
          </a:p>
          <a:p>
            <a:r>
              <a:rPr lang="en-US" altLang="zh-CN"/>
              <a:t>2.7  </a:t>
            </a:r>
            <a:r>
              <a:rPr lang="zh-CN" altLang="en-US" dirty="0"/>
              <a:t>以太网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46629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99009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6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7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9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3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6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矩形 232"/>
          <p:cNvSpPr/>
          <p:nvPr/>
        </p:nvSpPr>
        <p:spPr>
          <a:xfrm>
            <a:off x="6544019" y="4554330"/>
            <a:ext cx="2555266" cy="1352550"/>
          </a:xfrm>
          <a:prstGeom prst="rect">
            <a:avLst/>
          </a:prstGeom>
          <a:solidFill>
            <a:srgbClr val="EFE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53882" dir="2700000" algn="ctr" rotWithShape="0">
              <a:srgbClr val="1C1C1C"/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 kern="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34" name="矩形 233"/>
          <p:cNvSpPr/>
          <p:nvPr/>
        </p:nvSpPr>
        <p:spPr>
          <a:xfrm>
            <a:off x="760164" y="4546332"/>
            <a:ext cx="2977076" cy="1338263"/>
          </a:xfrm>
          <a:prstGeom prst="rect">
            <a:avLst/>
          </a:prstGeom>
          <a:solidFill>
            <a:srgbClr val="EFE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53882" dir="2700000" algn="ctr" rotWithShape="0">
              <a:srgbClr val="1C1C1C"/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 kern="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1942260"/>
          </a:xfrm>
        </p:spPr>
        <p:txBody>
          <a:bodyPr/>
          <a:lstStyle/>
          <a:p>
            <a:pPr>
              <a:lnSpc>
                <a:spcPts val="3000"/>
              </a:lnSpc>
            </a:pPr>
            <a:r>
              <a:rPr lang="zh-CN" altLang="en-US" sz="2000" dirty="0"/>
              <a:t>大部分功能是由网络适配器完成的</a:t>
            </a:r>
            <a:endParaRPr lang="en-US" altLang="zh-CN" sz="2000" dirty="0"/>
          </a:p>
          <a:p>
            <a:pPr lvl="1"/>
            <a:r>
              <a:rPr lang="zh-CN" altLang="en-US" sz="1800" dirty="0"/>
              <a:t>它是一个将结点连接到链路上的硬件</a:t>
            </a:r>
          </a:p>
          <a:p>
            <a:pPr>
              <a:lnSpc>
                <a:spcPts val="3000"/>
              </a:lnSpc>
              <a:spcBef>
                <a:spcPts val="1200"/>
              </a:spcBef>
            </a:pPr>
            <a:r>
              <a:rPr lang="zh-CN" altLang="en-US" sz="2000" dirty="0"/>
              <a:t>网络适配器包括一个信令组件，在发送方可以把比特编码为信号，在接收方可将信号解码为比特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168" name="Rectangle 4"/>
          <p:cNvSpPr>
            <a:spLocks noChangeArrowheads="1"/>
          </p:cNvSpPr>
          <p:nvPr/>
        </p:nvSpPr>
        <p:spPr bwMode="auto">
          <a:xfrm>
            <a:off x="6980238" y="3795446"/>
            <a:ext cx="2011362" cy="1828800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prstDash val="dash"/>
            <a:miter lim="800000"/>
            <a:headEnd/>
            <a:tailEnd/>
          </a:ln>
          <a:effectLst>
            <a:outerShdw dist="53882" dir="2700000" algn="ctr" rotWithShape="0">
              <a:srgbClr val="1C1C1C"/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 kern="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69" name="Rectangle 5"/>
          <p:cNvSpPr>
            <a:spLocks noChangeArrowheads="1"/>
          </p:cNvSpPr>
          <p:nvPr/>
        </p:nvSpPr>
        <p:spPr bwMode="auto">
          <a:xfrm>
            <a:off x="6999288" y="4405046"/>
            <a:ext cx="1981200" cy="6096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70" name="Line 6"/>
          <p:cNvSpPr>
            <a:spLocks noChangeShapeType="1"/>
          </p:cNvSpPr>
          <p:nvPr/>
        </p:nvSpPr>
        <p:spPr bwMode="auto">
          <a:xfrm>
            <a:off x="6980238" y="4403458"/>
            <a:ext cx="2008187" cy="1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71" name="Rectangle 7"/>
          <p:cNvSpPr>
            <a:spLocks noChangeArrowheads="1"/>
          </p:cNvSpPr>
          <p:nvPr/>
        </p:nvSpPr>
        <p:spPr bwMode="auto">
          <a:xfrm>
            <a:off x="7286625" y="4557446"/>
            <a:ext cx="13906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0" cap="none" spc="0" normalizeH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72" name="Line 8"/>
          <p:cNvSpPr>
            <a:spLocks noChangeShapeType="1"/>
          </p:cNvSpPr>
          <p:nvPr/>
        </p:nvSpPr>
        <p:spPr bwMode="auto">
          <a:xfrm>
            <a:off x="6980238" y="5013058"/>
            <a:ext cx="2008187" cy="1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73" name="Rectangle 9"/>
          <p:cNvSpPr>
            <a:spLocks noChangeArrowheads="1"/>
          </p:cNvSpPr>
          <p:nvPr/>
        </p:nvSpPr>
        <p:spPr bwMode="auto">
          <a:xfrm>
            <a:off x="7491413" y="3947846"/>
            <a:ext cx="990600" cy="3048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IP </a:t>
            </a:r>
            <a:r>
              <a:rPr kumimoji="1" lang="zh-CN" altLang="en-US" sz="1800" b="0" i="0" u="none" strike="noStrike" kern="0" cap="none" spc="0" normalizeH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数据报</a:t>
            </a:r>
          </a:p>
        </p:txBody>
      </p:sp>
      <p:sp>
        <p:nvSpPr>
          <p:cNvPr id="174" name="Rectangle 10"/>
          <p:cNvSpPr>
            <a:spLocks noChangeArrowheads="1"/>
          </p:cNvSpPr>
          <p:nvPr/>
        </p:nvSpPr>
        <p:spPr bwMode="auto">
          <a:xfrm>
            <a:off x="7280275" y="5167046"/>
            <a:ext cx="14033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0" cap="none" spc="0" normalizeH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75" name="Rectangle 11"/>
          <p:cNvSpPr>
            <a:spLocks noChangeArrowheads="1"/>
          </p:cNvSpPr>
          <p:nvPr/>
        </p:nvSpPr>
        <p:spPr bwMode="auto">
          <a:xfrm>
            <a:off x="7216775" y="5179746"/>
            <a:ext cx="1391408" cy="299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1010…  …0110</a:t>
            </a:r>
          </a:p>
        </p:txBody>
      </p:sp>
      <p:sp>
        <p:nvSpPr>
          <p:cNvPr id="176" name="AutoShape 12"/>
          <p:cNvSpPr>
            <a:spLocks noChangeArrowheads="1"/>
          </p:cNvSpPr>
          <p:nvPr/>
        </p:nvSpPr>
        <p:spPr bwMode="auto">
          <a:xfrm flipV="1">
            <a:off x="7851775" y="4909871"/>
            <a:ext cx="304800" cy="334962"/>
          </a:xfrm>
          <a:prstGeom prst="downArrow">
            <a:avLst>
              <a:gd name="adj1" fmla="val 50000"/>
              <a:gd name="adj2" fmla="val 43231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77" name="Rectangle 13"/>
          <p:cNvSpPr>
            <a:spLocks noChangeArrowheads="1"/>
          </p:cNvSpPr>
          <p:nvPr/>
        </p:nvSpPr>
        <p:spPr bwMode="auto">
          <a:xfrm>
            <a:off x="7485063" y="4566971"/>
            <a:ext cx="990600" cy="280987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78" name="AutoShape 14"/>
          <p:cNvSpPr>
            <a:spLocks noChangeArrowheads="1"/>
          </p:cNvSpPr>
          <p:nvPr/>
        </p:nvSpPr>
        <p:spPr bwMode="auto">
          <a:xfrm flipV="1">
            <a:off x="7481888" y="4198671"/>
            <a:ext cx="990600" cy="369887"/>
          </a:xfrm>
          <a:prstGeom prst="downArrow">
            <a:avLst>
              <a:gd name="adj1" fmla="val 65389"/>
              <a:gd name="adj2" fmla="val 39394"/>
            </a:avLst>
          </a:prstGeom>
          <a:solidFill>
            <a:srgbClr val="FFCF0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vert="eaVert"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79" name="Text Box 15"/>
          <p:cNvSpPr txBox="1">
            <a:spLocks noChangeArrowheads="1"/>
          </p:cNvSpPr>
          <p:nvPr/>
        </p:nvSpPr>
        <p:spPr bwMode="auto">
          <a:xfrm>
            <a:off x="6948488" y="4511408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帧</a:t>
            </a:r>
          </a:p>
        </p:txBody>
      </p:sp>
      <p:sp>
        <p:nvSpPr>
          <p:cNvPr id="180" name="Rectangle 16"/>
          <p:cNvSpPr>
            <a:spLocks noChangeArrowheads="1"/>
          </p:cNvSpPr>
          <p:nvPr/>
        </p:nvSpPr>
        <p:spPr bwMode="auto">
          <a:xfrm>
            <a:off x="7691438" y="4225658"/>
            <a:ext cx="64440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取出</a:t>
            </a:r>
          </a:p>
        </p:txBody>
      </p:sp>
      <p:sp>
        <p:nvSpPr>
          <p:cNvPr id="181" name="Line 17"/>
          <p:cNvSpPr>
            <a:spLocks noChangeShapeType="1"/>
          </p:cNvSpPr>
          <p:nvPr/>
        </p:nvSpPr>
        <p:spPr bwMode="auto">
          <a:xfrm>
            <a:off x="7480300" y="4562208"/>
            <a:ext cx="0" cy="285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82" name="Line 18"/>
          <p:cNvSpPr>
            <a:spLocks noChangeShapeType="1"/>
          </p:cNvSpPr>
          <p:nvPr/>
        </p:nvSpPr>
        <p:spPr bwMode="auto">
          <a:xfrm>
            <a:off x="8470900" y="4563796"/>
            <a:ext cx="0" cy="285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83" name="Freeform 21"/>
          <p:cNvSpPr>
            <a:spLocks/>
          </p:cNvSpPr>
          <p:nvPr/>
        </p:nvSpPr>
        <p:spPr bwMode="auto">
          <a:xfrm>
            <a:off x="2209800" y="5455970"/>
            <a:ext cx="5791200" cy="1020917"/>
          </a:xfrm>
          <a:custGeom>
            <a:avLst/>
            <a:gdLst>
              <a:gd name="T0" fmla="*/ 0 w 2736"/>
              <a:gd name="T1" fmla="*/ 0 h 480"/>
              <a:gd name="T2" fmla="*/ 0 w 2736"/>
              <a:gd name="T3" fmla="*/ 480 h 480"/>
              <a:gd name="T4" fmla="*/ 2736 w 2736"/>
              <a:gd name="T5" fmla="*/ 480 h 480"/>
              <a:gd name="T6" fmla="*/ 2736 w 2736"/>
              <a:gd name="T7" fmla="*/ 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36" h="480">
                <a:moveTo>
                  <a:pt x="0" y="0"/>
                </a:moveTo>
                <a:lnTo>
                  <a:pt x="0" y="480"/>
                </a:lnTo>
                <a:lnTo>
                  <a:pt x="2736" y="480"/>
                </a:lnTo>
                <a:lnTo>
                  <a:pt x="2736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84" name="Rectangle 22"/>
          <p:cNvSpPr>
            <a:spLocks noChangeArrowheads="1"/>
          </p:cNvSpPr>
          <p:nvPr/>
        </p:nvSpPr>
        <p:spPr bwMode="auto">
          <a:xfrm>
            <a:off x="194014" y="4371326"/>
            <a:ext cx="875241" cy="597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数据</a:t>
            </a:r>
          </a:p>
          <a:p>
            <a:pPr algn="ctr" eaLnBrk="0" fontAlgn="base" hangingPunct="0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链路层</a:t>
            </a:r>
          </a:p>
        </p:txBody>
      </p:sp>
      <p:sp>
        <p:nvSpPr>
          <p:cNvPr id="185" name="Rectangle 23"/>
          <p:cNvSpPr>
            <a:spLocks noChangeArrowheads="1"/>
          </p:cNvSpPr>
          <p:nvPr/>
        </p:nvSpPr>
        <p:spPr bwMode="auto">
          <a:xfrm>
            <a:off x="163513" y="3931971"/>
            <a:ext cx="875241" cy="325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网络层</a:t>
            </a:r>
          </a:p>
        </p:txBody>
      </p:sp>
      <p:sp>
        <p:nvSpPr>
          <p:cNvPr id="186" name="Rectangle 24"/>
          <p:cNvSpPr>
            <a:spLocks noChangeArrowheads="1"/>
          </p:cNvSpPr>
          <p:nvPr/>
        </p:nvSpPr>
        <p:spPr bwMode="auto">
          <a:xfrm>
            <a:off x="4724400" y="6418113"/>
            <a:ext cx="69570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3333CC"/>
                </a:solidFill>
                <a:ea typeface="华文楷体" panose="02010600040101010101" pitchFamily="2" charset="-122"/>
              </a:rPr>
              <a:t>链路</a:t>
            </a:r>
          </a:p>
        </p:txBody>
      </p:sp>
      <p:sp>
        <p:nvSpPr>
          <p:cNvPr id="187" name="Rectangle 25"/>
          <p:cNvSpPr>
            <a:spLocks noChangeArrowheads="1"/>
          </p:cNvSpPr>
          <p:nvPr/>
        </p:nvSpPr>
        <p:spPr bwMode="auto">
          <a:xfrm>
            <a:off x="1828800" y="3446196"/>
            <a:ext cx="854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结点 </a:t>
            </a:r>
            <a:r>
              <a:rPr kumimoji="1"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A</a:t>
            </a:r>
          </a:p>
        </p:txBody>
      </p:sp>
      <p:sp>
        <p:nvSpPr>
          <p:cNvPr id="188" name="Rectangle 26"/>
          <p:cNvSpPr>
            <a:spLocks noChangeArrowheads="1"/>
          </p:cNvSpPr>
          <p:nvPr/>
        </p:nvSpPr>
        <p:spPr bwMode="auto">
          <a:xfrm>
            <a:off x="7607300" y="3446196"/>
            <a:ext cx="82234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结点 </a:t>
            </a:r>
            <a:r>
              <a:rPr kumimoji="1"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B</a:t>
            </a:r>
          </a:p>
        </p:txBody>
      </p:sp>
      <p:sp>
        <p:nvSpPr>
          <p:cNvPr id="189" name="Rectangle 27"/>
          <p:cNvSpPr>
            <a:spLocks noChangeArrowheads="1"/>
          </p:cNvSpPr>
          <p:nvPr/>
        </p:nvSpPr>
        <p:spPr bwMode="auto">
          <a:xfrm>
            <a:off x="163513" y="5151171"/>
            <a:ext cx="875241" cy="325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物理层</a:t>
            </a:r>
          </a:p>
        </p:txBody>
      </p:sp>
      <p:sp>
        <p:nvSpPr>
          <p:cNvPr id="190" name="Rectangle 28"/>
          <p:cNvSpPr>
            <a:spLocks noChangeArrowheads="1"/>
          </p:cNvSpPr>
          <p:nvPr/>
        </p:nvSpPr>
        <p:spPr bwMode="auto">
          <a:xfrm>
            <a:off x="22860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1" name="Rectangle 29"/>
          <p:cNvSpPr>
            <a:spLocks noChangeArrowheads="1"/>
          </p:cNvSpPr>
          <p:nvPr/>
        </p:nvSpPr>
        <p:spPr bwMode="auto">
          <a:xfrm>
            <a:off x="24384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2" name="Rectangle 30"/>
          <p:cNvSpPr>
            <a:spLocks noChangeArrowheads="1"/>
          </p:cNvSpPr>
          <p:nvPr/>
        </p:nvSpPr>
        <p:spPr bwMode="auto">
          <a:xfrm>
            <a:off x="38100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3" name="Rectangle 31"/>
          <p:cNvSpPr>
            <a:spLocks noChangeArrowheads="1"/>
          </p:cNvSpPr>
          <p:nvPr/>
        </p:nvSpPr>
        <p:spPr bwMode="auto">
          <a:xfrm>
            <a:off x="39624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4" name="Rectangle 32"/>
          <p:cNvSpPr>
            <a:spLocks noChangeArrowheads="1"/>
          </p:cNvSpPr>
          <p:nvPr/>
        </p:nvSpPr>
        <p:spPr bwMode="auto">
          <a:xfrm>
            <a:off x="57150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5" name="Rectangle 33"/>
          <p:cNvSpPr>
            <a:spLocks noChangeArrowheads="1"/>
          </p:cNvSpPr>
          <p:nvPr/>
        </p:nvSpPr>
        <p:spPr bwMode="auto">
          <a:xfrm>
            <a:off x="58674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6" name="Rectangle 34"/>
          <p:cNvSpPr>
            <a:spLocks noChangeArrowheads="1"/>
          </p:cNvSpPr>
          <p:nvPr/>
        </p:nvSpPr>
        <p:spPr bwMode="auto">
          <a:xfrm>
            <a:off x="73914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7" name="Rectangle 35"/>
          <p:cNvSpPr>
            <a:spLocks noChangeArrowheads="1"/>
          </p:cNvSpPr>
          <p:nvPr/>
        </p:nvSpPr>
        <p:spPr bwMode="auto">
          <a:xfrm>
            <a:off x="75438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8" name="Rectangle 36"/>
          <p:cNvSpPr>
            <a:spLocks noChangeArrowheads="1"/>
          </p:cNvSpPr>
          <p:nvPr/>
        </p:nvSpPr>
        <p:spPr bwMode="auto">
          <a:xfrm>
            <a:off x="76962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9" name="Rectangle 37"/>
          <p:cNvSpPr>
            <a:spLocks noChangeArrowheads="1"/>
          </p:cNvSpPr>
          <p:nvPr/>
        </p:nvSpPr>
        <p:spPr bwMode="auto">
          <a:xfrm>
            <a:off x="78486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00" name="Line 38"/>
          <p:cNvSpPr>
            <a:spLocks noChangeShapeType="1"/>
          </p:cNvSpPr>
          <p:nvPr/>
        </p:nvSpPr>
        <p:spPr bwMode="auto">
          <a:xfrm>
            <a:off x="4114800" y="6265713"/>
            <a:ext cx="304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01" name="Line 39"/>
          <p:cNvSpPr>
            <a:spLocks noChangeShapeType="1"/>
          </p:cNvSpPr>
          <p:nvPr/>
        </p:nvSpPr>
        <p:spPr bwMode="auto">
          <a:xfrm rot="5400000">
            <a:off x="2171700" y="5999013"/>
            <a:ext cx="304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02" name="Line 40"/>
          <p:cNvSpPr>
            <a:spLocks noChangeShapeType="1"/>
          </p:cNvSpPr>
          <p:nvPr/>
        </p:nvSpPr>
        <p:spPr bwMode="auto">
          <a:xfrm rot="16200000" flipV="1">
            <a:off x="7734300" y="6037113"/>
            <a:ext cx="304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203" name="Group 41"/>
          <p:cNvGrpSpPr>
            <a:grpSpLocks/>
          </p:cNvGrpSpPr>
          <p:nvPr/>
        </p:nvGrpSpPr>
        <p:grpSpPr bwMode="auto">
          <a:xfrm>
            <a:off x="2590800" y="6189513"/>
            <a:ext cx="1066800" cy="152400"/>
            <a:chOff x="1344" y="912"/>
            <a:chExt cx="672" cy="96"/>
          </a:xfrm>
        </p:grpSpPr>
        <p:sp>
          <p:nvSpPr>
            <p:cNvPr id="204" name="Line 42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05" name="Freeform 43"/>
            <p:cNvSpPr>
              <a:spLocks/>
            </p:cNvSpPr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80808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206" name="Group 44"/>
          <p:cNvGrpSpPr>
            <a:grpSpLocks/>
          </p:cNvGrpSpPr>
          <p:nvPr/>
        </p:nvGrpSpPr>
        <p:grpSpPr bwMode="auto">
          <a:xfrm>
            <a:off x="6096000" y="6189513"/>
            <a:ext cx="1066800" cy="157162"/>
            <a:chOff x="4080" y="3676"/>
            <a:chExt cx="672" cy="99"/>
          </a:xfrm>
        </p:grpSpPr>
        <p:sp>
          <p:nvSpPr>
            <p:cNvPr id="207" name="Line 45"/>
            <p:cNvSpPr>
              <a:spLocks noChangeShapeType="1"/>
            </p:cNvSpPr>
            <p:nvPr/>
          </p:nvSpPr>
          <p:spPr bwMode="auto">
            <a:xfrm>
              <a:off x="4080" y="3727"/>
              <a:ext cx="6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08" name="Freeform 46"/>
            <p:cNvSpPr>
              <a:spLocks/>
            </p:cNvSpPr>
            <p:nvPr/>
          </p:nvSpPr>
          <p:spPr bwMode="auto">
            <a:xfrm>
              <a:off x="4128" y="3676"/>
              <a:ext cx="576" cy="99"/>
            </a:xfrm>
            <a:custGeom>
              <a:avLst/>
              <a:gdLst>
                <a:gd name="T0" fmla="*/ 0 w 576"/>
                <a:gd name="T1" fmla="*/ 51 h 99"/>
                <a:gd name="T2" fmla="*/ 0 w 576"/>
                <a:gd name="T3" fmla="*/ 3 h 99"/>
                <a:gd name="T4" fmla="*/ 135 w 576"/>
                <a:gd name="T5" fmla="*/ 3 h 99"/>
                <a:gd name="T6" fmla="*/ 138 w 576"/>
                <a:gd name="T7" fmla="*/ 99 h 99"/>
                <a:gd name="T8" fmla="*/ 264 w 576"/>
                <a:gd name="T9" fmla="*/ 98 h 99"/>
                <a:gd name="T10" fmla="*/ 264 w 576"/>
                <a:gd name="T11" fmla="*/ 0 h 99"/>
                <a:gd name="T12" fmla="*/ 426 w 576"/>
                <a:gd name="T13" fmla="*/ 0 h 99"/>
                <a:gd name="T14" fmla="*/ 426 w 576"/>
                <a:gd name="T15" fmla="*/ 99 h 99"/>
                <a:gd name="T16" fmla="*/ 480 w 576"/>
                <a:gd name="T17" fmla="*/ 99 h 99"/>
                <a:gd name="T18" fmla="*/ 480 w 576"/>
                <a:gd name="T19" fmla="*/ 3 h 99"/>
                <a:gd name="T20" fmla="*/ 576 w 576"/>
                <a:gd name="T21" fmla="*/ 3 h 99"/>
                <a:gd name="T22" fmla="*/ 576 w 576"/>
                <a:gd name="T23" fmla="*/ 51 h 99"/>
                <a:gd name="T24" fmla="*/ 0 w 576"/>
                <a:gd name="T25" fmla="*/ 51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99">
                  <a:moveTo>
                    <a:pt x="0" y="51"/>
                  </a:moveTo>
                  <a:lnTo>
                    <a:pt x="0" y="3"/>
                  </a:lnTo>
                  <a:lnTo>
                    <a:pt x="135" y="3"/>
                  </a:lnTo>
                  <a:lnTo>
                    <a:pt x="138" y="99"/>
                  </a:lnTo>
                  <a:lnTo>
                    <a:pt x="264" y="98"/>
                  </a:lnTo>
                  <a:lnTo>
                    <a:pt x="264" y="0"/>
                  </a:lnTo>
                  <a:lnTo>
                    <a:pt x="426" y="0"/>
                  </a:lnTo>
                  <a:lnTo>
                    <a:pt x="426" y="99"/>
                  </a:lnTo>
                  <a:lnTo>
                    <a:pt x="480" y="99"/>
                  </a:lnTo>
                  <a:lnTo>
                    <a:pt x="480" y="3"/>
                  </a:lnTo>
                  <a:lnTo>
                    <a:pt x="576" y="3"/>
                  </a:lnTo>
                  <a:lnTo>
                    <a:pt x="576" y="51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80808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209" name="Rectangle 67"/>
          <p:cNvSpPr>
            <a:spLocks noChangeArrowheads="1"/>
          </p:cNvSpPr>
          <p:nvPr/>
        </p:nvSpPr>
        <p:spPr bwMode="auto">
          <a:xfrm>
            <a:off x="1219200" y="3779571"/>
            <a:ext cx="2011363" cy="1828800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prstDash val="dash"/>
            <a:miter lim="800000"/>
            <a:headEnd/>
            <a:tailEnd/>
          </a:ln>
          <a:effectLst>
            <a:outerShdw dist="53882" dir="2700000" algn="ctr" rotWithShape="0">
              <a:srgbClr val="1C1C1C"/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 kern="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10" name="Rectangle 68"/>
          <p:cNvSpPr>
            <a:spLocks noChangeArrowheads="1"/>
          </p:cNvSpPr>
          <p:nvPr/>
        </p:nvSpPr>
        <p:spPr bwMode="auto">
          <a:xfrm>
            <a:off x="1238250" y="4389171"/>
            <a:ext cx="1981200" cy="6096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11" name="Line 69"/>
          <p:cNvSpPr>
            <a:spLocks noChangeShapeType="1"/>
          </p:cNvSpPr>
          <p:nvPr/>
        </p:nvSpPr>
        <p:spPr bwMode="auto">
          <a:xfrm>
            <a:off x="1219200" y="4387583"/>
            <a:ext cx="2008188" cy="1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12" name="Rectangle 70"/>
          <p:cNvSpPr>
            <a:spLocks noChangeArrowheads="1"/>
          </p:cNvSpPr>
          <p:nvPr/>
        </p:nvSpPr>
        <p:spPr bwMode="auto">
          <a:xfrm>
            <a:off x="1525588" y="4541571"/>
            <a:ext cx="13906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0" cap="none" spc="0" normalizeH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13" name="Line 71"/>
          <p:cNvSpPr>
            <a:spLocks noChangeShapeType="1"/>
          </p:cNvSpPr>
          <p:nvPr/>
        </p:nvSpPr>
        <p:spPr bwMode="auto">
          <a:xfrm>
            <a:off x="1219200" y="4997183"/>
            <a:ext cx="2008188" cy="1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14" name="Rectangle 72"/>
          <p:cNvSpPr>
            <a:spLocks noChangeArrowheads="1"/>
          </p:cNvSpPr>
          <p:nvPr/>
        </p:nvSpPr>
        <p:spPr bwMode="auto">
          <a:xfrm>
            <a:off x="1730375" y="3931971"/>
            <a:ext cx="990600" cy="3048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IP </a:t>
            </a:r>
            <a:r>
              <a:rPr kumimoji="1" lang="zh-CN" altLang="en-US" sz="1800" b="0" i="0" u="none" strike="noStrike" kern="0" cap="none" spc="0" normalizeH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数据报</a:t>
            </a:r>
          </a:p>
        </p:txBody>
      </p:sp>
      <p:sp>
        <p:nvSpPr>
          <p:cNvPr id="215" name="Rectangle 73"/>
          <p:cNvSpPr>
            <a:spLocks noChangeArrowheads="1"/>
          </p:cNvSpPr>
          <p:nvPr/>
        </p:nvSpPr>
        <p:spPr bwMode="auto">
          <a:xfrm>
            <a:off x="1519238" y="5151171"/>
            <a:ext cx="14033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0" cap="none" spc="0" normalizeH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16" name="Rectangle 74"/>
          <p:cNvSpPr>
            <a:spLocks noChangeArrowheads="1"/>
          </p:cNvSpPr>
          <p:nvPr/>
        </p:nvSpPr>
        <p:spPr bwMode="auto">
          <a:xfrm>
            <a:off x="1455738" y="5163871"/>
            <a:ext cx="1391408" cy="299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1010…  …0110</a:t>
            </a:r>
          </a:p>
        </p:txBody>
      </p:sp>
      <p:sp>
        <p:nvSpPr>
          <p:cNvPr id="217" name="AutoShape 75"/>
          <p:cNvSpPr>
            <a:spLocks noChangeArrowheads="1"/>
          </p:cNvSpPr>
          <p:nvPr/>
        </p:nvSpPr>
        <p:spPr bwMode="auto">
          <a:xfrm>
            <a:off x="2071688" y="4998771"/>
            <a:ext cx="304800" cy="334962"/>
          </a:xfrm>
          <a:prstGeom prst="downArrow">
            <a:avLst>
              <a:gd name="adj1" fmla="val 50000"/>
              <a:gd name="adj2" fmla="val 43231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18" name="Rectangle 76"/>
          <p:cNvSpPr>
            <a:spLocks noChangeArrowheads="1"/>
          </p:cNvSpPr>
          <p:nvPr/>
        </p:nvSpPr>
        <p:spPr bwMode="auto">
          <a:xfrm>
            <a:off x="1724025" y="4551096"/>
            <a:ext cx="990600" cy="280987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19" name="AutoShape 77"/>
          <p:cNvSpPr>
            <a:spLocks noChangeArrowheads="1"/>
          </p:cNvSpPr>
          <p:nvPr/>
        </p:nvSpPr>
        <p:spPr bwMode="auto">
          <a:xfrm>
            <a:off x="1730375" y="4246296"/>
            <a:ext cx="990600" cy="369887"/>
          </a:xfrm>
          <a:prstGeom prst="downArrow">
            <a:avLst>
              <a:gd name="adj1" fmla="val 65389"/>
              <a:gd name="adj2" fmla="val 39394"/>
            </a:avLst>
          </a:prstGeom>
          <a:solidFill>
            <a:srgbClr val="FFCF0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vert="eaVert"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20" name="Text Box 78"/>
          <p:cNvSpPr txBox="1">
            <a:spLocks noChangeArrowheads="1"/>
          </p:cNvSpPr>
          <p:nvPr/>
        </p:nvSpPr>
        <p:spPr bwMode="auto">
          <a:xfrm>
            <a:off x="2849679" y="4505284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帧</a:t>
            </a:r>
          </a:p>
        </p:txBody>
      </p:sp>
      <p:sp>
        <p:nvSpPr>
          <p:cNvPr id="221" name="Rectangle 79"/>
          <p:cNvSpPr>
            <a:spLocks noChangeArrowheads="1"/>
          </p:cNvSpPr>
          <p:nvPr/>
        </p:nvSpPr>
        <p:spPr bwMode="auto">
          <a:xfrm>
            <a:off x="1930400" y="4209783"/>
            <a:ext cx="64440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装入</a:t>
            </a:r>
          </a:p>
        </p:txBody>
      </p:sp>
      <p:sp>
        <p:nvSpPr>
          <p:cNvPr id="222" name="Line 80"/>
          <p:cNvSpPr>
            <a:spLocks noChangeShapeType="1"/>
          </p:cNvSpPr>
          <p:nvPr/>
        </p:nvSpPr>
        <p:spPr bwMode="auto">
          <a:xfrm>
            <a:off x="1719263" y="4546333"/>
            <a:ext cx="0" cy="285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23" name="Line 81"/>
          <p:cNvSpPr>
            <a:spLocks noChangeShapeType="1"/>
          </p:cNvSpPr>
          <p:nvPr/>
        </p:nvSpPr>
        <p:spPr bwMode="auto">
          <a:xfrm>
            <a:off x="2709863" y="4547921"/>
            <a:ext cx="0" cy="285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13053" y="4516841"/>
            <a:ext cx="400110" cy="14230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网络适配器</a:t>
            </a:r>
          </a:p>
        </p:txBody>
      </p:sp>
      <p:sp>
        <p:nvSpPr>
          <p:cNvPr id="225" name="文本框 224"/>
          <p:cNvSpPr txBox="1"/>
          <p:nvPr/>
        </p:nvSpPr>
        <p:spPr>
          <a:xfrm flipH="1">
            <a:off x="6472443" y="4511408"/>
            <a:ext cx="400110" cy="152251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网络适配器</a:t>
            </a:r>
          </a:p>
        </p:txBody>
      </p:sp>
      <p:sp>
        <p:nvSpPr>
          <p:cNvPr id="227" name="圆角矩形标注 162"/>
          <p:cNvSpPr/>
          <p:nvPr/>
        </p:nvSpPr>
        <p:spPr>
          <a:xfrm>
            <a:off x="3826478" y="4807029"/>
            <a:ext cx="1542256" cy="298024"/>
          </a:xfrm>
          <a:prstGeom prst="wedgeRoundRectCallout">
            <a:avLst>
              <a:gd name="adj1" fmla="val -101781"/>
              <a:gd name="adj2" fmla="val 119160"/>
              <a:gd name="adj3" fmla="val 16667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编码、调制</a:t>
            </a:r>
          </a:p>
        </p:txBody>
      </p:sp>
      <p:sp>
        <p:nvSpPr>
          <p:cNvPr id="228" name="Line 13"/>
          <p:cNvSpPr>
            <a:spLocks noChangeShapeType="1"/>
          </p:cNvSpPr>
          <p:nvPr/>
        </p:nvSpPr>
        <p:spPr bwMode="auto">
          <a:xfrm>
            <a:off x="2071688" y="6388440"/>
            <a:ext cx="5962853" cy="0"/>
          </a:xfrm>
          <a:prstGeom prst="line">
            <a:avLst/>
          </a:prstGeom>
          <a:noFill/>
          <a:ln w="539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9" name="Line 13"/>
          <p:cNvSpPr>
            <a:spLocks noChangeShapeType="1"/>
          </p:cNvSpPr>
          <p:nvPr/>
        </p:nvSpPr>
        <p:spPr bwMode="auto">
          <a:xfrm flipV="1">
            <a:off x="8034542" y="5667168"/>
            <a:ext cx="0" cy="758647"/>
          </a:xfrm>
          <a:prstGeom prst="line">
            <a:avLst/>
          </a:prstGeom>
          <a:noFill/>
          <a:ln w="539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0" name="Line 13"/>
          <p:cNvSpPr>
            <a:spLocks noChangeShapeType="1"/>
          </p:cNvSpPr>
          <p:nvPr/>
        </p:nvSpPr>
        <p:spPr bwMode="auto">
          <a:xfrm flipH="1">
            <a:off x="2071688" y="5633989"/>
            <a:ext cx="4794" cy="791825"/>
          </a:xfrm>
          <a:prstGeom prst="line">
            <a:avLst/>
          </a:prstGeom>
          <a:noFill/>
          <a:ln w="53975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1" name="圆角矩形标注 162"/>
          <p:cNvSpPr/>
          <p:nvPr/>
        </p:nvSpPr>
        <p:spPr>
          <a:xfrm>
            <a:off x="4890914" y="5254337"/>
            <a:ext cx="1697242" cy="332276"/>
          </a:xfrm>
          <a:prstGeom prst="wedgeRoundRectCallout">
            <a:avLst>
              <a:gd name="adj1" fmla="val 88152"/>
              <a:gd name="adj2" fmla="val 7135"/>
              <a:gd name="adj3" fmla="val 16667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解调、解码</a:t>
            </a:r>
          </a:p>
        </p:txBody>
      </p:sp>
      <p:sp>
        <p:nvSpPr>
          <p:cNvPr id="72" name="圆角矩形标注 150"/>
          <p:cNvSpPr/>
          <p:nvPr/>
        </p:nvSpPr>
        <p:spPr>
          <a:xfrm>
            <a:off x="3678582" y="3225403"/>
            <a:ext cx="3153604" cy="576110"/>
          </a:xfrm>
          <a:prstGeom prst="wedgeRoundRectCallout">
            <a:avLst>
              <a:gd name="adj1" fmla="val -5367"/>
              <a:gd name="adj2" fmla="val 505686"/>
              <a:gd name="adj3" fmla="val 16667"/>
            </a:avLst>
          </a:prstGeom>
          <a:solidFill>
            <a:srgbClr val="95077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比特在两个适配器间流动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31131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7" grpId="0" animBg="1"/>
      <p:bldP spid="228" grpId="0" animBg="1"/>
      <p:bldP spid="229" grpId="0" animBg="1"/>
      <p:bldP spid="230" grpId="0" animBg="1"/>
      <p:bldP spid="231" grpId="0" animBg="1"/>
      <p:bldP spid="7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矩形 232"/>
          <p:cNvSpPr/>
          <p:nvPr/>
        </p:nvSpPr>
        <p:spPr>
          <a:xfrm>
            <a:off x="6544019" y="4554330"/>
            <a:ext cx="2555266" cy="1352550"/>
          </a:xfrm>
          <a:prstGeom prst="rect">
            <a:avLst/>
          </a:prstGeom>
          <a:solidFill>
            <a:srgbClr val="EFE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53882" dir="2700000" algn="ctr" rotWithShape="0">
              <a:srgbClr val="1C1C1C"/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 kern="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34" name="矩形 233"/>
          <p:cNvSpPr/>
          <p:nvPr/>
        </p:nvSpPr>
        <p:spPr>
          <a:xfrm>
            <a:off x="760164" y="4546332"/>
            <a:ext cx="2977076" cy="1338263"/>
          </a:xfrm>
          <a:prstGeom prst="rect">
            <a:avLst/>
          </a:prstGeom>
          <a:solidFill>
            <a:srgbClr val="EFE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53882" dir="2700000" algn="ctr" rotWithShape="0">
              <a:srgbClr val="1C1C1C"/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 kern="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9"/>
            <a:ext cx="8523289" cy="1942260"/>
          </a:xfrm>
        </p:spPr>
        <p:txBody>
          <a:bodyPr/>
          <a:lstStyle/>
          <a:p>
            <a:pPr>
              <a:lnSpc>
                <a:spcPts val="3000"/>
              </a:lnSpc>
            </a:pPr>
            <a:r>
              <a:rPr lang="zh-CN" altLang="en-US" sz="2000" dirty="0"/>
              <a:t>网络结点间交换的是数据块（在本层称为帧）而不是比特流</a:t>
            </a:r>
            <a:endParaRPr lang="en-US" altLang="zh-CN" sz="2000" dirty="0"/>
          </a:p>
          <a:p>
            <a:pPr lvl="1">
              <a:spcBef>
                <a:spcPts val="1200"/>
              </a:spcBef>
            </a:pPr>
            <a:r>
              <a:rPr lang="zh-CN" altLang="en-US" sz="1800" dirty="0"/>
              <a:t>关心帧、而不是比特序列，网络适配器使得结点之间能够交换帧</a:t>
            </a:r>
            <a:endParaRPr lang="en-US" altLang="zh-CN" sz="1800" dirty="0"/>
          </a:p>
          <a:p>
            <a:pPr lvl="1">
              <a:spcBef>
                <a:spcPts val="1200"/>
              </a:spcBef>
            </a:pPr>
            <a:r>
              <a:rPr lang="zh-CN" altLang="en-US" sz="1800" dirty="0"/>
              <a:t>结点</a:t>
            </a:r>
            <a:r>
              <a:rPr lang="en-US" altLang="zh-CN" sz="1800" dirty="0"/>
              <a:t>A</a:t>
            </a:r>
            <a:r>
              <a:rPr lang="zh-CN" altLang="en-US" sz="1800" dirty="0"/>
              <a:t>希望向结点</a:t>
            </a:r>
            <a:r>
              <a:rPr lang="en-US" altLang="zh-CN" sz="1800" dirty="0"/>
              <a:t>B</a:t>
            </a:r>
            <a:r>
              <a:rPr lang="zh-CN" altLang="en-US" sz="1800" dirty="0"/>
              <a:t>传送一帧时，告诉自己的适配器从结点的内存中传一帧</a:t>
            </a:r>
          </a:p>
          <a:p>
            <a:pPr lvl="1">
              <a:spcBef>
                <a:spcPts val="1200"/>
              </a:spcBef>
            </a:pPr>
            <a:r>
              <a:rPr lang="zh-CN" altLang="en-US" sz="1800" dirty="0"/>
              <a:t>结点</a:t>
            </a:r>
            <a:r>
              <a:rPr lang="en-US" altLang="zh-CN" sz="1800" dirty="0"/>
              <a:t>B</a:t>
            </a:r>
            <a:r>
              <a:rPr lang="zh-CN" altLang="en-US" sz="1800" dirty="0"/>
              <a:t>的适配器收集链路上到达的比特序列，需在</a:t>
            </a:r>
            <a:r>
              <a:rPr lang="en-US" altLang="zh-CN" sz="1800" dirty="0"/>
              <a:t>B</a:t>
            </a:r>
            <a:r>
              <a:rPr lang="zh-CN" altLang="en-US" sz="1800" dirty="0"/>
              <a:t>的内存中存放相应的帧</a:t>
            </a:r>
          </a:p>
          <a:p>
            <a:pPr lvl="1"/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168" name="Rectangle 4"/>
          <p:cNvSpPr>
            <a:spLocks noChangeArrowheads="1"/>
          </p:cNvSpPr>
          <p:nvPr/>
        </p:nvSpPr>
        <p:spPr bwMode="auto">
          <a:xfrm>
            <a:off x="6980238" y="3795446"/>
            <a:ext cx="2011362" cy="1828800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prstDash val="dash"/>
            <a:miter lim="800000"/>
            <a:headEnd/>
            <a:tailEnd/>
          </a:ln>
          <a:effectLst>
            <a:outerShdw dist="53882" dir="2700000" algn="ctr" rotWithShape="0">
              <a:srgbClr val="1C1C1C"/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 kern="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69" name="Rectangle 5"/>
          <p:cNvSpPr>
            <a:spLocks noChangeArrowheads="1"/>
          </p:cNvSpPr>
          <p:nvPr/>
        </p:nvSpPr>
        <p:spPr bwMode="auto">
          <a:xfrm>
            <a:off x="6999288" y="4405046"/>
            <a:ext cx="1981200" cy="6096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70" name="Line 6"/>
          <p:cNvSpPr>
            <a:spLocks noChangeShapeType="1"/>
          </p:cNvSpPr>
          <p:nvPr/>
        </p:nvSpPr>
        <p:spPr bwMode="auto">
          <a:xfrm>
            <a:off x="6980238" y="4403458"/>
            <a:ext cx="2008187" cy="1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71" name="Rectangle 7"/>
          <p:cNvSpPr>
            <a:spLocks noChangeArrowheads="1"/>
          </p:cNvSpPr>
          <p:nvPr/>
        </p:nvSpPr>
        <p:spPr bwMode="auto">
          <a:xfrm>
            <a:off x="7286625" y="4557446"/>
            <a:ext cx="13906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0" cap="none" spc="0" normalizeH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72" name="Line 8"/>
          <p:cNvSpPr>
            <a:spLocks noChangeShapeType="1"/>
          </p:cNvSpPr>
          <p:nvPr/>
        </p:nvSpPr>
        <p:spPr bwMode="auto">
          <a:xfrm>
            <a:off x="6980238" y="5013058"/>
            <a:ext cx="2008187" cy="1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73" name="Rectangle 9"/>
          <p:cNvSpPr>
            <a:spLocks noChangeArrowheads="1"/>
          </p:cNvSpPr>
          <p:nvPr/>
        </p:nvSpPr>
        <p:spPr bwMode="auto">
          <a:xfrm>
            <a:off x="7491413" y="3947846"/>
            <a:ext cx="990600" cy="3048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IP </a:t>
            </a:r>
            <a:r>
              <a:rPr kumimoji="1" lang="zh-CN" altLang="en-US" sz="1800" b="0" i="0" u="none" strike="noStrike" kern="0" cap="none" spc="0" normalizeH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数据报</a:t>
            </a:r>
          </a:p>
        </p:txBody>
      </p:sp>
      <p:sp>
        <p:nvSpPr>
          <p:cNvPr id="174" name="Rectangle 10"/>
          <p:cNvSpPr>
            <a:spLocks noChangeArrowheads="1"/>
          </p:cNvSpPr>
          <p:nvPr/>
        </p:nvSpPr>
        <p:spPr bwMode="auto">
          <a:xfrm>
            <a:off x="7280275" y="5167046"/>
            <a:ext cx="14033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0" cap="none" spc="0" normalizeH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75" name="Rectangle 11"/>
          <p:cNvSpPr>
            <a:spLocks noChangeArrowheads="1"/>
          </p:cNvSpPr>
          <p:nvPr/>
        </p:nvSpPr>
        <p:spPr bwMode="auto">
          <a:xfrm>
            <a:off x="7216775" y="5179746"/>
            <a:ext cx="1391408" cy="299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1010…  …0110</a:t>
            </a:r>
          </a:p>
        </p:txBody>
      </p:sp>
      <p:sp>
        <p:nvSpPr>
          <p:cNvPr id="176" name="AutoShape 12"/>
          <p:cNvSpPr>
            <a:spLocks noChangeArrowheads="1"/>
          </p:cNvSpPr>
          <p:nvPr/>
        </p:nvSpPr>
        <p:spPr bwMode="auto">
          <a:xfrm flipV="1">
            <a:off x="7851775" y="4909871"/>
            <a:ext cx="304800" cy="334962"/>
          </a:xfrm>
          <a:prstGeom prst="downArrow">
            <a:avLst>
              <a:gd name="adj1" fmla="val 50000"/>
              <a:gd name="adj2" fmla="val 43231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77" name="Rectangle 13"/>
          <p:cNvSpPr>
            <a:spLocks noChangeArrowheads="1"/>
          </p:cNvSpPr>
          <p:nvPr/>
        </p:nvSpPr>
        <p:spPr bwMode="auto">
          <a:xfrm>
            <a:off x="7485063" y="4566971"/>
            <a:ext cx="990600" cy="280987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78" name="AutoShape 14"/>
          <p:cNvSpPr>
            <a:spLocks noChangeArrowheads="1"/>
          </p:cNvSpPr>
          <p:nvPr/>
        </p:nvSpPr>
        <p:spPr bwMode="auto">
          <a:xfrm flipV="1">
            <a:off x="7481888" y="4198671"/>
            <a:ext cx="990600" cy="369887"/>
          </a:xfrm>
          <a:prstGeom prst="downArrow">
            <a:avLst>
              <a:gd name="adj1" fmla="val 65389"/>
              <a:gd name="adj2" fmla="val 39394"/>
            </a:avLst>
          </a:prstGeom>
          <a:solidFill>
            <a:srgbClr val="FFCF0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vert="eaVert"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79" name="Text Box 15"/>
          <p:cNvSpPr txBox="1">
            <a:spLocks noChangeArrowheads="1"/>
          </p:cNvSpPr>
          <p:nvPr/>
        </p:nvSpPr>
        <p:spPr bwMode="auto">
          <a:xfrm>
            <a:off x="6948488" y="4511408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帧</a:t>
            </a:r>
          </a:p>
        </p:txBody>
      </p:sp>
      <p:sp>
        <p:nvSpPr>
          <p:cNvPr id="180" name="Rectangle 16"/>
          <p:cNvSpPr>
            <a:spLocks noChangeArrowheads="1"/>
          </p:cNvSpPr>
          <p:nvPr/>
        </p:nvSpPr>
        <p:spPr bwMode="auto">
          <a:xfrm>
            <a:off x="7691438" y="4225658"/>
            <a:ext cx="64440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取出</a:t>
            </a:r>
          </a:p>
        </p:txBody>
      </p:sp>
      <p:sp>
        <p:nvSpPr>
          <p:cNvPr id="181" name="Line 17"/>
          <p:cNvSpPr>
            <a:spLocks noChangeShapeType="1"/>
          </p:cNvSpPr>
          <p:nvPr/>
        </p:nvSpPr>
        <p:spPr bwMode="auto">
          <a:xfrm>
            <a:off x="7480300" y="4562208"/>
            <a:ext cx="0" cy="285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82" name="Line 18"/>
          <p:cNvSpPr>
            <a:spLocks noChangeShapeType="1"/>
          </p:cNvSpPr>
          <p:nvPr/>
        </p:nvSpPr>
        <p:spPr bwMode="auto">
          <a:xfrm>
            <a:off x="8470900" y="4563796"/>
            <a:ext cx="0" cy="285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83" name="Freeform 21"/>
          <p:cNvSpPr>
            <a:spLocks/>
          </p:cNvSpPr>
          <p:nvPr/>
        </p:nvSpPr>
        <p:spPr bwMode="auto">
          <a:xfrm>
            <a:off x="2209800" y="5455970"/>
            <a:ext cx="5791200" cy="1020917"/>
          </a:xfrm>
          <a:custGeom>
            <a:avLst/>
            <a:gdLst>
              <a:gd name="T0" fmla="*/ 0 w 2736"/>
              <a:gd name="T1" fmla="*/ 0 h 480"/>
              <a:gd name="T2" fmla="*/ 0 w 2736"/>
              <a:gd name="T3" fmla="*/ 480 h 480"/>
              <a:gd name="T4" fmla="*/ 2736 w 2736"/>
              <a:gd name="T5" fmla="*/ 480 h 480"/>
              <a:gd name="T6" fmla="*/ 2736 w 2736"/>
              <a:gd name="T7" fmla="*/ 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736" h="480">
                <a:moveTo>
                  <a:pt x="0" y="0"/>
                </a:moveTo>
                <a:lnTo>
                  <a:pt x="0" y="480"/>
                </a:lnTo>
                <a:lnTo>
                  <a:pt x="2736" y="480"/>
                </a:lnTo>
                <a:lnTo>
                  <a:pt x="2736" y="0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84" name="Rectangle 22"/>
          <p:cNvSpPr>
            <a:spLocks noChangeArrowheads="1"/>
          </p:cNvSpPr>
          <p:nvPr/>
        </p:nvSpPr>
        <p:spPr bwMode="auto">
          <a:xfrm>
            <a:off x="194014" y="4371326"/>
            <a:ext cx="875241" cy="597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数据</a:t>
            </a:r>
          </a:p>
          <a:p>
            <a:pPr algn="ctr" eaLnBrk="0" fontAlgn="base" hangingPunct="0">
              <a:lnSpc>
                <a:spcPts val="18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链路层</a:t>
            </a:r>
          </a:p>
        </p:txBody>
      </p:sp>
      <p:sp>
        <p:nvSpPr>
          <p:cNvPr id="185" name="Rectangle 23"/>
          <p:cNvSpPr>
            <a:spLocks noChangeArrowheads="1"/>
          </p:cNvSpPr>
          <p:nvPr/>
        </p:nvSpPr>
        <p:spPr bwMode="auto">
          <a:xfrm>
            <a:off x="163513" y="3931971"/>
            <a:ext cx="875241" cy="325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网络层</a:t>
            </a:r>
          </a:p>
        </p:txBody>
      </p:sp>
      <p:sp>
        <p:nvSpPr>
          <p:cNvPr id="186" name="Rectangle 24"/>
          <p:cNvSpPr>
            <a:spLocks noChangeArrowheads="1"/>
          </p:cNvSpPr>
          <p:nvPr/>
        </p:nvSpPr>
        <p:spPr bwMode="auto">
          <a:xfrm>
            <a:off x="4724400" y="6418113"/>
            <a:ext cx="69570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 b="1" dirty="0">
                <a:solidFill>
                  <a:srgbClr val="3333CC"/>
                </a:solidFill>
                <a:ea typeface="华文楷体" panose="02010600040101010101" pitchFamily="2" charset="-122"/>
              </a:rPr>
              <a:t>链路</a:t>
            </a:r>
          </a:p>
        </p:txBody>
      </p:sp>
      <p:sp>
        <p:nvSpPr>
          <p:cNvPr id="187" name="Rectangle 25"/>
          <p:cNvSpPr>
            <a:spLocks noChangeArrowheads="1"/>
          </p:cNvSpPr>
          <p:nvPr/>
        </p:nvSpPr>
        <p:spPr bwMode="auto">
          <a:xfrm>
            <a:off x="1828800" y="3446196"/>
            <a:ext cx="854075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结点 </a:t>
            </a:r>
            <a:r>
              <a:rPr kumimoji="1"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A</a:t>
            </a:r>
          </a:p>
        </p:txBody>
      </p:sp>
      <p:sp>
        <p:nvSpPr>
          <p:cNvPr id="188" name="Rectangle 26"/>
          <p:cNvSpPr>
            <a:spLocks noChangeArrowheads="1"/>
          </p:cNvSpPr>
          <p:nvPr/>
        </p:nvSpPr>
        <p:spPr bwMode="auto">
          <a:xfrm>
            <a:off x="7607300" y="3446196"/>
            <a:ext cx="822342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结点 </a:t>
            </a:r>
            <a:r>
              <a:rPr kumimoji="1" lang="en-US" altLang="zh-CN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B</a:t>
            </a:r>
          </a:p>
        </p:txBody>
      </p:sp>
      <p:sp>
        <p:nvSpPr>
          <p:cNvPr id="189" name="Rectangle 27"/>
          <p:cNvSpPr>
            <a:spLocks noChangeArrowheads="1"/>
          </p:cNvSpPr>
          <p:nvPr/>
        </p:nvSpPr>
        <p:spPr bwMode="auto">
          <a:xfrm>
            <a:off x="163513" y="5151171"/>
            <a:ext cx="875241" cy="325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物理层</a:t>
            </a:r>
          </a:p>
        </p:txBody>
      </p:sp>
      <p:sp>
        <p:nvSpPr>
          <p:cNvPr id="190" name="Rectangle 28"/>
          <p:cNvSpPr>
            <a:spLocks noChangeArrowheads="1"/>
          </p:cNvSpPr>
          <p:nvPr/>
        </p:nvSpPr>
        <p:spPr bwMode="auto">
          <a:xfrm>
            <a:off x="22860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1" name="Rectangle 29"/>
          <p:cNvSpPr>
            <a:spLocks noChangeArrowheads="1"/>
          </p:cNvSpPr>
          <p:nvPr/>
        </p:nvSpPr>
        <p:spPr bwMode="auto">
          <a:xfrm>
            <a:off x="24384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2" name="Rectangle 30"/>
          <p:cNvSpPr>
            <a:spLocks noChangeArrowheads="1"/>
          </p:cNvSpPr>
          <p:nvPr/>
        </p:nvSpPr>
        <p:spPr bwMode="auto">
          <a:xfrm>
            <a:off x="38100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3" name="Rectangle 31"/>
          <p:cNvSpPr>
            <a:spLocks noChangeArrowheads="1"/>
          </p:cNvSpPr>
          <p:nvPr/>
        </p:nvSpPr>
        <p:spPr bwMode="auto">
          <a:xfrm>
            <a:off x="39624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4" name="Rectangle 32"/>
          <p:cNvSpPr>
            <a:spLocks noChangeArrowheads="1"/>
          </p:cNvSpPr>
          <p:nvPr/>
        </p:nvSpPr>
        <p:spPr bwMode="auto">
          <a:xfrm>
            <a:off x="57150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5" name="Rectangle 33"/>
          <p:cNvSpPr>
            <a:spLocks noChangeArrowheads="1"/>
          </p:cNvSpPr>
          <p:nvPr/>
        </p:nvSpPr>
        <p:spPr bwMode="auto">
          <a:xfrm>
            <a:off x="58674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6" name="Rectangle 34"/>
          <p:cNvSpPr>
            <a:spLocks noChangeArrowheads="1"/>
          </p:cNvSpPr>
          <p:nvPr/>
        </p:nvSpPr>
        <p:spPr bwMode="auto">
          <a:xfrm>
            <a:off x="73914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7" name="Rectangle 35"/>
          <p:cNvSpPr>
            <a:spLocks noChangeArrowheads="1"/>
          </p:cNvSpPr>
          <p:nvPr/>
        </p:nvSpPr>
        <p:spPr bwMode="auto">
          <a:xfrm>
            <a:off x="75438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8" name="Rectangle 36"/>
          <p:cNvSpPr>
            <a:spLocks noChangeArrowheads="1"/>
          </p:cNvSpPr>
          <p:nvPr/>
        </p:nvSpPr>
        <p:spPr bwMode="auto">
          <a:xfrm>
            <a:off x="76962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9" name="Rectangle 37"/>
          <p:cNvSpPr>
            <a:spLocks noChangeArrowheads="1"/>
          </p:cNvSpPr>
          <p:nvPr/>
        </p:nvSpPr>
        <p:spPr bwMode="auto">
          <a:xfrm>
            <a:off x="7848600" y="6189513"/>
            <a:ext cx="76200" cy="152400"/>
          </a:xfrm>
          <a:prstGeom prst="rect">
            <a:avLst/>
          </a:prstGeom>
          <a:solidFill>
            <a:srgbClr val="77777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00" name="Line 38"/>
          <p:cNvSpPr>
            <a:spLocks noChangeShapeType="1"/>
          </p:cNvSpPr>
          <p:nvPr/>
        </p:nvSpPr>
        <p:spPr bwMode="auto">
          <a:xfrm>
            <a:off x="4114800" y="6265713"/>
            <a:ext cx="304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01" name="Line 39"/>
          <p:cNvSpPr>
            <a:spLocks noChangeShapeType="1"/>
          </p:cNvSpPr>
          <p:nvPr/>
        </p:nvSpPr>
        <p:spPr bwMode="auto">
          <a:xfrm rot="5400000">
            <a:off x="2171700" y="5999013"/>
            <a:ext cx="304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02" name="Line 40"/>
          <p:cNvSpPr>
            <a:spLocks noChangeShapeType="1"/>
          </p:cNvSpPr>
          <p:nvPr/>
        </p:nvSpPr>
        <p:spPr bwMode="auto">
          <a:xfrm rot="16200000" flipV="1">
            <a:off x="7734300" y="6037113"/>
            <a:ext cx="3048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203" name="Group 41"/>
          <p:cNvGrpSpPr>
            <a:grpSpLocks/>
          </p:cNvGrpSpPr>
          <p:nvPr/>
        </p:nvGrpSpPr>
        <p:grpSpPr bwMode="auto">
          <a:xfrm>
            <a:off x="2590800" y="6189513"/>
            <a:ext cx="1066800" cy="152400"/>
            <a:chOff x="1344" y="912"/>
            <a:chExt cx="672" cy="96"/>
          </a:xfrm>
        </p:grpSpPr>
        <p:sp>
          <p:nvSpPr>
            <p:cNvPr id="204" name="Line 42"/>
            <p:cNvSpPr>
              <a:spLocks noChangeShapeType="1"/>
            </p:cNvSpPr>
            <p:nvPr/>
          </p:nvSpPr>
          <p:spPr bwMode="auto">
            <a:xfrm>
              <a:off x="1344" y="960"/>
              <a:ext cx="6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05" name="Freeform 43"/>
            <p:cNvSpPr>
              <a:spLocks/>
            </p:cNvSpPr>
            <p:nvPr/>
          </p:nvSpPr>
          <p:spPr bwMode="auto">
            <a:xfrm>
              <a:off x="1392" y="912"/>
              <a:ext cx="576" cy="96"/>
            </a:xfrm>
            <a:custGeom>
              <a:avLst/>
              <a:gdLst>
                <a:gd name="T0" fmla="*/ 0 w 576"/>
                <a:gd name="T1" fmla="*/ 96 h 192"/>
                <a:gd name="T2" fmla="*/ 0 w 576"/>
                <a:gd name="T3" fmla="*/ 0 h 192"/>
                <a:gd name="T4" fmla="*/ 192 w 576"/>
                <a:gd name="T5" fmla="*/ 0 h 192"/>
                <a:gd name="T6" fmla="*/ 192 w 576"/>
                <a:gd name="T7" fmla="*/ 192 h 192"/>
                <a:gd name="T8" fmla="*/ 288 w 576"/>
                <a:gd name="T9" fmla="*/ 192 h 192"/>
                <a:gd name="T10" fmla="*/ 288 w 576"/>
                <a:gd name="T11" fmla="*/ 0 h 192"/>
                <a:gd name="T12" fmla="*/ 336 w 576"/>
                <a:gd name="T13" fmla="*/ 0 h 192"/>
                <a:gd name="T14" fmla="*/ 336 w 576"/>
                <a:gd name="T15" fmla="*/ 192 h 192"/>
                <a:gd name="T16" fmla="*/ 480 w 576"/>
                <a:gd name="T17" fmla="*/ 192 h 192"/>
                <a:gd name="T18" fmla="*/ 480 w 576"/>
                <a:gd name="T19" fmla="*/ 0 h 192"/>
                <a:gd name="T20" fmla="*/ 576 w 576"/>
                <a:gd name="T21" fmla="*/ 0 h 192"/>
                <a:gd name="T22" fmla="*/ 576 w 576"/>
                <a:gd name="T23" fmla="*/ 96 h 192"/>
                <a:gd name="T24" fmla="*/ 0 w 576"/>
                <a:gd name="T25" fmla="*/ 96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192">
                  <a:moveTo>
                    <a:pt x="0" y="96"/>
                  </a:moveTo>
                  <a:lnTo>
                    <a:pt x="0" y="0"/>
                  </a:lnTo>
                  <a:lnTo>
                    <a:pt x="192" y="0"/>
                  </a:lnTo>
                  <a:lnTo>
                    <a:pt x="192" y="192"/>
                  </a:lnTo>
                  <a:lnTo>
                    <a:pt x="288" y="192"/>
                  </a:lnTo>
                  <a:lnTo>
                    <a:pt x="288" y="0"/>
                  </a:lnTo>
                  <a:lnTo>
                    <a:pt x="336" y="0"/>
                  </a:lnTo>
                  <a:lnTo>
                    <a:pt x="336" y="192"/>
                  </a:lnTo>
                  <a:lnTo>
                    <a:pt x="480" y="192"/>
                  </a:lnTo>
                  <a:lnTo>
                    <a:pt x="480" y="0"/>
                  </a:lnTo>
                  <a:lnTo>
                    <a:pt x="576" y="0"/>
                  </a:lnTo>
                  <a:lnTo>
                    <a:pt x="576" y="96"/>
                  </a:lnTo>
                  <a:lnTo>
                    <a:pt x="0" y="96"/>
                  </a:lnTo>
                  <a:close/>
                </a:path>
              </a:pathLst>
            </a:custGeom>
            <a:solidFill>
              <a:srgbClr val="80808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206" name="Group 44"/>
          <p:cNvGrpSpPr>
            <a:grpSpLocks/>
          </p:cNvGrpSpPr>
          <p:nvPr/>
        </p:nvGrpSpPr>
        <p:grpSpPr bwMode="auto">
          <a:xfrm>
            <a:off x="6096000" y="6189513"/>
            <a:ext cx="1066800" cy="157162"/>
            <a:chOff x="4080" y="3676"/>
            <a:chExt cx="672" cy="99"/>
          </a:xfrm>
        </p:grpSpPr>
        <p:sp>
          <p:nvSpPr>
            <p:cNvPr id="207" name="Line 45"/>
            <p:cNvSpPr>
              <a:spLocks noChangeShapeType="1"/>
            </p:cNvSpPr>
            <p:nvPr/>
          </p:nvSpPr>
          <p:spPr bwMode="auto">
            <a:xfrm>
              <a:off x="4080" y="3727"/>
              <a:ext cx="67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 type="none" w="sm" len="lg"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08" name="Freeform 46"/>
            <p:cNvSpPr>
              <a:spLocks/>
            </p:cNvSpPr>
            <p:nvPr/>
          </p:nvSpPr>
          <p:spPr bwMode="auto">
            <a:xfrm>
              <a:off x="4128" y="3676"/>
              <a:ext cx="576" cy="99"/>
            </a:xfrm>
            <a:custGeom>
              <a:avLst/>
              <a:gdLst>
                <a:gd name="T0" fmla="*/ 0 w 576"/>
                <a:gd name="T1" fmla="*/ 51 h 99"/>
                <a:gd name="T2" fmla="*/ 0 w 576"/>
                <a:gd name="T3" fmla="*/ 3 h 99"/>
                <a:gd name="T4" fmla="*/ 135 w 576"/>
                <a:gd name="T5" fmla="*/ 3 h 99"/>
                <a:gd name="T6" fmla="*/ 138 w 576"/>
                <a:gd name="T7" fmla="*/ 99 h 99"/>
                <a:gd name="T8" fmla="*/ 264 w 576"/>
                <a:gd name="T9" fmla="*/ 98 h 99"/>
                <a:gd name="T10" fmla="*/ 264 w 576"/>
                <a:gd name="T11" fmla="*/ 0 h 99"/>
                <a:gd name="T12" fmla="*/ 426 w 576"/>
                <a:gd name="T13" fmla="*/ 0 h 99"/>
                <a:gd name="T14" fmla="*/ 426 w 576"/>
                <a:gd name="T15" fmla="*/ 99 h 99"/>
                <a:gd name="T16" fmla="*/ 480 w 576"/>
                <a:gd name="T17" fmla="*/ 99 h 99"/>
                <a:gd name="T18" fmla="*/ 480 w 576"/>
                <a:gd name="T19" fmla="*/ 3 h 99"/>
                <a:gd name="T20" fmla="*/ 576 w 576"/>
                <a:gd name="T21" fmla="*/ 3 h 99"/>
                <a:gd name="T22" fmla="*/ 576 w 576"/>
                <a:gd name="T23" fmla="*/ 51 h 99"/>
                <a:gd name="T24" fmla="*/ 0 w 576"/>
                <a:gd name="T25" fmla="*/ 51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76" h="99">
                  <a:moveTo>
                    <a:pt x="0" y="51"/>
                  </a:moveTo>
                  <a:lnTo>
                    <a:pt x="0" y="3"/>
                  </a:lnTo>
                  <a:lnTo>
                    <a:pt x="135" y="3"/>
                  </a:lnTo>
                  <a:lnTo>
                    <a:pt x="138" y="99"/>
                  </a:lnTo>
                  <a:lnTo>
                    <a:pt x="264" y="98"/>
                  </a:lnTo>
                  <a:lnTo>
                    <a:pt x="264" y="0"/>
                  </a:lnTo>
                  <a:lnTo>
                    <a:pt x="426" y="0"/>
                  </a:lnTo>
                  <a:lnTo>
                    <a:pt x="426" y="99"/>
                  </a:lnTo>
                  <a:lnTo>
                    <a:pt x="480" y="99"/>
                  </a:lnTo>
                  <a:lnTo>
                    <a:pt x="480" y="3"/>
                  </a:lnTo>
                  <a:lnTo>
                    <a:pt x="576" y="3"/>
                  </a:lnTo>
                  <a:lnTo>
                    <a:pt x="576" y="51"/>
                  </a:lnTo>
                  <a:lnTo>
                    <a:pt x="0" y="51"/>
                  </a:lnTo>
                  <a:close/>
                </a:path>
              </a:pathLst>
            </a:custGeom>
            <a:solidFill>
              <a:srgbClr val="808080"/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sm" len="lg"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209" name="Rectangle 67"/>
          <p:cNvSpPr>
            <a:spLocks noChangeArrowheads="1"/>
          </p:cNvSpPr>
          <p:nvPr/>
        </p:nvSpPr>
        <p:spPr bwMode="auto">
          <a:xfrm>
            <a:off x="1219200" y="3779571"/>
            <a:ext cx="2011363" cy="1828800"/>
          </a:xfrm>
          <a:prstGeom prst="rect">
            <a:avLst/>
          </a:prstGeom>
          <a:solidFill>
            <a:srgbClr val="CCFFFF"/>
          </a:solidFill>
          <a:ln w="12700">
            <a:solidFill>
              <a:srgbClr val="000000"/>
            </a:solidFill>
            <a:prstDash val="dash"/>
            <a:miter lim="800000"/>
            <a:headEnd/>
            <a:tailEnd/>
          </a:ln>
          <a:effectLst>
            <a:outerShdw dist="53882" dir="2700000" algn="ctr" rotWithShape="0">
              <a:srgbClr val="1C1C1C"/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 kern="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10" name="Rectangle 68"/>
          <p:cNvSpPr>
            <a:spLocks noChangeArrowheads="1"/>
          </p:cNvSpPr>
          <p:nvPr/>
        </p:nvSpPr>
        <p:spPr bwMode="auto">
          <a:xfrm>
            <a:off x="1238250" y="4389171"/>
            <a:ext cx="1981200" cy="6096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11" name="Line 69"/>
          <p:cNvSpPr>
            <a:spLocks noChangeShapeType="1"/>
          </p:cNvSpPr>
          <p:nvPr/>
        </p:nvSpPr>
        <p:spPr bwMode="auto">
          <a:xfrm>
            <a:off x="1219200" y="4387583"/>
            <a:ext cx="2008188" cy="1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12" name="Rectangle 70"/>
          <p:cNvSpPr>
            <a:spLocks noChangeArrowheads="1"/>
          </p:cNvSpPr>
          <p:nvPr/>
        </p:nvSpPr>
        <p:spPr bwMode="auto">
          <a:xfrm>
            <a:off x="1525588" y="4541571"/>
            <a:ext cx="13906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0" cap="none" spc="0" normalizeH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13" name="Line 71"/>
          <p:cNvSpPr>
            <a:spLocks noChangeShapeType="1"/>
          </p:cNvSpPr>
          <p:nvPr/>
        </p:nvSpPr>
        <p:spPr bwMode="auto">
          <a:xfrm>
            <a:off x="1219200" y="4997183"/>
            <a:ext cx="2008188" cy="1588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14" name="Rectangle 72"/>
          <p:cNvSpPr>
            <a:spLocks noChangeArrowheads="1"/>
          </p:cNvSpPr>
          <p:nvPr/>
        </p:nvSpPr>
        <p:spPr bwMode="auto">
          <a:xfrm>
            <a:off x="1730375" y="3931971"/>
            <a:ext cx="990600" cy="304800"/>
          </a:xfrm>
          <a:prstGeom prst="rect">
            <a:avLst/>
          </a:prstGeom>
          <a:solidFill>
            <a:srgbClr val="DDDDDD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0" i="0" u="none" strike="noStrike" kern="0" cap="none" spc="0" normalizeH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IP </a:t>
            </a:r>
            <a:r>
              <a:rPr kumimoji="1" lang="zh-CN" altLang="en-US" sz="1800" b="0" i="0" u="none" strike="noStrike" kern="0" cap="none" spc="0" normalizeH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数据报</a:t>
            </a:r>
          </a:p>
        </p:txBody>
      </p:sp>
      <p:sp>
        <p:nvSpPr>
          <p:cNvPr id="215" name="Rectangle 73"/>
          <p:cNvSpPr>
            <a:spLocks noChangeArrowheads="1"/>
          </p:cNvSpPr>
          <p:nvPr/>
        </p:nvSpPr>
        <p:spPr bwMode="auto">
          <a:xfrm>
            <a:off x="1519238" y="5151171"/>
            <a:ext cx="140335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7620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0" cap="none" spc="0" normalizeH="0" noProof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16" name="Rectangle 74"/>
          <p:cNvSpPr>
            <a:spLocks noChangeArrowheads="1"/>
          </p:cNvSpPr>
          <p:nvPr/>
        </p:nvSpPr>
        <p:spPr bwMode="auto">
          <a:xfrm>
            <a:off x="1455738" y="5163871"/>
            <a:ext cx="1391408" cy="299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1010…  …0110</a:t>
            </a:r>
          </a:p>
        </p:txBody>
      </p:sp>
      <p:sp>
        <p:nvSpPr>
          <p:cNvPr id="217" name="AutoShape 75"/>
          <p:cNvSpPr>
            <a:spLocks noChangeArrowheads="1"/>
          </p:cNvSpPr>
          <p:nvPr/>
        </p:nvSpPr>
        <p:spPr bwMode="auto">
          <a:xfrm>
            <a:off x="2071688" y="4998771"/>
            <a:ext cx="304800" cy="334962"/>
          </a:xfrm>
          <a:prstGeom prst="downArrow">
            <a:avLst>
              <a:gd name="adj1" fmla="val 50000"/>
              <a:gd name="adj2" fmla="val 43231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18" name="Rectangle 76"/>
          <p:cNvSpPr>
            <a:spLocks noChangeArrowheads="1"/>
          </p:cNvSpPr>
          <p:nvPr/>
        </p:nvSpPr>
        <p:spPr bwMode="auto">
          <a:xfrm>
            <a:off x="1724025" y="4551096"/>
            <a:ext cx="990600" cy="280987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19" name="AutoShape 77"/>
          <p:cNvSpPr>
            <a:spLocks noChangeArrowheads="1"/>
          </p:cNvSpPr>
          <p:nvPr/>
        </p:nvSpPr>
        <p:spPr bwMode="auto">
          <a:xfrm>
            <a:off x="1730375" y="4246296"/>
            <a:ext cx="990600" cy="369887"/>
          </a:xfrm>
          <a:prstGeom prst="downArrow">
            <a:avLst>
              <a:gd name="adj1" fmla="val 65389"/>
              <a:gd name="adj2" fmla="val 39394"/>
            </a:avLst>
          </a:prstGeom>
          <a:solidFill>
            <a:srgbClr val="FFCF01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rgbClr val="1C1C1C"/>
            </a:outerShdw>
          </a:effectLst>
        </p:spPr>
        <p:txBody>
          <a:bodyPr vert="eaVert"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20" name="Text Box 78"/>
          <p:cNvSpPr txBox="1">
            <a:spLocks noChangeArrowheads="1"/>
          </p:cNvSpPr>
          <p:nvPr/>
        </p:nvSpPr>
        <p:spPr bwMode="auto">
          <a:xfrm>
            <a:off x="2849679" y="4505284"/>
            <a:ext cx="4127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帧</a:t>
            </a:r>
          </a:p>
        </p:txBody>
      </p:sp>
      <p:sp>
        <p:nvSpPr>
          <p:cNvPr id="221" name="Rectangle 79"/>
          <p:cNvSpPr>
            <a:spLocks noChangeArrowheads="1"/>
          </p:cNvSpPr>
          <p:nvPr/>
        </p:nvSpPr>
        <p:spPr bwMode="auto">
          <a:xfrm>
            <a:off x="1930400" y="4209783"/>
            <a:ext cx="644408" cy="366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装入</a:t>
            </a:r>
          </a:p>
        </p:txBody>
      </p:sp>
      <p:sp>
        <p:nvSpPr>
          <p:cNvPr id="222" name="Line 80"/>
          <p:cNvSpPr>
            <a:spLocks noChangeShapeType="1"/>
          </p:cNvSpPr>
          <p:nvPr/>
        </p:nvSpPr>
        <p:spPr bwMode="auto">
          <a:xfrm>
            <a:off x="1719263" y="4546333"/>
            <a:ext cx="0" cy="285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23" name="Line 81"/>
          <p:cNvSpPr>
            <a:spLocks noChangeShapeType="1"/>
          </p:cNvSpPr>
          <p:nvPr/>
        </p:nvSpPr>
        <p:spPr bwMode="auto">
          <a:xfrm>
            <a:off x="2709863" y="4547921"/>
            <a:ext cx="0" cy="2857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13053" y="4516841"/>
            <a:ext cx="400110" cy="142308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网络适配器</a:t>
            </a:r>
          </a:p>
        </p:txBody>
      </p:sp>
      <p:sp>
        <p:nvSpPr>
          <p:cNvPr id="225" name="文本框 224"/>
          <p:cNvSpPr txBox="1"/>
          <p:nvPr/>
        </p:nvSpPr>
        <p:spPr>
          <a:xfrm flipH="1">
            <a:off x="6472443" y="4511408"/>
            <a:ext cx="400110" cy="152251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>
              <a:lnSpc>
                <a:spcPts val="1600"/>
              </a:lnSpc>
            </a:pPr>
            <a:r>
              <a:rPr lang="zh-CN" altLang="en-US" sz="1600" b="1" dirty="0">
                <a:solidFill>
                  <a:schemeClr val="accent5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网络适配器</a:t>
            </a:r>
          </a:p>
        </p:txBody>
      </p:sp>
      <p:grpSp>
        <p:nvGrpSpPr>
          <p:cNvPr id="71" name="Group 15"/>
          <p:cNvGrpSpPr>
            <a:grpSpLocks/>
          </p:cNvGrpSpPr>
          <p:nvPr/>
        </p:nvGrpSpPr>
        <p:grpSpPr bwMode="auto">
          <a:xfrm>
            <a:off x="3267268" y="5077352"/>
            <a:ext cx="3768724" cy="473683"/>
            <a:chOff x="1066" y="2251"/>
            <a:chExt cx="3810" cy="544"/>
          </a:xfrm>
        </p:grpSpPr>
        <p:sp>
          <p:nvSpPr>
            <p:cNvPr id="73" name="Line 8"/>
            <p:cNvSpPr>
              <a:spLocks noChangeShapeType="1"/>
            </p:cNvSpPr>
            <p:nvPr/>
          </p:nvSpPr>
          <p:spPr bwMode="auto">
            <a:xfrm>
              <a:off x="1066" y="2523"/>
              <a:ext cx="3810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74" name="AutoShape 7"/>
            <p:cNvSpPr>
              <a:spLocks noChangeArrowheads="1"/>
            </p:cNvSpPr>
            <p:nvPr/>
          </p:nvSpPr>
          <p:spPr bwMode="auto">
            <a:xfrm rot="-5400000">
              <a:off x="2676" y="686"/>
              <a:ext cx="544" cy="3674"/>
            </a:xfrm>
            <a:prstGeom prst="can">
              <a:avLst>
                <a:gd name="adj" fmla="val 22418"/>
              </a:avLst>
            </a:prstGeom>
            <a:gradFill rotWithShape="1">
              <a:gsLst>
                <a:gs pos="0">
                  <a:srgbClr val="CCECFF">
                    <a:gamma/>
                    <a:shade val="46275"/>
                    <a:invGamma/>
                  </a:srgbClr>
                </a:gs>
                <a:gs pos="50000">
                  <a:srgbClr val="CCECFF"/>
                </a:gs>
                <a:gs pos="100000">
                  <a:srgbClr val="CCECFF">
                    <a:gamma/>
                    <a:shade val="46275"/>
                    <a:invGamma/>
                  </a:srgbClr>
                </a:gs>
              </a:gsLst>
              <a:lin ang="0" scaled="1"/>
            </a:gradFill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75" name="Rectangle 9"/>
            <p:cNvSpPr>
              <a:spLocks noChangeArrowheads="1"/>
            </p:cNvSpPr>
            <p:nvPr/>
          </p:nvSpPr>
          <p:spPr bwMode="auto">
            <a:xfrm>
              <a:off x="1383" y="2387"/>
              <a:ext cx="1043" cy="272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</a:rPr>
                <a:t>帧</a:t>
              </a:r>
            </a:p>
          </p:txBody>
        </p:sp>
        <p:sp>
          <p:nvSpPr>
            <p:cNvPr id="76" name="Line 10"/>
            <p:cNvSpPr>
              <a:spLocks noChangeShapeType="1"/>
            </p:cNvSpPr>
            <p:nvPr/>
          </p:nvSpPr>
          <p:spPr bwMode="auto">
            <a:xfrm>
              <a:off x="1066" y="2523"/>
              <a:ext cx="11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77" name="Rectangle 12"/>
            <p:cNvSpPr>
              <a:spLocks noChangeArrowheads="1"/>
            </p:cNvSpPr>
            <p:nvPr/>
          </p:nvSpPr>
          <p:spPr bwMode="auto">
            <a:xfrm>
              <a:off x="3243" y="2387"/>
              <a:ext cx="1043" cy="272"/>
            </a:xfrm>
            <a:prstGeom prst="rect">
              <a:avLst/>
            </a:prstGeom>
            <a:solidFill>
              <a:srgbClr val="FFCCFF"/>
            </a:solidFill>
            <a:ln w="9525">
              <a:solidFill>
                <a:srgbClr val="000000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</a:rPr>
                <a:t>帧</a:t>
              </a:r>
            </a:p>
          </p:txBody>
        </p:sp>
        <p:sp>
          <p:nvSpPr>
            <p:cNvPr id="78" name="Line 13"/>
            <p:cNvSpPr>
              <a:spLocks noChangeShapeType="1"/>
            </p:cNvSpPr>
            <p:nvPr/>
          </p:nvSpPr>
          <p:spPr bwMode="auto">
            <a:xfrm>
              <a:off x="2426" y="2523"/>
              <a:ext cx="416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79" name="Line 14"/>
            <p:cNvSpPr>
              <a:spLocks noChangeShapeType="1"/>
            </p:cNvSpPr>
            <p:nvPr/>
          </p:nvSpPr>
          <p:spPr bwMode="auto">
            <a:xfrm>
              <a:off x="4285" y="2523"/>
              <a:ext cx="35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sysDot"/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80" name="文本框 79"/>
          <p:cNvSpPr txBox="1"/>
          <p:nvPr/>
        </p:nvSpPr>
        <p:spPr>
          <a:xfrm>
            <a:off x="1185899" y="2812456"/>
            <a:ext cx="7149947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适配器面临的问题：</a:t>
            </a:r>
            <a:endParaRPr lang="en-US" altLang="zh-CN" dirty="0"/>
          </a:p>
          <a:p>
            <a:r>
              <a:rPr lang="zh-CN" altLang="en-US" dirty="0"/>
              <a:t>准确识别哪些比特构成一帧，即决定帧从哪里开始到哪里结束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6761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面向字节的协议</a:t>
            </a:r>
            <a:endParaRPr lang="en-US" altLang="zh-CN" dirty="0"/>
          </a:p>
          <a:p>
            <a:r>
              <a:rPr lang="zh-CN" altLang="en-US" dirty="0"/>
              <a:t>面向比特的协议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8038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面向字节的组帧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最早的组帧方法：把每一帧看成一个字节</a:t>
            </a:r>
            <a:r>
              <a:rPr lang="en-US" altLang="zh-CN" dirty="0"/>
              <a:t>(</a:t>
            </a:r>
            <a:r>
              <a:rPr lang="zh-CN" altLang="en-US" dirty="0"/>
              <a:t>字符</a:t>
            </a:r>
            <a:r>
              <a:rPr lang="en-US" altLang="zh-CN" dirty="0"/>
              <a:t>)</a:t>
            </a:r>
            <a:r>
              <a:rPr lang="zh-CN" altLang="en-US" dirty="0"/>
              <a:t>集</a:t>
            </a:r>
            <a:endParaRPr lang="en-US" altLang="zh-CN" dirty="0"/>
          </a:p>
          <a:p>
            <a:pPr lvl="1"/>
            <a:r>
              <a:rPr lang="zh-CN" altLang="en-US" dirty="0"/>
              <a:t>源于终端与大型机的连接</a:t>
            </a:r>
          </a:p>
          <a:p>
            <a:pPr>
              <a:spcBef>
                <a:spcPts val="3000"/>
              </a:spcBef>
            </a:pPr>
            <a:r>
              <a:rPr lang="zh-CN" altLang="en-US" dirty="0"/>
              <a:t>实例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起止标记法</a:t>
            </a:r>
          </a:p>
          <a:p>
            <a:pPr lvl="2">
              <a:spcBef>
                <a:spcPts val="600"/>
              </a:spcBef>
            </a:pPr>
            <a:r>
              <a:rPr lang="en-US" altLang="zh-CN" dirty="0"/>
              <a:t>20</a:t>
            </a:r>
            <a:r>
              <a:rPr lang="zh-CN" altLang="en-US" dirty="0"/>
              <a:t>世纪</a:t>
            </a:r>
            <a:r>
              <a:rPr lang="en-US" altLang="zh-CN" dirty="0"/>
              <a:t>60</a:t>
            </a:r>
            <a:r>
              <a:rPr lang="zh-CN" altLang="en-US" dirty="0"/>
              <a:t>年代末</a:t>
            </a:r>
            <a:r>
              <a:rPr lang="en-US" altLang="zh-CN" dirty="0"/>
              <a:t>IBM</a:t>
            </a:r>
            <a:r>
              <a:rPr lang="zh-CN" altLang="en-US" dirty="0"/>
              <a:t>开发的二进制同步通讯协议</a:t>
            </a:r>
            <a:r>
              <a:rPr lang="en-US" altLang="zh-CN" dirty="0"/>
              <a:t>BISYNC</a:t>
            </a:r>
            <a:r>
              <a:rPr lang="zh-CN" altLang="en-US" dirty="0"/>
              <a:t>（</a:t>
            </a:r>
            <a:r>
              <a:rPr lang="en-US" altLang="zh-CN" dirty="0"/>
              <a:t>Binary Synchronous Communication</a:t>
            </a:r>
            <a:r>
              <a:rPr lang="zh-CN" altLang="en-US" dirty="0"/>
              <a:t>）</a:t>
            </a:r>
          </a:p>
          <a:p>
            <a:pPr lvl="2">
              <a:spcBef>
                <a:spcPts val="600"/>
              </a:spcBef>
            </a:pPr>
            <a:r>
              <a:rPr lang="zh-CN" altLang="en-US" dirty="0"/>
              <a:t>点对点协议（</a:t>
            </a:r>
            <a:r>
              <a:rPr lang="en-US" altLang="zh-CN" dirty="0"/>
              <a:t>Point to Point Protocol</a:t>
            </a:r>
            <a:r>
              <a:rPr lang="zh-CN" altLang="en-US" dirty="0"/>
              <a:t>，</a:t>
            </a:r>
            <a:r>
              <a:rPr lang="en-US" altLang="zh-CN" dirty="0"/>
              <a:t>PPP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zh-CN" altLang="en-US" dirty="0"/>
              <a:t>字节计数法</a:t>
            </a:r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zh-CN" altLang="en-US" dirty="0"/>
              <a:t>用于数字设备公司</a:t>
            </a:r>
            <a:r>
              <a:rPr lang="en-US" altLang="zh-CN" dirty="0"/>
              <a:t>DECNET</a:t>
            </a:r>
            <a:r>
              <a:rPr lang="zh-CN" altLang="en-US" dirty="0"/>
              <a:t>网上的数字数据通信消息协议</a:t>
            </a:r>
            <a:r>
              <a:rPr lang="en-US" altLang="zh-CN" dirty="0"/>
              <a:t>DDCMP</a:t>
            </a:r>
            <a:r>
              <a:rPr lang="zh-CN" altLang="en-US" dirty="0"/>
              <a:t>（</a:t>
            </a:r>
            <a:r>
              <a:rPr lang="en-US" altLang="zh-CN" dirty="0"/>
              <a:t>Digital Data Communication Message Protocol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2D68E3-0E7B-4233-B618-43441466C0C2}"/>
              </a:ext>
            </a:extLst>
          </p:cNvPr>
          <p:cNvSpPr txBox="1"/>
          <p:nvPr/>
        </p:nvSpPr>
        <p:spPr>
          <a:xfrm>
            <a:off x="1185899" y="6087924"/>
            <a:ext cx="7149947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无需记忆协议名称和字段名称，理解每种方法的基本思想即可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724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起止标记法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1231052"/>
          </a:xfrm>
        </p:spPr>
        <p:txBody>
          <a:bodyPr/>
          <a:lstStyle/>
          <a:p>
            <a:r>
              <a:rPr lang="zh-CN" altLang="en-US" dirty="0"/>
              <a:t>特定字符表示帧的开始与结束</a:t>
            </a:r>
            <a:endParaRPr lang="en-US" altLang="zh-CN" dirty="0"/>
          </a:p>
          <a:p>
            <a:r>
              <a:rPr lang="zh-CN" altLang="en-US" dirty="0"/>
              <a:t>实例：二进制同步通讯协议</a:t>
            </a:r>
            <a:r>
              <a:rPr lang="en-US" altLang="zh-CN" dirty="0"/>
              <a:t>BISYNC 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grpSp>
        <p:nvGrpSpPr>
          <p:cNvPr id="51" name="组合 50"/>
          <p:cNvGrpSpPr/>
          <p:nvPr/>
        </p:nvGrpSpPr>
        <p:grpSpPr>
          <a:xfrm>
            <a:off x="849725" y="2929861"/>
            <a:ext cx="7724583" cy="836240"/>
            <a:chOff x="849725" y="2106903"/>
            <a:chExt cx="7724583" cy="836240"/>
          </a:xfrm>
        </p:grpSpPr>
        <p:grpSp>
          <p:nvGrpSpPr>
            <p:cNvPr id="44" name="组合 43"/>
            <p:cNvGrpSpPr/>
            <p:nvPr/>
          </p:nvGrpSpPr>
          <p:grpSpPr>
            <a:xfrm>
              <a:off x="849725" y="2393748"/>
              <a:ext cx="7724583" cy="549395"/>
              <a:chOff x="849725" y="2341496"/>
              <a:chExt cx="7724583" cy="549395"/>
            </a:xfrm>
          </p:grpSpPr>
          <p:sp>
            <p:nvSpPr>
              <p:cNvPr id="30" name="Rectangle 3"/>
              <p:cNvSpPr>
                <a:spLocks noChangeArrowheads="1"/>
              </p:cNvSpPr>
              <p:nvPr/>
            </p:nvSpPr>
            <p:spPr bwMode="auto">
              <a:xfrm>
                <a:off x="849725" y="2341616"/>
                <a:ext cx="495300" cy="54927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SYN</a:t>
                </a:r>
                <a:endParaRPr kumimoji="0" lang="zh-CN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" name="Rectangle 3"/>
              <p:cNvSpPr>
                <a:spLocks noChangeArrowheads="1"/>
              </p:cNvSpPr>
              <p:nvPr/>
            </p:nvSpPr>
            <p:spPr bwMode="auto">
              <a:xfrm>
                <a:off x="1343501" y="2341496"/>
                <a:ext cx="495300" cy="54927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600" dirty="0">
                    <a:solidFill>
                      <a:srgbClr val="3333CC"/>
                    </a:solidFill>
                    <a:latin typeface="Calibri" panose="020F0502020204030204"/>
                    <a:ea typeface="宋体" panose="02010600030101010101" pitchFamily="2" charset="-122"/>
                  </a:rPr>
                  <a:t>SYN</a:t>
                </a:r>
                <a:endParaRPr lang="zh-CN" altLang="zh-CN" sz="1600" dirty="0">
                  <a:solidFill>
                    <a:srgbClr val="3333CC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Rectangle 3"/>
              <p:cNvSpPr>
                <a:spLocks noChangeArrowheads="1"/>
              </p:cNvSpPr>
              <p:nvPr/>
            </p:nvSpPr>
            <p:spPr bwMode="auto">
              <a:xfrm>
                <a:off x="1837277" y="2341616"/>
                <a:ext cx="495300" cy="549275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altLang="zh-CN" sz="1600" dirty="0">
                    <a:solidFill>
                      <a:srgbClr val="3333CC"/>
                    </a:solidFill>
                    <a:latin typeface="Calibri" panose="020F0502020204030204"/>
                    <a:ea typeface="宋体" panose="02010600030101010101" pitchFamily="2" charset="-122"/>
                  </a:rPr>
                  <a:t>SOH</a:t>
                </a:r>
                <a:endParaRPr kumimoji="0" lang="zh-CN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Rectangle 4"/>
              <p:cNvSpPr>
                <a:spLocks noChangeArrowheads="1"/>
              </p:cNvSpPr>
              <p:nvPr/>
            </p:nvSpPr>
            <p:spPr bwMode="auto">
              <a:xfrm>
                <a:off x="2326861" y="2341496"/>
                <a:ext cx="1434371" cy="549275"/>
              </a:xfrm>
              <a:prstGeom prst="rect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首部</a:t>
                </a: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(header)</a:t>
                </a:r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Rectangle 3"/>
              <p:cNvSpPr>
                <a:spLocks noChangeArrowheads="1"/>
              </p:cNvSpPr>
              <p:nvPr/>
            </p:nvSpPr>
            <p:spPr bwMode="auto">
              <a:xfrm>
                <a:off x="3759665" y="2341496"/>
                <a:ext cx="495300" cy="549275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TX</a:t>
                </a:r>
                <a:endParaRPr kumimoji="0" lang="zh-CN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4"/>
              <p:cNvSpPr>
                <a:spLocks noChangeArrowheads="1"/>
              </p:cNvSpPr>
              <p:nvPr/>
            </p:nvSpPr>
            <p:spPr bwMode="auto">
              <a:xfrm>
                <a:off x="4255008" y="2341616"/>
                <a:ext cx="3328416" cy="549275"/>
              </a:xfrm>
              <a:prstGeom prst="rect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zh-CN" altLang="en-US" sz="2000" dirty="0">
                    <a:solidFill>
                      <a:srgbClr val="3333CC"/>
                    </a:solidFill>
                    <a:latin typeface="Calibri" panose="020F0502020204030204"/>
                    <a:ea typeface="宋体" panose="02010600030101010101" pitchFamily="2" charset="-122"/>
                  </a:rPr>
                  <a:t>帧体 </a:t>
                </a:r>
                <a:r>
                  <a:rPr lang="en-US" altLang="zh-CN" sz="2000" dirty="0">
                    <a:solidFill>
                      <a:srgbClr val="3333CC"/>
                    </a:solidFill>
                    <a:latin typeface="Calibri" panose="020F0502020204030204"/>
                    <a:ea typeface="宋体" panose="02010600030101010101" pitchFamily="2" charset="-122"/>
                  </a:rPr>
                  <a:t>(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data payload)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Rectangle 13"/>
              <p:cNvSpPr>
                <a:spLocks noChangeArrowheads="1"/>
              </p:cNvSpPr>
              <p:nvPr/>
            </p:nvSpPr>
            <p:spPr bwMode="auto">
              <a:xfrm>
                <a:off x="7582376" y="2341616"/>
                <a:ext cx="496888" cy="549275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ET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X</a:t>
                </a:r>
                <a:endParaRPr kumimoji="0" lang="zh-CN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2" name="Rectangle 3"/>
              <p:cNvSpPr>
                <a:spLocks noChangeArrowheads="1"/>
              </p:cNvSpPr>
              <p:nvPr/>
            </p:nvSpPr>
            <p:spPr bwMode="auto">
              <a:xfrm>
                <a:off x="8079008" y="2341496"/>
                <a:ext cx="495300" cy="54927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600" dirty="0">
                    <a:solidFill>
                      <a:srgbClr val="3333CC"/>
                    </a:solidFill>
                    <a:latin typeface="Calibri" panose="020F0502020204030204"/>
                    <a:ea typeface="宋体" panose="02010600030101010101" pitchFamily="2" charset="-122"/>
                  </a:rPr>
                  <a:t>CRC</a:t>
                </a:r>
                <a:endParaRPr lang="zh-CN" altLang="zh-CN" sz="1600" dirty="0">
                  <a:solidFill>
                    <a:srgbClr val="3333CC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5" name="文本框 44"/>
            <p:cNvSpPr txBox="1"/>
            <p:nvPr/>
          </p:nvSpPr>
          <p:spPr>
            <a:xfrm>
              <a:off x="937995" y="2124327"/>
              <a:ext cx="3657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alibri" panose="020F0502020204030204" pitchFamily="34" charset="0"/>
                </a:rPr>
                <a:t>8</a:t>
              </a:r>
              <a:endParaRPr lang="zh-CN" altLang="en-US" sz="1600" dirty="0">
                <a:latin typeface="Calibri" panose="020F0502020204030204" pitchFamily="34" charset="0"/>
              </a:endParaRPr>
            </a:p>
          </p:txBody>
        </p:sp>
        <p:sp>
          <p:nvSpPr>
            <p:cNvPr id="46" name="文本框 45"/>
            <p:cNvSpPr txBox="1"/>
            <p:nvPr/>
          </p:nvSpPr>
          <p:spPr>
            <a:xfrm>
              <a:off x="1403906" y="2119971"/>
              <a:ext cx="3657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alibri" panose="020F0502020204030204" pitchFamily="34" charset="0"/>
                </a:rPr>
                <a:t>8</a:t>
              </a:r>
              <a:endParaRPr lang="zh-CN" altLang="en-US" sz="1600" dirty="0">
                <a:latin typeface="Calibri" panose="020F0502020204030204" pitchFamily="34" charset="0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952547" y="2119971"/>
              <a:ext cx="3657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alibri" panose="020F0502020204030204" pitchFamily="34" charset="0"/>
                </a:rPr>
                <a:t>8</a:t>
              </a:r>
              <a:endParaRPr lang="zh-CN" altLang="en-US" sz="1600" dirty="0">
                <a:latin typeface="Calibri" panose="020F0502020204030204" pitchFamily="34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3907622" y="2115615"/>
              <a:ext cx="3657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alibri" panose="020F0502020204030204" pitchFamily="34" charset="0"/>
                </a:rPr>
                <a:t>8</a:t>
              </a:r>
              <a:endParaRPr lang="zh-CN" altLang="en-US" sz="1600" dirty="0">
                <a:latin typeface="Calibri" panose="020F0502020204030204" pitchFamily="34" charset="0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7665380" y="2111259"/>
              <a:ext cx="3657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alibri" panose="020F0502020204030204" pitchFamily="34" charset="0"/>
                </a:rPr>
                <a:t>8</a:t>
              </a:r>
              <a:endParaRPr lang="zh-CN" altLang="en-US" sz="1600" dirty="0">
                <a:latin typeface="Calibri" panose="020F0502020204030204" pitchFamily="34" charset="0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8092102" y="2106903"/>
              <a:ext cx="4778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alibri" panose="020F0502020204030204" pitchFamily="34" charset="0"/>
                </a:rPr>
                <a:t>16</a:t>
              </a:r>
              <a:endParaRPr lang="zh-CN" altLang="en-US" sz="1600" dirty="0">
                <a:latin typeface="Calibri" panose="020F0502020204030204" pitchFamily="34" charset="0"/>
              </a:endParaRPr>
            </a:p>
          </p:txBody>
        </p:sp>
      </p:grpSp>
      <p:sp>
        <p:nvSpPr>
          <p:cNvPr id="52" name="内容占位符 2"/>
          <p:cNvSpPr txBox="1">
            <a:spLocks/>
          </p:cNvSpPr>
          <p:nvPr/>
        </p:nvSpPr>
        <p:spPr bwMode="auto">
          <a:xfrm>
            <a:off x="452844" y="3857252"/>
            <a:ext cx="8229600" cy="2177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-US" altLang="zh-CN" kern="0" dirty="0"/>
              <a:t>SYN</a:t>
            </a:r>
            <a:r>
              <a:rPr lang="zh-CN" altLang="en-US" kern="0" dirty="0"/>
              <a:t>（</a:t>
            </a:r>
            <a:r>
              <a:rPr lang="en-US" altLang="zh-CN" kern="0" dirty="0"/>
              <a:t>synchronization</a:t>
            </a:r>
            <a:r>
              <a:rPr lang="zh-CN" altLang="en-US" kern="0" dirty="0"/>
              <a:t>）</a:t>
            </a:r>
            <a:r>
              <a:rPr lang="en-US" altLang="zh-CN" kern="0" dirty="0"/>
              <a:t>(</a:t>
            </a:r>
            <a:r>
              <a:rPr lang="zh-CN" altLang="en-US" kern="0" dirty="0"/>
              <a:t>同步</a:t>
            </a:r>
            <a:r>
              <a:rPr lang="en-US" altLang="zh-CN" kern="0" dirty="0"/>
              <a:t>)</a:t>
            </a:r>
            <a:r>
              <a:rPr lang="zh-CN" altLang="en-US" kern="0" dirty="0"/>
              <a:t>字符，一帧开始发送</a:t>
            </a:r>
          </a:p>
          <a:p>
            <a:pPr lvl="1"/>
            <a:r>
              <a:rPr lang="en-US" altLang="zh-CN" kern="0" dirty="0"/>
              <a:t>STX</a:t>
            </a:r>
            <a:r>
              <a:rPr lang="zh-CN" altLang="en-US" kern="0" dirty="0"/>
              <a:t>（正文开始符）</a:t>
            </a:r>
          </a:p>
          <a:p>
            <a:pPr lvl="1"/>
            <a:r>
              <a:rPr lang="en-US" altLang="zh-CN" kern="0" dirty="0"/>
              <a:t>ETX</a:t>
            </a:r>
            <a:r>
              <a:rPr lang="zh-CN" altLang="en-US" kern="0" dirty="0"/>
              <a:t>（正文结束符）</a:t>
            </a:r>
          </a:p>
          <a:p>
            <a:pPr lvl="1"/>
            <a:r>
              <a:rPr lang="en-US" altLang="zh-CN" kern="0" dirty="0"/>
              <a:t>SOH</a:t>
            </a:r>
            <a:r>
              <a:rPr lang="zh-CN" altLang="en-US" kern="0" dirty="0"/>
              <a:t>（头部开始符）字段与</a:t>
            </a:r>
            <a:r>
              <a:rPr lang="en-US" altLang="zh-CN" kern="0" dirty="0"/>
              <a:t>STX</a:t>
            </a:r>
            <a:r>
              <a:rPr lang="zh-CN" altLang="en-US" kern="0" dirty="0"/>
              <a:t>字段的目的是一样的</a:t>
            </a:r>
          </a:p>
          <a:p>
            <a:pPr lvl="1"/>
            <a:r>
              <a:rPr lang="en-US" altLang="zh-CN" kern="0" dirty="0"/>
              <a:t>CRC</a:t>
            </a:r>
            <a:r>
              <a:rPr lang="zh-CN" altLang="en-US" kern="0" dirty="0"/>
              <a:t>（</a:t>
            </a:r>
            <a:r>
              <a:rPr lang="en-US" altLang="zh-CN" kern="0" dirty="0"/>
              <a:t>cyclic redundancy check</a:t>
            </a:r>
            <a:r>
              <a:rPr lang="zh-CN" altLang="en-US" kern="0" dirty="0"/>
              <a:t>，循环冗余校验）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9787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39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5400000">
            <a:off x="4163656" y="5554796"/>
            <a:ext cx="444209" cy="507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起止标记法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1231052"/>
          </a:xfrm>
        </p:spPr>
        <p:txBody>
          <a:bodyPr/>
          <a:lstStyle/>
          <a:p>
            <a:r>
              <a:rPr lang="zh-CN" altLang="en-US" dirty="0"/>
              <a:t>数据帧的透明传输</a:t>
            </a:r>
            <a:endParaRPr lang="en-US" altLang="zh-CN" dirty="0"/>
          </a:p>
          <a:p>
            <a:pPr lvl="1"/>
            <a:r>
              <a:rPr lang="zh-CN" altLang="en-US" sz="1800" dirty="0"/>
              <a:t>任意比特组合的数据都能通过数据链路层</a:t>
            </a:r>
            <a:endParaRPr lang="en-US" altLang="zh-CN" sz="1800" dirty="0"/>
          </a:p>
          <a:p>
            <a:pPr lvl="1"/>
            <a:r>
              <a:rPr lang="zh-CN" altLang="en-US" sz="1800" dirty="0"/>
              <a:t>如果数据负载中也包含</a:t>
            </a:r>
            <a:r>
              <a:rPr lang="en-US" altLang="zh-CN" sz="1800" dirty="0"/>
              <a:t>ETX</a:t>
            </a:r>
            <a:r>
              <a:rPr lang="zh-CN" altLang="en-US" sz="1800" dirty="0"/>
              <a:t>字符如何处理？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52" name="内容占位符 2"/>
          <p:cNvSpPr txBox="1">
            <a:spLocks/>
          </p:cNvSpPr>
          <p:nvPr/>
        </p:nvSpPr>
        <p:spPr bwMode="auto">
          <a:xfrm>
            <a:off x="457200" y="4108024"/>
            <a:ext cx="8229600" cy="1052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/>
              <a:t>字符填充法</a:t>
            </a:r>
          </a:p>
          <a:p>
            <a:pPr lvl="1"/>
            <a:r>
              <a:rPr lang="zh-CN" altLang="en-US" sz="1800" kern="0" dirty="0"/>
              <a:t>引入转义符</a:t>
            </a:r>
            <a:r>
              <a:rPr lang="en-US" altLang="zh-CN" sz="1800" kern="0" dirty="0"/>
              <a:t>DLE</a:t>
            </a:r>
            <a:r>
              <a:rPr lang="zh-CN" altLang="en-US" sz="1800" kern="0" dirty="0"/>
              <a:t>，将数据负载中所有的</a:t>
            </a:r>
            <a:r>
              <a:rPr lang="en-US" altLang="zh-CN" sz="1800" kern="0" dirty="0"/>
              <a:t>ETX</a:t>
            </a:r>
            <a:r>
              <a:rPr lang="zh-CN" altLang="en-US" sz="1800" kern="0" dirty="0"/>
              <a:t>，用</a:t>
            </a:r>
            <a:r>
              <a:rPr lang="en-US" altLang="zh-CN" sz="1800" kern="0" dirty="0"/>
              <a:t>DLE</a:t>
            </a:r>
            <a:r>
              <a:rPr lang="zh-CN" altLang="en-US" sz="1800" kern="0" dirty="0"/>
              <a:t>进行转义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779433" y="2754006"/>
            <a:ext cx="7959717" cy="1589152"/>
            <a:chOff x="779433" y="2754006"/>
            <a:chExt cx="7959717" cy="1589152"/>
          </a:xfrm>
        </p:grpSpPr>
        <p:sp>
          <p:nvSpPr>
            <p:cNvPr id="64" name="矩形 63"/>
            <p:cNvSpPr/>
            <p:nvPr/>
          </p:nvSpPr>
          <p:spPr>
            <a:xfrm>
              <a:off x="4203107" y="3943048"/>
              <a:ext cx="80457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/>
                </a:rPr>
                <a:t>frame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779433" y="2754006"/>
              <a:ext cx="7959717" cy="1253755"/>
              <a:chOff x="779433" y="2910762"/>
              <a:chExt cx="7959717" cy="1253755"/>
            </a:xfrm>
          </p:grpSpPr>
          <p:sp>
            <p:nvSpPr>
              <p:cNvPr id="30" name="Rectangle 3"/>
              <p:cNvSpPr>
                <a:spLocks noChangeArrowheads="1"/>
              </p:cNvSpPr>
              <p:nvPr/>
            </p:nvSpPr>
            <p:spPr bwMode="auto">
              <a:xfrm>
                <a:off x="779433" y="3463177"/>
                <a:ext cx="495300" cy="54927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SYN</a:t>
                </a:r>
                <a:endParaRPr kumimoji="0" lang="zh-CN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" name="Rectangle 3"/>
              <p:cNvSpPr>
                <a:spLocks noChangeArrowheads="1"/>
              </p:cNvSpPr>
              <p:nvPr/>
            </p:nvSpPr>
            <p:spPr bwMode="auto">
              <a:xfrm>
                <a:off x="1273209" y="3463057"/>
                <a:ext cx="495300" cy="54927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600" dirty="0">
                    <a:solidFill>
                      <a:srgbClr val="3333CC"/>
                    </a:solidFill>
                    <a:latin typeface="Calibri" panose="020F0502020204030204"/>
                    <a:ea typeface="宋体" panose="02010600030101010101" pitchFamily="2" charset="-122"/>
                  </a:rPr>
                  <a:t>SYN</a:t>
                </a:r>
                <a:endParaRPr lang="zh-CN" altLang="zh-CN" sz="1600" dirty="0">
                  <a:solidFill>
                    <a:srgbClr val="3333CC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38" name="Rectangle 3"/>
              <p:cNvSpPr>
                <a:spLocks noChangeArrowheads="1"/>
              </p:cNvSpPr>
              <p:nvPr/>
            </p:nvSpPr>
            <p:spPr bwMode="auto">
              <a:xfrm>
                <a:off x="1766985" y="3463177"/>
                <a:ext cx="495300" cy="549275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altLang="zh-CN" sz="1600" dirty="0">
                    <a:solidFill>
                      <a:srgbClr val="3333CC"/>
                    </a:solidFill>
                    <a:latin typeface="Calibri" panose="020F0502020204030204"/>
                    <a:ea typeface="宋体" panose="02010600030101010101" pitchFamily="2" charset="-122"/>
                  </a:rPr>
                  <a:t>SOH</a:t>
                </a:r>
                <a:endParaRPr kumimoji="0" lang="zh-CN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Rectangle 4"/>
              <p:cNvSpPr>
                <a:spLocks noChangeArrowheads="1"/>
              </p:cNvSpPr>
              <p:nvPr/>
            </p:nvSpPr>
            <p:spPr bwMode="auto">
              <a:xfrm>
                <a:off x="2256569" y="3463057"/>
                <a:ext cx="1434371" cy="549275"/>
              </a:xfrm>
              <a:prstGeom prst="rect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header</a:t>
                </a:r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Rectangle 3"/>
              <p:cNvSpPr>
                <a:spLocks noChangeArrowheads="1"/>
              </p:cNvSpPr>
              <p:nvPr/>
            </p:nvSpPr>
            <p:spPr bwMode="auto">
              <a:xfrm>
                <a:off x="3689373" y="3463057"/>
                <a:ext cx="495300" cy="549275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S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TX</a:t>
                </a:r>
                <a:endParaRPr kumimoji="0" lang="zh-CN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4"/>
              <p:cNvSpPr>
                <a:spLocks noChangeArrowheads="1"/>
              </p:cNvSpPr>
              <p:nvPr/>
            </p:nvSpPr>
            <p:spPr bwMode="auto">
              <a:xfrm>
                <a:off x="4184716" y="3463177"/>
                <a:ext cx="3562502" cy="549275"/>
              </a:xfrm>
              <a:prstGeom prst="rect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lang="en-US" altLang="zh-CN" sz="2000" dirty="0">
                    <a:solidFill>
                      <a:srgbClr val="3333CC"/>
                    </a:solidFill>
                    <a:latin typeface="Calibri" panose="020F0502020204030204"/>
                    <a:ea typeface="宋体" panose="02010600030101010101" pitchFamily="2" charset="-122"/>
                  </a:rPr>
                  <a:t>                data payload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Rectangle 13"/>
              <p:cNvSpPr>
                <a:spLocks noChangeArrowheads="1"/>
              </p:cNvSpPr>
              <p:nvPr/>
            </p:nvSpPr>
            <p:spPr bwMode="auto">
              <a:xfrm>
                <a:off x="7747218" y="3463177"/>
                <a:ext cx="496888" cy="549275"/>
              </a:xfrm>
              <a:prstGeom prst="rect">
                <a:avLst/>
              </a:prstGeom>
              <a:solidFill>
                <a:srgbClr val="CCFFFF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ET</a:t>
                </a: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X</a:t>
                </a:r>
                <a:endParaRPr kumimoji="0" lang="zh-CN" altLang="zh-CN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2" name="Rectangle 3"/>
              <p:cNvSpPr>
                <a:spLocks noChangeArrowheads="1"/>
              </p:cNvSpPr>
              <p:nvPr/>
            </p:nvSpPr>
            <p:spPr bwMode="auto">
              <a:xfrm>
                <a:off x="8243850" y="3463057"/>
                <a:ext cx="495300" cy="54927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600" dirty="0">
                    <a:solidFill>
                      <a:srgbClr val="3333CC"/>
                    </a:solidFill>
                    <a:latin typeface="Calibri" panose="020F0502020204030204"/>
                    <a:ea typeface="宋体" panose="02010600030101010101" pitchFamily="2" charset="-122"/>
                  </a:rPr>
                  <a:t>CRC</a:t>
                </a:r>
                <a:endParaRPr lang="zh-CN" altLang="zh-CN" sz="1600" dirty="0">
                  <a:solidFill>
                    <a:srgbClr val="3333CC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  <p:sp>
            <p:nvSpPr>
              <p:cNvPr id="62" name="Line 5"/>
              <p:cNvSpPr>
                <a:spLocks noChangeShapeType="1"/>
              </p:cNvSpPr>
              <p:nvPr/>
            </p:nvSpPr>
            <p:spPr bwMode="auto">
              <a:xfrm>
                <a:off x="779433" y="4164517"/>
                <a:ext cx="7959717" cy="0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57" name="Rectangle 13"/>
              <p:cNvSpPr>
                <a:spLocks noChangeArrowheads="1"/>
              </p:cNvSpPr>
              <p:nvPr/>
            </p:nvSpPr>
            <p:spPr bwMode="auto">
              <a:xfrm>
                <a:off x="5007686" y="3463056"/>
                <a:ext cx="496888" cy="549275"/>
              </a:xfrm>
              <a:prstGeom prst="rect">
                <a:avLst/>
              </a:prstGeom>
              <a:noFill/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rgbClr val="333399"/>
                    </a:solidFill>
                    <a:latin typeface="Arial" panose="020B0604020202020204" pitchFamily="34" charset="0"/>
                    <a:ea typeface="黑体" panose="020106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zh-CN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</a:rPr>
                  <a:t>ET</a:t>
                </a: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黑体" panose="02010609060101010101" pitchFamily="49" charset="-122"/>
                  </a:rPr>
                  <a:t>X</a:t>
                </a:r>
                <a:endParaRPr kumimoji="0" lang="zh-CN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/>
                  <a:ea typeface="黑体" panose="02010609060101010101" pitchFamily="49" charset="-122"/>
                </a:endParaRPr>
              </a:p>
            </p:txBody>
          </p:sp>
          <p:sp>
            <p:nvSpPr>
              <p:cNvPr id="58" name="Line 5"/>
              <p:cNvSpPr>
                <a:spLocks noChangeShapeType="1"/>
              </p:cNvSpPr>
              <p:nvPr/>
            </p:nvSpPr>
            <p:spPr bwMode="auto">
              <a:xfrm>
                <a:off x="779433" y="3268466"/>
                <a:ext cx="4725141" cy="0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2097691" y="2926238"/>
                <a:ext cx="208698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楷体" panose="02010609060101010101" pitchFamily="49" charset="-122"/>
                  </a:rPr>
                  <a:t>误认是一个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楷体" panose="02010609060101010101" pitchFamily="49" charset="-122"/>
                  </a:rPr>
                  <a:t>frame</a:t>
                </a:r>
                <a:endPara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/>
                  <a:ea typeface="楷体" panose="02010609060101010101" pitchFamily="49" charset="-122"/>
                </a:endParaRPr>
              </a:p>
            </p:txBody>
          </p:sp>
          <p:sp>
            <p:nvSpPr>
              <p:cNvPr id="54" name="Line 5"/>
              <p:cNvSpPr>
                <a:spLocks noChangeShapeType="1"/>
              </p:cNvSpPr>
              <p:nvPr/>
            </p:nvSpPr>
            <p:spPr bwMode="auto">
              <a:xfrm>
                <a:off x="5504574" y="3267557"/>
                <a:ext cx="3234576" cy="0"/>
              </a:xfrm>
              <a:prstGeom prst="line">
                <a:avLst/>
              </a:prstGeom>
              <a:noFill/>
              <a:ln w="9525">
                <a:solidFill>
                  <a:sysClr val="windowText" lastClr="000000"/>
                </a:solidFill>
                <a:round/>
                <a:headEnd type="triangle" w="sm" len="med"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5693650" y="2910762"/>
                <a:ext cx="285642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楷体" panose="02010609060101010101" pitchFamily="49" charset="-122"/>
                  </a:rPr>
                  <a:t>认为是无效</a:t>
                </a:r>
                <a:r>
                  <a:rPr kumimoji="0" lang="en-US" altLang="zh-CN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楷体" panose="02010609060101010101" pitchFamily="49" charset="-122"/>
                  </a:rPr>
                  <a:t>frame</a:t>
                </a:r>
                <a:r>
                  <a:rPr kumimoji="0" lang="zh-CN" altLang="en-US" sz="20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楷体" panose="02010609060101010101" pitchFamily="49" charset="-122"/>
                  </a:rPr>
                  <a:t>而丢弃</a:t>
                </a:r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1280160" y="5115993"/>
            <a:ext cx="6596743" cy="501033"/>
            <a:chOff x="1280160" y="5285812"/>
            <a:chExt cx="6596743" cy="501033"/>
          </a:xfrm>
        </p:grpSpPr>
        <p:sp>
          <p:nvSpPr>
            <p:cNvPr id="95" name="Rectangle 2"/>
            <p:cNvSpPr>
              <a:spLocks noChangeArrowheads="1"/>
            </p:cNvSpPr>
            <p:nvPr/>
          </p:nvSpPr>
          <p:spPr bwMode="auto">
            <a:xfrm>
              <a:off x="1280160" y="5285812"/>
              <a:ext cx="6596743" cy="501033"/>
            </a:xfrm>
            <a:prstGeom prst="rect">
              <a:avLst/>
            </a:prstGeom>
            <a:solidFill>
              <a:srgbClr val="F4F4FA"/>
            </a:solidFill>
            <a:ln w="25400">
              <a:solidFill>
                <a:srgbClr val="DCDCEC"/>
              </a:solidFill>
            </a:ln>
            <a:effectLst/>
          </p:spPr>
          <p:txBody>
            <a:bodyPr wrap="none" anchor="ctr"/>
            <a:lstStyle/>
            <a:p>
              <a:r>
                <a:rPr lang="en-US" altLang="zh-CN" sz="1600" b="1" dirty="0"/>
                <a:t> </a:t>
              </a:r>
              <a:endParaRPr lang="zh-CN" altLang="en-US" sz="1600" b="1" dirty="0"/>
            </a:p>
          </p:txBody>
        </p:sp>
        <p:sp>
          <p:nvSpPr>
            <p:cNvPr id="73" name="Text Box 29"/>
            <p:cNvSpPr txBox="1">
              <a:spLocks noChangeArrowheads="1"/>
            </p:cNvSpPr>
            <p:nvPr/>
          </p:nvSpPr>
          <p:spPr bwMode="auto">
            <a:xfrm>
              <a:off x="1524000" y="5421652"/>
              <a:ext cx="762000" cy="3460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A</a:t>
              </a:r>
            </a:p>
          </p:txBody>
        </p:sp>
        <p:sp>
          <p:nvSpPr>
            <p:cNvPr id="74" name="Text Box 30"/>
            <p:cNvSpPr txBox="1">
              <a:spLocks noChangeArrowheads="1"/>
            </p:cNvSpPr>
            <p:nvPr/>
          </p:nvSpPr>
          <p:spPr bwMode="auto">
            <a:xfrm>
              <a:off x="2438400" y="5401014"/>
              <a:ext cx="762000" cy="3460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DLE</a:t>
              </a:r>
            </a:p>
          </p:txBody>
        </p:sp>
        <p:sp>
          <p:nvSpPr>
            <p:cNvPr id="75" name="Text Box 31"/>
            <p:cNvSpPr txBox="1">
              <a:spLocks noChangeArrowheads="1"/>
            </p:cNvSpPr>
            <p:nvPr/>
          </p:nvSpPr>
          <p:spPr bwMode="auto">
            <a:xfrm>
              <a:off x="3352800" y="5401014"/>
              <a:ext cx="762000" cy="3460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ETX</a:t>
              </a:r>
            </a:p>
          </p:txBody>
        </p:sp>
        <p:sp>
          <p:nvSpPr>
            <p:cNvPr id="76" name="Text Box 32"/>
            <p:cNvSpPr txBox="1">
              <a:spLocks noChangeArrowheads="1"/>
            </p:cNvSpPr>
            <p:nvPr/>
          </p:nvSpPr>
          <p:spPr bwMode="auto">
            <a:xfrm>
              <a:off x="4267200" y="5401014"/>
              <a:ext cx="762000" cy="3460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B</a:t>
              </a:r>
            </a:p>
          </p:txBody>
        </p:sp>
        <p:sp>
          <p:nvSpPr>
            <p:cNvPr id="77" name="Text Box 33"/>
            <p:cNvSpPr txBox="1">
              <a:spLocks noChangeArrowheads="1"/>
            </p:cNvSpPr>
            <p:nvPr/>
          </p:nvSpPr>
          <p:spPr bwMode="auto">
            <a:xfrm>
              <a:off x="5105400" y="5401014"/>
              <a:ext cx="762000" cy="3460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</a:t>
              </a:r>
            </a:p>
          </p:txBody>
        </p:sp>
        <p:sp>
          <p:nvSpPr>
            <p:cNvPr id="78" name="Text Box 34"/>
            <p:cNvSpPr txBox="1">
              <a:spLocks noChangeArrowheads="1"/>
            </p:cNvSpPr>
            <p:nvPr/>
          </p:nvSpPr>
          <p:spPr bwMode="auto">
            <a:xfrm>
              <a:off x="5943600" y="5401014"/>
              <a:ext cx="762000" cy="3460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DLE</a:t>
              </a:r>
            </a:p>
          </p:txBody>
        </p:sp>
        <p:sp>
          <p:nvSpPr>
            <p:cNvPr id="79" name="Text Box 35"/>
            <p:cNvSpPr txBox="1">
              <a:spLocks noChangeArrowheads="1"/>
            </p:cNvSpPr>
            <p:nvPr/>
          </p:nvSpPr>
          <p:spPr bwMode="auto">
            <a:xfrm>
              <a:off x="6858000" y="5401014"/>
              <a:ext cx="762000" cy="3460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C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156753" y="5987273"/>
            <a:ext cx="8895806" cy="590666"/>
            <a:chOff x="156753" y="5987273"/>
            <a:chExt cx="8895806" cy="590666"/>
          </a:xfrm>
        </p:grpSpPr>
        <p:sp>
          <p:nvSpPr>
            <p:cNvPr id="96" name="Rectangle 2"/>
            <p:cNvSpPr>
              <a:spLocks noChangeArrowheads="1"/>
            </p:cNvSpPr>
            <p:nvPr/>
          </p:nvSpPr>
          <p:spPr bwMode="auto">
            <a:xfrm>
              <a:off x="156753" y="5987273"/>
              <a:ext cx="8895806" cy="506939"/>
            </a:xfrm>
            <a:prstGeom prst="rect">
              <a:avLst/>
            </a:prstGeom>
            <a:solidFill>
              <a:srgbClr val="F4F4FA"/>
            </a:solidFill>
            <a:ln w="25400">
              <a:solidFill>
                <a:srgbClr val="DCDCEC"/>
              </a:solidFill>
            </a:ln>
            <a:effectLst/>
          </p:spPr>
          <p:txBody>
            <a:bodyPr wrap="none" anchor="ctr"/>
            <a:lstStyle/>
            <a:p>
              <a:r>
                <a:rPr lang="en-US" altLang="zh-CN" sz="1600" b="1" dirty="0"/>
                <a:t> </a:t>
              </a:r>
              <a:endParaRPr lang="zh-CN" altLang="en-US" sz="1600" b="1" dirty="0"/>
            </a:p>
          </p:txBody>
        </p:sp>
        <p:sp>
          <p:nvSpPr>
            <p:cNvPr id="80" name="Text Box 37"/>
            <p:cNvSpPr txBox="1">
              <a:spLocks noChangeArrowheads="1"/>
            </p:cNvSpPr>
            <p:nvPr/>
          </p:nvSpPr>
          <p:spPr bwMode="auto">
            <a:xfrm>
              <a:off x="213359" y="6070057"/>
              <a:ext cx="762000" cy="3460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81" name="Text Box 38"/>
            <p:cNvSpPr txBox="1">
              <a:spLocks noChangeArrowheads="1"/>
            </p:cNvSpPr>
            <p:nvPr/>
          </p:nvSpPr>
          <p:spPr bwMode="auto">
            <a:xfrm>
              <a:off x="1127759" y="6049420"/>
              <a:ext cx="762000" cy="3460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6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DLE</a:t>
              </a:r>
            </a:p>
          </p:txBody>
        </p:sp>
        <p:sp>
          <p:nvSpPr>
            <p:cNvPr id="82" name="Text Box 39"/>
            <p:cNvSpPr txBox="1">
              <a:spLocks noChangeArrowheads="1"/>
            </p:cNvSpPr>
            <p:nvPr/>
          </p:nvSpPr>
          <p:spPr bwMode="auto">
            <a:xfrm>
              <a:off x="3891597" y="6049420"/>
              <a:ext cx="762000" cy="3460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ETX</a:t>
              </a:r>
            </a:p>
          </p:txBody>
        </p:sp>
        <p:sp>
          <p:nvSpPr>
            <p:cNvPr id="83" name="Text Box 40"/>
            <p:cNvSpPr txBox="1">
              <a:spLocks noChangeArrowheads="1"/>
            </p:cNvSpPr>
            <p:nvPr/>
          </p:nvSpPr>
          <p:spPr bwMode="auto">
            <a:xfrm>
              <a:off x="4805997" y="6049420"/>
              <a:ext cx="762000" cy="3460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84" name="Text Box 41"/>
            <p:cNvSpPr txBox="1">
              <a:spLocks noChangeArrowheads="1"/>
            </p:cNvSpPr>
            <p:nvPr/>
          </p:nvSpPr>
          <p:spPr bwMode="auto">
            <a:xfrm>
              <a:off x="5644197" y="6049420"/>
              <a:ext cx="762000" cy="3460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85" name="Text Box 42"/>
            <p:cNvSpPr txBox="1">
              <a:spLocks noChangeArrowheads="1"/>
            </p:cNvSpPr>
            <p:nvPr/>
          </p:nvSpPr>
          <p:spPr bwMode="auto">
            <a:xfrm>
              <a:off x="2934334" y="6030370"/>
              <a:ext cx="762000" cy="3460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6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DLE</a:t>
              </a:r>
            </a:p>
          </p:txBody>
        </p:sp>
        <p:sp>
          <p:nvSpPr>
            <p:cNvPr id="86" name="Text Box 43"/>
            <p:cNvSpPr txBox="1">
              <a:spLocks noChangeArrowheads="1"/>
            </p:cNvSpPr>
            <p:nvPr/>
          </p:nvSpPr>
          <p:spPr bwMode="auto">
            <a:xfrm>
              <a:off x="6461759" y="6049420"/>
              <a:ext cx="762000" cy="3460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6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DLE</a:t>
              </a:r>
            </a:p>
          </p:txBody>
        </p:sp>
        <p:sp>
          <p:nvSpPr>
            <p:cNvPr id="87" name="Text Box 44"/>
            <p:cNvSpPr txBox="1">
              <a:spLocks noChangeArrowheads="1"/>
            </p:cNvSpPr>
            <p:nvPr/>
          </p:nvSpPr>
          <p:spPr bwMode="auto">
            <a:xfrm>
              <a:off x="8290559" y="6049420"/>
              <a:ext cx="762000" cy="3460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88" name="Text Box 45"/>
            <p:cNvSpPr txBox="1">
              <a:spLocks noChangeArrowheads="1"/>
            </p:cNvSpPr>
            <p:nvPr/>
          </p:nvSpPr>
          <p:spPr bwMode="auto">
            <a:xfrm>
              <a:off x="7393622" y="6049420"/>
              <a:ext cx="762000" cy="3460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DLE</a:t>
              </a:r>
            </a:p>
          </p:txBody>
        </p:sp>
        <p:sp>
          <p:nvSpPr>
            <p:cNvPr id="89" name="Text Box 46"/>
            <p:cNvSpPr txBox="1">
              <a:spLocks noChangeArrowheads="1"/>
            </p:cNvSpPr>
            <p:nvPr/>
          </p:nvSpPr>
          <p:spPr bwMode="auto">
            <a:xfrm>
              <a:off x="2042159" y="6049420"/>
              <a:ext cx="762000" cy="3460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1600" b="1">
                  <a:solidFill>
                    <a:srgbClr val="0000FF"/>
                  </a:solidFill>
                  <a:latin typeface="Times New Roman" panose="02020603050405020304" pitchFamily="18" charset="0"/>
                </a:rPr>
                <a:t>DLE</a:t>
              </a:r>
            </a:p>
          </p:txBody>
        </p:sp>
        <p:sp>
          <p:nvSpPr>
            <p:cNvPr id="90" name="Line 50"/>
            <p:cNvSpPr>
              <a:spLocks noChangeShapeType="1"/>
            </p:cNvSpPr>
            <p:nvPr/>
          </p:nvSpPr>
          <p:spPr bwMode="auto">
            <a:xfrm flipH="1" flipV="1">
              <a:off x="1580602" y="6453597"/>
              <a:ext cx="2756265" cy="1243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Line 51"/>
            <p:cNvSpPr>
              <a:spLocks noChangeShapeType="1"/>
            </p:cNvSpPr>
            <p:nvPr/>
          </p:nvSpPr>
          <p:spPr bwMode="auto">
            <a:xfrm>
              <a:off x="3320868" y="6371595"/>
              <a:ext cx="1197792" cy="2063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Line 52"/>
            <p:cNvSpPr>
              <a:spLocks noChangeShapeType="1"/>
            </p:cNvSpPr>
            <p:nvPr/>
          </p:nvSpPr>
          <p:spPr bwMode="auto">
            <a:xfrm flipH="1">
              <a:off x="4653597" y="6453599"/>
              <a:ext cx="2184400" cy="1010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7" name="Text Box 53"/>
          <p:cNvSpPr txBox="1">
            <a:spLocks noChangeArrowheads="1"/>
          </p:cNvSpPr>
          <p:nvPr/>
        </p:nvSpPr>
        <p:spPr bwMode="auto">
          <a:xfrm>
            <a:off x="4061929" y="6525362"/>
            <a:ext cx="108545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solidFill>
                  <a:srgbClr val="FF0000"/>
                </a:solidFill>
                <a:ea typeface="楷体_GB2312" pitchFamily="49" charset="-122"/>
              </a:rPr>
              <a:t>转义字符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EA1D975-1B08-4F62-9CD6-2F49DAF951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779" y="569772"/>
            <a:ext cx="5092189" cy="5892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5185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2" grpId="0"/>
      <p:bldP spid="9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字节计数法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1231052"/>
          </a:xfrm>
        </p:spPr>
        <p:txBody>
          <a:bodyPr/>
          <a:lstStyle/>
          <a:p>
            <a:r>
              <a:rPr lang="zh-CN" altLang="en-US" dirty="0"/>
              <a:t>帧中的字节数放在首部的一个字段中</a:t>
            </a:r>
            <a:endParaRPr lang="en-US" altLang="zh-CN" dirty="0"/>
          </a:p>
          <a:p>
            <a:r>
              <a:rPr lang="zh-CN" altLang="en-US" dirty="0"/>
              <a:t>实例：数字数据通信消息协议</a:t>
            </a:r>
            <a:r>
              <a:rPr lang="en-US" altLang="zh-CN" dirty="0"/>
              <a:t>DDCMP 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52" name="内容占位符 2"/>
          <p:cNvSpPr txBox="1">
            <a:spLocks/>
          </p:cNvSpPr>
          <p:nvPr/>
        </p:nvSpPr>
        <p:spPr bwMode="auto">
          <a:xfrm>
            <a:off x="452844" y="4052826"/>
            <a:ext cx="8229600" cy="6236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zh-CN" altLang="en-US" kern="0" dirty="0"/>
              <a:t>缺点：若</a:t>
            </a:r>
            <a:r>
              <a:rPr lang="en-US" altLang="zh-CN" kern="0" dirty="0"/>
              <a:t>Count</a:t>
            </a:r>
            <a:r>
              <a:rPr lang="zh-CN" altLang="en-US" kern="0" dirty="0"/>
              <a:t>出错，可能会产生累计多个错误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849725" y="2929861"/>
            <a:ext cx="7241259" cy="836240"/>
            <a:chOff x="849725" y="2929861"/>
            <a:chExt cx="7241259" cy="836240"/>
          </a:xfrm>
        </p:grpSpPr>
        <p:grpSp>
          <p:nvGrpSpPr>
            <p:cNvPr id="51" name="组合 50"/>
            <p:cNvGrpSpPr/>
            <p:nvPr/>
          </p:nvGrpSpPr>
          <p:grpSpPr>
            <a:xfrm>
              <a:off x="849725" y="2929861"/>
              <a:ext cx="7241259" cy="836240"/>
              <a:chOff x="849725" y="2106903"/>
              <a:chExt cx="7241259" cy="836240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849725" y="2393748"/>
                <a:ext cx="7241259" cy="549395"/>
                <a:chOff x="849725" y="2341496"/>
                <a:chExt cx="7241259" cy="549395"/>
              </a:xfrm>
            </p:grpSpPr>
            <p:sp>
              <p:nvSpPr>
                <p:cNvPr id="30" name="Rectangle 3"/>
                <p:cNvSpPr>
                  <a:spLocks noChangeArrowheads="1"/>
                </p:cNvSpPr>
                <p:nvPr/>
              </p:nvSpPr>
              <p:spPr bwMode="auto">
                <a:xfrm>
                  <a:off x="849725" y="2341616"/>
                  <a:ext cx="495300" cy="549275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E7E6E6"/>
                  </a:outerShdw>
                </a:effectLst>
              </p:spPr>
              <p:txBody>
                <a:bodyPr wrap="none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  <a:defRPr/>
                  </a:pPr>
                  <a:r>
                    <a:rPr kumimoji="0" lang="en-US" altLang="zh-CN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3333CC"/>
                      </a:solidFill>
                      <a:effectLst/>
                      <a:uLnTx/>
                      <a:uFillTx/>
                      <a:latin typeface="Calibri" panose="020F0502020204030204"/>
                      <a:ea typeface="宋体" panose="02010600030101010101" pitchFamily="2" charset="-122"/>
                      <a:cs typeface="+mn-cs"/>
                    </a:rPr>
                    <a:t>SYN</a:t>
                  </a:r>
                  <a:endParaRPr kumimoji="0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7" name="Rectangle 3"/>
                <p:cNvSpPr>
                  <a:spLocks noChangeArrowheads="1"/>
                </p:cNvSpPr>
                <p:nvPr/>
              </p:nvSpPr>
              <p:spPr bwMode="auto">
                <a:xfrm>
                  <a:off x="1343501" y="2341496"/>
                  <a:ext cx="495300" cy="549275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E7E6E6"/>
                  </a:outerShdw>
                </a:effectLst>
              </p:spPr>
              <p:txBody>
                <a:bodyPr wrap="none" anchor="ctr"/>
                <a:lstStyle/>
                <a:p>
                  <a:pPr algn="ctr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1600" dirty="0">
                      <a:solidFill>
                        <a:srgbClr val="3333CC"/>
                      </a:solidFill>
                      <a:latin typeface="Calibri" panose="020F0502020204030204"/>
                      <a:ea typeface="宋体" panose="02010600030101010101" pitchFamily="2" charset="-122"/>
                    </a:rPr>
                    <a:t>SYN</a:t>
                  </a:r>
                  <a:endParaRPr lang="zh-CN" altLang="zh-CN" sz="1600" dirty="0">
                    <a:solidFill>
                      <a:srgbClr val="3333CC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" name="Rectangle 3"/>
                <p:cNvSpPr>
                  <a:spLocks noChangeArrowheads="1"/>
                </p:cNvSpPr>
                <p:nvPr/>
              </p:nvSpPr>
              <p:spPr bwMode="auto">
                <a:xfrm>
                  <a:off x="1837277" y="2341616"/>
                  <a:ext cx="495300" cy="549275"/>
                </a:xfrm>
                <a:prstGeom prst="rect">
                  <a:avLst/>
                </a:prstGeom>
                <a:solidFill>
                  <a:srgbClr val="FFCCFF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E7E6E6"/>
                  </a:outerShdw>
                </a:effectLst>
              </p:spPr>
              <p:txBody>
                <a:bodyPr wrap="none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  <a:defRPr/>
                  </a:pPr>
                  <a:r>
                    <a:rPr kumimoji="0" lang="en-US" altLang="zh-CN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3333CC"/>
                      </a:solidFill>
                      <a:effectLst/>
                      <a:uLnTx/>
                      <a:uFillTx/>
                      <a:latin typeface="Calibri" panose="020F0502020204030204"/>
                      <a:ea typeface="宋体" panose="02010600030101010101" pitchFamily="2" charset="-122"/>
                      <a:cs typeface="+mn-cs"/>
                    </a:rPr>
                    <a:t>class</a:t>
                  </a:r>
                  <a:endParaRPr kumimoji="0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0" name="Rectangle 3"/>
                <p:cNvSpPr>
                  <a:spLocks noChangeArrowheads="1"/>
                </p:cNvSpPr>
                <p:nvPr/>
              </p:nvSpPr>
              <p:spPr bwMode="auto">
                <a:xfrm>
                  <a:off x="2322748" y="2341496"/>
                  <a:ext cx="826926" cy="549275"/>
                </a:xfrm>
                <a:prstGeom prst="rect">
                  <a:avLst/>
                </a:prstGeom>
                <a:solidFill>
                  <a:srgbClr val="CCFFFF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E7E6E6"/>
                  </a:outerShdw>
                </a:effectLst>
              </p:spPr>
              <p:txBody>
                <a:bodyPr wrap="none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  <a:defRPr/>
                  </a:pPr>
                  <a:r>
                    <a:rPr kumimoji="0" lang="en-US" altLang="zh-CN" sz="16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3333CC"/>
                      </a:solidFill>
                      <a:effectLst/>
                      <a:uLnTx/>
                      <a:uFillTx/>
                      <a:latin typeface="Calibri" panose="020F0502020204030204"/>
                      <a:ea typeface="宋体" panose="02010600030101010101" pitchFamily="2" charset="-122"/>
                      <a:cs typeface="+mn-cs"/>
                    </a:rPr>
                    <a:t>count</a:t>
                  </a:r>
                  <a:endParaRPr kumimoji="0" lang="zh-CN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1" name="Rectangle 4"/>
                <p:cNvSpPr>
                  <a:spLocks noChangeArrowheads="1"/>
                </p:cNvSpPr>
                <p:nvPr/>
              </p:nvSpPr>
              <p:spPr bwMode="auto">
                <a:xfrm>
                  <a:off x="4255008" y="2341616"/>
                  <a:ext cx="3328416" cy="549275"/>
                </a:xfrm>
                <a:prstGeom prst="rect">
                  <a:avLst/>
                </a:prstGeom>
                <a:solidFill>
                  <a:sysClr val="window" lastClr="FFFFFF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E7E6E6"/>
                  </a:outerShdw>
                </a:effectLst>
              </p:spPr>
              <p:txBody>
                <a:bodyPr wrap="none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  <a:defRPr/>
                  </a:pPr>
                  <a:r>
                    <a:rPr kumimoji="0" lang="en-US" altLang="zh-CN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3333CC"/>
                      </a:solidFill>
                      <a:effectLst/>
                      <a:uLnTx/>
                      <a:uFillTx/>
                      <a:latin typeface="Calibri" panose="020F0502020204030204"/>
                      <a:ea typeface="宋体" panose="02010600030101010101" pitchFamily="2" charset="-122"/>
                      <a:cs typeface="+mn-cs"/>
                    </a:rPr>
                    <a:t>data payload</a:t>
                  </a:r>
                  <a:endPara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2" name="Rectangle 3"/>
                <p:cNvSpPr>
                  <a:spLocks noChangeArrowheads="1"/>
                </p:cNvSpPr>
                <p:nvPr/>
              </p:nvSpPr>
              <p:spPr bwMode="auto">
                <a:xfrm>
                  <a:off x="7595684" y="2341496"/>
                  <a:ext cx="495300" cy="549275"/>
                </a:xfrm>
                <a:prstGeom prst="rect">
                  <a:avLst/>
                </a:prstGeom>
                <a:solidFill>
                  <a:srgbClr val="FFFF99"/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E7E6E6"/>
                  </a:outerShdw>
                </a:effectLst>
              </p:spPr>
              <p:txBody>
                <a:bodyPr wrap="none" anchor="ctr"/>
                <a:lstStyle/>
                <a:p>
                  <a:pPr algn="ctr">
                    <a:spcBef>
                      <a:spcPct val="0"/>
                    </a:spcBef>
                    <a:buFont typeface="Arial" panose="020B0604020202020204" pitchFamily="34" charset="0"/>
                    <a:buNone/>
                  </a:pPr>
                  <a:r>
                    <a:rPr lang="en-US" altLang="zh-CN" sz="1600" dirty="0">
                      <a:solidFill>
                        <a:srgbClr val="3333CC"/>
                      </a:solidFill>
                      <a:latin typeface="Calibri" panose="020F0502020204030204"/>
                      <a:ea typeface="宋体" panose="02010600030101010101" pitchFamily="2" charset="-122"/>
                    </a:rPr>
                    <a:t>CRC</a:t>
                  </a:r>
                  <a:endParaRPr lang="zh-CN" altLang="zh-CN" sz="1600" dirty="0">
                    <a:solidFill>
                      <a:srgbClr val="3333CC"/>
                    </a:solidFill>
                    <a:latin typeface="Calibri" panose="020F0502020204030204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" name="Rectangle 4"/>
                <p:cNvSpPr>
                  <a:spLocks noChangeArrowheads="1"/>
                </p:cNvSpPr>
                <p:nvPr/>
              </p:nvSpPr>
              <p:spPr bwMode="auto">
                <a:xfrm>
                  <a:off x="3152371" y="2341496"/>
                  <a:ext cx="1092188" cy="549275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9525">
                  <a:solidFill>
                    <a:sysClr val="windowText" lastClr="000000"/>
                  </a:solidFill>
                  <a:miter lim="800000"/>
                  <a:headEnd/>
                  <a:tailEnd/>
                </a:ln>
                <a:effectLst>
                  <a:outerShdw dist="35921" dir="2700000" algn="ctr" rotWithShape="0">
                    <a:srgbClr val="E7E6E6"/>
                  </a:outerShdw>
                </a:effectLst>
              </p:spPr>
              <p:txBody>
                <a:bodyPr wrap="none" anchor="ctr"/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None/>
                    <a:tabLst/>
                    <a:defRPr/>
                  </a:pPr>
                  <a:r>
                    <a:rPr kumimoji="0" lang="en-US" altLang="zh-CN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3333CC"/>
                      </a:solidFill>
                      <a:effectLst/>
                      <a:uLnTx/>
                      <a:uFillTx/>
                      <a:latin typeface="Calibri" panose="020F0502020204030204"/>
                      <a:ea typeface="宋体" panose="02010600030101010101" pitchFamily="2" charset="-122"/>
                      <a:cs typeface="+mn-cs"/>
                    </a:rPr>
                    <a:t>header</a:t>
                  </a:r>
                  <a:endParaRPr kumimoji="0" lang="zh-CN" altLang="en-US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45" name="文本框 44"/>
              <p:cNvSpPr txBox="1"/>
              <p:nvPr/>
            </p:nvSpPr>
            <p:spPr>
              <a:xfrm>
                <a:off x="937995" y="2124327"/>
                <a:ext cx="3657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Calibri" panose="020F0502020204030204" pitchFamily="34" charset="0"/>
                  </a:rPr>
                  <a:t>8</a:t>
                </a:r>
                <a:endParaRPr lang="zh-CN" altLang="en-US" sz="16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46" name="文本框 45"/>
              <p:cNvSpPr txBox="1"/>
              <p:nvPr/>
            </p:nvSpPr>
            <p:spPr>
              <a:xfrm>
                <a:off x="1403906" y="2119971"/>
                <a:ext cx="3657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Calibri" panose="020F0502020204030204" pitchFamily="34" charset="0"/>
                  </a:rPr>
                  <a:t>8</a:t>
                </a:r>
                <a:endParaRPr lang="zh-CN" altLang="en-US" sz="16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1952547" y="2119971"/>
                <a:ext cx="36576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Calibri" panose="020F0502020204030204" pitchFamily="34" charset="0"/>
                  </a:rPr>
                  <a:t>8</a:t>
                </a:r>
                <a:endParaRPr lang="zh-CN" altLang="en-US" sz="16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3526106" y="2128678"/>
                <a:ext cx="51215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Calibri" panose="020F0502020204030204" pitchFamily="34" charset="0"/>
                  </a:rPr>
                  <a:t>42</a:t>
                </a:r>
                <a:endParaRPr lang="zh-CN" altLang="en-US" sz="1600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7608778" y="2106903"/>
                <a:ext cx="47782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latin typeface="Calibri" panose="020F0502020204030204" pitchFamily="34" charset="0"/>
                  </a:rPr>
                  <a:t>16</a:t>
                </a:r>
                <a:endParaRPr lang="zh-CN" altLang="en-US" sz="1600" dirty="0">
                  <a:latin typeface="Calibri" panose="020F0502020204030204" pitchFamily="34" charset="0"/>
                </a:endParaRPr>
              </a:p>
            </p:txBody>
          </p:sp>
        </p:grpSp>
        <p:sp>
          <p:nvSpPr>
            <p:cNvPr id="22" name="文本框 21"/>
            <p:cNvSpPr txBox="1"/>
            <p:nvPr/>
          </p:nvSpPr>
          <p:spPr>
            <a:xfrm>
              <a:off x="2610042" y="2960343"/>
              <a:ext cx="4635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alibri" panose="020F0502020204030204" pitchFamily="34" charset="0"/>
                </a:rPr>
                <a:t>14</a:t>
              </a:r>
              <a:endParaRPr lang="zh-CN" altLang="en-US" sz="1600" dirty="0">
                <a:latin typeface="Calibri" panose="020F0502020204030204" pitchFamily="3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78519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面向比特的组帧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3081171"/>
          </a:xfrm>
        </p:spPr>
        <p:txBody>
          <a:bodyPr/>
          <a:lstStyle/>
          <a:p>
            <a:r>
              <a:rPr lang="zh-CN" altLang="en-US" dirty="0"/>
              <a:t>特点</a:t>
            </a:r>
            <a:endParaRPr lang="en-US" altLang="zh-CN" dirty="0"/>
          </a:p>
          <a:p>
            <a:pPr lvl="1"/>
            <a:r>
              <a:rPr lang="zh-CN" altLang="en-US" dirty="0"/>
              <a:t>不关心字节的边界，它只是把帧看成比特集</a:t>
            </a:r>
            <a:endParaRPr lang="en-US" altLang="zh-CN" dirty="0"/>
          </a:p>
          <a:p>
            <a:pPr lvl="1"/>
            <a:r>
              <a:rPr lang="zh-CN" altLang="en-US" dirty="0"/>
              <a:t>比特可能来自某个字符集，如</a:t>
            </a:r>
            <a:r>
              <a:rPr lang="en-US" altLang="zh-CN" dirty="0"/>
              <a:t>ASCII</a:t>
            </a:r>
            <a:r>
              <a:rPr lang="zh-CN" altLang="en-US" dirty="0"/>
              <a:t>码，或者可能是一幅图像中的像素值或一个可执行文件的指令和操作数</a:t>
            </a:r>
          </a:p>
          <a:p>
            <a:r>
              <a:rPr lang="zh-CN" altLang="en-US" dirty="0"/>
              <a:t>  实例</a:t>
            </a:r>
            <a:endParaRPr lang="en-US" altLang="zh-CN" dirty="0"/>
          </a:p>
          <a:p>
            <a:pPr lvl="1"/>
            <a:r>
              <a:rPr lang="zh-CN" altLang="en-US" dirty="0"/>
              <a:t>由</a:t>
            </a:r>
            <a:r>
              <a:rPr lang="en-US" altLang="zh-CN" dirty="0"/>
              <a:t>IBM</a:t>
            </a:r>
            <a:r>
              <a:rPr lang="zh-CN" altLang="en-US" dirty="0"/>
              <a:t>开发的同步数据链路控制（</a:t>
            </a:r>
            <a:r>
              <a:rPr lang="en-US" altLang="zh-CN" dirty="0"/>
              <a:t>SDLC</a:t>
            </a:r>
            <a:r>
              <a:rPr lang="zh-CN" altLang="en-US" dirty="0"/>
              <a:t>）协议</a:t>
            </a:r>
            <a:endParaRPr lang="en-US" altLang="zh-CN" dirty="0"/>
          </a:p>
          <a:p>
            <a:pPr lvl="2"/>
            <a:r>
              <a:rPr lang="en-US" altLang="zh-CN" dirty="0"/>
              <a:t>ISO</a:t>
            </a:r>
            <a:r>
              <a:rPr lang="zh-CN" altLang="en-US" dirty="0"/>
              <a:t>将</a:t>
            </a:r>
            <a:r>
              <a:rPr lang="en-US" altLang="zh-CN" dirty="0"/>
              <a:t>SDLC</a:t>
            </a:r>
            <a:r>
              <a:rPr lang="zh-CN" altLang="en-US" dirty="0"/>
              <a:t>标准化为高级数据链路控制协议（</a:t>
            </a:r>
            <a:r>
              <a:rPr lang="en-US" altLang="zh-CN" dirty="0"/>
              <a:t>HDLC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sp>
        <p:nvSpPr>
          <p:cNvPr id="52" name="内容占位符 2"/>
          <p:cNvSpPr txBox="1">
            <a:spLocks/>
          </p:cNvSpPr>
          <p:nvPr/>
        </p:nvSpPr>
        <p:spPr bwMode="auto">
          <a:xfrm>
            <a:off x="452844" y="5212079"/>
            <a:ext cx="8229600" cy="1058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/>
            <a:r>
              <a:rPr lang="en-US" altLang="zh-CN" kern="0" dirty="0"/>
              <a:t>Beginning Sequence </a:t>
            </a:r>
            <a:r>
              <a:rPr lang="zh-CN" altLang="en-US" kern="0" dirty="0"/>
              <a:t>和</a:t>
            </a:r>
            <a:r>
              <a:rPr lang="en-US" altLang="zh-CN" kern="0" dirty="0"/>
              <a:t>Ending Sequence</a:t>
            </a:r>
            <a:r>
              <a:rPr lang="zh-CN" altLang="en-US" kern="0" dirty="0"/>
              <a:t>：</a:t>
            </a:r>
            <a:r>
              <a:rPr lang="en-US" altLang="zh-CN" kern="0" dirty="0"/>
              <a:t>01111110</a:t>
            </a:r>
            <a:r>
              <a:rPr lang="zh-CN" altLang="en-US" kern="0" dirty="0">
                <a:solidFill>
                  <a:srgbClr val="FF0000"/>
                </a:solidFill>
              </a:rPr>
              <a:t>（标志字段）</a:t>
            </a:r>
            <a:endParaRPr lang="en-US" altLang="zh-CN" kern="0" dirty="0">
              <a:solidFill>
                <a:srgbClr val="FF0000"/>
              </a:solidFill>
            </a:endParaRPr>
          </a:p>
          <a:p>
            <a:pPr lvl="1"/>
            <a:r>
              <a:rPr lang="zh-CN" altLang="en-US" kern="0" dirty="0"/>
              <a:t>在链路空闲时，也发送这个序列，以保证发方、收方的时钟同步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836662" y="4233810"/>
            <a:ext cx="7747432" cy="836240"/>
            <a:chOff x="836662" y="4325251"/>
            <a:chExt cx="7747432" cy="836240"/>
          </a:xfrm>
        </p:grpSpPr>
        <p:grpSp>
          <p:nvGrpSpPr>
            <p:cNvPr id="44" name="组合 43"/>
            <p:cNvGrpSpPr/>
            <p:nvPr/>
          </p:nvGrpSpPr>
          <p:grpSpPr>
            <a:xfrm>
              <a:off x="836662" y="4612096"/>
              <a:ext cx="6679552" cy="549395"/>
              <a:chOff x="849725" y="2341496"/>
              <a:chExt cx="6679552" cy="549395"/>
            </a:xfrm>
          </p:grpSpPr>
          <p:sp>
            <p:nvSpPr>
              <p:cNvPr id="30" name="Rectangle 3"/>
              <p:cNvSpPr>
                <a:spLocks noChangeArrowheads="1"/>
              </p:cNvSpPr>
              <p:nvPr/>
            </p:nvSpPr>
            <p:spPr bwMode="auto">
              <a:xfrm>
                <a:off x="849725" y="2341616"/>
                <a:ext cx="1102780" cy="54927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>
                  <a:spcBef>
                    <a:spcPct val="0"/>
                  </a:spcBef>
                </a:pPr>
                <a:r>
                  <a:rPr lang="en-US" altLang="zh-CN" sz="1600" dirty="0">
                    <a:solidFill>
                      <a:srgbClr val="3333CC"/>
                    </a:solidFill>
                    <a:latin typeface="Calibri" panose="020F0502020204030204"/>
                    <a:ea typeface="宋体" panose="02010600030101010101" pitchFamily="2" charset="-122"/>
                  </a:rPr>
                  <a:t>Beginning </a:t>
                </a:r>
              </a:p>
              <a:p>
                <a:pPr lvl="0" algn="ctr">
                  <a:spcBef>
                    <a:spcPct val="0"/>
                  </a:spcBef>
                </a:pPr>
                <a:r>
                  <a:rPr lang="en-US" altLang="zh-CN" sz="1600" dirty="0">
                    <a:solidFill>
                      <a:srgbClr val="3333CC"/>
                    </a:solidFill>
                    <a:latin typeface="Calibri" panose="020F0502020204030204"/>
                    <a:ea typeface="宋体" panose="02010600030101010101" pitchFamily="2" charset="-122"/>
                  </a:rPr>
                  <a:t>sequence</a:t>
                </a:r>
              </a:p>
            </p:txBody>
          </p:sp>
          <p:sp>
            <p:nvSpPr>
              <p:cNvPr id="39" name="Rectangle 4"/>
              <p:cNvSpPr>
                <a:spLocks noChangeArrowheads="1"/>
              </p:cNvSpPr>
              <p:nvPr/>
            </p:nvSpPr>
            <p:spPr bwMode="auto">
              <a:xfrm>
                <a:off x="1952505" y="2341496"/>
                <a:ext cx="1597797" cy="549275"/>
              </a:xfrm>
              <a:prstGeom prst="rect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altLang="zh-CN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Header</a:t>
                </a:r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Rectangle 4"/>
              <p:cNvSpPr>
                <a:spLocks noChangeArrowheads="1"/>
              </p:cNvSpPr>
              <p:nvPr/>
            </p:nvSpPr>
            <p:spPr bwMode="auto">
              <a:xfrm>
                <a:off x="3536549" y="2341616"/>
                <a:ext cx="3328416" cy="549275"/>
              </a:xfrm>
              <a:prstGeom prst="rect">
                <a:avLst/>
              </a:prstGeom>
              <a:solidFill>
                <a:sysClr val="window" lastClr="FFFFFF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33CC"/>
                    </a:solidFill>
                    <a:effectLst/>
                    <a:uLnTx/>
                    <a:uFillTx/>
                    <a:latin typeface="Calibri" panose="020F0502020204030204"/>
                    <a:ea typeface="宋体" panose="02010600030101010101" pitchFamily="2" charset="-122"/>
                    <a:cs typeface="+mn-cs"/>
                  </a:rPr>
                  <a:t>data payload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2" name="Rectangle 3"/>
              <p:cNvSpPr>
                <a:spLocks noChangeArrowheads="1"/>
              </p:cNvSpPr>
              <p:nvPr/>
            </p:nvSpPr>
            <p:spPr bwMode="auto">
              <a:xfrm>
                <a:off x="6857998" y="2341496"/>
                <a:ext cx="671279" cy="549275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ysClr val="windowText" lastClr="000000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rgbClr val="E7E6E6"/>
                </a:outerShdw>
              </a:effectLst>
            </p:spPr>
            <p:txBody>
              <a:bodyPr wrap="none" anchor="ctr"/>
              <a:lstStyle/>
              <a:p>
                <a:pPr algn="ctr">
                  <a:spcBef>
                    <a:spcPct val="0"/>
                  </a:spcBef>
                  <a:buFont typeface="Arial" panose="020B0604020202020204" pitchFamily="34" charset="0"/>
                  <a:buNone/>
                </a:pPr>
                <a:r>
                  <a:rPr lang="en-US" altLang="zh-CN" sz="1600" dirty="0">
                    <a:solidFill>
                      <a:srgbClr val="3333CC"/>
                    </a:solidFill>
                    <a:latin typeface="Calibri" panose="020F0502020204030204"/>
                    <a:ea typeface="宋体" panose="02010600030101010101" pitchFamily="2" charset="-122"/>
                  </a:rPr>
                  <a:t>CRC</a:t>
                </a:r>
                <a:endParaRPr lang="zh-CN" altLang="zh-CN" sz="1600" dirty="0">
                  <a:solidFill>
                    <a:srgbClr val="3333CC"/>
                  </a:solidFill>
                  <a:latin typeface="Calibri" panose="020F0502020204030204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5" name="文本框 44"/>
            <p:cNvSpPr txBox="1"/>
            <p:nvPr/>
          </p:nvSpPr>
          <p:spPr>
            <a:xfrm>
              <a:off x="1288602" y="4349931"/>
              <a:ext cx="3657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alibri" panose="020F0502020204030204" pitchFamily="34" charset="0"/>
                </a:rPr>
                <a:t>8</a:t>
              </a:r>
              <a:endParaRPr lang="zh-CN" altLang="en-US" sz="1600" dirty="0">
                <a:latin typeface="Calibri" panose="020F0502020204030204" pitchFamily="34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2603331" y="4349931"/>
              <a:ext cx="60492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alibri" panose="020F0502020204030204" pitchFamily="34" charset="0"/>
                </a:rPr>
                <a:t>16</a:t>
              </a:r>
              <a:endParaRPr lang="zh-CN" altLang="en-US" sz="1600" dirty="0">
                <a:latin typeface="Calibri" panose="020F0502020204030204" pitchFamily="34" charset="0"/>
              </a:endParaRP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7034008" y="4325251"/>
              <a:ext cx="47782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alibri" panose="020F0502020204030204" pitchFamily="34" charset="0"/>
                </a:rPr>
                <a:t>16</a:t>
              </a:r>
              <a:endParaRPr lang="zh-CN" altLang="en-US" sz="1600" dirty="0">
                <a:latin typeface="Calibri" panose="020F0502020204030204" pitchFamily="34" charset="0"/>
              </a:endParaRPr>
            </a:p>
          </p:txBody>
        </p:sp>
        <p:sp>
          <p:nvSpPr>
            <p:cNvPr id="22" name="Rectangle 3"/>
            <p:cNvSpPr>
              <a:spLocks noChangeArrowheads="1"/>
            </p:cNvSpPr>
            <p:nvPr/>
          </p:nvSpPr>
          <p:spPr bwMode="auto">
            <a:xfrm>
              <a:off x="7481314" y="4607862"/>
              <a:ext cx="1102780" cy="549275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ysClr val="windowText" lastClr="000000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E7E6E6"/>
              </a:outerShdw>
            </a:effec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spcBef>
                  <a:spcPct val="0"/>
                </a:spcBef>
              </a:pPr>
              <a:r>
                <a:rPr lang="en-US" altLang="zh-CN" sz="1600" dirty="0">
                  <a:solidFill>
                    <a:srgbClr val="3333CC"/>
                  </a:solidFill>
                  <a:latin typeface="Calibri" panose="020F0502020204030204"/>
                  <a:ea typeface="宋体" panose="02010600030101010101" pitchFamily="2" charset="-122"/>
                </a:rPr>
                <a:t>ending </a:t>
              </a:r>
            </a:p>
            <a:p>
              <a:pPr lvl="0" algn="ctr">
                <a:spcBef>
                  <a:spcPct val="0"/>
                </a:spcBef>
              </a:pPr>
              <a:r>
                <a:rPr lang="en-US" altLang="zh-CN" sz="1600" dirty="0">
                  <a:solidFill>
                    <a:srgbClr val="3333CC"/>
                  </a:solidFill>
                  <a:latin typeface="Calibri" panose="020F0502020204030204"/>
                  <a:ea typeface="宋体" panose="02010600030101010101" pitchFamily="2" charset="-122"/>
                </a:rPr>
                <a:t>sequence</a:t>
              </a: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7933254" y="4332514"/>
              <a:ext cx="3657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latin typeface="Calibri" panose="020F0502020204030204" pitchFamily="34" charset="0"/>
                </a:rPr>
                <a:t>8</a:t>
              </a:r>
              <a:endParaRPr lang="zh-CN" altLang="en-US" sz="1600" dirty="0">
                <a:latin typeface="Calibri" panose="020F0502020204030204" pitchFamily="3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78073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面向比特的组帧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413021"/>
          </a:xfrm>
        </p:spPr>
        <p:txBody>
          <a:bodyPr/>
          <a:lstStyle/>
          <a:p>
            <a:r>
              <a:rPr lang="zh-CN" altLang="en-US" dirty="0"/>
              <a:t>数据帧的透明传输</a:t>
            </a:r>
            <a:endParaRPr lang="en-US" altLang="zh-CN" dirty="0"/>
          </a:p>
          <a:p>
            <a:pPr lvl="1"/>
            <a:r>
              <a:rPr lang="zh-CN" altLang="en-US" sz="1800" dirty="0"/>
              <a:t>任意比特组合的数据都能通过数据链路层</a:t>
            </a:r>
            <a:endParaRPr lang="en-US" altLang="zh-CN" sz="1800" dirty="0"/>
          </a:p>
          <a:p>
            <a:pPr lvl="1"/>
            <a:r>
              <a:rPr lang="zh-CN" altLang="en-US" sz="1800" dirty="0"/>
              <a:t>问题：</a:t>
            </a:r>
            <a:r>
              <a:rPr lang="en-US" altLang="zh-CN" sz="1800" dirty="0"/>
              <a:t>01111110</a:t>
            </a:r>
            <a:r>
              <a:rPr lang="zh-CN" altLang="en-US" sz="1800" dirty="0"/>
              <a:t>可能出现在帧的任何地方</a:t>
            </a:r>
            <a:endParaRPr lang="en-US" altLang="zh-CN" sz="1800" dirty="0"/>
          </a:p>
          <a:p>
            <a:r>
              <a:rPr lang="zh-CN" altLang="en-US" sz="2200" dirty="0"/>
              <a:t>比特填充法</a:t>
            </a:r>
            <a:endParaRPr lang="en-US" altLang="zh-CN" sz="2200" dirty="0"/>
          </a:p>
          <a:p>
            <a:pPr lvl="1"/>
            <a:r>
              <a:rPr lang="zh-CN" altLang="en-US" sz="1800" dirty="0"/>
              <a:t>发送方：当一串比特流尚未加上标志字段时，先用硬件扫描整个帧（用软件也可实现，但要慢一些），只要发现</a:t>
            </a:r>
            <a:r>
              <a:rPr lang="en-US" altLang="zh-CN" sz="1800" dirty="0"/>
              <a:t>5</a:t>
            </a:r>
            <a:r>
              <a:rPr lang="zh-CN" altLang="en-US" sz="1800" dirty="0"/>
              <a:t>个连续的</a:t>
            </a:r>
            <a:r>
              <a:rPr lang="en-US" altLang="zh-CN" sz="1800" dirty="0"/>
              <a:t>1</a:t>
            </a:r>
            <a:r>
              <a:rPr lang="zh-CN" altLang="en-US" sz="1800" dirty="0"/>
              <a:t>，则立即填入一个</a:t>
            </a:r>
            <a:r>
              <a:rPr lang="en-US" altLang="zh-CN" sz="1800" dirty="0"/>
              <a:t>0</a:t>
            </a:r>
          </a:p>
          <a:p>
            <a:pPr lvl="2"/>
            <a:r>
              <a:rPr lang="zh-CN" altLang="en-US" dirty="0"/>
              <a:t>例：发方发送</a:t>
            </a:r>
            <a:r>
              <a:rPr lang="en-US" altLang="zh-CN" dirty="0"/>
              <a:t>011111111110</a:t>
            </a:r>
            <a:r>
              <a:rPr lang="zh-CN" altLang="en-US" dirty="0"/>
              <a:t>，则实际发送 </a:t>
            </a:r>
            <a:r>
              <a:rPr lang="en-US" altLang="zh-CN" dirty="0"/>
              <a:t>011111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en-US" altLang="zh-CN" dirty="0"/>
              <a:t>11111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en-US" altLang="zh-CN" dirty="0"/>
              <a:t>0</a:t>
            </a:r>
            <a:endParaRPr lang="en-US" altLang="zh-CN" sz="1600" dirty="0"/>
          </a:p>
          <a:p>
            <a:pPr lvl="1">
              <a:spcBef>
                <a:spcPts val="1200"/>
              </a:spcBef>
            </a:pPr>
            <a:r>
              <a:rPr lang="zh-CN" altLang="en-US" sz="1800" dirty="0"/>
              <a:t>接收方：先找到开始点 </a:t>
            </a:r>
            <a:r>
              <a:rPr lang="en-US" altLang="zh-CN" sz="1800" dirty="0"/>
              <a:t>01111110</a:t>
            </a:r>
            <a:r>
              <a:rPr lang="zh-CN" altLang="en-US" sz="1800" dirty="0"/>
              <a:t>，然后再定结束点，在接收了连续的</a:t>
            </a:r>
            <a:r>
              <a:rPr lang="en-US" altLang="zh-CN" sz="1800" dirty="0"/>
              <a:t>5</a:t>
            </a:r>
            <a:r>
              <a:rPr lang="zh-CN" altLang="en-US" sz="1800" dirty="0"/>
              <a:t>个</a:t>
            </a:r>
            <a:r>
              <a:rPr lang="en-US" altLang="zh-CN" sz="1800" dirty="0"/>
              <a:t>1</a:t>
            </a:r>
            <a:r>
              <a:rPr lang="zh-CN" altLang="en-US" sz="1800" dirty="0"/>
              <a:t>之后，就可以根据下一位决定是填充位还是结束到达，下一位为：</a:t>
            </a:r>
            <a:endParaRPr lang="en-US" altLang="zh-CN" sz="1800" dirty="0"/>
          </a:p>
          <a:p>
            <a:pPr lvl="2">
              <a:spcBef>
                <a:spcPts val="600"/>
              </a:spcBef>
            </a:pPr>
            <a:r>
              <a:rPr lang="en-US" altLang="zh-CN" dirty="0"/>
              <a:t>0</a:t>
            </a:r>
            <a:r>
              <a:rPr lang="zh-CN" altLang="en-US" dirty="0"/>
              <a:t>，必为填充的</a:t>
            </a:r>
            <a:r>
              <a:rPr lang="en-US" altLang="zh-CN" dirty="0"/>
              <a:t>0</a:t>
            </a:r>
            <a:r>
              <a:rPr lang="zh-CN" altLang="en-US" dirty="0"/>
              <a:t>，丢弃此位；</a:t>
            </a:r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en-US" altLang="zh-CN" dirty="0"/>
              <a:t>1</a:t>
            </a:r>
            <a:r>
              <a:rPr lang="zh-CN" altLang="en-US" dirty="0"/>
              <a:t>，再看下一位：若为</a:t>
            </a:r>
            <a:r>
              <a:rPr lang="en-US" altLang="zh-CN" dirty="0"/>
              <a:t>0</a:t>
            </a:r>
            <a:r>
              <a:rPr lang="zh-CN" altLang="en-US" dirty="0"/>
              <a:t>，则为帧结束；若为</a:t>
            </a:r>
            <a:r>
              <a:rPr lang="en-US" altLang="zh-CN" dirty="0"/>
              <a:t>1</a:t>
            </a:r>
            <a:r>
              <a:rPr lang="zh-CN" altLang="en-US" dirty="0"/>
              <a:t>，则出错（表示出现连续</a:t>
            </a:r>
            <a:r>
              <a:rPr lang="en-US" altLang="zh-CN" dirty="0"/>
              <a:t>7</a:t>
            </a:r>
            <a:r>
              <a:rPr lang="zh-CN" altLang="en-US" dirty="0"/>
              <a:t>个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  <a:p>
            <a:pPr lvl="1">
              <a:spcBef>
                <a:spcPts val="1200"/>
              </a:spcBef>
            </a:pPr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2125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442524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2.1  </a:t>
            </a:r>
            <a:r>
              <a:rPr lang="zh-CN" altLang="en-US" dirty="0"/>
              <a:t>数据通信的基本概念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2.2  </a:t>
            </a:r>
            <a:r>
              <a:rPr lang="zh-CN" altLang="en-US" dirty="0"/>
              <a:t>网络构件</a:t>
            </a:r>
            <a:endParaRPr lang="en-US" altLang="zh-CN" dirty="0"/>
          </a:p>
          <a:p>
            <a:r>
              <a:rPr lang="en-US" altLang="zh-CN"/>
              <a:t>2.3  </a:t>
            </a:r>
            <a:r>
              <a:rPr lang="zh-CN" altLang="en-US" dirty="0"/>
              <a:t>组帧</a:t>
            </a:r>
          </a:p>
          <a:p>
            <a:r>
              <a:rPr lang="en-US" altLang="zh-CN"/>
              <a:t>2.4  </a:t>
            </a:r>
            <a:r>
              <a:rPr lang="zh-CN" altLang="en-US" dirty="0"/>
              <a:t>差错检测</a:t>
            </a:r>
          </a:p>
          <a:p>
            <a:r>
              <a:rPr lang="en-US" altLang="zh-CN"/>
              <a:t>2.5  </a:t>
            </a:r>
            <a:r>
              <a:rPr lang="zh-CN" altLang="en-US" dirty="0"/>
              <a:t>可靠传输</a:t>
            </a:r>
          </a:p>
          <a:p>
            <a:r>
              <a:rPr lang="en-US" altLang="zh-CN"/>
              <a:t>2.6  </a:t>
            </a:r>
            <a:r>
              <a:rPr lang="zh-CN" altLang="en-US" dirty="0"/>
              <a:t>媒体共享</a:t>
            </a:r>
            <a:r>
              <a:rPr lang="en-US" altLang="zh-CN" dirty="0"/>
              <a:t> </a:t>
            </a:r>
          </a:p>
          <a:p>
            <a:r>
              <a:rPr lang="en-US" altLang="zh-CN"/>
              <a:t>2.7  </a:t>
            </a:r>
            <a:r>
              <a:rPr lang="zh-CN" altLang="en-US" dirty="0"/>
              <a:t>以太网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46059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3399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5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1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3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差错检测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数据在传输过程中可能会产生</a:t>
                </a:r>
                <a:r>
                  <a:rPr lang="zh-CN" altLang="en-US" dirty="0">
                    <a:solidFill>
                      <a:schemeClr val="accent5">
                        <a:lumMod val="50000"/>
                      </a:schemeClr>
                    </a:solidFill>
                  </a:rPr>
                  <a:t>比特差错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zh-CN" altLang="en-US" sz="1800" dirty="0"/>
                  <a:t>数据传输过程中，因电磁干扰等，比特位发生反转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zh-CN" altLang="en-US" sz="1800" dirty="0"/>
                  <a:t>传输错误的比特占传输比特总数的比率称为</a:t>
                </a:r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</a:rPr>
                  <a:t>误码率</a:t>
                </a:r>
                <a:r>
                  <a:rPr lang="en-US" altLang="zh-CN" sz="1800" dirty="0">
                    <a:solidFill>
                      <a:schemeClr val="accent5">
                        <a:lumMod val="50000"/>
                      </a:schemeClr>
                    </a:solidFill>
                  </a:rPr>
                  <a:t>(Bit Error Rate, BER)</a:t>
                </a:r>
              </a:p>
              <a:p>
                <a:pPr>
                  <a:spcBef>
                    <a:spcPts val="1200"/>
                  </a:spcBef>
                </a:pPr>
                <a:r>
                  <a:rPr lang="zh-CN" altLang="en-US" dirty="0"/>
                  <a:t>差错检测的基本思想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zh-CN" altLang="en-US" sz="1800" dirty="0"/>
                  <a:t>在数据帧中加入</a:t>
                </a:r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</a:rPr>
                  <a:t>冗余信息</a:t>
                </a:r>
                <a:r>
                  <a:rPr lang="zh-CN" altLang="en-US" sz="1800" dirty="0"/>
                  <a:t>来确定是否存在差错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zh-CN" altLang="en-US" sz="1800" dirty="0"/>
                  <a:t>一个极端的例子：每份数据，传输两个相同的副本；接收时发现两者不相等，则认为传输数据有差错</a:t>
                </a:r>
                <a:endParaRPr lang="en-US" altLang="zh-CN" sz="1800" dirty="0"/>
              </a:p>
              <a:p>
                <a:pPr lvl="1">
                  <a:spcBef>
                    <a:spcPts val="600"/>
                  </a:spcBef>
                </a:pPr>
                <a:r>
                  <a:rPr lang="zh-CN" altLang="en-US" sz="1800" dirty="0"/>
                  <a:t>实际上：当发送</a:t>
                </a:r>
                <a:r>
                  <a:rPr lang="en-US" altLang="zh-CN" sz="1800" i="1" dirty="0"/>
                  <a:t>n</a:t>
                </a:r>
                <a:r>
                  <a:rPr lang="zh-CN" altLang="en-US" sz="1800" dirty="0"/>
                  <a:t>比特消息时仅用</a:t>
                </a:r>
                <a:r>
                  <a:rPr lang="en-US" altLang="zh-CN" sz="1800" i="1" dirty="0"/>
                  <a:t>k</a:t>
                </a:r>
                <a:r>
                  <a:rPr lang="zh-CN" altLang="en-US" sz="1800" dirty="0"/>
                  <a:t>个冗余比特，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1800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altLang="zh-CN" sz="1800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endParaRPr lang="zh-CN" altLang="en-US" sz="1800" dirty="0">
                  <a:solidFill>
                    <a:schemeClr val="accent5">
                      <a:lumMod val="50000"/>
                    </a:schemeClr>
                  </a:solidFill>
                </a:endParaRPr>
              </a:p>
              <a:p>
                <a:pPr>
                  <a:spcBef>
                    <a:spcPts val="1200"/>
                  </a:spcBef>
                </a:pPr>
                <a:r>
                  <a:rPr lang="zh-CN" altLang="en-US" dirty="0"/>
                  <a:t>当接收方检测到差错时，可以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zh-CN" altLang="en-US" sz="1800" dirty="0"/>
                  <a:t>通知对方数据有差错，使其重传数据副本（</a:t>
                </a:r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</a:rPr>
                  <a:t>重传机制</a:t>
                </a:r>
                <a:r>
                  <a:rPr lang="zh-CN" altLang="en-US" sz="1800" dirty="0"/>
                  <a:t>）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zh-CN" altLang="en-US" sz="1800" dirty="0"/>
                  <a:t>通过加入的冗余信息，重新构造正确的数据（</a:t>
                </a:r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</a:rPr>
                  <a:t>纠错码</a:t>
                </a:r>
                <a:r>
                  <a:rPr lang="zh-CN" altLang="en-US" sz="1800" dirty="0"/>
                  <a:t>）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6" cstate="print"/>
                <a:stretch>
                  <a:fillRect l="-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583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差错检测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奇偶校验</a:t>
            </a:r>
            <a:endParaRPr lang="en-US" altLang="zh-CN" dirty="0"/>
          </a:p>
          <a:p>
            <a:pPr lvl="1"/>
            <a:r>
              <a:rPr lang="zh-CN" altLang="en-US" dirty="0"/>
              <a:t>单向奇偶校验 </a:t>
            </a:r>
            <a:r>
              <a:rPr lang="en-US" altLang="zh-CN" dirty="0"/>
              <a:t>/</a:t>
            </a:r>
            <a:r>
              <a:rPr lang="zh-CN" altLang="en-US" dirty="0"/>
              <a:t>单个位奇偶校验</a:t>
            </a:r>
            <a:r>
              <a:rPr lang="en-US" altLang="zh-CN" dirty="0"/>
              <a:t>(Row Parity /Single Bit Parity) </a:t>
            </a:r>
          </a:p>
          <a:p>
            <a:pPr lvl="1"/>
            <a:r>
              <a:rPr lang="zh-CN" altLang="en-US" dirty="0"/>
              <a:t>二维奇偶校验 </a:t>
            </a:r>
            <a:r>
              <a:rPr lang="en-US" altLang="zh-CN" dirty="0"/>
              <a:t>(two-dimensional parity)</a:t>
            </a:r>
          </a:p>
          <a:p>
            <a:r>
              <a:rPr lang="zh-CN" altLang="en-US" dirty="0"/>
              <a:t>校验和 </a:t>
            </a:r>
            <a:r>
              <a:rPr lang="en-US" altLang="zh-CN" dirty="0"/>
              <a:t>(checksum)</a:t>
            </a:r>
          </a:p>
          <a:p>
            <a:r>
              <a:rPr lang="zh-CN" altLang="en-US" dirty="0"/>
              <a:t>循环冗余校验 </a:t>
            </a:r>
            <a:r>
              <a:rPr lang="en-US" altLang="zh-CN" dirty="0"/>
              <a:t>(Cyclic Redundancy Check, CRC)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15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9694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奇偶校验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2041934"/>
          </a:xfrm>
        </p:spPr>
        <p:txBody>
          <a:bodyPr/>
          <a:lstStyle/>
          <a:p>
            <a:r>
              <a:rPr lang="zh-CN" altLang="en-US" dirty="0"/>
              <a:t>单向奇偶校验 </a:t>
            </a:r>
            <a:r>
              <a:rPr lang="en-US" altLang="zh-CN" dirty="0"/>
              <a:t>/</a:t>
            </a:r>
            <a:r>
              <a:rPr lang="zh-CN" altLang="en-US" dirty="0"/>
              <a:t>单个位奇偶校验</a:t>
            </a:r>
            <a:r>
              <a:rPr lang="en-US" altLang="zh-CN" dirty="0"/>
              <a:t>(Row Parity /Single Bit Parity)</a:t>
            </a:r>
          </a:p>
          <a:p>
            <a:pPr lvl="1">
              <a:spcBef>
                <a:spcPts val="600"/>
              </a:spcBef>
            </a:pPr>
            <a:r>
              <a:rPr lang="zh-CN" altLang="en-US" dirty="0"/>
              <a:t>使用单个奇偶校验位</a:t>
            </a:r>
            <a:r>
              <a:rPr lang="en-US" altLang="zh-CN" dirty="0"/>
              <a:t> (parity bit)</a:t>
            </a:r>
          </a:p>
          <a:p>
            <a:pPr lvl="1">
              <a:spcBef>
                <a:spcPts val="600"/>
              </a:spcBef>
            </a:pPr>
            <a:r>
              <a:rPr lang="zh-CN" altLang="en-US" dirty="0"/>
              <a:t>分为奇校验 </a:t>
            </a:r>
            <a:r>
              <a:rPr lang="en-US" altLang="zh-CN" dirty="0"/>
              <a:t>(Odd Parity) </a:t>
            </a:r>
            <a:r>
              <a:rPr lang="zh-CN" altLang="en-US" dirty="0"/>
              <a:t>和偶校验 </a:t>
            </a:r>
            <a:r>
              <a:rPr lang="en-US" altLang="zh-CN" dirty="0"/>
              <a:t>(Even Parity)</a:t>
            </a:r>
            <a:r>
              <a:rPr lang="zh-CN" altLang="en-US" dirty="0"/>
              <a:t>，假设信息有</a:t>
            </a:r>
            <a:r>
              <a:rPr lang="en-US" altLang="zh-CN" i="1" dirty="0"/>
              <a:t>d</a:t>
            </a:r>
            <a:r>
              <a:rPr lang="zh-CN" altLang="en-US" dirty="0"/>
              <a:t>比特</a:t>
            </a:r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zh-CN" altLang="en-US" dirty="0"/>
              <a:t>偶校验：</a:t>
            </a:r>
            <a:r>
              <a:rPr lang="en-US" altLang="zh-CN" dirty="0"/>
              <a:t>d</a:t>
            </a:r>
            <a:r>
              <a:rPr lang="zh-CN" altLang="en-US" dirty="0"/>
              <a:t>比特信息和</a:t>
            </a:r>
            <a:r>
              <a:rPr lang="en-US" altLang="zh-CN" dirty="0"/>
              <a:t>1</a:t>
            </a:r>
            <a:r>
              <a:rPr lang="zh-CN" altLang="en-US" dirty="0"/>
              <a:t>比特校验位中</a:t>
            </a:r>
            <a:r>
              <a:rPr lang="en-US" altLang="zh-CN" dirty="0"/>
              <a:t>1</a:t>
            </a:r>
            <a:r>
              <a:rPr lang="zh-CN" altLang="en-US" dirty="0"/>
              <a:t>的总数为偶数</a:t>
            </a:r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zh-CN" altLang="en-US" dirty="0"/>
              <a:t>奇校验：</a:t>
            </a:r>
            <a:r>
              <a:rPr lang="en-US" altLang="zh-CN" dirty="0"/>
              <a:t>d</a:t>
            </a:r>
            <a:r>
              <a:rPr lang="zh-CN" altLang="en-US" dirty="0"/>
              <a:t>比特信息和</a:t>
            </a:r>
            <a:r>
              <a:rPr lang="en-US" altLang="zh-CN" dirty="0"/>
              <a:t>1</a:t>
            </a:r>
            <a:r>
              <a:rPr lang="zh-CN" altLang="en-US" dirty="0"/>
              <a:t>比特校验位中</a:t>
            </a:r>
            <a:r>
              <a:rPr lang="en-US" altLang="zh-CN" dirty="0"/>
              <a:t>1</a:t>
            </a:r>
            <a:r>
              <a:rPr lang="zh-CN" altLang="en-US" dirty="0"/>
              <a:t>的总数为奇数</a:t>
            </a:r>
            <a:endParaRPr lang="en-US" altLang="zh-CN" dirty="0"/>
          </a:p>
          <a:p>
            <a:pPr lvl="2"/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grpSp>
        <p:nvGrpSpPr>
          <p:cNvPr id="11" name="组合 10"/>
          <p:cNvGrpSpPr/>
          <p:nvPr/>
        </p:nvGrpSpPr>
        <p:grpSpPr>
          <a:xfrm>
            <a:off x="2241621" y="3573227"/>
            <a:ext cx="4153014" cy="909871"/>
            <a:chOff x="1680789" y="3463499"/>
            <a:chExt cx="4153014" cy="909871"/>
          </a:xfrm>
        </p:grpSpPr>
        <p:sp>
          <p:nvSpPr>
            <p:cNvPr id="5" name="Rectangle 11"/>
            <p:cNvSpPr>
              <a:spLocks noChangeArrowheads="1"/>
            </p:cNvSpPr>
            <p:nvPr/>
          </p:nvSpPr>
          <p:spPr bwMode="auto">
            <a:xfrm>
              <a:off x="1680789" y="4032445"/>
              <a:ext cx="3232587" cy="340925"/>
            </a:xfrm>
            <a:prstGeom prst="rect">
              <a:avLst/>
            </a:prstGeom>
            <a:solidFill>
              <a:srgbClr val="ECECF5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0" anchor="ctr"/>
            <a:lstStyle/>
            <a:p>
              <a:r>
                <a:rPr lang="en-US" altLang="zh-CN" dirty="0"/>
                <a:t>  0 1 1 1 1 0 1 0 1 0 0 0 1 0 1 1</a:t>
              </a:r>
              <a:endParaRPr lang="zh-CN" altLang="en-US" dirty="0"/>
            </a:p>
          </p:txBody>
        </p:sp>
        <p:sp>
          <p:nvSpPr>
            <p:cNvPr id="6" name="左大括号 5"/>
            <p:cNvSpPr/>
            <p:nvPr/>
          </p:nvSpPr>
          <p:spPr>
            <a:xfrm rot="5400000">
              <a:off x="3148584" y="2441449"/>
              <a:ext cx="280415" cy="2907792"/>
            </a:xfrm>
            <a:prstGeom prst="leftBrace">
              <a:avLst>
                <a:gd name="adj1" fmla="val 0"/>
                <a:gd name="adj2" fmla="val 50000"/>
              </a:avLst>
            </a:prstGeom>
            <a:ln w="22225">
              <a:solidFill>
                <a:schemeClr val="tx1">
                  <a:lumMod val="65000"/>
                  <a:lumOff val="35000"/>
                  <a:alpha val="6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2568357" y="3463499"/>
              <a:ext cx="1313180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1" i="1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</a:rPr>
                <a:t>d</a:t>
              </a: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</a:rPr>
                <a:t>个数据比特</a:t>
              </a:r>
            </a:p>
          </p:txBody>
        </p:sp>
        <p:sp>
          <p:nvSpPr>
            <p:cNvPr id="8" name="Rectangle 11"/>
            <p:cNvSpPr>
              <a:spLocks noChangeArrowheads="1"/>
            </p:cNvSpPr>
            <p:nvPr/>
          </p:nvSpPr>
          <p:spPr bwMode="auto">
            <a:xfrm>
              <a:off x="5067483" y="4032445"/>
              <a:ext cx="357958" cy="340925"/>
            </a:xfrm>
            <a:prstGeom prst="rect">
              <a:avLst/>
            </a:prstGeom>
            <a:solidFill>
              <a:srgbClr val="ECECF5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0" anchor="ctr"/>
            <a:lstStyle/>
            <a:p>
              <a:r>
                <a:rPr lang="en-US" altLang="zh-CN" dirty="0"/>
                <a:t>  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1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9" name="左大括号 8"/>
            <p:cNvSpPr/>
            <p:nvPr/>
          </p:nvSpPr>
          <p:spPr>
            <a:xfrm rot="5400000">
              <a:off x="5118564" y="3671871"/>
              <a:ext cx="274318" cy="440854"/>
            </a:xfrm>
            <a:prstGeom prst="leftBrace">
              <a:avLst>
                <a:gd name="adj1" fmla="val 0"/>
                <a:gd name="adj2" fmla="val 50000"/>
              </a:avLst>
            </a:prstGeom>
            <a:ln w="22225">
              <a:solidFill>
                <a:schemeClr val="tx1">
                  <a:lumMod val="65000"/>
                  <a:lumOff val="35000"/>
                  <a:alpha val="62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4623215" y="3478280"/>
              <a:ext cx="1210588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1" u="none" strike="noStrike" kern="0" cap="none" spc="0" normalizeH="0" baseline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</a:rPr>
                <a:t>偶校验比特</a:t>
              </a:r>
            </a:p>
          </p:txBody>
        </p:sp>
      </p:grp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463296" y="4998719"/>
            <a:ext cx="8229600" cy="1627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>
              <a:spcBef>
                <a:spcPts val="600"/>
              </a:spcBef>
            </a:pPr>
            <a:r>
              <a:rPr lang="zh-CN" altLang="en-US" kern="0" dirty="0"/>
              <a:t>出现奇数个比特差错，可检测出；偶数个，检查不出来</a:t>
            </a:r>
            <a:endParaRPr lang="en-US" altLang="zh-CN" kern="0" dirty="0"/>
          </a:p>
          <a:p>
            <a:pPr lvl="2">
              <a:spcBef>
                <a:spcPts val="600"/>
              </a:spcBef>
            </a:pPr>
            <a:r>
              <a:rPr lang="zh-CN" altLang="en-US" kern="0" dirty="0"/>
              <a:t>测量表明，差错往往以突发方式聚集在一起，而非独立发生</a:t>
            </a:r>
            <a:endParaRPr lang="en-US" altLang="zh-CN" kern="0" dirty="0"/>
          </a:p>
          <a:p>
            <a:pPr lvl="2">
              <a:spcBef>
                <a:spcPts val="600"/>
              </a:spcBef>
            </a:pPr>
            <a:r>
              <a:rPr lang="zh-CN" altLang="en-US" kern="0" dirty="0"/>
              <a:t>突发差错下，该方案无法检测出差错的概率</a:t>
            </a:r>
            <a:r>
              <a:rPr lang="en-US" altLang="zh-CN" kern="0" dirty="0"/>
              <a:t>50% [</a:t>
            </a:r>
            <a:r>
              <a:rPr lang="en-US" altLang="zh-CN" kern="0" dirty="0" err="1"/>
              <a:t>Spragins</a:t>
            </a:r>
            <a:r>
              <a:rPr lang="en-US" altLang="zh-CN" kern="0" dirty="0"/>
              <a:t> 1991]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2875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166009" y="3313966"/>
            <a:ext cx="4527399" cy="2459919"/>
            <a:chOff x="2166009" y="3496846"/>
            <a:chExt cx="4527399" cy="2459919"/>
          </a:xfrm>
        </p:grpSpPr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2241621" y="3496846"/>
              <a:ext cx="4451787" cy="2459919"/>
            </a:xfrm>
            <a:prstGeom prst="rect">
              <a:avLst/>
            </a:prstGeom>
            <a:solidFill>
              <a:srgbClr val="F2F2F8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0" anchor="ctr"/>
            <a:lstStyle/>
            <a:p>
              <a:r>
                <a:rPr lang="en-US" altLang="zh-CN" dirty="0"/>
                <a:t>  </a:t>
              </a:r>
              <a:endParaRPr lang="zh-CN" altLang="en-US" dirty="0"/>
            </a:p>
          </p:txBody>
        </p:sp>
        <p:sp>
          <p:nvSpPr>
            <p:cNvPr id="6" name="Line 38"/>
            <p:cNvSpPr>
              <a:spLocks noChangeShapeType="1"/>
            </p:cNvSpPr>
            <p:nvPr/>
          </p:nvSpPr>
          <p:spPr bwMode="auto">
            <a:xfrm>
              <a:off x="2743200" y="3785656"/>
              <a:ext cx="3614928" cy="0"/>
            </a:xfrm>
            <a:prstGeom prst="line">
              <a:avLst/>
            </a:prstGeom>
            <a:noFill/>
            <a:ln w="34925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3867311" y="3496846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b="1" kern="0" dirty="0">
                  <a:solidFill>
                    <a:srgbClr val="3333C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行校验</a:t>
              </a:r>
              <a:endParaRPr kumimoji="0" lang="zh-CN" altLang="en-US" sz="1600" b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9" name="Line 38"/>
            <p:cNvSpPr>
              <a:spLocks noChangeShapeType="1"/>
            </p:cNvSpPr>
            <p:nvPr/>
          </p:nvSpPr>
          <p:spPr bwMode="auto">
            <a:xfrm>
              <a:off x="2596896" y="3835401"/>
              <a:ext cx="0" cy="1922272"/>
            </a:xfrm>
            <a:prstGeom prst="line">
              <a:avLst/>
            </a:prstGeom>
            <a:noFill/>
            <a:ln w="34925">
              <a:solidFill>
                <a:schemeClr val="tx1">
                  <a:lumMod val="65000"/>
                  <a:lumOff val="35000"/>
                </a:schemeClr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2166009" y="4457982"/>
              <a:ext cx="430887" cy="876202"/>
            </a:xfrm>
            <a:prstGeom prst="rect">
              <a:avLst/>
            </a:prstGeom>
          </p:spPr>
          <p:txBody>
            <a:bodyPr vert="eaVert" wrap="non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b="1" kern="0" dirty="0">
                  <a:solidFill>
                    <a:srgbClr val="3333CC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列校验</a:t>
              </a:r>
              <a:endParaRPr kumimoji="0" lang="zh-CN" altLang="en-US" sz="1600" b="1" u="none" strike="noStrike" kern="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11" name="Line 38"/>
            <p:cNvSpPr>
              <a:spLocks noChangeShapeType="1"/>
            </p:cNvSpPr>
            <p:nvPr/>
          </p:nvSpPr>
          <p:spPr bwMode="auto">
            <a:xfrm>
              <a:off x="2862072" y="5395145"/>
              <a:ext cx="3496056" cy="0"/>
            </a:xfrm>
            <a:prstGeom prst="lin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" name="Line 38"/>
            <p:cNvSpPr>
              <a:spLocks noChangeShapeType="1"/>
            </p:cNvSpPr>
            <p:nvPr/>
          </p:nvSpPr>
          <p:spPr bwMode="auto">
            <a:xfrm>
              <a:off x="5535093" y="3925824"/>
              <a:ext cx="12267" cy="1845016"/>
            </a:xfrm>
            <a:prstGeom prst="line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round/>
              <a:headE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奇偶校验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44978"/>
                <a:ext cx="8229600" cy="1969757"/>
              </a:xfrm>
            </p:spPr>
            <p:txBody>
              <a:bodyPr/>
              <a:lstStyle/>
              <a:p>
                <a:r>
                  <a:rPr lang="zh-CN" altLang="en-US" dirty="0"/>
                  <a:t>二维奇偶校验 </a:t>
                </a:r>
                <a:r>
                  <a:rPr lang="en-US" altLang="zh-CN" dirty="0"/>
                  <a:t>(two-dimensional parity)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zh-CN" altLang="en-US" dirty="0"/>
                  <a:t>将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i="1" dirty="0"/>
                  <a:t> </a:t>
                </a:r>
                <a:r>
                  <a:rPr lang="zh-CN" altLang="en-US" dirty="0"/>
                  <a:t>比特信息划分为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altLang="zh-CN" i="1" dirty="0"/>
                  <a:t> </a:t>
                </a:r>
                <a:r>
                  <a:rPr lang="zh-CN" altLang="en-US" dirty="0"/>
                  <a:t>行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altLang="zh-CN" i="1" dirty="0"/>
                  <a:t> </a:t>
                </a:r>
                <a:r>
                  <a:rPr lang="zh-CN" altLang="en-US" dirty="0"/>
                  <a:t>列，对每行和每列计算奇偶值，产生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dirty="0"/>
                  <a:t>个奇偶校验位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44978"/>
                <a:ext cx="8229600" cy="1969757"/>
              </a:xfrm>
              <a:blipFill rotWithShape="0">
                <a:blip r:embed="rId5" cstate="print"/>
                <a:stretch>
                  <a:fillRect l="-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8210378"/>
                  </p:ext>
                </p:extLst>
              </p:nvPr>
            </p:nvGraphicFramePr>
            <p:xfrm>
              <a:off x="2938272" y="3652520"/>
              <a:ext cx="3633215" cy="19222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603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4940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9679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5097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+1,</m:t>
                                    </m:r>
                                    <m:r>
                                      <a:rPr lang="en-US" altLang="zh-CN" b="0" i="1" smtClean="0">
                                        <a:solidFill>
                                          <a:schemeClr val="accent5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b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78210378"/>
                  </p:ext>
                </p:extLst>
              </p:nvPr>
            </p:nvGraphicFramePr>
            <p:xfrm>
              <a:off x="2938272" y="3652520"/>
              <a:ext cx="3633215" cy="192227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3603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4940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9679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5097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3878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7813" r="-392562" b="-4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35878" t="-7813" r="-119084" b="-4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82051" t="-7813" b="-4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878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107813" r="-392562" b="-3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35878" t="-107813" r="-119084" b="-31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82051" t="-107813" b="-31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878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301563" r="-392562" b="-1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35878" t="-301563" r="-119084" b="-1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82051" t="-301563" b="-118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87858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401563" r="-392562" b="-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b="0" dirty="0">
                              <a:solidFill>
                                <a:schemeClr val="accent5">
                                  <a:lumMod val="50000"/>
                                </a:schemeClr>
                              </a:solidFill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235878" t="-401563" r="-119084" b="-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b="0" dirty="0">
                            <a:solidFill>
                              <a:schemeClr val="accent5">
                                <a:lumMod val="50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59683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1472184" y="3791711"/>
            <a:ext cx="4951476" cy="2759417"/>
          </a:xfrm>
          <a:prstGeom prst="rect">
            <a:avLst/>
          </a:prstGeom>
          <a:solidFill>
            <a:srgbClr val="F2F2F8"/>
          </a:solidFill>
          <a:ln w="25400">
            <a:noFill/>
            <a:miter lim="800000"/>
            <a:headEnd/>
            <a:tailEnd/>
          </a:ln>
          <a:effectLst/>
        </p:spPr>
        <p:txBody>
          <a:bodyPr wrap="none" lIns="0" anchor="ctr"/>
          <a:lstStyle/>
          <a:p>
            <a:r>
              <a:rPr lang="en-US" altLang="zh-CN" dirty="0"/>
              <a:t>  </a:t>
            </a:r>
            <a:endParaRPr lang="zh-CN" altLang="en-US" dirty="0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1670304" y="6144726"/>
          <a:ext cx="4075176" cy="36576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58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5666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670304" y="3950167"/>
          <a:ext cx="4075176" cy="219456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58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5666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奇偶校验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1969757"/>
          </a:xfrm>
        </p:spPr>
        <p:txBody>
          <a:bodyPr/>
          <a:lstStyle/>
          <a:p>
            <a:r>
              <a:rPr lang="zh-CN" altLang="en-US" dirty="0"/>
              <a:t>二维奇偶校验 </a:t>
            </a:r>
            <a:r>
              <a:rPr lang="en-US" altLang="zh-CN" dirty="0"/>
              <a:t>(two-dimensional parity)</a:t>
            </a:r>
          </a:p>
          <a:p>
            <a:pPr lvl="1">
              <a:spcBef>
                <a:spcPts val="600"/>
              </a:spcBef>
            </a:pPr>
            <a:r>
              <a:rPr lang="zh-CN" altLang="en-US" dirty="0"/>
              <a:t>差错检测能力 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: 42</a:t>
            </a:r>
            <a:r>
              <a:rPr lang="zh-CN" altLang="en-US" dirty="0"/>
              <a:t>比特，偶校验</a:t>
            </a:r>
            <a:r>
              <a:rPr lang="en-US" altLang="zh-CN" dirty="0"/>
              <a:t>)</a:t>
            </a:r>
          </a:p>
          <a:p>
            <a:pPr lvl="2">
              <a:spcBef>
                <a:spcPts val="600"/>
              </a:spcBef>
            </a:pPr>
            <a:r>
              <a:rPr lang="en-US" altLang="zh-CN" dirty="0"/>
              <a:t>1</a:t>
            </a:r>
            <a:r>
              <a:rPr lang="zh-CN" altLang="en-US" dirty="0"/>
              <a:t>比特错</a:t>
            </a:r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en-US" altLang="zh-CN" dirty="0"/>
              <a:t>2</a:t>
            </a:r>
            <a:r>
              <a:rPr lang="zh-CN" altLang="en-US" dirty="0"/>
              <a:t>比特错：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5756148" y="3950166"/>
          <a:ext cx="582168" cy="219456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58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666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5756148" y="6151048"/>
          <a:ext cx="582168" cy="36576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58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666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4114800" y="301752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25" name="组合 24"/>
          <p:cNvGrpSpPr/>
          <p:nvPr/>
        </p:nvGrpSpPr>
        <p:grpSpPr>
          <a:xfrm>
            <a:off x="2828544" y="4731169"/>
            <a:ext cx="304800" cy="268224"/>
            <a:chOff x="7754112" y="4133088"/>
            <a:chExt cx="487680" cy="694944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7754112" y="4133088"/>
              <a:ext cx="487680" cy="694944"/>
            </a:xfrm>
            <a:prstGeom prst="line">
              <a:avLst/>
            </a:prstGeom>
            <a:ln w="349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7754112" y="4133088"/>
              <a:ext cx="402336" cy="694944"/>
            </a:xfrm>
            <a:prstGeom prst="line">
              <a:avLst/>
            </a:prstGeom>
            <a:ln w="349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Line 38"/>
          <p:cNvSpPr>
            <a:spLocks noChangeShapeType="1"/>
          </p:cNvSpPr>
          <p:nvPr/>
        </p:nvSpPr>
        <p:spPr bwMode="auto">
          <a:xfrm flipV="1">
            <a:off x="1325880" y="4867061"/>
            <a:ext cx="5282184" cy="3683"/>
          </a:xfrm>
          <a:prstGeom prst="line">
            <a:avLst/>
          </a:prstGeom>
          <a:noFill/>
          <a:ln w="47625">
            <a:solidFill>
              <a:srgbClr val="FF0000">
                <a:alpha val="47000"/>
              </a:srgbClr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7" name="Line 38"/>
          <p:cNvSpPr>
            <a:spLocks noChangeShapeType="1"/>
          </p:cNvSpPr>
          <p:nvPr/>
        </p:nvSpPr>
        <p:spPr bwMode="auto">
          <a:xfrm>
            <a:off x="2950464" y="3660231"/>
            <a:ext cx="24384" cy="3045367"/>
          </a:xfrm>
          <a:prstGeom prst="line">
            <a:avLst/>
          </a:prstGeom>
          <a:noFill/>
          <a:ln w="47625">
            <a:solidFill>
              <a:srgbClr val="FF0000">
                <a:alpha val="47000"/>
              </a:srgbClr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484376" y="2435977"/>
            <a:ext cx="27310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377" lvl="2" fontAlgn="base">
              <a:spcBef>
                <a:spcPts val="600"/>
              </a:spcBef>
              <a:spcAft>
                <a:spcPct val="0"/>
              </a:spcAft>
              <a:buClr>
                <a:srgbClr val="00007D"/>
              </a:buClr>
              <a:buSzPct val="65000"/>
            </a:pPr>
            <a:r>
              <a:rPr lang="zh-CN" altLang="en-US" kern="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：检测，并纠错</a:t>
            </a:r>
            <a:endParaRPr lang="en-US" altLang="zh-CN" kern="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12" name="Line 38"/>
          <p:cNvSpPr>
            <a:spLocks noChangeShapeType="1"/>
          </p:cNvSpPr>
          <p:nvPr/>
        </p:nvSpPr>
        <p:spPr bwMode="auto">
          <a:xfrm>
            <a:off x="5742357" y="3860383"/>
            <a:ext cx="12267" cy="2650103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1" name="Line 38"/>
          <p:cNvSpPr>
            <a:spLocks noChangeShapeType="1"/>
          </p:cNvSpPr>
          <p:nvPr/>
        </p:nvSpPr>
        <p:spPr bwMode="auto">
          <a:xfrm>
            <a:off x="1472184" y="6151049"/>
            <a:ext cx="5038344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576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6" grpId="0" animBg="1"/>
      <p:bldP spid="27" grpId="0" animBg="1"/>
      <p:bldP spid="30" grpId="0"/>
      <p:bldP spid="12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1472184" y="3791711"/>
            <a:ext cx="4951476" cy="2759417"/>
          </a:xfrm>
          <a:prstGeom prst="rect">
            <a:avLst/>
          </a:prstGeom>
          <a:solidFill>
            <a:srgbClr val="F2F2F8"/>
          </a:solidFill>
          <a:ln w="25400">
            <a:noFill/>
            <a:miter lim="800000"/>
            <a:headEnd/>
            <a:tailEnd/>
          </a:ln>
          <a:effectLst/>
        </p:spPr>
        <p:txBody>
          <a:bodyPr wrap="none" lIns="0" anchor="ctr"/>
          <a:lstStyle/>
          <a:p>
            <a:r>
              <a:rPr lang="en-US" altLang="zh-CN" dirty="0"/>
              <a:t>  </a:t>
            </a:r>
            <a:endParaRPr lang="zh-CN" altLang="en-US" dirty="0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1670304" y="6144726"/>
          <a:ext cx="4075176" cy="36576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58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5666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670304" y="3950167"/>
          <a:ext cx="4075176" cy="219456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58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821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5666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奇偶校验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2174611"/>
          </a:xfrm>
        </p:spPr>
        <p:txBody>
          <a:bodyPr/>
          <a:lstStyle/>
          <a:p>
            <a:r>
              <a:rPr lang="zh-CN" altLang="en-US" dirty="0"/>
              <a:t>二维奇偶校验 </a:t>
            </a:r>
            <a:r>
              <a:rPr lang="en-US" altLang="zh-CN" dirty="0"/>
              <a:t>(two-dimensional parity)</a:t>
            </a:r>
          </a:p>
          <a:p>
            <a:pPr lvl="1">
              <a:spcBef>
                <a:spcPts val="600"/>
              </a:spcBef>
            </a:pPr>
            <a:r>
              <a:rPr lang="zh-CN" altLang="en-US" dirty="0"/>
              <a:t>差错检错能力 </a:t>
            </a:r>
            <a:r>
              <a:rPr lang="en-US" altLang="zh-CN" dirty="0"/>
              <a:t>(</a:t>
            </a:r>
            <a:r>
              <a:rPr lang="zh-CN" altLang="en-US" dirty="0"/>
              <a:t>例</a:t>
            </a:r>
            <a:r>
              <a:rPr lang="en-US" altLang="zh-CN" dirty="0"/>
              <a:t>: 42</a:t>
            </a:r>
            <a:r>
              <a:rPr lang="zh-CN" altLang="en-US" dirty="0"/>
              <a:t>比特，偶校验</a:t>
            </a:r>
            <a:r>
              <a:rPr lang="en-US" altLang="zh-CN" dirty="0"/>
              <a:t>)</a:t>
            </a:r>
          </a:p>
          <a:p>
            <a:pPr lvl="2">
              <a:spcBef>
                <a:spcPts val="600"/>
              </a:spcBef>
            </a:pPr>
            <a:r>
              <a:rPr lang="en-US" altLang="zh-CN" dirty="0"/>
              <a:t>1</a:t>
            </a:r>
            <a:r>
              <a:rPr lang="zh-CN" altLang="en-US" dirty="0"/>
              <a:t>比特错</a:t>
            </a:r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en-US" altLang="zh-CN" dirty="0"/>
              <a:t>2</a:t>
            </a:r>
            <a:r>
              <a:rPr lang="zh-CN" altLang="en-US" dirty="0"/>
              <a:t>比特错</a:t>
            </a:r>
            <a:endParaRPr lang="en-US" altLang="zh-CN" dirty="0"/>
          </a:p>
          <a:p>
            <a:pPr lvl="2">
              <a:spcBef>
                <a:spcPts val="600"/>
              </a:spcBef>
            </a:pPr>
            <a:r>
              <a:rPr lang="en-US" altLang="zh-CN" dirty="0"/>
              <a:t>3</a:t>
            </a:r>
            <a:r>
              <a:rPr lang="zh-CN" altLang="en-US" dirty="0"/>
              <a:t>比特、</a:t>
            </a:r>
            <a:r>
              <a:rPr lang="en-US" altLang="zh-CN" dirty="0"/>
              <a:t>4</a:t>
            </a:r>
            <a:r>
              <a:rPr lang="zh-CN" altLang="en-US" dirty="0"/>
              <a:t>比特</a:t>
            </a:r>
            <a:r>
              <a:rPr lang="en-US" altLang="zh-CN" dirty="0"/>
              <a:t>…… </a:t>
            </a:r>
            <a:r>
              <a:rPr lang="zh-CN" altLang="en-US" dirty="0">
                <a:solidFill>
                  <a:srgbClr val="FF0000"/>
                </a:solidFill>
              </a:rPr>
              <a:t>？？</a:t>
            </a:r>
            <a:r>
              <a:rPr lang="zh-CN" altLang="en-US">
                <a:solidFill>
                  <a:srgbClr val="FF0000"/>
                </a:solidFill>
              </a:rPr>
              <a:t>？ 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5756148" y="3950166"/>
          <a:ext cx="582168" cy="219456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58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666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666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5756148" y="6151048"/>
          <a:ext cx="582168" cy="36576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582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5666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800" b="1" kern="12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  <a:endParaRPr lang="zh-CN" altLang="en-US" sz="1800" b="1" kern="1200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Line 38"/>
          <p:cNvSpPr>
            <a:spLocks noChangeShapeType="1"/>
          </p:cNvSpPr>
          <p:nvPr/>
        </p:nvSpPr>
        <p:spPr bwMode="auto">
          <a:xfrm>
            <a:off x="1472184" y="6151049"/>
            <a:ext cx="5038344" cy="0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114800" y="301752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25" name="组合 24"/>
          <p:cNvGrpSpPr/>
          <p:nvPr/>
        </p:nvGrpSpPr>
        <p:grpSpPr>
          <a:xfrm>
            <a:off x="2828544" y="4731169"/>
            <a:ext cx="304800" cy="268224"/>
            <a:chOff x="7754112" y="4133088"/>
            <a:chExt cx="487680" cy="694944"/>
          </a:xfrm>
        </p:grpSpPr>
        <p:cxnSp>
          <p:nvCxnSpPr>
            <p:cNvPr id="20" name="直接连接符 19"/>
            <p:cNvCxnSpPr/>
            <p:nvPr/>
          </p:nvCxnSpPr>
          <p:spPr>
            <a:xfrm>
              <a:off x="7754112" y="4133088"/>
              <a:ext cx="487680" cy="694944"/>
            </a:xfrm>
            <a:prstGeom prst="line">
              <a:avLst/>
            </a:prstGeom>
            <a:ln w="349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H="1">
              <a:off x="7754112" y="4133088"/>
              <a:ext cx="402336" cy="694944"/>
            </a:xfrm>
            <a:prstGeom prst="line">
              <a:avLst/>
            </a:prstGeom>
            <a:ln w="349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矩形 29"/>
          <p:cNvSpPr/>
          <p:nvPr/>
        </p:nvSpPr>
        <p:spPr>
          <a:xfrm>
            <a:off x="1484376" y="2435977"/>
            <a:ext cx="27310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377" lvl="2" fontAlgn="base">
              <a:spcBef>
                <a:spcPts val="600"/>
              </a:spcBef>
              <a:spcAft>
                <a:spcPct val="0"/>
              </a:spcAft>
              <a:buClr>
                <a:srgbClr val="00007D"/>
              </a:buClr>
              <a:buSzPct val="65000"/>
            </a:pPr>
            <a:r>
              <a:rPr lang="zh-CN" altLang="en-US" kern="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：检测，并纠错</a:t>
            </a:r>
            <a:endParaRPr lang="en-US" altLang="zh-CN" kern="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991356" y="5451073"/>
            <a:ext cx="304800" cy="268224"/>
            <a:chOff x="7754112" y="4133088"/>
            <a:chExt cx="487680" cy="694944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7754112" y="4133088"/>
              <a:ext cx="487680" cy="694944"/>
            </a:xfrm>
            <a:prstGeom prst="line">
              <a:avLst/>
            </a:prstGeom>
            <a:ln w="349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 flipH="1">
              <a:off x="7754112" y="4133088"/>
              <a:ext cx="402336" cy="694944"/>
            </a:xfrm>
            <a:prstGeom prst="line">
              <a:avLst/>
            </a:prstGeom>
            <a:ln w="349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Line 38"/>
          <p:cNvSpPr>
            <a:spLocks noChangeShapeType="1"/>
          </p:cNvSpPr>
          <p:nvPr/>
        </p:nvSpPr>
        <p:spPr bwMode="auto">
          <a:xfrm flipV="1">
            <a:off x="1325880" y="4867061"/>
            <a:ext cx="5282184" cy="3683"/>
          </a:xfrm>
          <a:prstGeom prst="line">
            <a:avLst/>
          </a:prstGeom>
          <a:noFill/>
          <a:ln w="47625">
            <a:solidFill>
              <a:srgbClr val="FF0000">
                <a:alpha val="47000"/>
              </a:srgbClr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8" name="Line 38"/>
          <p:cNvSpPr>
            <a:spLocks noChangeShapeType="1"/>
          </p:cNvSpPr>
          <p:nvPr/>
        </p:nvSpPr>
        <p:spPr bwMode="auto">
          <a:xfrm flipV="1">
            <a:off x="1307592" y="5592485"/>
            <a:ext cx="5282184" cy="3683"/>
          </a:xfrm>
          <a:prstGeom prst="line">
            <a:avLst/>
          </a:prstGeom>
          <a:noFill/>
          <a:ln w="47625">
            <a:solidFill>
              <a:srgbClr val="FF0000">
                <a:alpha val="47000"/>
              </a:srgbClr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9" name="Line 38"/>
          <p:cNvSpPr>
            <a:spLocks noChangeShapeType="1"/>
          </p:cNvSpPr>
          <p:nvPr/>
        </p:nvSpPr>
        <p:spPr bwMode="auto">
          <a:xfrm>
            <a:off x="2950464" y="3660231"/>
            <a:ext cx="24384" cy="3045367"/>
          </a:xfrm>
          <a:prstGeom prst="line">
            <a:avLst/>
          </a:prstGeom>
          <a:noFill/>
          <a:ln w="47625">
            <a:solidFill>
              <a:srgbClr val="FF0000">
                <a:alpha val="47000"/>
              </a:srgbClr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31" name="Line 38"/>
          <p:cNvSpPr>
            <a:spLocks noChangeShapeType="1"/>
          </p:cNvSpPr>
          <p:nvPr/>
        </p:nvSpPr>
        <p:spPr bwMode="auto">
          <a:xfrm>
            <a:off x="4126992" y="3660231"/>
            <a:ext cx="24384" cy="3045367"/>
          </a:xfrm>
          <a:prstGeom prst="line">
            <a:avLst/>
          </a:prstGeom>
          <a:noFill/>
          <a:ln w="47625">
            <a:solidFill>
              <a:srgbClr val="FF0000">
                <a:alpha val="47000"/>
              </a:srgbClr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490472" y="2807833"/>
            <a:ext cx="27310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377" lvl="2" fontAlgn="base">
              <a:spcBef>
                <a:spcPts val="600"/>
              </a:spcBef>
              <a:spcAft>
                <a:spcPct val="0"/>
              </a:spcAft>
              <a:buClr>
                <a:srgbClr val="00007D"/>
              </a:buClr>
              <a:buSzPct val="65000"/>
            </a:pPr>
            <a:r>
              <a:rPr lang="zh-CN" altLang="en-US" kern="0" dirty="0">
                <a:solidFill>
                  <a:srgbClr val="00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：检测</a:t>
            </a:r>
            <a:endParaRPr lang="en-US" altLang="zh-CN" kern="0" dirty="0">
              <a:solidFill>
                <a:srgbClr val="000000"/>
              </a:solidFill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12" name="Line 38"/>
          <p:cNvSpPr>
            <a:spLocks noChangeShapeType="1"/>
          </p:cNvSpPr>
          <p:nvPr/>
        </p:nvSpPr>
        <p:spPr bwMode="auto">
          <a:xfrm>
            <a:off x="5742357" y="3860383"/>
            <a:ext cx="12267" cy="2650103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3841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8" grpId="0" animBg="1"/>
      <p:bldP spid="29" grpId="0" animBg="1"/>
      <p:bldP spid="31" grpId="0" animBg="1"/>
      <p:bldP spid="3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校验和 </a:t>
            </a:r>
            <a:r>
              <a:rPr lang="en-US" altLang="zh-CN" b="0" dirty="0">
                <a:latin typeface="Calibri" panose="020F0502020204030204" pitchFamily="34" charset="0"/>
              </a:rPr>
              <a:t>(checksum)</a:t>
            </a:r>
            <a:endParaRPr lang="zh-CN" altLang="en-US" b="0" dirty="0">
              <a:latin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246" y="1212962"/>
            <a:ext cx="8929508" cy="5413022"/>
          </a:xfrm>
        </p:spPr>
        <p:txBody>
          <a:bodyPr/>
          <a:lstStyle/>
          <a:p>
            <a:r>
              <a:rPr lang="zh-CN" altLang="en-US" dirty="0"/>
              <a:t>非常简单的思想</a:t>
            </a:r>
            <a:endParaRPr lang="en-US" altLang="zh-CN" dirty="0"/>
          </a:p>
          <a:p>
            <a:pPr lvl="1"/>
            <a:r>
              <a:rPr lang="zh-CN" altLang="en-US" sz="1800" dirty="0"/>
              <a:t>将传输的所有字加起来，相加的结果作为校验和，一起传输</a:t>
            </a:r>
            <a:endParaRPr lang="en-US" altLang="zh-CN" sz="1800" dirty="0"/>
          </a:p>
          <a:p>
            <a:pPr lvl="1"/>
            <a:r>
              <a:rPr lang="zh-CN" altLang="en-US" sz="1800" dirty="0"/>
              <a:t>接收端执行同样计算，结果与收到的校验和比较，不同则判断出错</a:t>
            </a:r>
            <a:endParaRPr lang="en-US" altLang="zh-CN" sz="1800" dirty="0"/>
          </a:p>
          <a:p>
            <a:r>
              <a:rPr lang="zh-CN" altLang="en-US" sz="2200" dirty="0"/>
              <a:t>基本思想有许多变种，最著名的为</a:t>
            </a:r>
            <a:r>
              <a:rPr lang="en-US" altLang="zh-CN" sz="2200" dirty="0"/>
              <a:t>TCP/IP</a:t>
            </a:r>
            <a:r>
              <a:rPr lang="zh-CN" altLang="en-US" sz="2200" dirty="0"/>
              <a:t>协议所使用</a:t>
            </a:r>
            <a:r>
              <a:rPr lang="en-US" altLang="zh-CN" sz="2200" dirty="0"/>
              <a:t>[RFC 1071/1141]</a:t>
            </a:r>
          </a:p>
          <a:p>
            <a:pPr lvl="1"/>
            <a:r>
              <a:rPr lang="zh-CN" altLang="en-US" sz="1800" dirty="0"/>
              <a:t>发送方：把数据分为许多</a:t>
            </a:r>
            <a:r>
              <a:rPr lang="en-US" altLang="zh-CN" sz="1800" dirty="0"/>
              <a:t>16</a:t>
            </a:r>
            <a:r>
              <a:rPr lang="zh-CN" altLang="en-US" sz="1800" dirty="0"/>
              <a:t>位字的序列，将所有</a:t>
            </a:r>
            <a:r>
              <a:rPr lang="en-US" altLang="zh-CN" sz="1800" dirty="0"/>
              <a:t>16</a:t>
            </a:r>
            <a:r>
              <a:rPr lang="zh-CN" altLang="en-US" sz="1800" dirty="0"/>
              <a:t>位字相加，对结果取反码，即为校验和</a:t>
            </a:r>
            <a:endParaRPr lang="en-US" altLang="zh-CN" sz="1800" dirty="0"/>
          </a:p>
          <a:p>
            <a:pPr lvl="2"/>
            <a:r>
              <a:rPr lang="zh-CN" altLang="en-US" sz="1600" dirty="0"/>
              <a:t>二进制数反码求和（</a:t>
            </a:r>
            <a:r>
              <a:rPr lang="zh-CN" altLang="en-US" sz="1600" dirty="0">
                <a:solidFill>
                  <a:srgbClr val="FF0000"/>
                </a:solidFill>
              </a:rPr>
              <a:t>先求和再取反码，求和：正常</a:t>
            </a:r>
            <a:r>
              <a:rPr lang="en-US" altLang="zh-CN" sz="1600" dirty="0">
                <a:solidFill>
                  <a:srgbClr val="FF0000"/>
                </a:solidFill>
              </a:rPr>
              <a:t>2</a:t>
            </a:r>
            <a:r>
              <a:rPr lang="zh-CN" altLang="en-US" sz="1600" dirty="0">
                <a:solidFill>
                  <a:srgbClr val="FF0000"/>
                </a:solidFill>
              </a:rPr>
              <a:t>进制加法</a:t>
            </a:r>
            <a:r>
              <a:rPr lang="zh-CN" altLang="en-US" sz="1600" dirty="0"/>
              <a:t>）：从低位到高位逐列计算，</a:t>
            </a:r>
            <a:r>
              <a:rPr lang="en-US" altLang="zh-CN" sz="1600" dirty="0"/>
              <a:t>1+1</a:t>
            </a:r>
            <a:r>
              <a:rPr lang="zh-CN" altLang="en-US" sz="1600" dirty="0"/>
              <a:t>要进位，最高位有进位，回卷到最低位</a:t>
            </a:r>
            <a:endParaRPr lang="en-US" altLang="zh-CN" sz="1600" dirty="0"/>
          </a:p>
          <a:p>
            <a:pPr lvl="1"/>
            <a:r>
              <a:rPr lang="zh-CN" altLang="en-US" sz="1800" dirty="0"/>
              <a:t>接收方：将所有</a:t>
            </a:r>
            <a:r>
              <a:rPr lang="en-US" altLang="zh-CN" sz="1800" dirty="0"/>
              <a:t>16</a:t>
            </a:r>
            <a:r>
              <a:rPr lang="zh-CN" altLang="en-US" sz="1800" dirty="0"/>
              <a:t>比特字</a:t>
            </a:r>
            <a:r>
              <a:rPr lang="en-US" altLang="zh-CN" sz="1800" dirty="0"/>
              <a:t>(</a:t>
            </a:r>
            <a:r>
              <a:rPr lang="zh-CN" altLang="en-US" sz="1800" dirty="0"/>
              <a:t>包括校验和</a:t>
            </a:r>
            <a:r>
              <a:rPr lang="en-US" altLang="zh-CN" sz="1800" dirty="0"/>
              <a:t>)</a:t>
            </a:r>
            <a:r>
              <a:rPr lang="zh-CN" altLang="en-US" sz="1800" dirty="0"/>
              <a:t>加一起，结果为全</a:t>
            </a:r>
            <a:r>
              <a:rPr lang="en-US" altLang="zh-CN" sz="1800" dirty="0"/>
              <a:t>1</a:t>
            </a:r>
            <a:r>
              <a:rPr lang="zh-CN" altLang="en-US" sz="1800" dirty="0"/>
              <a:t>，认为无差错</a:t>
            </a:r>
            <a:endParaRPr lang="en-US" altLang="zh-CN" sz="1800" dirty="0"/>
          </a:p>
          <a:p>
            <a:pPr lvl="1"/>
            <a:r>
              <a:rPr lang="zh-CN" altLang="en-US" sz="1800" dirty="0"/>
              <a:t>例：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0110011001100000 0101010101010101 1000111100001100</a:t>
            </a:r>
          </a:p>
          <a:p>
            <a:pPr marL="457188" lvl="1" indent="0">
              <a:buNone/>
            </a:pP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              0110011001100000</a:t>
            </a:r>
          </a:p>
          <a:p>
            <a:pPr marL="457188" lvl="1" indent="0">
              <a:buNone/>
            </a:pP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              0101010101010101</a:t>
            </a:r>
          </a:p>
          <a:p>
            <a:pPr marL="457188" lvl="1" indent="0">
              <a:buNone/>
            </a:pP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              1011101110110101</a:t>
            </a:r>
          </a:p>
          <a:p>
            <a:pPr marL="457188" lvl="1" indent="0">
              <a:buNone/>
            </a:pP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              1000111100001100</a:t>
            </a:r>
          </a:p>
          <a:p>
            <a:pPr marL="457188" lvl="1" indent="0">
              <a:buNone/>
            </a:pP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              010010101100001</a:t>
            </a:r>
            <a:r>
              <a:rPr lang="en-US" altLang="zh-CN" sz="1800" dirty="0">
                <a:solidFill>
                  <a:srgbClr val="FF0000"/>
                </a:solidFill>
              </a:rPr>
              <a:t>0</a:t>
            </a:r>
            <a:endParaRPr lang="zh-CN" altLang="en-US" sz="1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8868855" y="6623711"/>
            <a:ext cx="208843" cy="152401"/>
          </a:xfrm>
        </p:spPr>
        <p:txBody>
          <a:bodyPr/>
          <a:lstStyle/>
          <a:p>
            <a:fld id="{1A7A0873-376A-4A4E-91BA-7081C35D808C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5" name="Line 38"/>
          <p:cNvSpPr>
            <a:spLocks noChangeShapeType="1"/>
          </p:cNvSpPr>
          <p:nvPr/>
        </p:nvSpPr>
        <p:spPr bwMode="auto">
          <a:xfrm>
            <a:off x="1341120" y="5469077"/>
            <a:ext cx="2462784" cy="1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" name="Line 38"/>
          <p:cNvSpPr>
            <a:spLocks noChangeShapeType="1"/>
          </p:cNvSpPr>
          <p:nvPr/>
        </p:nvSpPr>
        <p:spPr bwMode="auto">
          <a:xfrm>
            <a:off x="1341120" y="6161231"/>
            <a:ext cx="2462784" cy="1"/>
          </a:xfrm>
          <a:prstGeom prst="line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 type="non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338209" y="6161231"/>
            <a:ext cx="6992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kern="0" dirty="0">
                <a:solidFill>
                  <a:srgbClr val="FF0000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反码 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5037439" y="6161231"/>
            <a:ext cx="2518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188" lvl="1" fontAlgn="base">
              <a:spcBef>
                <a:spcPct val="20000"/>
              </a:spcBef>
              <a:spcAft>
                <a:spcPct val="0"/>
              </a:spcAft>
              <a:buClr>
                <a:srgbClr val="9999CC"/>
              </a:buClr>
              <a:buSzPct val="80000"/>
            </a:pPr>
            <a:r>
              <a:rPr lang="en-US" altLang="zh-CN" kern="0" dirty="0">
                <a:solidFill>
                  <a:srgbClr val="CACAFF">
                    <a:lumMod val="50000"/>
                  </a:srgb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1011010100111101</a:t>
            </a:r>
          </a:p>
        </p:txBody>
      </p:sp>
      <p:sp>
        <p:nvSpPr>
          <p:cNvPr id="12" name="Line 38"/>
          <p:cNvSpPr>
            <a:spLocks noChangeShapeType="1"/>
          </p:cNvSpPr>
          <p:nvPr/>
        </p:nvSpPr>
        <p:spPr bwMode="auto">
          <a:xfrm flipV="1">
            <a:off x="3820049" y="6345896"/>
            <a:ext cx="605647" cy="0"/>
          </a:xfrm>
          <a:prstGeom prst="line">
            <a:avLst/>
          </a:prstGeom>
          <a:noFill/>
          <a:ln w="47625">
            <a:solidFill>
              <a:srgbClr val="FF0000">
                <a:alpha val="47000"/>
              </a:srgbClr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3" name="Line 38"/>
          <p:cNvSpPr>
            <a:spLocks noChangeShapeType="1"/>
          </p:cNvSpPr>
          <p:nvPr/>
        </p:nvSpPr>
        <p:spPr bwMode="auto">
          <a:xfrm flipV="1">
            <a:off x="4923425" y="6345896"/>
            <a:ext cx="605647" cy="0"/>
          </a:xfrm>
          <a:prstGeom prst="line">
            <a:avLst/>
          </a:prstGeom>
          <a:noFill/>
          <a:ln w="47625">
            <a:solidFill>
              <a:srgbClr val="FF0000">
                <a:alpha val="47000"/>
              </a:srgbClr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1259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/>
      <p:bldP spid="11" grpId="0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校验和 </a:t>
            </a:r>
            <a:r>
              <a:rPr lang="en-US" altLang="zh-CN" b="0" dirty="0">
                <a:latin typeface="Calibri" panose="020F0502020204030204" pitchFamily="34" charset="0"/>
              </a:rPr>
              <a:t>(checksum)</a:t>
            </a:r>
            <a:endParaRPr lang="zh-CN" altLang="en-US" b="0" dirty="0">
              <a:latin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370711" cy="2716317"/>
          </a:xfrm>
        </p:spPr>
        <p:txBody>
          <a:bodyPr/>
          <a:lstStyle/>
          <a:p>
            <a:r>
              <a:rPr lang="zh-CN" altLang="en-US" dirty="0"/>
              <a:t>差错检测能力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冗余少，仅</a:t>
            </a:r>
            <a:r>
              <a:rPr lang="en-US" altLang="zh-CN" sz="1800" dirty="0"/>
              <a:t>16</a:t>
            </a:r>
            <a:r>
              <a:rPr lang="zh-CN" altLang="en-US" sz="1800" dirty="0"/>
              <a:t>比特，对任意长度数据进行检测，检测能力较弱</a:t>
            </a:r>
            <a:endParaRPr lang="en-US" altLang="zh-CN" sz="1800" dirty="0"/>
          </a:p>
          <a:p>
            <a:pPr marL="1044000" lvl="2">
              <a:lnSpc>
                <a:spcPct val="150000"/>
              </a:lnSpc>
            </a:pPr>
            <a:r>
              <a:rPr lang="zh-CN" altLang="en-US" sz="1600" dirty="0"/>
              <a:t>例如一对单比特错，</a:t>
            </a:r>
            <a:r>
              <a:rPr lang="en-US" altLang="zh-CN" sz="1600" dirty="0"/>
              <a:t>1</a:t>
            </a:r>
            <a:r>
              <a:rPr lang="zh-CN" altLang="en-US" sz="1600" dirty="0"/>
              <a:t>个使某个字增加</a:t>
            </a:r>
            <a:r>
              <a:rPr lang="en-US" altLang="zh-CN" sz="1600" dirty="0"/>
              <a:t>1</a:t>
            </a:r>
            <a:r>
              <a:rPr lang="zh-CN" altLang="en-US" sz="1600" dirty="0"/>
              <a:t>，另一个使另一个字减少</a:t>
            </a:r>
            <a:r>
              <a:rPr lang="en-US" altLang="zh-CN" sz="1600" dirty="0"/>
              <a:t>1</a:t>
            </a:r>
            <a:r>
              <a:rPr lang="zh-CN" altLang="en-US" sz="1600" dirty="0"/>
              <a:t>，校验和不变</a:t>
            </a:r>
            <a:endParaRPr lang="en-US" altLang="zh-CN" sz="16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易于软件实现，用于上层端到端协议，下层由链路层提供更强检错能力</a:t>
            </a:r>
            <a:endParaRPr lang="zh-CN" altLang="en-US" sz="1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286000" y="4795151"/>
            <a:ext cx="4572000" cy="10772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spAutoFit/>
          </a:bodyPr>
          <a:lstStyle/>
          <a:p>
            <a:pPr marL="457188" lvl="1" indent="0">
              <a:buNone/>
            </a:pP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 0 1 1 0 0 1 1 </a:t>
            </a:r>
            <a:r>
              <a:rPr lang="en-US" altLang="zh-CN" sz="3200" dirty="0">
                <a:solidFill>
                  <a:srgbClr val="FF0000"/>
                </a:solidFill>
              </a:rPr>
              <a:t>0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 0 1 1 0 0 0 0 0</a:t>
            </a:r>
          </a:p>
          <a:p>
            <a:pPr marL="457188" lvl="1" indent="0">
              <a:buNone/>
            </a:pP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 0 1 0 1 0 1 0 </a:t>
            </a:r>
            <a:r>
              <a:rPr lang="en-US" altLang="zh-CN" sz="3200" dirty="0">
                <a:solidFill>
                  <a:srgbClr val="FF0000"/>
                </a:solidFill>
              </a:rPr>
              <a:t>1</a:t>
            </a:r>
            <a:r>
              <a:rPr lang="en-US" altLang="zh-CN" dirty="0">
                <a:solidFill>
                  <a:schemeClr val="accent5">
                    <a:lumMod val="50000"/>
                  </a:schemeClr>
                </a:solidFill>
              </a:rPr>
              <a:t> 0 1 0 1 0 1 0 1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6188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循环冗余校验</a:t>
            </a:r>
            <a:r>
              <a:rPr lang="en-US" altLang="zh-CN" sz="2800" b="0" dirty="0"/>
              <a:t>(</a:t>
            </a:r>
            <a:r>
              <a:rPr lang="en-US" altLang="zh-CN" sz="3000" b="0" kern="1200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Cyclic Redundancy Check, CRC</a:t>
            </a:r>
            <a:r>
              <a:rPr lang="en-US" altLang="zh-CN" sz="2800" b="0" dirty="0"/>
              <a:t>)</a:t>
            </a:r>
            <a:endParaRPr lang="zh-CN" altLang="en-US" sz="4000" b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444978"/>
            <a:ext cx="8731954" cy="5034843"/>
          </a:xfrm>
        </p:spPr>
        <p:txBody>
          <a:bodyPr/>
          <a:lstStyle/>
          <a:p>
            <a:r>
              <a:rPr lang="zh-CN" altLang="en-US" dirty="0"/>
              <a:t>差错检测算法设计目标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使用最少的冗余比特检测最多的错误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en-US" altLang="zh-CN" dirty="0"/>
              <a:t>CRC</a:t>
            </a:r>
            <a:r>
              <a:rPr lang="zh-CN" altLang="en-US" dirty="0"/>
              <a:t>使用很强的数学算法实现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二进制除法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2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</a:rPr>
              <a:t>非标准除法，用异或代替相减（无借位）</a:t>
            </a:r>
            <a:endParaRPr lang="en-US" altLang="zh-CN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2544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循环冗余校验</a:t>
            </a:r>
            <a:r>
              <a:rPr lang="en-US" altLang="zh-CN" sz="2800" b="0" dirty="0"/>
              <a:t>(</a:t>
            </a:r>
            <a:r>
              <a:rPr lang="en-US" altLang="zh-CN" sz="3000" b="0" kern="1200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Cyclic Redundancy Check, CRC</a:t>
            </a:r>
            <a:r>
              <a:rPr lang="en-US" altLang="zh-CN" sz="2800" b="0" dirty="0"/>
              <a:t>)</a:t>
            </a:r>
            <a:endParaRPr lang="zh-CN" altLang="en-US" sz="40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6032" y="1444978"/>
                <a:ext cx="8780722" cy="5034843"/>
              </a:xfrm>
            </p:spPr>
            <p:txBody>
              <a:bodyPr/>
              <a:lstStyle/>
              <a:p>
                <a:r>
                  <a:rPr lang="zh-CN" altLang="en-US" dirty="0"/>
                  <a:t>理解</a:t>
                </a:r>
                <a:r>
                  <a:rPr lang="en-US" altLang="zh-CN" dirty="0"/>
                  <a:t>CRC</a:t>
                </a:r>
                <a:r>
                  <a:rPr lang="zh-CN" altLang="en-US" dirty="0"/>
                  <a:t>基本思想</a:t>
                </a:r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800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</a:rPr>
                  <a:t>次多项式可表示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180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 b="0" i="1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</a:rPr>
                  <a:t>比特消息</a:t>
                </a:r>
                <a:endParaRPr lang="en-US" altLang="zh-CN" sz="1800" dirty="0">
                  <a:solidFill>
                    <a:schemeClr val="accent5">
                      <a:lumMod val="50000"/>
                    </a:schemeClr>
                  </a:solidFill>
                </a:endParaRPr>
              </a:p>
              <a:p>
                <a:pPr lvl="2"/>
                <a:r>
                  <a:rPr lang="zh-CN" altLang="en-US" dirty="0"/>
                  <a:t>例：一个</a:t>
                </a:r>
                <a:r>
                  <a:rPr lang="en-US" altLang="zh-CN" dirty="0"/>
                  <a:t>8</a:t>
                </a:r>
                <a:r>
                  <a:rPr lang="zh-CN" altLang="en-US" dirty="0"/>
                  <a:t>比特消息 </a:t>
                </a:r>
                <a:r>
                  <a:rPr lang="en-US" altLang="zh-CN" dirty="0"/>
                  <a:t>10011010 </a:t>
                </a:r>
                <a:r>
                  <a:rPr lang="zh-CN" altLang="en-US" dirty="0"/>
                  <a:t>对应多项式 </a:t>
                </a:r>
                <a:endParaRPr lang="en-US" altLang="zh-CN" dirty="0"/>
              </a:p>
              <a:p>
                <a:pPr marL="720000" lvl="2" indent="0">
                  <a:buNone/>
                </a:pP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lang="en-US" altLang="zh-C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14377" lvl="2" indent="0">
                  <a:buNone/>
                </a:pPr>
                <a:r>
                  <a:rPr lang="en-US" altLang="zh-CN" b="0" dirty="0">
                    <a:ea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altLang="zh-CN" dirty="0"/>
              </a:p>
              <a:p>
                <a:pPr lvl="1">
                  <a:spcBef>
                    <a:spcPts val="1200"/>
                  </a:spcBef>
                </a:pPr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</a:rPr>
                  <a:t>为计算</a:t>
                </a:r>
                <a:r>
                  <a:rPr lang="en-US" altLang="zh-CN" sz="1800" dirty="0">
                    <a:solidFill>
                      <a:schemeClr val="accent5">
                        <a:lumMod val="50000"/>
                      </a:schemeClr>
                    </a:solidFill>
                  </a:rPr>
                  <a:t>CRC</a:t>
                </a:r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</a:rPr>
                  <a:t>，收发双方商定一个</a:t>
                </a:r>
                <a14:m>
                  <m:oMath xmlns:m="http://schemas.openxmlformats.org/officeDocument/2006/math">
                    <m:r>
                      <a:rPr lang="en-US" altLang="zh-CN" sz="180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</a:rPr>
                  <a:t>次幂的除数</a:t>
                </a:r>
                <a14:m>
                  <m:oMath xmlns:m="http://schemas.openxmlformats.org/officeDocument/2006/math">
                    <m:r>
                      <a:rPr lang="en-US" altLang="zh-CN" sz="180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sz="1800" dirty="0">
                  <a:solidFill>
                    <a:schemeClr val="accent5">
                      <a:lumMod val="50000"/>
                    </a:schemeClr>
                  </a:solidFill>
                </a:endParaRPr>
              </a:p>
              <a:p>
                <a:pPr lvl="2"/>
                <a:r>
                  <a:rPr lang="zh-CN" altLang="en-US" dirty="0"/>
                  <a:t>例：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dirty="0"/>
              </a:p>
              <a:p>
                <a:pPr lvl="1">
                  <a:spcBef>
                    <a:spcPts val="1200"/>
                  </a:spcBef>
                </a:pPr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</a:rPr>
                  <a:t>对于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</a:rPr>
                  <a:t>比特消息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</a:rPr>
                  <a:t>，实际发送加上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</a:rPr>
                  <a:t>比特冗余的消息</a:t>
                </a:r>
                <a14:m>
                  <m:oMath xmlns:m="http://schemas.openxmlformats.org/officeDocument/2006/math">
                    <m:r>
                      <a:rPr lang="en-US" altLang="zh-CN" sz="1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ctrlP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zh-CN" altLang="en-US" sz="1800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</a:rPr>
                  <a:t>使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1800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能</m:t>
                    </m:r>
                  </m:oMath>
                </a14:m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</a:rPr>
                  <a:t>被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</a:rPr>
                  <a:t>整除；接收方收到的消息若不能被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</a:rPr>
                  <a:t>整除，则判断出错</a:t>
                </a:r>
                <a:endParaRPr lang="en-US" altLang="zh-CN" sz="1800" dirty="0">
                  <a:solidFill>
                    <a:schemeClr val="accent5">
                      <a:lumMod val="50000"/>
                    </a:schemeClr>
                  </a:solidFill>
                </a:endParaRPr>
              </a:p>
              <a:p>
                <a:pPr lvl="1">
                  <a:spcBef>
                    <a:spcPts val="1200"/>
                  </a:spcBef>
                </a:pPr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</a:rPr>
                  <a:t>计算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ctrlPr>
                          <a:rPr lang="en-US" altLang="zh-CN" sz="180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solidFill>
                              <a:schemeClr val="accent5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sz="1800" dirty="0">
                  <a:solidFill>
                    <a:schemeClr val="accent5">
                      <a:lumMod val="50000"/>
                    </a:schemeClr>
                  </a:solidFill>
                </a:endParaRPr>
              </a:p>
              <a:p>
                <a:pPr lvl="2">
                  <a:spcBef>
                    <a:spcPts val="12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乘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即消息末尾加上</a:t>
                </a:r>
                <a14:m>
                  <m:oMath xmlns:m="http://schemas.openxmlformats.org/officeDocument/2006/math">
                    <m:r>
                      <a:rPr lang="en-US" altLang="zh-CN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个</a:t>
                </a:r>
                <a:r>
                  <a:rPr lang="en-US" altLang="zh-CN" sz="1600" dirty="0">
                    <a:solidFill>
                      <a:schemeClr val="tx1"/>
                    </a:solidFill>
                  </a:rPr>
                  <a:t>0</a:t>
                </a:r>
                <a:r>
                  <a:rPr lang="zh-CN" altLang="en-US" sz="1600" dirty="0">
                    <a:solidFill>
                      <a:schemeClr val="tx1"/>
                    </a:solidFill>
                  </a:rPr>
                  <a:t>，得到零扩展消息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1600" dirty="0"/>
                  <a:t>    //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zh-CN" sz="1600" dirty="0">
                  <a:solidFill>
                    <a:schemeClr val="tx1"/>
                  </a:solidFill>
                </a:endParaRPr>
              </a:p>
              <a:p>
                <a:pPr lvl="2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除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600" i="1" dirty="0">
                        <a:latin typeface="Cambria Math" panose="02040503050406030204" pitchFamily="18" charset="0"/>
                      </a:rPr>
                      <m:t>，得到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余数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1600" dirty="0">
                    <a:solidFill>
                      <a:schemeClr val="tx1"/>
                    </a:solidFill>
                  </a:rPr>
                  <a:t>     //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6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1600" dirty="0"/>
                  <a:t>（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非标准多项式除法</a:t>
                </a:r>
                <a:r>
                  <a:rPr lang="zh-CN" altLang="en-US" sz="1600" dirty="0"/>
                  <a:t>）</a:t>
                </a:r>
                <a:endParaRPr lang="en-US" altLang="zh-CN" sz="1600" dirty="0"/>
              </a:p>
              <a:p>
                <a:pPr lvl="2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</a:rPr>
                  <a:t>       </a:t>
                </a:r>
                <a:r>
                  <a:rPr lang="en-US" altLang="zh-CN" sz="1600" dirty="0"/>
                  <a:t>//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lang="en-US" altLang="zh-CN" sz="16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032" y="1444978"/>
                <a:ext cx="8780722" cy="5034843"/>
              </a:xfrm>
              <a:blipFill>
                <a:blip r:embed="rId4"/>
                <a:stretch>
                  <a:fillRect l="-417" b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70864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循环冗余校验</a:t>
            </a:r>
            <a:r>
              <a:rPr lang="en-US" altLang="zh-CN" sz="2800" b="0" dirty="0"/>
              <a:t>(</a:t>
            </a:r>
            <a:r>
              <a:rPr lang="en-US" altLang="zh-CN" sz="3000" b="0" kern="1200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Cyclic Redundancy Check, CRC</a:t>
            </a:r>
            <a:r>
              <a:rPr lang="en-US" altLang="zh-CN" sz="2800" b="0" dirty="0"/>
              <a:t>)</a:t>
            </a:r>
            <a:endParaRPr lang="zh-CN" altLang="en-US" sz="40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6032" y="1268760"/>
                <a:ext cx="8780722" cy="5589240"/>
              </a:xfrm>
            </p:spPr>
            <p:txBody>
              <a:bodyPr/>
              <a:lstStyle/>
              <a:p>
                <a:r>
                  <a:rPr lang="zh-CN" altLang="en-US" dirty="0"/>
                  <a:t>例：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10011010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1101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lvl="1">
                  <a:spcBef>
                    <a:spcPts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sz="1800" dirty="0"/>
                  <a:t>乘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18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800" dirty="0"/>
                  <a:t>即消息末尾加上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1800" dirty="0"/>
                  <a:t>个</a:t>
                </a:r>
                <a:r>
                  <a:rPr lang="en-US" altLang="zh-CN" sz="1800" dirty="0"/>
                  <a:t>0</a:t>
                </a:r>
                <a:r>
                  <a:rPr lang="zh-CN" altLang="en-US" sz="1800" dirty="0"/>
                  <a:t>，得到零扩展消息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sz="1800" dirty="0">
                  <a:solidFill>
                    <a:schemeClr val="accent5">
                      <a:lumMod val="50000"/>
                    </a:schemeClr>
                  </a:solidFill>
                </a:endParaRP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=10011010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</m:oMath>
                </a14:m>
                <a:endParaRPr lang="en-US" altLang="zh-CN" b="1" dirty="0">
                  <a:solidFill>
                    <a:srgbClr val="FF0000"/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除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800" i="1" dirty="0">
                        <a:latin typeface="Cambria Math" panose="02040503050406030204" pitchFamily="18" charset="0"/>
                      </a:rPr>
                      <m:t>，得到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余数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</a:rPr>
                  <a:t>     //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8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zh-CN" sz="1800" dirty="0"/>
              </a:p>
              <a:p>
                <a:pPr marL="914377" lvl="2" indent="0"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                              1 1 1 1 1 0 0 1</a:t>
                </a:r>
              </a:p>
              <a:p>
                <a:pPr marL="914377" lvl="2" indent="0">
                  <a:lnSpc>
                    <a:spcPts val="1800"/>
                  </a:lnSpc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     1 1 0 1 </a:t>
                </a:r>
                <a:r>
                  <a:rPr lang="en-US" altLang="zh-CN" dirty="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)</a:t>
                </a: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 1 0 0 1 1 0 1 0 0 0 0 </a:t>
                </a:r>
              </a:p>
              <a:p>
                <a:pPr marL="914377" lvl="2" indent="0">
                  <a:lnSpc>
                    <a:spcPts val="1800"/>
                  </a:lnSpc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                    1 1 0 1</a:t>
                </a:r>
              </a:p>
              <a:p>
                <a:pPr marL="914377" lvl="2" indent="0">
                  <a:lnSpc>
                    <a:spcPts val="1800"/>
                  </a:lnSpc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                       1 0 0 1</a:t>
                </a:r>
              </a:p>
              <a:p>
                <a:pPr marL="914377" lvl="2" indent="0">
                  <a:lnSpc>
                    <a:spcPts val="1800"/>
                  </a:lnSpc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                       1 1 0 1</a:t>
                </a:r>
              </a:p>
              <a:p>
                <a:pPr marL="914377" lvl="2" indent="0">
                  <a:lnSpc>
                    <a:spcPts val="1800"/>
                  </a:lnSpc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                          1 0 0 0</a:t>
                </a:r>
              </a:p>
              <a:p>
                <a:pPr marL="914377" lvl="2" indent="0">
                  <a:lnSpc>
                    <a:spcPts val="1800"/>
                  </a:lnSpc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                          1 1 0 1</a:t>
                </a:r>
              </a:p>
              <a:p>
                <a:pPr marL="914377" lvl="2" indent="0">
                  <a:lnSpc>
                    <a:spcPts val="1800"/>
                  </a:lnSpc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                             1 0 1 1</a:t>
                </a:r>
              </a:p>
              <a:p>
                <a:pPr marL="914377" lvl="2" indent="0">
                  <a:lnSpc>
                    <a:spcPts val="1800"/>
                  </a:lnSpc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                             1 1 0 1</a:t>
                </a:r>
              </a:p>
              <a:p>
                <a:pPr marL="914377" lvl="2" indent="0">
                  <a:lnSpc>
                    <a:spcPts val="1800"/>
                  </a:lnSpc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                                1 1 0 0</a:t>
                </a:r>
              </a:p>
              <a:p>
                <a:pPr marL="914377" lvl="2" indent="0">
                  <a:lnSpc>
                    <a:spcPts val="1800"/>
                  </a:lnSpc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                                1 1 0 1</a:t>
                </a:r>
              </a:p>
              <a:p>
                <a:pPr marL="914377" lvl="2" indent="0">
                  <a:lnSpc>
                    <a:spcPts val="1800"/>
                  </a:lnSpc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                                   0 0 1 0</a:t>
                </a:r>
              </a:p>
              <a:p>
                <a:pPr marL="914377" lvl="2" indent="0">
                  <a:lnSpc>
                    <a:spcPts val="1800"/>
                  </a:lnSpc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                                   0 0 0 0 </a:t>
                </a:r>
              </a:p>
              <a:p>
                <a:pPr marL="914377" lvl="2" indent="0">
                  <a:lnSpc>
                    <a:spcPts val="1700"/>
                  </a:lnSpc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                                      0 1 0 0</a:t>
                </a:r>
              </a:p>
              <a:p>
                <a:pPr marL="914377" lvl="2" indent="0">
                  <a:lnSpc>
                    <a:spcPts val="1700"/>
                  </a:lnSpc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                                      0 0 0 0</a:t>
                </a:r>
              </a:p>
              <a:p>
                <a:pPr marL="914377" lvl="2" indent="0">
                  <a:lnSpc>
                    <a:spcPts val="1700"/>
                  </a:lnSpc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		      1 0 0 0</a:t>
                </a:r>
              </a:p>
              <a:p>
                <a:pPr marL="914377" lvl="2" indent="0">
                  <a:lnSpc>
                    <a:spcPts val="1700"/>
                  </a:lnSpc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                                         1 1 0 1</a:t>
                </a:r>
              </a:p>
              <a:p>
                <a:pPr marL="914377" lvl="2" indent="0">
                  <a:lnSpc>
                    <a:spcPts val="1700"/>
                  </a:lnSpc>
                  <a:spcBef>
                    <a:spcPts val="0"/>
                  </a:spcBef>
                  <a:buNone/>
                </a:pPr>
                <a:r>
                  <a:rPr lang="en-US" altLang="zh-CN" dirty="0">
                    <a:solidFill>
                      <a:schemeClr val="accent5">
                        <a:lumMod val="75000"/>
                      </a:schemeClr>
                    </a:solidFill>
                  </a:rPr>
                  <a:t>                                           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1 0 1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032" y="1268760"/>
                <a:ext cx="8780722" cy="5589240"/>
              </a:xfrm>
              <a:blipFill rotWithShape="0">
                <a:blip r:embed="rId6" cstate="print"/>
                <a:stretch>
                  <a:fillRect l="-417" b="-28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2206752" y="3035808"/>
            <a:ext cx="2365248" cy="12192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H="1">
            <a:off x="2292096" y="3486911"/>
            <a:ext cx="682752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30"/>
          <p:cNvSpPr>
            <a:spLocks/>
          </p:cNvSpPr>
          <p:nvPr/>
        </p:nvSpPr>
        <p:spPr bwMode="auto">
          <a:xfrm>
            <a:off x="3035808" y="3260794"/>
            <a:ext cx="79248" cy="226117"/>
          </a:xfrm>
          <a:custGeom>
            <a:avLst/>
            <a:gdLst>
              <a:gd name="T0" fmla="*/ 0 w 1"/>
              <a:gd name="T1" fmla="*/ 0 h 233"/>
              <a:gd name="T2" fmla="*/ 0 w 1"/>
              <a:gd name="T3" fmla="*/ 233 h 23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33">
                <a:moveTo>
                  <a:pt x="0" y="0"/>
                </a:moveTo>
                <a:lnTo>
                  <a:pt x="0" y="233"/>
                </a:lnTo>
              </a:path>
            </a:pathLst>
          </a:custGeom>
          <a:noFill/>
          <a:ln w="28575" cap="rnd" cmpd="sng">
            <a:solidFill>
              <a:srgbClr val="FF0000"/>
            </a:solidFill>
            <a:prstDash val="sysDot"/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H="1">
            <a:off x="2432304" y="3968495"/>
            <a:ext cx="682752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2572512" y="4425695"/>
            <a:ext cx="682752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flipH="1">
            <a:off x="2773680" y="4882895"/>
            <a:ext cx="682752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30"/>
          <p:cNvSpPr>
            <a:spLocks/>
          </p:cNvSpPr>
          <p:nvPr/>
        </p:nvSpPr>
        <p:spPr bwMode="auto">
          <a:xfrm>
            <a:off x="3200400" y="3255490"/>
            <a:ext cx="45719" cy="713005"/>
          </a:xfrm>
          <a:custGeom>
            <a:avLst/>
            <a:gdLst>
              <a:gd name="T0" fmla="*/ 0 w 1"/>
              <a:gd name="T1" fmla="*/ 0 h 233"/>
              <a:gd name="T2" fmla="*/ 0 w 1"/>
              <a:gd name="T3" fmla="*/ 233 h 23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33">
                <a:moveTo>
                  <a:pt x="0" y="0"/>
                </a:moveTo>
                <a:lnTo>
                  <a:pt x="0" y="233"/>
                </a:lnTo>
              </a:path>
            </a:pathLst>
          </a:custGeom>
          <a:noFill/>
          <a:ln w="28575" cap="rnd" cmpd="sng">
            <a:solidFill>
              <a:srgbClr val="FF0000"/>
            </a:solidFill>
            <a:prstDash val="sysDot"/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7" name="Freeform 30"/>
          <p:cNvSpPr>
            <a:spLocks/>
          </p:cNvSpPr>
          <p:nvPr/>
        </p:nvSpPr>
        <p:spPr bwMode="auto">
          <a:xfrm>
            <a:off x="3364992" y="3224218"/>
            <a:ext cx="115824" cy="1201477"/>
          </a:xfrm>
          <a:custGeom>
            <a:avLst/>
            <a:gdLst>
              <a:gd name="T0" fmla="*/ 0 w 1"/>
              <a:gd name="T1" fmla="*/ 0 h 233"/>
              <a:gd name="T2" fmla="*/ 0 w 1"/>
              <a:gd name="T3" fmla="*/ 233 h 23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33">
                <a:moveTo>
                  <a:pt x="0" y="0"/>
                </a:moveTo>
                <a:lnTo>
                  <a:pt x="0" y="233"/>
                </a:lnTo>
              </a:path>
            </a:pathLst>
          </a:custGeom>
          <a:noFill/>
          <a:ln w="28575" cap="rnd" cmpd="sng">
            <a:solidFill>
              <a:srgbClr val="FF0000"/>
            </a:solidFill>
            <a:prstDash val="sysDot"/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18" name="Freeform 30"/>
          <p:cNvSpPr>
            <a:spLocks/>
          </p:cNvSpPr>
          <p:nvPr/>
        </p:nvSpPr>
        <p:spPr bwMode="auto">
          <a:xfrm>
            <a:off x="3520441" y="3224219"/>
            <a:ext cx="70103" cy="1658676"/>
          </a:xfrm>
          <a:custGeom>
            <a:avLst/>
            <a:gdLst>
              <a:gd name="T0" fmla="*/ 0 w 1"/>
              <a:gd name="T1" fmla="*/ 0 h 233"/>
              <a:gd name="T2" fmla="*/ 0 w 1"/>
              <a:gd name="T3" fmla="*/ 233 h 23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33">
                <a:moveTo>
                  <a:pt x="0" y="0"/>
                </a:moveTo>
                <a:lnTo>
                  <a:pt x="0" y="233"/>
                </a:lnTo>
              </a:path>
            </a:pathLst>
          </a:custGeom>
          <a:noFill/>
          <a:ln w="28575" cap="rnd" cmpd="sng">
            <a:solidFill>
              <a:srgbClr val="FF0000"/>
            </a:solidFill>
            <a:prstDash val="sysDot"/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H="1">
            <a:off x="2913888" y="5327903"/>
            <a:ext cx="682752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 30"/>
          <p:cNvSpPr>
            <a:spLocks/>
          </p:cNvSpPr>
          <p:nvPr/>
        </p:nvSpPr>
        <p:spPr bwMode="auto">
          <a:xfrm>
            <a:off x="3681984" y="3203163"/>
            <a:ext cx="91440" cy="2124739"/>
          </a:xfrm>
          <a:custGeom>
            <a:avLst/>
            <a:gdLst>
              <a:gd name="T0" fmla="*/ 0 w 1"/>
              <a:gd name="T1" fmla="*/ 0 h 233"/>
              <a:gd name="T2" fmla="*/ 0 w 1"/>
              <a:gd name="T3" fmla="*/ 233 h 23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33">
                <a:moveTo>
                  <a:pt x="0" y="0"/>
                </a:moveTo>
                <a:lnTo>
                  <a:pt x="0" y="233"/>
                </a:lnTo>
              </a:path>
            </a:pathLst>
          </a:custGeom>
          <a:noFill/>
          <a:ln w="28575" cap="rnd" cmpd="sng">
            <a:solidFill>
              <a:srgbClr val="FF0000"/>
            </a:solidFill>
            <a:prstDash val="sysDot"/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 flipH="1">
            <a:off x="3060192" y="5785103"/>
            <a:ext cx="682752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 30"/>
          <p:cNvSpPr>
            <a:spLocks/>
          </p:cNvSpPr>
          <p:nvPr/>
        </p:nvSpPr>
        <p:spPr bwMode="auto">
          <a:xfrm>
            <a:off x="3846576" y="3203164"/>
            <a:ext cx="45719" cy="2581940"/>
          </a:xfrm>
          <a:custGeom>
            <a:avLst/>
            <a:gdLst>
              <a:gd name="T0" fmla="*/ 0 w 1"/>
              <a:gd name="T1" fmla="*/ 0 h 233"/>
              <a:gd name="T2" fmla="*/ 0 w 1"/>
              <a:gd name="T3" fmla="*/ 233 h 23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33">
                <a:moveTo>
                  <a:pt x="0" y="0"/>
                </a:moveTo>
                <a:lnTo>
                  <a:pt x="0" y="233"/>
                </a:lnTo>
              </a:path>
            </a:pathLst>
          </a:custGeom>
          <a:noFill/>
          <a:ln w="28575" cap="rnd" cmpd="sng">
            <a:solidFill>
              <a:srgbClr val="FF0000"/>
            </a:solidFill>
            <a:prstDash val="sysDot"/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cxnSp>
        <p:nvCxnSpPr>
          <p:cNvPr id="23" name="直接连接符 22"/>
          <p:cNvCxnSpPr/>
          <p:nvPr/>
        </p:nvCxnSpPr>
        <p:spPr>
          <a:xfrm flipH="1">
            <a:off x="3209543" y="6205726"/>
            <a:ext cx="682752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3364992" y="6614158"/>
            <a:ext cx="682752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eform 30"/>
          <p:cNvSpPr>
            <a:spLocks/>
          </p:cNvSpPr>
          <p:nvPr/>
        </p:nvSpPr>
        <p:spPr bwMode="auto">
          <a:xfrm flipH="1">
            <a:off x="3965448" y="3224218"/>
            <a:ext cx="57911" cy="2981508"/>
          </a:xfrm>
          <a:custGeom>
            <a:avLst/>
            <a:gdLst>
              <a:gd name="T0" fmla="*/ 0 w 1"/>
              <a:gd name="T1" fmla="*/ 0 h 233"/>
              <a:gd name="T2" fmla="*/ 0 w 1"/>
              <a:gd name="T3" fmla="*/ 233 h 23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" h="233">
                <a:moveTo>
                  <a:pt x="0" y="0"/>
                </a:moveTo>
                <a:lnTo>
                  <a:pt x="0" y="233"/>
                </a:lnTo>
              </a:path>
            </a:pathLst>
          </a:custGeom>
          <a:noFill/>
          <a:ln w="28575" cap="rnd" cmpd="sng">
            <a:solidFill>
              <a:srgbClr val="FF0000"/>
            </a:solidFill>
            <a:prstDash val="sysDot"/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26" name="圆角矩形标注 162"/>
          <p:cNvSpPr/>
          <p:nvPr/>
        </p:nvSpPr>
        <p:spPr>
          <a:xfrm>
            <a:off x="6135640" y="3904545"/>
            <a:ext cx="1542256" cy="298024"/>
          </a:xfrm>
          <a:prstGeom prst="wedgeRoundRectCallout">
            <a:avLst>
              <a:gd name="adj1" fmla="val -186368"/>
              <a:gd name="adj2" fmla="val 888258"/>
              <a:gd name="adj3" fmla="val 16667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余数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38856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  <p:bldP spid="18" grpId="0" animBg="1"/>
      <p:bldP spid="20" grpId="0" animBg="1"/>
      <p:bldP spid="22" grpId="0" animBg="1"/>
      <p:bldP spid="25" grpId="0" animBg="1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循环冗余校验</a:t>
            </a:r>
            <a:r>
              <a:rPr lang="en-US" altLang="zh-CN" sz="2800" b="0" dirty="0"/>
              <a:t>(</a:t>
            </a:r>
            <a:r>
              <a:rPr lang="en-US" altLang="zh-CN" sz="3000" b="0" kern="1200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Cyclic Redundancy Check, CRC</a:t>
            </a:r>
            <a:r>
              <a:rPr lang="en-US" altLang="zh-CN" sz="2800" b="0" dirty="0"/>
              <a:t>)</a:t>
            </a:r>
            <a:endParaRPr lang="zh-CN" altLang="en-US" sz="40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6032" y="1268760"/>
                <a:ext cx="8780722" cy="5589240"/>
              </a:xfrm>
            </p:spPr>
            <p:txBody>
              <a:bodyPr/>
              <a:lstStyle/>
              <a:p>
                <a:r>
                  <a:rPr lang="zh-CN" altLang="en-US" dirty="0"/>
                  <a:t>例：</a:t>
                </a:r>
                <a:r>
                  <a:rPr lang="en-US" altLang="zh-CN" dirty="0">
                    <a:solidFill>
                      <a:schemeClr val="accent5">
                        <a:lumMod val="50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10011010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1101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</a:rPr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</a:endParaRPr>
              </a:p>
              <a:p>
                <a:pPr lvl="1">
                  <a:spcBef>
                    <a:spcPts val="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sz="1800" dirty="0"/>
                  <a:t>乘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sz="18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800" dirty="0"/>
                  <a:t>即消息末尾加上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1800" dirty="0"/>
                  <a:t>个</a:t>
                </a:r>
                <a:r>
                  <a:rPr lang="en-US" altLang="zh-CN" sz="1800" dirty="0"/>
                  <a:t>0</a:t>
                </a:r>
                <a:r>
                  <a:rPr lang="zh-CN" altLang="en-US" sz="1800" dirty="0"/>
                  <a:t>，得到零扩展消息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sz="1800" dirty="0">
                  <a:solidFill>
                    <a:schemeClr val="accent5">
                      <a:lumMod val="50000"/>
                    </a:schemeClr>
                  </a:solidFill>
                </a:endParaRPr>
              </a:p>
              <a:p>
                <a:pPr lvl="2"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=10011010</m:t>
                    </m:r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𝟎𝟎𝟎</m:t>
                    </m:r>
                  </m:oMath>
                </a14:m>
                <a:endParaRPr lang="en-US" altLang="zh-CN" b="1" dirty="0">
                  <a:solidFill>
                    <a:srgbClr val="FF0000"/>
                  </a:solidFill>
                </a:endParaRPr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除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1800" i="1" dirty="0">
                        <a:latin typeface="Cambria Math" panose="02040503050406030204" pitchFamily="18" charset="0"/>
                      </a:rPr>
                      <m:t>，得到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余数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1800" dirty="0">
                    <a:solidFill>
                      <a:schemeClr val="tx1"/>
                    </a:solidFill>
                  </a:rPr>
                  <a:t>     // 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8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%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endParaRPr lang="en-US" altLang="zh-CN" sz="1800" dirty="0"/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zh-CN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dirty="0"/>
              </a:p>
              <a:p>
                <a:pPr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sz="1800" dirty="0"/>
                  <a:t>       </a:t>
                </a:r>
                <a:r>
                  <a:rPr lang="en-US" altLang="zh-CN" sz="1800" dirty="0"/>
                  <a:t>//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lang="en-US" altLang="zh-CN" sz="1800" dirty="0"/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zh-CN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=10011010  000−101=10011010  101</m:t>
                    </m:r>
                  </m:oMath>
                </a14:m>
                <a:endParaRPr lang="en-US" altLang="zh-CN" dirty="0"/>
              </a:p>
              <a:p>
                <a:pPr>
                  <a:spcBef>
                    <a:spcPts val="1800"/>
                  </a:spcBef>
                </a:pPr>
                <a:r>
                  <a:rPr lang="en-US" altLang="zh-CN" dirty="0"/>
                  <a:t>CRC</a:t>
                </a:r>
                <a:r>
                  <a:rPr lang="zh-CN" altLang="en-US" dirty="0"/>
                  <a:t>计算及验证</a:t>
                </a:r>
                <a:endParaRPr lang="en-US" altLang="zh-CN" dirty="0"/>
              </a:p>
              <a:p>
                <a:pPr lvl="1">
                  <a:spcBef>
                    <a:spcPts val="600"/>
                  </a:spcBef>
                </a:pPr>
                <a:r>
                  <a:rPr lang="zh-CN" altLang="en-US" sz="1800" dirty="0"/>
                  <a:t>发送方：对于数据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1800" dirty="0"/>
                  <a:t>，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sz="1800" dirty="0"/>
                  <a:t>比特多项式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1800" dirty="0"/>
                  <a:t>，实际发送数据为</a:t>
                </a:r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≪</m:t>
                        </m:r>
                        <m:r>
                          <a:rPr lang="zh-CN" altLang="en-US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⊕</m:t>
                    </m:r>
                    <m:r>
                      <a:rPr lang="en-US" altLang="zh-CN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[</m:t>
                    </m:r>
                    <m:d>
                      <m:dPr>
                        <m:ctrlPr>
                          <a:rPr lang="en-US" altLang="zh-CN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≪</m:t>
                        </m:r>
                        <m:r>
                          <a:rPr lang="zh-CN" altLang="en-US" i="1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CN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en-US" dirty="0"/>
              </a:p>
              <a:p>
                <a:pPr lvl="1">
                  <a:spcBef>
                    <a:spcPts val="600"/>
                  </a:spcBef>
                </a:pPr>
                <a:r>
                  <a:rPr lang="zh-CN" altLang="en-US" sz="1800" dirty="0"/>
                  <a:t>接收方：校验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i="1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altLang="zh-CN" sz="1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18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==0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？</a:t>
                </a:r>
                <a:endParaRPr lang="en-US" altLang="zh-CN" dirty="0"/>
              </a:p>
              <a:p>
                <a:pPr lvl="2">
                  <a:spcBef>
                    <a:spcPts val="600"/>
                  </a:spcBef>
                </a:pPr>
                <a:r>
                  <a:rPr lang="zh-CN" altLang="en-US" dirty="0"/>
                  <a:t>不是，判定出错</a:t>
                </a:r>
                <a:endParaRPr lang="en-US" altLang="zh-CN" dirty="0"/>
              </a:p>
              <a:p>
                <a:pPr lvl="2">
                  <a:spcBef>
                    <a:spcPts val="600"/>
                  </a:spcBef>
                </a:pPr>
                <a:r>
                  <a:rPr lang="zh-CN" altLang="en-US" dirty="0"/>
                  <a:t>是，判定无错 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不一定没错</a:t>
                </a:r>
                <a:r>
                  <a:rPr lang="en-US" altLang="zh-CN" dirty="0"/>
                  <a:t>)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032" y="1268760"/>
                <a:ext cx="8780722" cy="5589240"/>
              </a:xfrm>
              <a:blipFill>
                <a:blip r:embed="rId5"/>
                <a:stretch>
                  <a:fillRect l="-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820332" y="3518115"/>
            <a:ext cx="1115878" cy="3177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6250986" y="3523285"/>
            <a:ext cx="537272" cy="31254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6184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56463"/>
            <a:ext cx="8229600" cy="811560"/>
          </a:xfrm>
        </p:spPr>
        <p:txBody>
          <a:bodyPr/>
          <a:lstStyle/>
          <a:p>
            <a:r>
              <a:rPr lang="zh-CN" altLang="en-US" sz="3200" dirty="0"/>
              <a:t>循环冗余校验</a:t>
            </a:r>
            <a:r>
              <a:rPr lang="en-US" altLang="zh-CN" sz="2800" b="0" dirty="0"/>
              <a:t>(</a:t>
            </a:r>
            <a:r>
              <a:rPr lang="en-US" altLang="zh-CN" sz="3000" b="0" kern="1200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Cyclic Redundancy Check, CRC</a:t>
            </a:r>
            <a:r>
              <a:rPr lang="en-US" altLang="zh-CN" sz="2800" b="0" dirty="0"/>
              <a:t>)</a:t>
            </a:r>
            <a:endParaRPr lang="zh-CN" altLang="en-US" sz="40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39484" y="1638709"/>
                <a:ext cx="8850776" cy="4002674"/>
              </a:xfrm>
            </p:spPr>
            <p:txBody>
              <a:bodyPr/>
              <a:lstStyle/>
              <a:p>
                <a:r>
                  <a:rPr lang="zh-CN" altLang="en-US" dirty="0"/>
                  <a:t>如何选择𝐶</a:t>
                </a:r>
                <a:r>
                  <a:rPr lang="en-US" altLang="zh-CN" dirty="0"/>
                  <a:t>(</a:t>
                </a:r>
                <a:r>
                  <a:rPr lang="zh-CN" altLang="en-US" dirty="0"/>
                  <a:t>𝑥</a:t>
                </a:r>
                <a:r>
                  <a:rPr lang="en-US" altLang="zh-CN" dirty="0"/>
                  <a:t>)</a:t>
                </a:r>
              </a:p>
              <a:p>
                <a:pPr lvl="1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dirty="0"/>
                  <a:t>假设发送方发送的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数据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为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，而接收方收到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数据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为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lvl="1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dirty="0"/>
                  <a:t>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表示差错多项式，</m:t>
                    </m:r>
                  </m:oMath>
                </a14:m>
                <a:r>
                  <a:rPr lang="zh-CN" altLang="en-US" dirty="0"/>
                  <a:t>使得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‘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。只有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能被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整除，即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能被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整除时，错误查不出来</a:t>
                </a:r>
                <a:endParaRPr lang="en-US" altLang="zh-CN" dirty="0"/>
              </a:p>
              <a:p>
                <a:pPr lvl="1">
                  <a:lnSpc>
                    <a:spcPct val="150000"/>
                  </a:lnSpc>
                  <a:spcBef>
                    <a:spcPts val="1800"/>
                  </a:spcBef>
                </a:pPr>
                <a:r>
                  <a:rPr lang="zh-CN" altLang="en-US" dirty="0"/>
                  <a:t>任意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比特错：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的第一项和最后一项不为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即可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484" y="1638709"/>
                <a:ext cx="8850776" cy="4002674"/>
              </a:xfrm>
              <a:blipFill>
                <a:blip r:embed="rId5"/>
                <a:stretch>
                  <a:fillRect l="-482" r="-5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0040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56463"/>
            <a:ext cx="8229600" cy="811560"/>
          </a:xfrm>
        </p:spPr>
        <p:txBody>
          <a:bodyPr/>
          <a:lstStyle/>
          <a:p>
            <a:r>
              <a:rPr lang="zh-CN" altLang="en-US" sz="3200" dirty="0"/>
              <a:t>循环冗余校验</a:t>
            </a:r>
            <a:r>
              <a:rPr lang="en-US" altLang="zh-CN" sz="2800" b="0" dirty="0"/>
              <a:t>(</a:t>
            </a:r>
            <a:r>
              <a:rPr lang="en-US" altLang="zh-CN" sz="3000" b="0" kern="1200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Cyclic Redundancy Check, CRC</a:t>
            </a:r>
            <a:r>
              <a:rPr lang="en-US" altLang="zh-CN" sz="2800" b="0" dirty="0"/>
              <a:t>)</a:t>
            </a:r>
            <a:endParaRPr lang="zh-CN" altLang="en-US" sz="40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39484" y="1135012"/>
                <a:ext cx="8850776" cy="4242898"/>
              </a:xfrm>
            </p:spPr>
            <p:txBody>
              <a:bodyPr/>
              <a:lstStyle/>
              <a:p>
                <a:pPr>
                  <a:spcBef>
                    <a:spcPts val="1800"/>
                  </a:spcBef>
                </a:pPr>
                <a:r>
                  <a:rPr lang="zh-CN" altLang="en-US" dirty="0"/>
                  <a:t>可证明（所有多项式均为“高阶在前”）</a:t>
                </a:r>
                <a:endParaRPr lang="en-US" altLang="zh-CN" dirty="0"/>
              </a:p>
              <a:p>
                <a:pPr lvl="1">
                  <a:spcBef>
                    <a:spcPts val="12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zh-CN" altLang="en-US" dirty="0"/>
                  <a:t>项系数不为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，可检测所有单比特错（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不能被（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</m:sup>
                    </m:sSup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）整除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含有一个至少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项的因子，可检测所有双比特错（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p>
                    </m:sSup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）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不能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被（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+1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）整除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1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/>
                  <a:t>含有因子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dirty="0"/>
                  <a:t>，可检测任意奇数个错（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j</m:t>
                        </m:r>
                      </m:sup>
                    </m:sSup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…….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共奇数</m:t>
                    </m:r>
                    <m:r>
                      <a:rPr lang="zh-CN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项）</m:t>
                    </m:r>
                    <m:r>
                      <a:rPr lang="zh-CN" alt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不能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被（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r>
                  <a:rPr lang="zh-CN" altLang="en-US" dirty="0">
                    <a:solidFill>
                      <a:srgbClr val="FF0000"/>
                    </a:solidFill>
                  </a:rPr>
                  <a:t>）整除</a:t>
                </a:r>
                <a:r>
                  <a:rPr lang="zh-CN" altLang="en-US" dirty="0"/>
                  <a:t>）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484" y="1135012"/>
                <a:ext cx="8850776" cy="4242898"/>
              </a:xfrm>
              <a:blipFill>
                <a:blip r:embed="rId4"/>
                <a:stretch>
                  <a:fillRect l="-482" r="-6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134203" y="5369223"/>
            <a:ext cx="7180637" cy="56040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>
            <a:defPPr>
              <a:defRPr lang="zh-CN"/>
            </a:defPPr>
            <a:lvl1pPr>
              <a:defRPr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800" dirty="0"/>
              <a:t>貌似很难。道理想通，其实不难！！！</a:t>
            </a:r>
            <a:endParaRPr lang="zh-CN" altLang="en-US" sz="2800" dirty="0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1934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/>
              <a:t>循环冗余校验</a:t>
            </a:r>
            <a:r>
              <a:rPr lang="en-US" altLang="zh-CN" sz="2800" b="0" dirty="0"/>
              <a:t>(</a:t>
            </a:r>
            <a:r>
              <a:rPr lang="en-US" altLang="zh-CN" sz="3000" b="0" kern="1200" dirty="0">
                <a:solidFill>
                  <a:prstClr val="black"/>
                </a:solidFill>
                <a:latin typeface="Calibri" panose="020F0502020204030204" pitchFamily="34" charset="0"/>
                <a:ea typeface="微软雅黑" panose="020B0503020204020204" pitchFamily="34" charset="-122"/>
              </a:rPr>
              <a:t>Cyclic Redundancy Check, CRC</a:t>
            </a:r>
            <a:r>
              <a:rPr lang="en-US" altLang="zh-CN" sz="2800" b="0" dirty="0"/>
              <a:t>)</a:t>
            </a:r>
            <a:endParaRPr lang="zh-CN" altLang="en-US" sz="4000" b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6032" y="1444978"/>
            <a:ext cx="8780722" cy="5034843"/>
          </a:xfrm>
        </p:spPr>
        <p:txBody>
          <a:bodyPr/>
          <a:lstStyle/>
          <a:p>
            <a:r>
              <a:rPr lang="zh-CN" altLang="en-US" dirty="0"/>
              <a:t>常见的</a:t>
            </a:r>
            <a:r>
              <a:rPr lang="en-US" altLang="zh-CN" dirty="0"/>
              <a:t>CRC</a:t>
            </a:r>
            <a:r>
              <a:rPr lang="zh-CN" altLang="en-US" dirty="0"/>
              <a:t>多项式𝐶</a:t>
            </a:r>
            <a:r>
              <a:rPr lang="en-US" altLang="zh-CN" dirty="0"/>
              <a:t>(</a:t>
            </a:r>
            <a:r>
              <a:rPr lang="zh-CN" altLang="en-US" dirty="0"/>
              <a:t>𝑥</a:t>
            </a:r>
            <a:r>
              <a:rPr lang="en-US" altLang="zh-CN" dirty="0"/>
              <a:t>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/>
              <p:cNvGraphicFramePr>
                <a:graphicFrameLocks noGrp="1"/>
              </p:cNvGraphicFramePr>
              <p:nvPr/>
            </p:nvGraphicFramePr>
            <p:xfrm>
              <a:off x="841248" y="2189480"/>
              <a:ext cx="7571232" cy="351013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7736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19386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204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latin typeface="Calibri" panose="020F0502020204030204" pitchFamily="34" charset="0"/>
                            </a:rPr>
                            <a:t>CRC</a:t>
                          </a:r>
                          <a:endParaRPr lang="zh-CN" altLang="en-US" dirty="0">
                            <a:latin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>
                              <a:latin typeface="Calibri" panose="020F0502020204030204" pitchFamily="34" charset="0"/>
                            </a:rPr>
                            <a:t>𝐶</a:t>
                          </a:r>
                          <a:r>
                            <a:rPr lang="en-US" altLang="zh-CN" dirty="0">
                              <a:latin typeface="Calibri" panose="020F0502020204030204" pitchFamily="34" charset="0"/>
                            </a:rPr>
                            <a:t>(</a:t>
                          </a:r>
                          <a:r>
                            <a:rPr lang="zh-CN" altLang="en-US" dirty="0">
                              <a:latin typeface="Calibri" panose="020F0502020204030204" pitchFamily="34" charset="0"/>
                            </a:rPr>
                            <a:t>𝑥</a:t>
                          </a:r>
                          <a:r>
                            <a:rPr lang="en-US" altLang="zh-CN" dirty="0">
                              <a:latin typeface="Calibri" panose="020F050202020403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20479"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latin typeface="Calibri" panose="020F0502020204030204" pitchFamily="34" charset="0"/>
                            </a:rPr>
                            <a:t>CRC-8</a:t>
                          </a:r>
                          <a:endParaRPr lang="zh-CN" altLang="en-US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en-US" altLang="zh-CN" dirty="0">
                              <a:latin typeface="Calibri" panose="020F0502020204030204" pitchFamily="34" charset="0"/>
                            </a:rPr>
                            <a:t>1</a:t>
                          </a:r>
                          <a:endParaRPr lang="zh-CN" altLang="en-US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20479">
                    <a:tc>
                      <a:txBody>
                        <a:bodyPr/>
                        <a:lstStyle/>
                        <a:p>
                          <a:pPr marL="0" marR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>
                              <a:latin typeface="Calibri" panose="020F0502020204030204" pitchFamily="34" charset="0"/>
                            </a:rPr>
                            <a:t>CRC-10</a:t>
                          </a:r>
                          <a:endParaRPr lang="zh-CN" altLang="en-US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9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en-US" altLang="zh-CN" dirty="0">
                              <a:latin typeface="Calibri" panose="020F0502020204030204" pitchFamily="34" charset="0"/>
                            </a:rPr>
                            <a:t>1</a:t>
                          </a:r>
                          <a:endParaRPr lang="zh-CN" altLang="en-US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20479">
                    <a:tc>
                      <a:txBody>
                        <a:bodyPr/>
                        <a:lstStyle/>
                        <a:p>
                          <a:pPr marL="0" marR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>
                              <a:latin typeface="Calibri" panose="020F0502020204030204" pitchFamily="34" charset="0"/>
                            </a:rPr>
                            <a:t>CRC-12</a:t>
                          </a:r>
                          <a:endParaRPr lang="zh-CN" altLang="en-US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11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en-US" altLang="zh-CN" dirty="0">
                              <a:latin typeface="Calibri" panose="020F0502020204030204" pitchFamily="34" charset="0"/>
                            </a:rPr>
                            <a:t>1</a:t>
                          </a:r>
                          <a:endParaRPr lang="zh-CN" altLang="en-US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20479">
                    <a:tc>
                      <a:txBody>
                        <a:bodyPr/>
                        <a:lstStyle/>
                        <a:p>
                          <a:pPr marL="0" marR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>
                              <a:latin typeface="Calibri" panose="020F0502020204030204" pitchFamily="34" charset="0"/>
                            </a:rPr>
                            <a:t>CRC-16</a:t>
                          </a:r>
                          <a:endParaRPr lang="zh-CN" altLang="en-US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16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15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en-US" altLang="zh-CN" dirty="0">
                              <a:latin typeface="Calibri" panose="020F0502020204030204" pitchFamily="34" charset="0"/>
                            </a:rPr>
                            <a:t>1</a:t>
                          </a:r>
                          <a:endParaRPr lang="zh-CN" altLang="en-US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60541">
                    <a:tc>
                      <a:txBody>
                        <a:bodyPr/>
                        <a:lstStyle/>
                        <a:p>
                          <a:pPr marL="0" marR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>
                              <a:latin typeface="Calibri" panose="020F0502020204030204" pitchFamily="34" charset="0"/>
                            </a:rPr>
                            <a:t>CRC-CCITT</a:t>
                          </a:r>
                          <a:endParaRPr lang="zh-CN" altLang="en-US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16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en-US" altLang="zh-CN" dirty="0">
                              <a:latin typeface="Calibri" panose="020F0502020204030204" pitchFamily="34" charset="0"/>
                            </a:rPr>
                            <a:t>1</a:t>
                          </a:r>
                          <a:endParaRPr lang="zh-CN" altLang="en-US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847198">
                    <a:tc>
                      <a:txBody>
                        <a:bodyPr/>
                        <a:lstStyle/>
                        <a:p>
                          <a:pPr marL="0" marR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>
                              <a:latin typeface="Calibri" panose="020F0502020204030204" pitchFamily="34" charset="0"/>
                            </a:rPr>
                            <a:t>CRC-32</a:t>
                          </a:r>
                          <a:endParaRPr lang="zh-CN" altLang="en-US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32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26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23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16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12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11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10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8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7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</m:oMath>
                          </a14:m>
                          <a:r>
                            <a:rPr lang="en-US" altLang="zh-CN" dirty="0">
                              <a:latin typeface="Calibri" panose="020F0502020204030204" pitchFamily="34" charset="0"/>
                            </a:rPr>
                            <a:t>1</a:t>
                          </a:r>
                          <a:endParaRPr lang="zh-CN" altLang="en-US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xmlns="" xmlns:a14="http://schemas.microsoft.com/office/drawing/2010/main" val="1264608444"/>
                  </p:ext>
                </p:extLst>
              </p:nvPr>
            </p:nvGraphicFramePr>
            <p:xfrm>
              <a:off x="841248" y="2189480"/>
              <a:ext cx="7571232" cy="351013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77367"/>
                    <a:gridCol w="5193865"/>
                  </a:tblGrid>
                  <a:tr h="42047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 smtClean="0">
                              <a:latin typeface="Calibri" panose="020F0502020204030204" pitchFamily="34" charset="0"/>
                            </a:rPr>
                            <a:t>CRC</a:t>
                          </a:r>
                          <a:endParaRPr lang="zh-CN" altLang="en-US" dirty="0">
                            <a:latin typeface="Calibri" panose="020F050202020403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 smtClean="0">
                              <a:latin typeface="Calibri" panose="020F0502020204030204" pitchFamily="34" charset="0"/>
                            </a:rPr>
                            <a:t>𝐶</a:t>
                          </a:r>
                          <a:r>
                            <a:rPr lang="en-US" altLang="zh-CN" dirty="0" smtClean="0">
                              <a:latin typeface="Calibri" panose="020F0502020204030204" pitchFamily="34" charset="0"/>
                            </a:rPr>
                            <a:t>(</a:t>
                          </a:r>
                          <a:r>
                            <a:rPr lang="zh-CN" altLang="en-US" dirty="0" smtClean="0">
                              <a:latin typeface="Calibri" panose="020F0502020204030204" pitchFamily="34" charset="0"/>
                            </a:rPr>
                            <a:t>𝑥</a:t>
                          </a:r>
                          <a:r>
                            <a:rPr lang="en-US" altLang="zh-CN" dirty="0" smtClean="0">
                              <a:latin typeface="Calibri" panose="020F0502020204030204" pitchFamily="34" charset="0"/>
                            </a:rPr>
                            <a:t>)</a:t>
                          </a:r>
                        </a:p>
                      </a:txBody>
                      <a:tcPr/>
                    </a:tc>
                  </a:tr>
                  <a:tr h="420479">
                    <a:tc>
                      <a:txBody>
                        <a:bodyPr/>
                        <a:lstStyle/>
                        <a:p>
                          <a:r>
                            <a:rPr lang="en-US" altLang="zh-CN" dirty="0" smtClean="0">
                              <a:latin typeface="Calibri" panose="020F0502020204030204" pitchFamily="34" charset="0"/>
                            </a:rPr>
                            <a:t>CRC-8</a:t>
                          </a:r>
                          <a:endParaRPr lang="zh-CN" altLang="en-US" dirty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46009" t="-110145" r="-587" b="-639130"/>
                          </a:stretch>
                        </a:blipFill>
                      </a:tcPr>
                    </a:tc>
                  </a:tr>
                  <a:tr h="420479">
                    <a:tc>
                      <a:txBody>
                        <a:bodyPr/>
                        <a:lstStyle/>
                        <a:p>
                          <a:pPr marL="0" marR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Calibri" panose="020F0502020204030204" pitchFamily="34" charset="0"/>
                            </a:rPr>
                            <a:t>CRC-10</a:t>
                          </a:r>
                          <a:endParaRPr lang="zh-CN" altLang="en-US" dirty="0" smtClean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46009" t="-210145" r="-587" b="-539130"/>
                          </a:stretch>
                        </a:blipFill>
                      </a:tcPr>
                    </a:tc>
                  </a:tr>
                  <a:tr h="420479">
                    <a:tc>
                      <a:txBody>
                        <a:bodyPr/>
                        <a:lstStyle/>
                        <a:p>
                          <a:pPr marL="0" marR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Calibri" panose="020F0502020204030204" pitchFamily="34" charset="0"/>
                            </a:rPr>
                            <a:t>CRC-12</a:t>
                          </a:r>
                          <a:endParaRPr lang="zh-CN" altLang="en-US" dirty="0" smtClean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46009" t="-310145" r="-587" b="-439130"/>
                          </a:stretch>
                        </a:blipFill>
                      </a:tcPr>
                    </a:tc>
                  </a:tr>
                  <a:tr h="420479">
                    <a:tc>
                      <a:txBody>
                        <a:bodyPr/>
                        <a:lstStyle/>
                        <a:p>
                          <a:pPr marL="0" marR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Calibri" panose="020F0502020204030204" pitchFamily="34" charset="0"/>
                            </a:rPr>
                            <a:t>CRC-16</a:t>
                          </a:r>
                          <a:endParaRPr lang="zh-CN" altLang="en-US" dirty="0" smtClean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46009" t="-410145" r="-587" b="-339130"/>
                          </a:stretch>
                        </a:blipFill>
                      </a:tcPr>
                    </a:tc>
                  </a:tr>
                  <a:tr h="560541">
                    <a:tc>
                      <a:txBody>
                        <a:bodyPr/>
                        <a:lstStyle/>
                        <a:p>
                          <a:pPr marL="0" marR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Calibri" panose="020F0502020204030204" pitchFamily="34" charset="0"/>
                            </a:rPr>
                            <a:t>CRC-CCITT</a:t>
                          </a:r>
                          <a:endParaRPr lang="zh-CN" altLang="en-US" dirty="0" smtClean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46009" t="-382609" r="-587" b="-154348"/>
                          </a:stretch>
                        </a:blipFill>
                      </a:tcPr>
                    </a:tc>
                  </a:tr>
                  <a:tr h="847198">
                    <a:tc>
                      <a:txBody>
                        <a:bodyPr/>
                        <a:lstStyle/>
                        <a:p>
                          <a:pPr marL="0" marR="0" indent="0" algn="l" defTabSz="914377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zh-CN" dirty="0" smtClean="0">
                              <a:latin typeface="Calibri" panose="020F0502020204030204" pitchFamily="34" charset="0"/>
                            </a:rPr>
                            <a:t>CRC-32</a:t>
                          </a:r>
                          <a:endParaRPr lang="zh-CN" altLang="en-US" dirty="0" smtClean="0">
                            <a:latin typeface="Calibri" panose="020F0502020204030204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 rotWithShape="0">
                          <a:blip r:embed="rId5"/>
                          <a:stretch>
                            <a:fillRect l="-46009" t="-319424" r="-587" b="-2158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33864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检错还是纠错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检错：发现错误，重传</a:t>
            </a:r>
          </a:p>
          <a:p>
            <a:r>
              <a:rPr lang="zh-CN" altLang="en-US" dirty="0"/>
              <a:t>纠错：发现错误，纠正，有代价</a:t>
            </a:r>
            <a:endParaRPr lang="en-US" altLang="zh-CN" dirty="0"/>
          </a:p>
          <a:p>
            <a:pPr lvl="1"/>
            <a:r>
              <a:rPr lang="zh-CN" altLang="en-US" dirty="0"/>
              <a:t>纠错码的冗余位要比检错码长，编码效率低</a:t>
            </a:r>
            <a:endParaRPr lang="en-US" altLang="zh-CN" dirty="0"/>
          </a:p>
          <a:p>
            <a:pPr>
              <a:spcBef>
                <a:spcPts val="1800"/>
              </a:spcBef>
            </a:pPr>
            <a:r>
              <a:rPr lang="zh-CN" altLang="en-US" dirty="0"/>
              <a:t>下列情况下用纠错码</a:t>
            </a:r>
          </a:p>
          <a:p>
            <a:pPr lvl="1"/>
            <a:r>
              <a:rPr lang="zh-CN" altLang="en-US" sz="1800" dirty="0"/>
              <a:t>差错发生的可能性高</a:t>
            </a:r>
          </a:p>
          <a:p>
            <a:pPr lvl="2"/>
            <a:r>
              <a:rPr lang="zh-CN" altLang="en-US" dirty="0"/>
              <a:t>无线环境</a:t>
            </a:r>
          </a:p>
          <a:p>
            <a:pPr lvl="1">
              <a:spcBef>
                <a:spcPts val="1200"/>
              </a:spcBef>
            </a:pPr>
            <a:r>
              <a:rPr lang="zh-CN" altLang="en-US" sz="1800" dirty="0"/>
              <a:t>重传代价高</a:t>
            </a:r>
          </a:p>
          <a:p>
            <a:pPr lvl="2"/>
            <a:r>
              <a:rPr lang="zh-CN" altLang="en-US" dirty="0"/>
              <a:t>卫星链路</a:t>
            </a:r>
          </a:p>
          <a:p>
            <a:pPr lvl="1">
              <a:spcBef>
                <a:spcPts val="1200"/>
              </a:spcBef>
            </a:pPr>
            <a:r>
              <a:rPr lang="zh-CN" altLang="en-US" sz="1800" dirty="0"/>
              <a:t>无法重传</a:t>
            </a:r>
            <a:endParaRPr lang="en-US" altLang="zh-CN" sz="1800" dirty="0"/>
          </a:p>
          <a:p>
            <a:pPr lvl="2"/>
            <a:r>
              <a:rPr lang="zh-CN" altLang="en-US" dirty="0"/>
              <a:t>单工信道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29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47513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442524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2.1  </a:t>
            </a:r>
            <a:r>
              <a:rPr lang="zh-CN" altLang="en-US" dirty="0"/>
              <a:t>数据通信的基本概念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2.2  </a:t>
            </a:r>
            <a:r>
              <a:rPr lang="zh-CN" altLang="en-US" dirty="0"/>
              <a:t>网络构件</a:t>
            </a:r>
            <a:endParaRPr lang="en-US" altLang="zh-CN" dirty="0"/>
          </a:p>
          <a:p>
            <a:r>
              <a:rPr lang="en-US" altLang="zh-CN"/>
              <a:t>2.3  </a:t>
            </a:r>
            <a:r>
              <a:rPr lang="zh-CN" altLang="en-US" dirty="0"/>
              <a:t>组帧</a:t>
            </a:r>
          </a:p>
          <a:p>
            <a:r>
              <a:rPr lang="en-US" altLang="zh-CN"/>
              <a:t>2.4  </a:t>
            </a:r>
            <a:r>
              <a:rPr lang="zh-CN" altLang="en-US" dirty="0"/>
              <a:t>差错检测</a:t>
            </a:r>
          </a:p>
          <a:p>
            <a:r>
              <a:rPr lang="en-US" altLang="zh-CN"/>
              <a:t>2.5  </a:t>
            </a:r>
            <a:r>
              <a:rPr lang="zh-CN" altLang="en-US" dirty="0"/>
              <a:t>可靠传输</a:t>
            </a:r>
          </a:p>
          <a:p>
            <a:r>
              <a:rPr lang="en-US" altLang="zh-CN"/>
              <a:t>2.6  </a:t>
            </a:r>
            <a:r>
              <a:rPr lang="zh-CN" altLang="en-US" dirty="0"/>
              <a:t>媒体共享</a:t>
            </a:r>
            <a:r>
              <a:rPr lang="en-US" altLang="zh-CN" dirty="0"/>
              <a:t> </a:t>
            </a:r>
          </a:p>
          <a:p>
            <a:r>
              <a:rPr lang="en-US" altLang="zh-CN"/>
              <a:t>2.7  </a:t>
            </a:r>
            <a:r>
              <a:rPr lang="zh-CN" altLang="en-US" dirty="0"/>
              <a:t>以太网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25538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9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5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1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3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可靠传输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差错检测技术只能做到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无差错接受</a:t>
            </a:r>
            <a:endParaRPr lang="en-US" altLang="zh-CN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en-US" sz="1800" dirty="0"/>
              <a:t>凡是接受的帧（即没有丢弃），我们能以非常接近于 </a:t>
            </a:r>
            <a:r>
              <a:rPr lang="en-US" altLang="zh-CN" sz="1800" dirty="0"/>
              <a:t>1 </a:t>
            </a:r>
            <a:r>
              <a:rPr lang="zh-CN" altLang="en-US" sz="1800" dirty="0"/>
              <a:t>的概率认为这些帧在传输过程中没有产生差错</a:t>
            </a:r>
            <a:endParaRPr lang="en-US" altLang="zh-CN" sz="1800" dirty="0"/>
          </a:p>
          <a:p>
            <a:pPr>
              <a:spcBef>
                <a:spcPts val="1200"/>
              </a:spcBef>
            </a:pPr>
            <a:r>
              <a:rPr lang="zh-CN" altLang="en-US" dirty="0"/>
              <a:t>错误帧被接收方丢弃</a:t>
            </a:r>
            <a:endParaRPr lang="en-US" altLang="zh-CN" dirty="0"/>
          </a:p>
          <a:p>
            <a:pPr lvl="1"/>
            <a:r>
              <a:rPr lang="zh-CN" altLang="en-US" sz="1800" dirty="0"/>
              <a:t>有些纠错码技术可以恢复轻微的误码，但实际计算开销太大</a:t>
            </a:r>
            <a:endParaRPr lang="en-US" altLang="zh-CN" sz="1800" dirty="0"/>
          </a:p>
          <a:p>
            <a:pPr>
              <a:spcBef>
                <a:spcPts val="1200"/>
              </a:spcBef>
            </a:pPr>
            <a:r>
              <a:rPr lang="zh-CN" altLang="en-US" dirty="0"/>
              <a:t>可靠传输</a:t>
            </a:r>
            <a:endParaRPr lang="en-US" altLang="zh-CN" dirty="0"/>
          </a:p>
          <a:p>
            <a:pPr lvl="1"/>
            <a:r>
              <a:rPr lang="zh-CN" altLang="en-US" sz="1800" dirty="0"/>
              <a:t>必须能以某种方式恢复被丢弃或丢失的帧</a:t>
            </a:r>
            <a:endParaRPr lang="en-US" altLang="zh-CN" sz="1800" dirty="0"/>
          </a:p>
          <a:p>
            <a:pPr lvl="1"/>
            <a:r>
              <a:rPr lang="zh-CN" altLang="en-US" sz="1800" dirty="0"/>
              <a:t>链路层、传输层、应用层都可提供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4778943-3C2C-49EB-9C9E-5E9FB63C9F28}"/>
              </a:ext>
            </a:extLst>
          </p:cNvPr>
          <p:cNvSpPr txBox="1"/>
          <p:nvPr/>
        </p:nvSpPr>
        <p:spPr>
          <a:xfrm>
            <a:off x="1134203" y="5369223"/>
            <a:ext cx="7180637" cy="56040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>
            <a:defPPr>
              <a:defRPr lang="zh-CN"/>
            </a:defPPr>
            <a:lvl1pPr>
              <a:defRPr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800" dirty="0"/>
              <a:t>探讨：无差错接受和可靠传输的关系？</a:t>
            </a:r>
            <a:endParaRPr lang="zh-CN" altLang="en-US" sz="2800" dirty="0">
              <a:latin typeface="Calibri" panose="020F050202020403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8102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可靠传输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可靠传输基本机制</a:t>
            </a:r>
            <a:endParaRPr lang="en-US" altLang="zh-CN" dirty="0">
              <a:solidFill>
                <a:schemeClr val="accent5">
                  <a:lumMod val="50000"/>
                </a:schemeClr>
              </a:solidFill>
            </a:endParaRPr>
          </a:p>
          <a:p>
            <a:pPr lvl="1"/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确认</a:t>
            </a:r>
            <a:r>
              <a:rPr lang="zh-CN" altLang="en-US" sz="1800" dirty="0"/>
              <a:t>和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超时</a:t>
            </a:r>
            <a:r>
              <a:rPr lang="zh-CN" altLang="en-US" sz="1800" dirty="0"/>
              <a:t>的组合</a:t>
            </a:r>
            <a:endParaRPr lang="en-US" altLang="zh-CN" sz="1800" dirty="0"/>
          </a:p>
          <a:p>
            <a:pPr>
              <a:spcBef>
                <a:spcPts val="600"/>
              </a:spcBef>
            </a:pPr>
            <a:r>
              <a:rPr lang="zh-CN" altLang="en-US" dirty="0"/>
              <a:t>确认 </a:t>
            </a:r>
            <a:r>
              <a:rPr lang="en-US" altLang="zh-CN" dirty="0"/>
              <a:t>(</a:t>
            </a:r>
            <a:r>
              <a:rPr lang="en-US" altLang="zh-CN" dirty="0" err="1"/>
              <a:t>ACKnowledgement</a:t>
            </a:r>
            <a:r>
              <a:rPr lang="en-US" altLang="zh-CN" dirty="0"/>
              <a:t>, ACK)</a:t>
            </a:r>
          </a:p>
          <a:p>
            <a:pPr lvl="1"/>
            <a:r>
              <a:rPr lang="zh-CN" altLang="en-US" sz="1800" dirty="0"/>
              <a:t>协议发给它的对等实体的消息，告知它已收到刚才的帧</a:t>
            </a:r>
          </a:p>
          <a:p>
            <a:pPr lvl="2"/>
            <a:r>
              <a:rPr lang="zh-CN" altLang="en-US" dirty="0"/>
              <a:t>可以是一个控制帧，即无任何数据的头部</a:t>
            </a:r>
            <a:endParaRPr lang="en-US" altLang="zh-CN" dirty="0"/>
          </a:p>
          <a:p>
            <a:pPr lvl="2"/>
            <a:r>
              <a:rPr lang="zh-CN" altLang="en-US" dirty="0"/>
              <a:t>也可以将一个</a:t>
            </a:r>
            <a:r>
              <a:rPr lang="en-US" altLang="zh-CN" dirty="0"/>
              <a:t>ACK</a:t>
            </a:r>
            <a:r>
              <a:rPr lang="zh-CN" altLang="en-US" dirty="0"/>
              <a:t>捎带在一个恰好要发向对方的数据帧中</a:t>
            </a:r>
            <a:endParaRPr lang="en-US" altLang="zh-CN" dirty="0"/>
          </a:p>
          <a:p>
            <a:pPr>
              <a:spcBef>
                <a:spcPts val="600"/>
              </a:spcBef>
            </a:pPr>
            <a:r>
              <a:rPr lang="zh-CN" altLang="en-US" dirty="0"/>
              <a:t>超时 </a:t>
            </a:r>
            <a:r>
              <a:rPr lang="en-US" altLang="zh-CN" dirty="0"/>
              <a:t>(timeout)</a:t>
            </a:r>
          </a:p>
          <a:p>
            <a:pPr lvl="1"/>
            <a:r>
              <a:rPr lang="zh-CN" altLang="en-US" sz="1800" dirty="0"/>
              <a:t>发送方收到一个确认，表明帧发送成功；如果在合理的一段时间后未收到确认，那么它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重发 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(retransmit) </a:t>
            </a:r>
            <a:r>
              <a:rPr lang="zh-CN" altLang="en-US" sz="1800" dirty="0"/>
              <a:t>原始帧</a:t>
            </a:r>
            <a:endParaRPr lang="en-US" altLang="zh-CN" sz="1800" dirty="0"/>
          </a:p>
          <a:p>
            <a:pPr lvl="1"/>
            <a:r>
              <a:rPr lang="zh-CN" altLang="en-US" sz="1800" dirty="0"/>
              <a:t>等待一段合理时间的这个动作称为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超时 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(timeout)</a:t>
            </a:r>
            <a:endParaRPr lang="zh-CN" altLang="en-US" sz="1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9469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可靠传输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自动请求重发（</a:t>
            </a:r>
            <a:r>
              <a:rPr lang="en-US" altLang="zh-CN" dirty="0"/>
              <a:t>Automatic Repeat Request</a:t>
            </a:r>
            <a:r>
              <a:rPr lang="zh-CN" altLang="en-US" dirty="0"/>
              <a:t>，</a:t>
            </a:r>
            <a:r>
              <a:rPr lang="en-US" altLang="zh-CN" dirty="0"/>
              <a:t>ARQ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使用确认和超时实现可靠传输的策略</a:t>
            </a:r>
            <a:endParaRPr lang="en-US" altLang="zh-CN" dirty="0"/>
          </a:p>
          <a:p>
            <a:pPr>
              <a:spcBef>
                <a:spcPts val="1800"/>
              </a:spcBef>
            </a:pPr>
            <a:r>
              <a:rPr lang="zh-CN" altLang="en-US" dirty="0"/>
              <a:t>两种</a:t>
            </a:r>
            <a:r>
              <a:rPr lang="en-US" altLang="zh-CN" dirty="0"/>
              <a:t>ARQ</a:t>
            </a:r>
            <a:r>
              <a:rPr lang="zh-CN" altLang="en-US" dirty="0"/>
              <a:t>算法</a:t>
            </a:r>
            <a:endParaRPr lang="en-US" altLang="zh-CN" dirty="0"/>
          </a:p>
          <a:p>
            <a:pPr lvl="1"/>
            <a:r>
              <a:rPr lang="zh-CN" altLang="en-US" dirty="0"/>
              <a:t>停等 </a:t>
            </a:r>
            <a:r>
              <a:rPr lang="en-US" altLang="zh-CN" dirty="0"/>
              <a:t>(stop-and-wait) </a:t>
            </a:r>
            <a:r>
              <a:rPr lang="zh-CN" altLang="en-US" dirty="0"/>
              <a:t>算法</a:t>
            </a:r>
            <a:endParaRPr lang="en-US" altLang="zh-CN" dirty="0"/>
          </a:p>
          <a:p>
            <a:pPr lvl="1"/>
            <a:r>
              <a:rPr lang="zh-CN" altLang="en-US" dirty="0"/>
              <a:t>滑动窗口 </a:t>
            </a:r>
            <a:r>
              <a:rPr lang="en-US" altLang="zh-CN" dirty="0"/>
              <a:t>(sliding-window) </a:t>
            </a:r>
            <a:r>
              <a:rPr lang="zh-CN" altLang="en-US" dirty="0"/>
              <a:t>算法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28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停等</a:t>
            </a:r>
            <a:r>
              <a:rPr lang="en-US" altLang="zh-CN" dirty="0">
                <a:latin typeface="Calibri" panose="020F0502020204030204" pitchFamily="34" charset="0"/>
              </a:rPr>
              <a:t>(stop-and-wait)</a:t>
            </a:r>
            <a:r>
              <a:rPr lang="zh-CN" altLang="en-US" dirty="0">
                <a:latin typeface="Calibri" panose="020F0502020204030204" pitchFamily="34" charset="0"/>
              </a:rPr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1286030"/>
          </a:xfrm>
        </p:spPr>
        <p:txBody>
          <a:bodyPr/>
          <a:lstStyle/>
          <a:p>
            <a:r>
              <a:rPr lang="zh-CN" altLang="en-US" dirty="0"/>
              <a:t>基本思想</a:t>
            </a:r>
            <a:endParaRPr lang="en-US" altLang="zh-CN" dirty="0"/>
          </a:p>
          <a:p>
            <a:pPr lvl="1"/>
            <a:r>
              <a:rPr lang="zh-CN" altLang="en-US" sz="1800" dirty="0"/>
              <a:t>发送方传输一帧之后，在传输下一帧之前等待一个</a:t>
            </a:r>
            <a:r>
              <a:rPr lang="en-US" altLang="zh-CN" sz="1800" dirty="0"/>
              <a:t>ACK</a:t>
            </a:r>
            <a:r>
              <a:rPr lang="zh-CN" altLang="en-US" sz="1800" dirty="0"/>
              <a:t>；如果在某段时间之后</a:t>
            </a:r>
            <a:r>
              <a:rPr lang="en-US" altLang="zh-CN" sz="1800" dirty="0"/>
              <a:t>ACK</a:t>
            </a:r>
            <a:r>
              <a:rPr lang="zh-CN" altLang="en-US" sz="1800" dirty="0"/>
              <a:t>没有到达，则发送方超时，重发原始帧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34</a:t>
            </a:fld>
            <a:endParaRPr lang="zh-CN" altLang="en-US" dirty="0"/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89972" y="2923939"/>
            <a:ext cx="3389722" cy="3623165"/>
          </a:xfrm>
          <a:prstGeom prst="rect">
            <a:avLst/>
          </a:prstGeom>
        </p:spPr>
      </p:pic>
      <p:sp>
        <p:nvSpPr>
          <p:cNvPr id="44" name="Text Box 4"/>
          <p:cNvSpPr txBox="1">
            <a:spLocks noChangeArrowheads="1"/>
          </p:cNvSpPr>
          <p:nvPr/>
        </p:nvSpPr>
        <p:spPr bwMode="auto">
          <a:xfrm>
            <a:off x="1281595" y="4112259"/>
            <a:ext cx="387226" cy="585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时间</a:t>
            </a:r>
          </a:p>
        </p:txBody>
      </p:sp>
      <p:sp>
        <p:nvSpPr>
          <p:cNvPr id="45" name="Line 5"/>
          <p:cNvSpPr>
            <a:spLocks noChangeShapeType="1"/>
          </p:cNvSpPr>
          <p:nvPr/>
        </p:nvSpPr>
        <p:spPr bwMode="auto">
          <a:xfrm flipH="1">
            <a:off x="1624018" y="3241403"/>
            <a:ext cx="1" cy="211012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6" name="Line 7"/>
          <p:cNvSpPr>
            <a:spLocks noChangeShapeType="1"/>
          </p:cNvSpPr>
          <p:nvPr/>
        </p:nvSpPr>
        <p:spPr bwMode="auto">
          <a:xfrm flipH="1">
            <a:off x="2305099" y="3313079"/>
            <a:ext cx="6764" cy="2606336"/>
          </a:xfrm>
          <a:prstGeom prst="lin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7" name="Line 8"/>
          <p:cNvSpPr>
            <a:spLocks noChangeShapeType="1"/>
          </p:cNvSpPr>
          <p:nvPr/>
        </p:nvSpPr>
        <p:spPr bwMode="auto">
          <a:xfrm>
            <a:off x="3916084" y="3291251"/>
            <a:ext cx="0" cy="2628163"/>
          </a:xfrm>
          <a:prstGeom prst="lin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8" name="Line 9"/>
          <p:cNvSpPr>
            <a:spLocks noChangeShapeType="1"/>
          </p:cNvSpPr>
          <p:nvPr/>
        </p:nvSpPr>
        <p:spPr bwMode="auto">
          <a:xfrm>
            <a:off x="2311863" y="3605097"/>
            <a:ext cx="1610845" cy="43520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9" name="Line 10"/>
          <p:cNvSpPr>
            <a:spLocks noChangeShapeType="1"/>
          </p:cNvSpPr>
          <p:nvPr/>
        </p:nvSpPr>
        <p:spPr bwMode="auto">
          <a:xfrm flipH="1">
            <a:off x="2305766" y="4087943"/>
            <a:ext cx="1616940" cy="46106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53" name="Text Box 14"/>
          <p:cNvSpPr txBox="1">
            <a:spLocks noChangeArrowheads="1"/>
          </p:cNvSpPr>
          <p:nvPr/>
        </p:nvSpPr>
        <p:spPr bwMode="auto">
          <a:xfrm>
            <a:off x="1789091" y="3808947"/>
            <a:ext cx="331908" cy="585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超时</a:t>
            </a:r>
          </a:p>
        </p:txBody>
      </p:sp>
      <p:sp>
        <p:nvSpPr>
          <p:cNvPr id="54" name="Text Box 15"/>
          <p:cNvSpPr txBox="1">
            <a:spLocks noChangeArrowheads="1"/>
          </p:cNvSpPr>
          <p:nvPr/>
        </p:nvSpPr>
        <p:spPr bwMode="auto">
          <a:xfrm>
            <a:off x="1924638" y="3035809"/>
            <a:ext cx="829769" cy="338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Sender</a:t>
            </a:r>
            <a:endParaRPr kumimoji="1" lang="zh-CN" altLang="en-US" sz="16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55" name="Text Box 16"/>
          <p:cNvSpPr txBox="1">
            <a:spLocks noChangeArrowheads="1"/>
          </p:cNvSpPr>
          <p:nvPr/>
        </p:nvSpPr>
        <p:spPr bwMode="auto">
          <a:xfrm>
            <a:off x="3528859" y="3011425"/>
            <a:ext cx="94040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Receiver</a:t>
            </a:r>
            <a:endParaRPr kumimoji="1" lang="zh-CN" altLang="en-US" sz="16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56" name="Text Box 17"/>
          <p:cNvSpPr txBox="1">
            <a:spLocks noChangeArrowheads="1"/>
          </p:cNvSpPr>
          <p:nvPr/>
        </p:nvSpPr>
        <p:spPr bwMode="auto">
          <a:xfrm>
            <a:off x="2741972" y="3503944"/>
            <a:ext cx="76702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frame</a:t>
            </a:r>
            <a:endParaRPr kumimoji="1" lang="zh-CN" altLang="en-US" sz="1600" i="0" u="none" strike="noStrike" kern="0" cap="none" spc="0" normalizeH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57" name="Text Box 18"/>
          <p:cNvSpPr txBox="1">
            <a:spLocks noChangeArrowheads="1"/>
          </p:cNvSpPr>
          <p:nvPr/>
        </p:nvSpPr>
        <p:spPr bwMode="auto">
          <a:xfrm>
            <a:off x="2686369" y="4076176"/>
            <a:ext cx="663816" cy="338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ACK</a:t>
            </a:r>
          </a:p>
        </p:txBody>
      </p:sp>
      <p:sp>
        <p:nvSpPr>
          <p:cNvPr id="58" name="Text Box 39"/>
          <p:cNvSpPr txBox="1">
            <a:spLocks noChangeArrowheads="1"/>
          </p:cNvSpPr>
          <p:nvPr/>
        </p:nvSpPr>
        <p:spPr bwMode="auto">
          <a:xfrm>
            <a:off x="1703366" y="6001612"/>
            <a:ext cx="2655262" cy="338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（</a:t>
            </a: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a</a:t>
            </a: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）超时前收到</a:t>
            </a: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ACK</a:t>
            </a:r>
            <a:endParaRPr kumimoji="1" lang="zh-CN" altLang="en-US" sz="16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83" name="左大括号 82"/>
          <p:cNvSpPr/>
          <p:nvPr/>
        </p:nvSpPr>
        <p:spPr>
          <a:xfrm>
            <a:off x="2069545" y="3601522"/>
            <a:ext cx="229599" cy="1054840"/>
          </a:xfrm>
          <a:prstGeom prst="leftBrace">
            <a:avLst>
              <a:gd name="adj1" fmla="val 30026"/>
              <a:gd name="adj2" fmla="val 48844"/>
            </a:avLst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6" name="图片 8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197683" y="2928932"/>
            <a:ext cx="3233054" cy="3623165"/>
          </a:xfrm>
          <a:prstGeom prst="rect">
            <a:avLst/>
          </a:prstGeom>
        </p:spPr>
      </p:pic>
      <p:sp>
        <p:nvSpPr>
          <p:cNvPr id="87" name="Text Box 4"/>
          <p:cNvSpPr txBox="1">
            <a:spLocks noChangeArrowheads="1"/>
          </p:cNvSpPr>
          <p:nvPr/>
        </p:nvSpPr>
        <p:spPr bwMode="auto">
          <a:xfrm>
            <a:off x="5243068" y="4117252"/>
            <a:ext cx="387226" cy="585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时间</a:t>
            </a:r>
          </a:p>
        </p:txBody>
      </p:sp>
      <p:sp>
        <p:nvSpPr>
          <p:cNvPr id="88" name="Line 5"/>
          <p:cNvSpPr>
            <a:spLocks noChangeShapeType="1"/>
          </p:cNvSpPr>
          <p:nvPr/>
        </p:nvSpPr>
        <p:spPr bwMode="auto">
          <a:xfrm flipH="1">
            <a:off x="5585491" y="3246396"/>
            <a:ext cx="1" cy="211012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89" name="Line 7"/>
          <p:cNvSpPr>
            <a:spLocks noChangeShapeType="1"/>
          </p:cNvSpPr>
          <p:nvPr/>
        </p:nvSpPr>
        <p:spPr bwMode="auto">
          <a:xfrm flipH="1">
            <a:off x="6260152" y="3318071"/>
            <a:ext cx="13183" cy="2601343"/>
          </a:xfrm>
          <a:prstGeom prst="lin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0" name="Line 8"/>
          <p:cNvSpPr>
            <a:spLocks noChangeShapeType="1"/>
          </p:cNvSpPr>
          <p:nvPr/>
        </p:nvSpPr>
        <p:spPr bwMode="auto">
          <a:xfrm>
            <a:off x="7877557" y="3296244"/>
            <a:ext cx="0" cy="2628163"/>
          </a:xfrm>
          <a:prstGeom prst="lin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1" name="Line 9"/>
          <p:cNvSpPr>
            <a:spLocks noChangeShapeType="1"/>
          </p:cNvSpPr>
          <p:nvPr/>
        </p:nvSpPr>
        <p:spPr bwMode="auto">
          <a:xfrm>
            <a:off x="6273336" y="3610090"/>
            <a:ext cx="1234715" cy="399874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3" name="Text Box 14"/>
          <p:cNvSpPr txBox="1">
            <a:spLocks noChangeArrowheads="1"/>
          </p:cNvSpPr>
          <p:nvPr/>
        </p:nvSpPr>
        <p:spPr bwMode="auto">
          <a:xfrm>
            <a:off x="5750564" y="3813940"/>
            <a:ext cx="331908" cy="585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超时</a:t>
            </a:r>
          </a:p>
        </p:txBody>
      </p:sp>
      <p:sp>
        <p:nvSpPr>
          <p:cNvPr id="94" name="Text Box 15"/>
          <p:cNvSpPr txBox="1">
            <a:spLocks noChangeArrowheads="1"/>
          </p:cNvSpPr>
          <p:nvPr/>
        </p:nvSpPr>
        <p:spPr bwMode="auto">
          <a:xfrm>
            <a:off x="5886111" y="3040802"/>
            <a:ext cx="829769" cy="338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Sender</a:t>
            </a:r>
            <a:endParaRPr kumimoji="1" lang="zh-CN" altLang="en-US" sz="16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5" name="Text Box 16"/>
          <p:cNvSpPr txBox="1">
            <a:spLocks noChangeArrowheads="1"/>
          </p:cNvSpPr>
          <p:nvPr/>
        </p:nvSpPr>
        <p:spPr bwMode="auto">
          <a:xfrm>
            <a:off x="7490332" y="3016418"/>
            <a:ext cx="94040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Receiver</a:t>
            </a:r>
            <a:endParaRPr kumimoji="1" lang="zh-CN" altLang="en-US" sz="16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6" name="Text Box 17"/>
          <p:cNvSpPr txBox="1">
            <a:spLocks noChangeArrowheads="1"/>
          </p:cNvSpPr>
          <p:nvPr/>
        </p:nvSpPr>
        <p:spPr bwMode="auto">
          <a:xfrm>
            <a:off x="6741026" y="3583924"/>
            <a:ext cx="76702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frame</a:t>
            </a:r>
            <a:endParaRPr kumimoji="1" lang="zh-CN" altLang="en-US" sz="1600" i="0" u="none" strike="noStrike" kern="0" cap="none" spc="0" normalizeH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8" name="Text Box 39"/>
          <p:cNvSpPr txBox="1">
            <a:spLocks noChangeArrowheads="1"/>
          </p:cNvSpPr>
          <p:nvPr/>
        </p:nvSpPr>
        <p:spPr bwMode="auto">
          <a:xfrm>
            <a:off x="6211467" y="6006605"/>
            <a:ext cx="161732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（</a:t>
            </a: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b</a:t>
            </a: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）</a:t>
            </a:r>
            <a:r>
              <a:rPr kumimoji="1" lang="zh-CN" altLang="en-US" sz="1600" kern="0" dirty="0">
                <a:latin typeface="Calibri" panose="020F0502020204030204" pitchFamily="34" charset="0"/>
                <a:ea typeface="华文楷体" panose="02010600040101010101" pitchFamily="2" charset="-122"/>
              </a:rPr>
              <a:t>原帧丢失</a:t>
            </a:r>
            <a:endParaRPr kumimoji="1" lang="zh-CN" altLang="en-US" sz="16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9" name="左大括号 98"/>
          <p:cNvSpPr/>
          <p:nvPr/>
        </p:nvSpPr>
        <p:spPr>
          <a:xfrm>
            <a:off x="6031018" y="3606515"/>
            <a:ext cx="229599" cy="1054840"/>
          </a:xfrm>
          <a:prstGeom prst="leftBrace">
            <a:avLst>
              <a:gd name="adj1" fmla="val 30026"/>
              <a:gd name="adj2" fmla="val 48844"/>
            </a:avLst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Line 9"/>
          <p:cNvSpPr>
            <a:spLocks noChangeShapeType="1"/>
          </p:cNvSpPr>
          <p:nvPr/>
        </p:nvSpPr>
        <p:spPr bwMode="auto">
          <a:xfrm>
            <a:off x="6279432" y="4713466"/>
            <a:ext cx="1598125" cy="34916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 flipH="1">
            <a:off x="6273336" y="5088800"/>
            <a:ext cx="1604220" cy="413769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2" name="Text Box 14"/>
          <p:cNvSpPr txBox="1">
            <a:spLocks noChangeArrowheads="1"/>
          </p:cNvSpPr>
          <p:nvPr/>
        </p:nvSpPr>
        <p:spPr bwMode="auto">
          <a:xfrm>
            <a:off x="5756660" y="4917316"/>
            <a:ext cx="331908" cy="585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超时</a:t>
            </a:r>
          </a:p>
        </p:txBody>
      </p:sp>
      <p:sp>
        <p:nvSpPr>
          <p:cNvPr id="103" name="Text Box 17"/>
          <p:cNvSpPr txBox="1">
            <a:spLocks noChangeArrowheads="1"/>
          </p:cNvSpPr>
          <p:nvPr/>
        </p:nvSpPr>
        <p:spPr bwMode="auto">
          <a:xfrm>
            <a:off x="6710208" y="4584764"/>
            <a:ext cx="76702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frame</a:t>
            </a:r>
            <a:endParaRPr kumimoji="1" lang="zh-CN" altLang="en-US" sz="1600" i="0" u="none" strike="noStrike" kern="0" cap="none" spc="0" normalizeH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4" name="Text Box 18"/>
          <p:cNvSpPr txBox="1">
            <a:spLocks noChangeArrowheads="1"/>
          </p:cNvSpPr>
          <p:nvPr/>
        </p:nvSpPr>
        <p:spPr bwMode="auto">
          <a:xfrm>
            <a:off x="6666766" y="5068184"/>
            <a:ext cx="663816" cy="338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ACK</a:t>
            </a:r>
          </a:p>
        </p:txBody>
      </p:sp>
      <p:sp>
        <p:nvSpPr>
          <p:cNvPr id="105" name="左大括号 104"/>
          <p:cNvSpPr/>
          <p:nvPr/>
        </p:nvSpPr>
        <p:spPr>
          <a:xfrm>
            <a:off x="6037114" y="4709891"/>
            <a:ext cx="229599" cy="1054840"/>
          </a:xfrm>
          <a:prstGeom prst="leftBrace">
            <a:avLst>
              <a:gd name="adj1" fmla="val 30026"/>
              <a:gd name="adj2" fmla="val 48844"/>
            </a:avLst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6" name="组合 105"/>
          <p:cNvGrpSpPr/>
          <p:nvPr/>
        </p:nvGrpSpPr>
        <p:grpSpPr>
          <a:xfrm>
            <a:off x="7337349" y="3842497"/>
            <a:ext cx="170702" cy="277903"/>
            <a:chOff x="7754112" y="4133088"/>
            <a:chExt cx="487680" cy="694944"/>
          </a:xfrm>
        </p:grpSpPr>
        <p:cxnSp>
          <p:nvCxnSpPr>
            <p:cNvPr id="107" name="直接连接符 106"/>
            <p:cNvCxnSpPr/>
            <p:nvPr/>
          </p:nvCxnSpPr>
          <p:spPr>
            <a:xfrm>
              <a:off x="7754112" y="4133088"/>
              <a:ext cx="487680" cy="69494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 flipH="1">
              <a:off x="7754112" y="4133088"/>
              <a:ext cx="402336" cy="69494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72327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2000"/>
                            </p:stCondLst>
                            <p:childTnLst>
                              <p:par>
                                <p:cTn id="1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 animBg="1"/>
      <p:bldP spid="46" grpId="0" animBg="1"/>
      <p:bldP spid="47" grpId="0" animBg="1"/>
      <p:bldP spid="48" grpId="0" animBg="1"/>
      <p:bldP spid="49" grpId="0" animBg="1"/>
      <p:bldP spid="53" grpId="0"/>
      <p:bldP spid="54" grpId="0"/>
      <p:bldP spid="55" grpId="0"/>
      <p:bldP spid="56" grpId="0"/>
      <p:bldP spid="57" grpId="0"/>
      <p:bldP spid="58" grpId="0"/>
      <p:bldP spid="83" grpId="0" animBg="1"/>
      <p:bldP spid="87" grpId="0"/>
      <p:bldP spid="88" grpId="0" animBg="1"/>
      <p:bldP spid="89" grpId="0" animBg="1"/>
      <p:bldP spid="90" grpId="0" animBg="1"/>
      <p:bldP spid="91" grpId="0" animBg="1"/>
      <p:bldP spid="93" grpId="0"/>
      <p:bldP spid="94" grpId="0"/>
      <p:bldP spid="95" grpId="0"/>
      <p:bldP spid="96" grpId="0"/>
      <p:bldP spid="98" grpId="0"/>
      <p:bldP spid="99" grpId="0" animBg="1"/>
      <p:bldP spid="100" grpId="0" animBg="1"/>
      <p:bldP spid="101" grpId="0" animBg="1"/>
      <p:bldP spid="102" grpId="0"/>
      <p:bldP spid="103" grpId="0"/>
      <p:bldP spid="104" grpId="0"/>
      <p:bldP spid="10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Calibri" panose="020F0502020204030204" pitchFamily="34" charset="0"/>
              </a:rPr>
              <a:t>停等</a:t>
            </a:r>
            <a:r>
              <a:rPr lang="en-US" altLang="zh-CN" dirty="0">
                <a:latin typeface="Calibri" panose="020F0502020204030204" pitchFamily="34" charset="0"/>
              </a:rPr>
              <a:t>(stop-and-wait)</a:t>
            </a:r>
            <a:r>
              <a:rPr lang="zh-CN" altLang="en-US" dirty="0">
                <a:latin typeface="Calibri" panose="020F0502020204030204" pitchFamily="34" charset="0"/>
              </a:rPr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1286030"/>
          </a:xfrm>
        </p:spPr>
        <p:txBody>
          <a:bodyPr/>
          <a:lstStyle/>
          <a:p>
            <a:r>
              <a:rPr lang="zh-CN" altLang="en-US" dirty="0"/>
              <a:t>基本思想</a:t>
            </a:r>
            <a:endParaRPr lang="en-US" altLang="zh-CN" dirty="0"/>
          </a:p>
          <a:p>
            <a:pPr lvl="1"/>
            <a:r>
              <a:rPr lang="zh-CN" altLang="en-US" sz="1800" dirty="0"/>
              <a:t>发送方传输一帧之后，在传输下一帧之前等待一个</a:t>
            </a:r>
            <a:r>
              <a:rPr lang="en-US" altLang="zh-CN" sz="1800" dirty="0"/>
              <a:t>ACK</a:t>
            </a:r>
            <a:r>
              <a:rPr lang="zh-CN" altLang="en-US" sz="1800" dirty="0"/>
              <a:t>；如果在某段时间之后</a:t>
            </a:r>
            <a:r>
              <a:rPr lang="en-US" altLang="zh-CN" sz="1800" dirty="0"/>
              <a:t>ACK</a:t>
            </a:r>
            <a:r>
              <a:rPr lang="zh-CN" altLang="en-US" sz="1800" dirty="0"/>
              <a:t>没有到达，则发送方超时，重发原始帧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pic>
        <p:nvPicPr>
          <p:cNvPr id="82" name="图片 81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89972" y="2923939"/>
            <a:ext cx="3389722" cy="3623165"/>
          </a:xfrm>
          <a:prstGeom prst="rect">
            <a:avLst/>
          </a:prstGeom>
        </p:spPr>
      </p:pic>
      <p:sp>
        <p:nvSpPr>
          <p:cNvPr id="44" name="Text Box 4"/>
          <p:cNvSpPr txBox="1">
            <a:spLocks noChangeArrowheads="1"/>
          </p:cNvSpPr>
          <p:nvPr/>
        </p:nvSpPr>
        <p:spPr bwMode="auto">
          <a:xfrm>
            <a:off x="1281595" y="4112259"/>
            <a:ext cx="387226" cy="585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时间</a:t>
            </a:r>
          </a:p>
        </p:txBody>
      </p:sp>
      <p:sp>
        <p:nvSpPr>
          <p:cNvPr id="45" name="Line 5"/>
          <p:cNvSpPr>
            <a:spLocks noChangeShapeType="1"/>
          </p:cNvSpPr>
          <p:nvPr/>
        </p:nvSpPr>
        <p:spPr bwMode="auto">
          <a:xfrm flipH="1">
            <a:off x="1624018" y="3241403"/>
            <a:ext cx="1" cy="211012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6" name="Line 7"/>
          <p:cNvSpPr>
            <a:spLocks noChangeShapeType="1"/>
          </p:cNvSpPr>
          <p:nvPr/>
        </p:nvSpPr>
        <p:spPr bwMode="auto">
          <a:xfrm>
            <a:off x="2311863" y="3313078"/>
            <a:ext cx="23022" cy="2688533"/>
          </a:xfrm>
          <a:prstGeom prst="lin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7" name="Line 8"/>
          <p:cNvSpPr>
            <a:spLocks noChangeShapeType="1"/>
          </p:cNvSpPr>
          <p:nvPr/>
        </p:nvSpPr>
        <p:spPr bwMode="auto">
          <a:xfrm>
            <a:off x="3916084" y="3291251"/>
            <a:ext cx="0" cy="2628163"/>
          </a:xfrm>
          <a:prstGeom prst="lin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8" name="Line 9"/>
          <p:cNvSpPr>
            <a:spLocks noChangeShapeType="1"/>
          </p:cNvSpPr>
          <p:nvPr/>
        </p:nvSpPr>
        <p:spPr bwMode="auto">
          <a:xfrm>
            <a:off x="2311863" y="3605097"/>
            <a:ext cx="1610845" cy="43520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9" name="Line 10"/>
          <p:cNvSpPr>
            <a:spLocks noChangeShapeType="1"/>
          </p:cNvSpPr>
          <p:nvPr/>
        </p:nvSpPr>
        <p:spPr bwMode="auto">
          <a:xfrm flipH="1">
            <a:off x="2667974" y="4087943"/>
            <a:ext cx="1254732" cy="33456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53" name="Text Box 14"/>
          <p:cNvSpPr txBox="1">
            <a:spLocks noChangeArrowheads="1"/>
          </p:cNvSpPr>
          <p:nvPr/>
        </p:nvSpPr>
        <p:spPr bwMode="auto">
          <a:xfrm>
            <a:off x="1789091" y="3808947"/>
            <a:ext cx="331908" cy="585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超时</a:t>
            </a:r>
          </a:p>
        </p:txBody>
      </p:sp>
      <p:sp>
        <p:nvSpPr>
          <p:cNvPr id="54" name="Text Box 15"/>
          <p:cNvSpPr txBox="1">
            <a:spLocks noChangeArrowheads="1"/>
          </p:cNvSpPr>
          <p:nvPr/>
        </p:nvSpPr>
        <p:spPr bwMode="auto">
          <a:xfrm>
            <a:off x="1924638" y="3035809"/>
            <a:ext cx="829769" cy="338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Sender</a:t>
            </a:r>
            <a:endParaRPr kumimoji="1" lang="zh-CN" altLang="en-US" sz="16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55" name="Text Box 16"/>
          <p:cNvSpPr txBox="1">
            <a:spLocks noChangeArrowheads="1"/>
          </p:cNvSpPr>
          <p:nvPr/>
        </p:nvSpPr>
        <p:spPr bwMode="auto">
          <a:xfrm>
            <a:off x="3528859" y="3011425"/>
            <a:ext cx="94040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Receiver</a:t>
            </a:r>
            <a:endParaRPr kumimoji="1" lang="zh-CN" altLang="en-US" sz="16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56" name="Text Box 17"/>
          <p:cNvSpPr txBox="1">
            <a:spLocks noChangeArrowheads="1"/>
          </p:cNvSpPr>
          <p:nvPr/>
        </p:nvSpPr>
        <p:spPr bwMode="auto">
          <a:xfrm>
            <a:off x="2741972" y="3503944"/>
            <a:ext cx="76702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frame</a:t>
            </a:r>
            <a:endParaRPr kumimoji="1" lang="zh-CN" altLang="en-US" sz="1600" i="0" u="none" strike="noStrike" kern="0" cap="none" spc="0" normalizeH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57" name="Text Box 18"/>
          <p:cNvSpPr txBox="1">
            <a:spLocks noChangeArrowheads="1"/>
          </p:cNvSpPr>
          <p:nvPr/>
        </p:nvSpPr>
        <p:spPr bwMode="auto">
          <a:xfrm>
            <a:off x="2686369" y="4076176"/>
            <a:ext cx="663816" cy="338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ACK</a:t>
            </a:r>
          </a:p>
        </p:txBody>
      </p:sp>
      <p:sp>
        <p:nvSpPr>
          <p:cNvPr id="58" name="Text Box 39"/>
          <p:cNvSpPr txBox="1">
            <a:spLocks noChangeArrowheads="1"/>
          </p:cNvSpPr>
          <p:nvPr/>
        </p:nvSpPr>
        <p:spPr bwMode="auto">
          <a:xfrm>
            <a:off x="2216932" y="6001612"/>
            <a:ext cx="1453193" cy="338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（</a:t>
            </a: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c</a:t>
            </a: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）</a:t>
            </a: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ACK</a:t>
            </a: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丢失</a:t>
            </a:r>
          </a:p>
        </p:txBody>
      </p:sp>
      <p:sp>
        <p:nvSpPr>
          <p:cNvPr id="83" name="左大括号 82"/>
          <p:cNvSpPr/>
          <p:nvPr/>
        </p:nvSpPr>
        <p:spPr>
          <a:xfrm>
            <a:off x="2069545" y="3601522"/>
            <a:ext cx="229599" cy="1054840"/>
          </a:xfrm>
          <a:prstGeom prst="leftBrace">
            <a:avLst>
              <a:gd name="adj1" fmla="val 30026"/>
              <a:gd name="adj2" fmla="val 48844"/>
            </a:avLst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6" name="图片 8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197683" y="2928932"/>
            <a:ext cx="3233054" cy="3623165"/>
          </a:xfrm>
          <a:prstGeom prst="rect">
            <a:avLst/>
          </a:prstGeom>
        </p:spPr>
      </p:pic>
      <p:sp>
        <p:nvSpPr>
          <p:cNvPr id="87" name="Text Box 4"/>
          <p:cNvSpPr txBox="1">
            <a:spLocks noChangeArrowheads="1"/>
          </p:cNvSpPr>
          <p:nvPr/>
        </p:nvSpPr>
        <p:spPr bwMode="auto">
          <a:xfrm>
            <a:off x="5243068" y="4117252"/>
            <a:ext cx="387226" cy="585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时间</a:t>
            </a:r>
          </a:p>
        </p:txBody>
      </p:sp>
      <p:sp>
        <p:nvSpPr>
          <p:cNvPr id="88" name="Line 5"/>
          <p:cNvSpPr>
            <a:spLocks noChangeShapeType="1"/>
          </p:cNvSpPr>
          <p:nvPr/>
        </p:nvSpPr>
        <p:spPr bwMode="auto">
          <a:xfrm flipH="1">
            <a:off x="5585491" y="3246396"/>
            <a:ext cx="1" cy="211012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89" name="Line 7"/>
          <p:cNvSpPr>
            <a:spLocks noChangeShapeType="1"/>
          </p:cNvSpPr>
          <p:nvPr/>
        </p:nvSpPr>
        <p:spPr bwMode="auto">
          <a:xfrm flipH="1">
            <a:off x="6260152" y="3318071"/>
            <a:ext cx="13183" cy="2601343"/>
          </a:xfrm>
          <a:prstGeom prst="lin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0" name="Line 8"/>
          <p:cNvSpPr>
            <a:spLocks noChangeShapeType="1"/>
          </p:cNvSpPr>
          <p:nvPr/>
        </p:nvSpPr>
        <p:spPr bwMode="auto">
          <a:xfrm>
            <a:off x="7877557" y="3296244"/>
            <a:ext cx="0" cy="2628163"/>
          </a:xfrm>
          <a:prstGeom prst="line">
            <a:avLst/>
          </a:prstGeom>
          <a:noFill/>
          <a:ln w="22225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1" name="Line 9"/>
          <p:cNvSpPr>
            <a:spLocks noChangeShapeType="1"/>
          </p:cNvSpPr>
          <p:nvPr/>
        </p:nvSpPr>
        <p:spPr bwMode="auto">
          <a:xfrm>
            <a:off x="6273335" y="3610089"/>
            <a:ext cx="1610319" cy="6626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3" name="Text Box 14"/>
          <p:cNvSpPr txBox="1">
            <a:spLocks noChangeArrowheads="1"/>
          </p:cNvSpPr>
          <p:nvPr/>
        </p:nvSpPr>
        <p:spPr bwMode="auto">
          <a:xfrm>
            <a:off x="5750564" y="3813940"/>
            <a:ext cx="331908" cy="585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超时</a:t>
            </a:r>
          </a:p>
        </p:txBody>
      </p:sp>
      <p:sp>
        <p:nvSpPr>
          <p:cNvPr id="94" name="Text Box 15"/>
          <p:cNvSpPr txBox="1">
            <a:spLocks noChangeArrowheads="1"/>
          </p:cNvSpPr>
          <p:nvPr/>
        </p:nvSpPr>
        <p:spPr bwMode="auto">
          <a:xfrm>
            <a:off x="5886111" y="3040802"/>
            <a:ext cx="829769" cy="338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Sender</a:t>
            </a:r>
            <a:endParaRPr kumimoji="1" lang="zh-CN" altLang="en-US" sz="16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5" name="Text Box 16"/>
          <p:cNvSpPr txBox="1">
            <a:spLocks noChangeArrowheads="1"/>
          </p:cNvSpPr>
          <p:nvPr/>
        </p:nvSpPr>
        <p:spPr bwMode="auto">
          <a:xfrm>
            <a:off x="7490332" y="3016418"/>
            <a:ext cx="94040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Receiver</a:t>
            </a:r>
            <a:endParaRPr kumimoji="1" lang="zh-CN" altLang="en-US" sz="16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6" name="Text Box 17"/>
          <p:cNvSpPr txBox="1">
            <a:spLocks noChangeArrowheads="1"/>
          </p:cNvSpPr>
          <p:nvPr/>
        </p:nvSpPr>
        <p:spPr bwMode="auto">
          <a:xfrm>
            <a:off x="6741026" y="3583924"/>
            <a:ext cx="76702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frame</a:t>
            </a:r>
            <a:endParaRPr kumimoji="1" lang="zh-CN" altLang="en-US" sz="1600" i="0" u="none" strike="noStrike" kern="0" cap="none" spc="0" normalizeH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8" name="Text Box 39"/>
          <p:cNvSpPr txBox="1">
            <a:spLocks noChangeArrowheads="1"/>
          </p:cNvSpPr>
          <p:nvPr/>
        </p:nvSpPr>
        <p:spPr bwMode="auto">
          <a:xfrm>
            <a:off x="5985874" y="6056449"/>
            <a:ext cx="1617321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（</a:t>
            </a: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d</a:t>
            </a: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）</a:t>
            </a:r>
            <a:r>
              <a:rPr kumimoji="1" lang="zh-CN" altLang="en-US" sz="1600" kern="0" noProof="0" dirty="0">
                <a:latin typeface="Calibri" panose="020F0502020204030204" pitchFamily="34" charset="0"/>
                <a:ea typeface="华文楷体" panose="02010600040101010101" pitchFamily="2" charset="-122"/>
              </a:rPr>
              <a:t>过早超时</a:t>
            </a:r>
            <a:endParaRPr kumimoji="1" lang="zh-CN" altLang="en-US" sz="1600" i="0" u="none" strike="noStrike" kern="0" cap="none" spc="0" normalizeH="0" noProof="0" dirty="0">
              <a:ln>
                <a:noFill/>
              </a:ln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9" name="左大括号 98"/>
          <p:cNvSpPr/>
          <p:nvPr/>
        </p:nvSpPr>
        <p:spPr>
          <a:xfrm>
            <a:off x="6031018" y="3606515"/>
            <a:ext cx="229599" cy="1054840"/>
          </a:xfrm>
          <a:prstGeom prst="leftBrace">
            <a:avLst>
              <a:gd name="adj1" fmla="val 30026"/>
              <a:gd name="adj2" fmla="val 48844"/>
            </a:avLst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Line 9"/>
          <p:cNvSpPr>
            <a:spLocks noChangeShapeType="1"/>
          </p:cNvSpPr>
          <p:nvPr/>
        </p:nvSpPr>
        <p:spPr bwMode="auto">
          <a:xfrm>
            <a:off x="6279432" y="4713466"/>
            <a:ext cx="1598125" cy="34916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1" name="Line 10"/>
          <p:cNvSpPr>
            <a:spLocks noChangeShapeType="1"/>
          </p:cNvSpPr>
          <p:nvPr/>
        </p:nvSpPr>
        <p:spPr bwMode="auto">
          <a:xfrm flipH="1">
            <a:off x="6273336" y="5088800"/>
            <a:ext cx="1604220" cy="413769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2" name="Text Box 14"/>
          <p:cNvSpPr txBox="1">
            <a:spLocks noChangeArrowheads="1"/>
          </p:cNvSpPr>
          <p:nvPr/>
        </p:nvSpPr>
        <p:spPr bwMode="auto">
          <a:xfrm>
            <a:off x="5756660" y="4917316"/>
            <a:ext cx="331908" cy="585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超时</a:t>
            </a:r>
          </a:p>
        </p:txBody>
      </p:sp>
      <p:sp>
        <p:nvSpPr>
          <p:cNvPr id="103" name="Text Box 17"/>
          <p:cNvSpPr txBox="1">
            <a:spLocks noChangeArrowheads="1"/>
          </p:cNvSpPr>
          <p:nvPr/>
        </p:nvSpPr>
        <p:spPr bwMode="auto">
          <a:xfrm>
            <a:off x="6910116" y="4659851"/>
            <a:ext cx="76702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frame</a:t>
            </a:r>
            <a:endParaRPr kumimoji="1" lang="zh-CN" altLang="en-US" sz="1600" i="0" u="none" strike="noStrike" kern="0" cap="none" spc="0" normalizeH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4" name="Text Box 18"/>
          <p:cNvSpPr txBox="1">
            <a:spLocks noChangeArrowheads="1"/>
          </p:cNvSpPr>
          <p:nvPr/>
        </p:nvSpPr>
        <p:spPr bwMode="auto">
          <a:xfrm>
            <a:off x="6666766" y="5068184"/>
            <a:ext cx="663816" cy="338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ACK</a:t>
            </a:r>
          </a:p>
        </p:txBody>
      </p:sp>
      <p:sp>
        <p:nvSpPr>
          <p:cNvPr id="105" name="左大括号 104"/>
          <p:cNvSpPr/>
          <p:nvPr/>
        </p:nvSpPr>
        <p:spPr>
          <a:xfrm>
            <a:off x="6037114" y="4709891"/>
            <a:ext cx="229599" cy="1054840"/>
          </a:xfrm>
          <a:prstGeom prst="leftBrace">
            <a:avLst>
              <a:gd name="adj1" fmla="val 30026"/>
              <a:gd name="adj2" fmla="val 48844"/>
            </a:avLst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2618181" y="4258941"/>
            <a:ext cx="170702" cy="277903"/>
            <a:chOff x="7754112" y="4133088"/>
            <a:chExt cx="487680" cy="694944"/>
          </a:xfrm>
        </p:grpSpPr>
        <p:cxnSp>
          <p:nvCxnSpPr>
            <p:cNvPr id="41" name="直接连接符 40"/>
            <p:cNvCxnSpPr/>
            <p:nvPr/>
          </p:nvCxnSpPr>
          <p:spPr>
            <a:xfrm>
              <a:off x="7754112" y="4133088"/>
              <a:ext cx="487680" cy="69494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 flipH="1">
              <a:off x="7754112" y="4133088"/>
              <a:ext cx="402336" cy="694944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Line 9"/>
          <p:cNvSpPr>
            <a:spLocks noChangeShapeType="1"/>
          </p:cNvSpPr>
          <p:nvPr/>
        </p:nvSpPr>
        <p:spPr bwMode="auto">
          <a:xfrm>
            <a:off x="2335830" y="4728080"/>
            <a:ext cx="1598125" cy="34916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2" name="Line 10"/>
          <p:cNvSpPr>
            <a:spLocks noChangeShapeType="1"/>
          </p:cNvSpPr>
          <p:nvPr/>
        </p:nvSpPr>
        <p:spPr bwMode="auto">
          <a:xfrm flipH="1">
            <a:off x="2329734" y="5103414"/>
            <a:ext cx="1604220" cy="413769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3" name="Text Box 14"/>
          <p:cNvSpPr txBox="1">
            <a:spLocks noChangeArrowheads="1"/>
          </p:cNvSpPr>
          <p:nvPr/>
        </p:nvSpPr>
        <p:spPr bwMode="auto">
          <a:xfrm>
            <a:off x="1813058" y="4931930"/>
            <a:ext cx="331908" cy="585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超时</a:t>
            </a:r>
          </a:p>
        </p:txBody>
      </p:sp>
      <p:sp>
        <p:nvSpPr>
          <p:cNvPr id="64" name="Text Box 17"/>
          <p:cNvSpPr txBox="1">
            <a:spLocks noChangeArrowheads="1"/>
          </p:cNvSpPr>
          <p:nvPr/>
        </p:nvSpPr>
        <p:spPr bwMode="auto">
          <a:xfrm>
            <a:off x="2766606" y="4599378"/>
            <a:ext cx="76702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frame</a:t>
            </a:r>
            <a:endParaRPr kumimoji="1" lang="zh-CN" altLang="en-US" sz="1600" i="0" u="none" strike="noStrike" kern="0" cap="none" spc="0" normalizeH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5" name="Text Box 18"/>
          <p:cNvSpPr txBox="1">
            <a:spLocks noChangeArrowheads="1"/>
          </p:cNvSpPr>
          <p:nvPr/>
        </p:nvSpPr>
        <p:spPr bwMode="auto">
          <a:xfrm>
            <a:off x="2723164" y="5082798"/>
            <a:ext cx="663816" cy="338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ACK</a:t>
            </a:r>
          </a:p>
        </p:txBody>
      </p:sp>
      <p:sp>
        <p:nvSpPr>
          <p:cNvPr id="66" name="左大括号 65"/>
          <p:cNvSpPr/>
          <p:nvPr/>
        </p:nvSpPr>
        <p:spPr>
          <a:xfrm>
            <a:off x="2093512" y="4724505"/>
            <a:ext cx="229599" cy="1054840"/>
          </a:xfrm>
          <a:prstGeom prst="leftBrace">
            <a:avLst>
              <a:gd name="adj1" fmla="val 30026"/>
              <a:gd name="adj2" fmla="val 48844"/>
            </a:avLst>
          </a:prstGeom>
          <a:ln w="12700"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Line 10"/>
          <p:cNvSpPr>
            <a:spLocks noChangeShapeType="1"/>
          </p:cNvSpPr>
          <p:nvPr/>
        </p:nvSpPr>
        <p:spPr bwMode="auto">
          <a:xfrm flipH="1">
            <a:off x="6247544" y="4298942"/>
            <a:ext cx="1623916" cy="654991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endParaRPr kumimoji="0" lang="zh-CN" altLang="en-US" sz="2400" i="0" u="none" strike="noStrike" kern="0" cap="none" spc="0" normalizeH="0" noProof="0">
              <a:ln>
                <a:noFill/>
              </a:ln>
              <a:solidFill>
                <a:srgbClr val="2B0286"/>
              </a:solidFill>
              <a:effectLst/>
              <a:uLnTx/>
              <a:uFillTx/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8" name="Text Box 18"/>
          <p:cNvSpPr txBox="1">
            <a:spLocks noChangeArrowheads="1"/>
          </p:cNvSpPr>
          <p:nvPr/>
        </p:nvSpPr>
        <p:spPr bwMode="auto">
          <a:xfrm>
            <a:off x="7030227" y="4254470"/>
            <a:ext cx="663816" cy="338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rPr>
              <a:t>ACK</a:t>
            </a:r>
          </a:p>
        </p:txBody>
      </p:sp>
      <p:sp>
        <p:nvSpPr>
          <p:cNvPr id="5" name="椭圆 4"/>
          <p:cNvSpPr/>
          <p:nvPr/>
        </p:nvSpPr>
        <p:spPr>
          <a:xfrm>
            <a:off x="3808479" y="3893385"/>
            <a:ext cx="300625" cy="3199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/>
          <p:cNvSpPr/>
          <p:nvPr/>
        </p:nvSpPr>
        <p:spPr>
          <a:xfrm>
            <a:off x="3772393" y="4937203"/>
            <a:ext cx="300625" cy="3199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/>
          <p:cNvSpPr/>
          <p:nvPr/>
        </p:nvSpPr>
        <p:spPr>
          <a:xfrm>
            <a:off x="7743733" y="4057239"/>
            <a:ext cx="300625" cy="3199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椭圆 70"/>
          <p:cNvSpPr/>
          <p:nvPr/>
        </p:nvSpPr>
        <p:spPr>
          <a:xfrm>
            <a:off x="7712460" y="4913764"/>
            <a:ext cx="300625" cy="3199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1234942" y="5919414"/>
            <a:ext cx="7261375" cy="86743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96000" rtlCol="0" anchor="ctr"/>
          <a:lstStyle>
            <a:defPPr>
              <a:defRPr lang="zh-CN"/>
            </a:defPPr>
            <a:lvl1pPr>
              <a:defRPr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¥"/>
            </a:pPr>
            <a:r>
              <a:rPr lang="zh-CN" altLang="en-US" dirty="0"/>
              <a:t>重复帧问题</a:t>
            </a:r>
            <a:endParaRPr lang="en-US" altLang="zh-CN" dirty="0"/>
          </a:p>
          <a:p>
            <a:pPr marL="648000" lvl="1" indent="-285750">
              <a:lnSpc>
                <a:spcPct val="150000"/>
              </a:lnSpc>
              <a:buFont typeface="Wingdings 3" panose="05040102010807070707" pitchFamily="18" charset="2"/>
              <a:buChar char="4"/>
            </a:pPr>
            <a:r>
              <a:rPr lang="en-US" altLang="zh-CN" dirty="0">
                <a:latin typeface="Calibri" panose="020F0502020204030204" pitchFamily="34" charset="0"/>
                <a:ea typeface="黑体" panose="02010609060101010101" pitchFamily="49" charset="-122"/>
              </a:rPr>
              <a:t>S</a:t>
            </a: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超时重传，</a:t>
            </a:r>
            <a:r>
              <a:rPr lang="en-US" altLang="zh-CN" dirty="0">
                <a:latin typeface="Calibri" panose="020F0502020204030204" pitchFamily="34" charset="0"/>
                <a:ea typeface="黑体" panose="02010609060101010101" pitchFamily="49" charset="-122"/>
              </a:rPr>
              <a:t>R</a:t>
            </a: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认为是下一帧，再次接收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981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"/>
                            </p:stCondLst>
                            <p:childTnLst>
                              <p:par>
                                <p:cTn id="9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500"/>
                            </p:stCondLst>
                            <p:childTnLst>
                              <p:par>
                                <p:cTn id="1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000"/>
                            </p:stCondLst>
                            <p:childTnLst>
                              <p:par>
                                <p:cTn id="14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00"/>
                            </p:stCondLst>
                            <p:childTnLst>
                              <p:par>
                                <p:cTn id="15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000"/>
                            </p:stCondLst>
                            <p:childTnLst>
                              <p:par>
                                <p:cTn id="15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500"/>
                            </p:stCondLst>
                            <p:childTnLst>
                              <p:par>
                                <p:cTn id="1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 animBg="1"/>
      <p:bldP spid="46" grpId="0" animBg="1"/>
      <p:bldP spid="47" grpId="0" animBg="1"/>
      <p:bldP spid="48" grpId="0" animBg="1"/>
      <p:bldP spid="49" grpId="0" animBg="1"/>
      <p:bldP spid="53" grpId="0"/>
      <p:bldP spid="54" grpId="0"/>
      <p:bldP spid="55" grpId="0"/>
      <p:bldP spid="56" grpId="0"/>
      <p:bldP spid="57" grpId="0"/>
      <p:bldP spid="58" grpId="0"/>
      <p:bldP spid="83" grpId="0" animBg="1"/>
      <p:bldP spid="87" grpId="0"/>
      <p:bldP spid="88" grpId="0" animBg="1"/>
      <p:bldP spid="89" grpId="0" animBg="1"/>
      <p:bldP spid="90" grpId="0" animBg="1"/>
      <p:bldP spid="91" grpId="0" animBg="1"/>
      <p:bldP spid="93" grpId="0"/>
      <p:bldP spid="94" grpId="0"/>
      <p:bldP spid="95" grpId="0"/>
      <p:bldP spid="96" grpId="0"/>
      <p:bldP spid="98" grpId="0"/>
      <p:bldP spid="99" grpId="0" animBg="1"/>
      <p:bldP spid="100" grpId="0" animBg="1"/>
      <p:bldP spid="101" grpId="0" animBg="1"/>
      <p:bldP spid="102" grpId="0"/>
      <p:bldP spid="103" grpId="0"/>
      <p:bldP spid="104" grpId="0"/>
      <p:bldP spid="105" grpId="0" animBg="1"/>
      <p:bldP spid="61" grpId="0" animBg="1"/>
      <p:bldP spid="62" grpId="0" animBg="1"/>
      <p:bldP spid="63" grpId="0"/>
      <p:bldP spid="64" grpId="0"/>
      <p:bldP spid="65" grpId="0"/>
      <p:bldP spid="66" grpId="0" animBg="1"/>
      <p:bldP spid="67" grpId="0" animBg="1"/>
      <p:bldP spid="68" grpId="0"/>
      <p:bldP spid="5" grpId="0" animBg="1"/>
      <p:bldP spid="69" grpId="0" animBg="1"/>
      <p:bldP spid="70" grpId="0" animBg="1"/>
      <p:bldP spid="71" grpId="0" animBg="1"/>
      <p:bldP spid="7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Calibri" panose="020F0502020204030204" pitchFamily="34" charset="0"/>
              </a:rPr>
              <a:t>停等</a:t>
            </a:r>
            <a:r>
              <a:rPr lang="en-US" altLang="zh-CN" dirty="0">
                <a:latin typeface="Calibri" panose="020F0502020204030204" pitchFamily="34" charset="0"/>
              </a:rPr>
              <a:t>(stop-and-wait)</a:t>
            </a:r>
            <a:r>
              <a:rPr lang="zh-CN" altLang="en-US" dirty="0">
                <a:latin typeface="Calibri" panose="020F0502020204030204" pitchFamily="34" charset="0"/>
              </a:rPr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1286030"/>
          </a:xfrm>
        </p:spPr>
        <p:txBody>
          <a:bodyPr/>
          <a:lstStyle/>
          <a:p>
            <a:r>
              <a:rPr lang="zh-CN" altLang="en-US" dirty="0"/>
              <a:t>包含</a:t>
            </a:r>
            <a:r>
              <a:rPr lang="en-US" altLang="zh-CN" dirty="0"/>
              <a:t>1</a:t>
            </a:r>
            <a:r>
              <a:rPr lang="zh-CN" altLang="en-US" dirty="0"/>
              <a:t>比特序列号的停等算法</a:t>
            </a:r>
            <a:endParaRPr lang="en-US" altLang="zh-CN" dirty="0"/>
          </a:p>
          <a:p>
            <a:pPr lvl="1"/>
            <a:r>
              <a:rPr lang="zh-CN" altLang="en-US" sz="1800" dirty="0"/>
              <a:t>序号值可取</a:t>
            </a:r>
            <a:r>
              <a:rPr lang="en-US" altLang="zh-CN" sz="1800" dirty="0"/>
              <a:t>0</a:t>
            </a:r>
            <a:r>
              <a:rPr lang="zh-CN" altLang="en-US" sz="1800" dirty="0"/>
              <a:t>或</a:t>
            </a:r>
            <a:r>
              <a:rPr lang="en-US" altLang="zh-CN" sz="1800" dirty="0"/>
              <a:t>1</a:t>
            </a:r>
            <a:r>
              <a:rPr lang="zh-CN" altLang="en-US" sz="1800" dirty="0"/>
              <a:t>，每帧交替使用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36</a:t>
            </a:fld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2467626" y="2731009"/>
            <a:ext cx="3389722" cy="3623165"/>
            <a:chOff x="1189972" y="2923939"/>
            <a:chExt cx="3389722" cy="3623165"/>
          </a:xfrm>
        </p:grpSpPr>
        <p:pic>
          <p:nvPicPr>
            <p:cNvPr id="82" name="图片 8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9972" y="2923939"/>
              <a:ext cx="3389722" cy="3623165"/>
            </a:xfrm>
            <a:prstGeom prst="rect">
              <a:avLst/>
            </a:prstGeom>
          </p:spPr>
        </p:pic>
        <p:sp>
          <p:nvSpPr>
            <p:cNvPr id="44" name="Text Box 4"/>
            <p:cNvSpPr txBox="1">
              <a:spLocks noChangeArrowheads="1"/>
            </p:cNvSpPr>
            <p:nvPr/>
          </p:nvSpPr>
          <p:spPr bwMode="auto">
            <a:xfrm>
              <a:off x="1281595" y="4112259"/>
              <a:ext cx="387226" cy="58525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时间</a:t>
              </a:r>
            </a:p>
          </p:txBody>
        </p:sp>
        <p:sp>
          <p:nvSpPr>
            <p:cNvPr id="45" name="Line 5"/>
            <p:cNvSpPr>
              <a:spLocks noChangeShapeType="1"/>
            </p:cNvSpPr>
            <p:nvPr/>
          </p:nvSpPr>
          <p:spPr bwMode="auto">
            <a:xfrm flipH="1">
              <a:off x="1624018" y="3842497"/>
              <a:ext cx="0" cy="150902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6" name="Line 7"/>
            <p:cNvSpPr>
              <a:spLocks noChangeShapeType="1"/>
            </p:cNvSpPr>
            <p:nvPr/>
          </p:nvSpPr>
          <p:spPr bwMode="auto">
            <a:xfrm>
              <a:off x="2311862" y="3313078"/>
              <a:ext cx="2088" cy="2962462"/>
            </a:xfrm>
            <a:prstGeom prst="line">
              <a:avLst/>
            </a:prstGeom>
            <a:noFill/>
            <a:ln w="2222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7" name="Line 8"/>
            <p:cNvSpPr>
              <a:spLocks noChangeShapeType="1"/>
            </p:cNvSpPr>
            <p:nvPr/>
          </p:nvSpPr>
          <p:spPr bwMode="auto">
            <a:xfrm>
              <a:off x="3916084" y="3291251"/>
              <a:ext cx="46822" cy="2984289"/>
            </a:xfrm>
            <a:prstGeom prst="line">
              <a:avLst/>
            </a:prstGeom>
            <a:noFill/>
            <a:ln w="2222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8" name="Line 9"/>
            <p:cNvSpPr>
              <a:spLocks noChangeShapeType="1"/>
            </p:cNvSpPr>
            <p:nvPr/>
          </p:nvSpPr>
          <p:spPr bwMode="auto">
            <a:xfrm>
              <a:off x="2311863" y="3605097"/>
              <a:ext cx="1593783" cy="3336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9" name="Line 10"/>
            <p:cNvSpPr>
              <a:spLocks noChangeShapeType="1"/>
            </p:cNvSpPr>
            <p:nvPr/>
          </p:nvSpPr>
          <p:spPr bwMode="auto">
            <a:xfrm flipH="1">
              <a:off x="2298679" y="4009964"/>
              <a:ext cx="1617405" cy="3079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4" name="Text Box 15"/>
            <p:cNvSpPr txBox="1">
              <a:spLocks noChangeArrowheads="1"/>
            </p:cNvSpPr>
            <p:nvPr/>
          </p:nvSpPr>
          <p:spPr bwMode="auto">
            <a:xfrm>
              <a:off x="1924638" y="3035809"/>
              <a:ext cx="829769" cy="338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Sender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5" name="Text Box 16"/>
            <p:cNvSpPr txBox="1">
              <a:spLocks noChangeArrowheads="1"/>
            </p:cNvSpPr>
            <p:nvPr/>
          </p:nvSpPr>
          <p:spPr bwMode="auto">
            <a:xfrm>
              <a:off x="3528859" y="3011425"/>
              <a:ext cx="940405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Receiver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6" name="Text Box 17"/>
            <p:cNvSpPr txBox="1">
              <a:spLocks noChangeArrowheads="1"/>
            </p:cNvSpPr>
            <p:nvPr/>
          </p:nvSpPr>
          <p:spPr bwMode="auto">
            <a:xfrm>
              <a:off x="2741972" y="3503944"/>
              <a:ext cx="888667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Frame 0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7" name="Text Box 18"/>
            <p:cNvSpPr txBox="1">
              <a:spLocks noChangeArrowheads="1"/>
            </p:cNvSpPr>
            <p:nvPr/>
          </p:nvSpPr>
          <p:spPr bwMode="auto">
            <a:xfrm>
              <a:off x="2722623" y="3913679"/>
              <a:ext cx="73466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ACK 0</a:t>
              </a:r>
            </a:p>
          </p:txBody>
        </p:sp>
        <p:sp>
          <p:nvSpPr>
            <p:cNvPr id="40" name="Line 9"/>
            <p:cNvSpPr>
              <a:spLocks noChangeShapeType="1"/>
            </p:cNvSpPr>
            <p:nvPr/>
          </p:nvSpPr>
          <p:spPr bwMode="auto">
            <a:xfrm>
              <a:off x="2301425" y="4396323"/>
              <a:ext cx="1604221" cy="3336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1" name="Line 10"/>
            <p:cNvSpPr>
              <a:spLocks noChangeShapeType="1"/>
            </p:cNvSpPr>
            <p:nvPr/>
          </p:nvSpPr>
          <p:spPr bwMode="auto">
            <a:xfrm flipH="1">
              <a:off x="2288241" y="4801190"/>
              <a:ext cx="1617405" cy="3079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2" name="Text Box 17"/>
            <p:cNvSpPr txBox="1">
              <a:spLocks noChangeArrowheads="1"/>
            </p:cNvSpPr>
            <p:nvPr/>
          </p:nvSpPr>
          <p:spPr bwMode="auto">
            <a:xfrm>
              <a:off x="2731534" y="4295170"/>
              <a:ext cx="888667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Frame 1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3" name="Text Box 18"/>
            <p:cNvSpPr txBox="1">
              <a:spLocks noChangeArrowheads="1"/>
            </p:cNvSpPr>
            <p:nvPr/>
          </p:nvSpPr>
          <p:spPr bwMode="auto">
            <a:xfrm>
              <a:off x="2712185" y="4704905"/>
              <a:ext cx="73466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ACK 1</a:t>
              </a:r>
            </a:p>
          </p:txBody>
        </p:sp>
        <p:sp>
          <p:nvSpPr>
            <p:cNvPr id="60" name="Line 9"/>
            <p:cNvSpPr>
              <a:spLocks noChangeShapeType="1"/>
            </p:cNvSpPr>
            <p:nvPr/>
          </p:nvSpPr>
          <p:spPr bwMode="auto">
            <a:xfrm>
              <a:off x="2313951" y="5172935"/>
              <a:ext cx="1593783" cy="3336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1" name="Line 10"/>
            <p:cNvSpPr>
              <a:spLocks noChangeShapeType="1"/>
            </p:cNvSpPr>
            <p:nvPr/>
          </p:nvSpPr>
          <p:spPr bwMode="auto">
            <a:xfrm flipH="1">
              <a:off x="2300767" y="5577802"/>
              <a:ext cx="1617405" cy="30792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2" name="Text Box 17"/>
            <p:cNvSpPr txBox="1">
              <a:spLocks noChangeArrowheads="1"/>
            </p:cNvSpPr>
            <p:nvPr/>
          </p:nvSpPr>
          <p:spPr bwMode="auto">
            <a:xfrm>
              <a:off x="2744060" y="5071782"/>
              <a:ext cx="888667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Frame 0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3" name="Text Box 18"/>
            <p:cNvSpPr txBox="1">
              <a:spLocks noChangeArrowheads="1"/>
            </p:cNvSpPr>
            <p:nvPr/>
          </p:nvSpPr>
          <p:spPr bwMode="auto">
            <a:xfrm>
              <a:off x="2724711" y="5481517"/>
              <a:ext cx="73466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ACK 0</a:t>
              </a:r>
            </a:p>
          </p:txBody>
        </p:sp>
        <p:sp>
          <p:nvSpPr>
            <p:cNvPr id="64" name="Text Box 4"/>
            <p:cNvSpPr txBox="1">
              <a:spLocks noChangeArrowheads="1"/>
            </p:cNvSpPr>
            <p:nvPr/>
          </p:nvSpPr>
          <p:spPr bwMode="auto">
            <a:xfrm>
              <a:off x="2905420" y="5966703"/>
              <a:ext cx="461665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b="1" kern="0" dirty="0">
                  <a:latin typeface="Calibri" panose="020F0502020204030204" pitchFamily="34" charset="0"/>
                  <a:ea typeface="华文楷体" panose="02010600040101010101" pitchFamily="2" charset="-122"/>
                </a:rPr>
                <a:t>…</a:t>
              </a:r>
              <a:endParaRPr kumimoji="1" lang="zh-CN" altLang="en-US" b="1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90662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Calibri" panose="020F0502020204030204" pitchFamily="34" charset="0"/>
              </a:rPr>
              <a:t>停等</a:t>
            </a:r>
            <a:r>
              <a:rPr lang="en-US" altLang="zh-CN" dirty="0">
                <a:latin typeface="Calibri" panose="020F0502020204030204" pitchFamily="34" charset="0"/>
              </a:rPr>
              <a:t>(stop-and-wait)</a:t>
            </a:r>
            <a:r>
              <a:rPr lang="zh-CN" altLang="en-US" dirty="0">
                <a:latin typeface="Calibri" panose="020F0502020204030204" pitchFamily="34" charset="0"/>
              </a:rPr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3436988"/>
          </a:xfrm>
        </p:spPr>
        <p:txBody>
          <a:bodyPr/>
          <a:lstStyle/>
          <a:p>
            <a:r>
              <a:rPr lang="zh-CN" altLang="en-US" dirty="0"/>
              <a:t>缺点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只允许链路上有一个未确认的帧，这可能远远低于链路的容量</a:t>
            </a:r>
            <a:endParaRPr lang="en-US" altLang="zh-CN" sz="1800" dirty="0"/>
          </a:p>
          <a:p>
            <a:pPr>
              <a:spcBef>
                <a:spcPts val="1800"/>
              </a:spcBef>
            </a:pPr>
            <a:r>
              <a:rPr lang="zh-CN" altLang="en-US" sz="2200" dirty="0"/>
              <a:t>例：</a:t>
            </a:r>
            <a:r>
              <a:rPr lang="en-US" altLang="zh-CN" sz="2200" dirty="0"/>
              <a:t>RTT=90ms</a:t>
            </a:r>
            <a:r>
              <a:rPr lang="zh-CN" altLang="en-US" sz="2200" dirty="0"/>
              <a:t>的</a:t>
            </a:r>
            <a:r>
              <a:rPr lang="en-US" altLang="zh-CN" sz="2200" dirty="0"/>
              <a:t>1.5Mbps</a:t>
            </a:r>
            <a:r>
              <a:rPr lang="zh-CN" altLang="en-US" sz="2200" dirty="0"/>
              <a:t>链路</a:t>
            </a:r>
            <a:endParaRPr lang="en-US" altLang="zh-CN" sz="2200" dirty="0"/>
          </a:p>
          <a:p>
            <a:pPr lvl="1">
              <a:lnSpc>
                <a:spcPct val="150000"/>
              </a:lnSpc>
            </a:pPr>
            <a:r>
              <a:rPr lang="zh-CN" altLang="en-US" sz="1800" dirty="0"/>
              <a:t>单向链路的延迟与带宽的乘积为</a:t>
            </a:r>
            <a:r>
              <a:rPr lang="en-US" altLang="zh-CN" sz="1800" dirty="0"/>
              <a:t>67.5Kb</a:t>
            </a:r>
            <a:r>
              <a:rPr lang="zh-CN" altLang="en-US" sz="1800" dirty="0"/>
              <a:t>，约</a:t>
            </a:r>
            <a:r>
              <a:rPr lang="en-US" altLang="zh-CN" sz="1800" dirty="0"/>
              <a:t>8KB</a:t>
            </a:r>
            <a:endParaRPr lang="zh-CN" altLang="en-US" sz="1800" dirty="0"/>
          </a:p>
          <a:p>
            <a:pPr lvl="1">
              <a:lnSpc>
                <a:spcPct val="150000"/>
              </a:lnSpc>
              <a:spcBef>
                <a:spcPts val="1200"/>
              </a:spcBef>
            </a:pPr>
            <a:r>
              <a:rPr lang="zh-CN" altLang="en-US" sz="1800" dirty="0"/>
              <a:t>发送方每个</a:t>
            </a:r>
            <a:r>
              <a:rPr lang="en-US" altLang="zh-CN" sz="1800" dirty="0"/>
              <a:t>RTT</a:t>
            </a:r>
            <a:r>
              <a:rPr lang="zh-CN" altLang="en-US" sz="1800" dirty="0"/>
              <a:t>仅能发送一帧，假设一帧为</a:t>
            </a:r>
            <a:r>
              <a:rPr lang="en-US" altLang="zh-CN" sz="1800" dirty="0"/>
              <a:t>1KB</a:t>
            </a:r>
            <a:r>
              <a:rPr lang="zh-CN" altLang="en-US" sz="1800" dirty="0"/>
              <a:t>，大约是链路容量的</a:t>
            </a:r>
            <a:r>
              <a:rPr lang="en-US" altLang="zh-CN" sz="1800" dirty="0"/>
              <a:t>1/8  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800" dirty="0"/>
              <a:t>为完全利用链路，希望发送方在等待一个</a:t>
            </a:r>
            <a:r>
              <a:rPr lang="en-US" altLang="zh-CN" sz="1800" dirty="0"/>
              <a:t>ACK</a:t>
            </a:r>
            <a:r>
              <a:rPr lang="zh-CN" altLang="en-US" sz="1800" dirty="0"/>
              <a:t>之前最多能够发送</a:t>
            </a:r>
            <a:r>
              <a:rPr lang="en-US" altLang="zh-CN" sz="1800" dirty="0"/>
              <a:t>8</a:t>
            </a:r>
            <a:r>
              <a:rPr lang="zh-CN" altLang="en-US" sz="1800" dirty="0"/>
              <a:t>帧</a:t>
            </a:r>
          </a:p>
          <a:p>
            <a:pPr lvl="1">
              <a:lnSpc>
                <a:spcPct val="150000"/>
              </a:lnSpc>
            </a:pPr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sp>
        <p:nvSpPr>
          <p:cNvPr id="43" name="文本框 42"/>
          <p:cNvSpPr txBox="1"/>
          <p:nvPr/>
        </p:nvSpPr>
        <p:spPr>
          <a:xfrm>
            <a:off x="268224" y="4945252"/>
            <a:ext cx="8668512" cy="152529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>
            <a:defPPr>
              <a:defRPr lang="zh-CN"/>
            </a:defPPr>
            <a:lvl1pPr>
              <a:defRPr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¥"/>
            </a:pPr>
            <a:r>
              <a:rPr lang="zh-CN" altLang="en-US" sz="2000" dirty="0"/>
              <a:t>时延带宽积的重要性</a:t>
            </a:r>
            <a:endParaRPr lang="en-US" altLang="zh-CN" sz="2000" dirty="0"/>
          </a:p>
          <a:p>
            <a:pPr marL="648000" lvl="1" indent="-285750">
              <a:lnSpc>
                <a:spcPct val="150000"/>
              </a:lnSpc>
              <a:buFont typeface="Wingdings 3" panose="05040102010807070707" pitchFamily="18" charset="2"/>
              <a:buChar char="4"/>
            </a:pP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它表示可传输的数据总量，希望不等待第一个</a:t>
            </a:r>
            <a:r>
              <a:rPr lang="en-US" altLang="zh-CN" dirty="0">
                <a:latin typeface="Calibri" panose="020F0502020204030204" pitchFamily="34" charset="0"/>
                <a:ea typeface="黑体" panose="02010609060101010101" pitchFamily="49" charset="-122"/>
              </a:rPr>
              <a:t>ACK</a:t>
            </a: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而能够发送这么多的数据</a:t>
            </a:r>
            <a:endParaRPr lang="en-US" altLang="zh-CN" dirty="0"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marL="648000" lvl="1" indent="-285750">
              <a:lnSpc>
                <a:spcPct val="150000"/>
              </a:lnSpc>
              <a:buFont typeface="Wingdings 3" panose="05040102010807070707" pitchFamily="18" charset="2"/>
              <a:buChar char="4"/>
            </a:pP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这里使用的原理通常被称为保持管道满载 </a:t>
            </a:r>
            <a:r>
              <a:rPr lang="en-US" altLang="zh-CN" dirty="0">
                <a:latin typeface="Calibri" panose="020F0502020204030204" pitchFamily="34" charset="0"/>
                <a:ea typeface="黑体" panose="02010609060101010101" pitchFamily="49" charset="-122"/>
              </a:rPr>
              <a:t>(keeping the pipe full)</a:t>
            </a:r>
            <a:endParaRPr lang="zh-CN" altLang="en-US" dirty="0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1035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Calibri" panose="020F0502020204030204" pitchFamily="34" charset="0"/>
              </a:rPr>
              <a:t>滑动窗口</a:t>
            </a:r>
            <a:r>
              <a:rPr lang="en-US" altLang="zh-CN" dirty="0">
                <a:latin typeface="Calibri" panose="020F0502020204030204" pitchFamily="34" charset="0"/>
              </a:rPr>
              <a:t>(sliding-window)</a:t>
            </a:r>
            <a:r>
              <a:rPr lang="zh-CN" altLang="en-US" dirty="0">
                <a:latin typeface="Calibri" panose="020F0502020204030204" pitchFamily="34" charset="0"/>
              </a:rPr>
              <a:t>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32786"/>
            <a:ext cx="8229600" cy="2547901"/>
          </a:xfrm>
        </p:spPr>
        <p:txBody>
          <a:bodyPr/>
          <a:lstStyle/>
          <a:p>
            <a:r>
              <a:rPr lang="zh-CN" altLang="en-US" sz="2000" dirty="0"/>
              <a:t>保持管道满载，提升传输速率的方法</a:t>
            </a:r>
          </a:p>
          <a:p>
            <a:pPr lvl="1"/>
            <a:r>
              <a:rPr lang="zh-CN" altLang="en-US" sz="1800" dirty="0"/>
              <a:t>增加单位时间传输数据帧的数目</a:t>
            </a:r>
            <a:endParaRPr lang="en-US" altLang="zh-CN" sz="1800" dirty="0"/>
          </a:p>
          <a:p>
            <a:pPr lvl="1"/>
            <a:r>
              <a:rPr lang="zh-CN" altLang="en-US" sz="1800" dirty="0"/>
              <a:t>上例中，希望第</a:t>
            </a:r>
            <a:r>
              <a:rPr lang="en-US" altLang="zh-CN" sz="1800" dirty="0"/>
              <a:t>1</a:t>
            </a:r>
            <a:r>
              <a:rPr lang="zh-CN" altLang="en-US" sz="1800" dirty="0"/>
              <a:t>的帧</a:t>
            </a:r>
            <a:r>
              <a:rPr lang="en-US" altLang="zh-CN" sz="1800" dirty="0"/>
              <a:t>ACK</a:t>
            </a:r>
            <a:r>
              <a:rPr lang="zh-CN" altLang="en-US" sz="1800" dirty="0"/>
              <a:t>到达时，发送方已准备发第</a:t>
            </a:r>
            <a:r>
              <a:rPr lang="en-US" altLang="zh-CN" sz="1800" dirty="0"/>
              <a:t>9</a:t>
            </a:r>
            <a:r>
              <a:rPr lang="zh-CN" altLang="en-US" sz="1800" dirty="0"/>
              <a:t>帧</a:t>
            </a:r>
            <a:endParaRPr lang="en-US" altLang="zh-CN" sz="1800" dirty="0"/>
          </a:p>
          <a:p>
            <a:pPr>
              <a:spcBef>
                <a:spcPts val="600"/>
              </a:spcBef>
            </a:pPr>
            <a:r>
              <a:rPr lang="zh-CN" altLang="en-US" sz="2000" dirty="0"/>
              <a:t>并发传输数据</a:t>
            </a:r>
          </a:p>
          <a:p>
            <a:pPr lvl="1"/>
            <a:r>
              <a:rPr lang="zh-CN" altLang="en-US" sz="1800" dirty="0"/>
              <a:t>允许多个在途传输 </a:t>
            </a:r>
            <a:r>
              <a:rPr lang="en-US" altLang="zh-CN" sz="1800" dirty="0"/>
              <a:t>(</a:t>
            </a:r>
            <a:r>
              <a:rPr lang="zh-CN" altLang="en-US" sz="1800" dirty="0"/>
              <a:t>未收到</a:t>
            </a:r>
            <a:r>
              <a:rPr lang="en-US" altLang="zh-CN" sz="1800" dirty="0"/>
              <a:t>ACK) </a:t>
            </a:r>
            <a:r>
              <a:rPr lang="zh-CN" altLang="en-US" sz="1800" dirty="0"/>
              <a:t>的数据帧</a:t>
            </a:r>
          </a:p>
          <a:p>
            <a:pPr lvl="1"/>
            <a:r>
              <a:rPr lang="zh-CN" altLang="en-US" sz="1800" dirty="0"/>
              <a:t>通过窗口大小 </a:t>
            </a:r>
            <a:r>
              <a:rPr lang="en-US" altLang="zh-CN" sz="1800" dirty="0"/>
              <a:t>(window) </a:t>
            </a:r>
            <a:r>
              <a:rPr lang="zh-CN" altLang="en-US" sz="1800" dirty="0"/>
              <a:t>限制在途传输的数据帧个数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38</a:t>
            </a:fld>
            <a:endParaRPr lang="zh-CN" altLang="en-US" dirty="0"/>
          </a:p>
        </p:txBody>
      </p:sp>
      <p:grpSp>
        <p:nvGrpSpPr>
          <p:cNvPr id="23" name="组合 22"/>
          <p:cNvGrpSpPr/>
          <p:nvPr/>
        </p:nvGrpSpPr>
        <p:grpSpPr>
          <a:xfrm>
            <a:off x="2818232" y="3889247"/>
            <a:ext cx="3204616" cy="1953471"/>
            <a:chOff x="2818232" y="3962399"/>
            <a:chExt cx="3204616" cy="1953471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9276" y="3992879"/>
              <a:ext cx="3163572" cy="1922991"/>
            </a:xfrm>
            <a:prstGeom prst="rect">
              <a:avLst/>
            </a:prstGeom>
          </p:spPr>
        </p:pic>
        <p:grpSp>
          <p:nvGrpSpPr>
            <p:cNvPr id="5" name="组合 4"/>
            <p:cNvGrpSpPr/>
            <p:nvPr/>
          </p:nvGrpSpPr>
          <p:grpSpPr>
            <a:xfrm>
              <a:off x="2818232" y="3962399"/>
              <a:ext cx="2960777" cy="1927431"/>
              <a:chOff x="2732111" y="3781183"/>
              <a:chExt cx="2575182" cy="1927431"/>
            </a:xfrm>
          </p:grpSpPr>
          <p:sp>
            <p:nvSpPr>
              <p:cNvPr id="21" name="文本框 20"/>
              <p:cNvSpPr txBox="1"/>
              <p:nvPr/>
            </p:nvSpPr>
            <p:spPr>
              <a:xfrm>
                <a:off x="2732111" y="4841266"/>
                <a:ext cx="74419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>
                    <a:solidFill>
                      <a:prstClr val="black"/>
                    </a:solidFill>
                    <a:latin typeface="Calibri" panose="020F0502020204030204" pitchFamily="34" charset="0"/>
                  </a:rPr>
                  <a:t>window</a:t>
                </a:r>
                <a:endParaRPr lang="zh-CN" altLang="en-US" sz="1600" dirty="0">
                  <a:solidFill>
                    <a:prstClr val="black"/>
                  </a:solidFill>
                  <a:latin typeface="Calibri" panose="020F0502020204030204" pitchFamily="34" charset="0"/>
                </a:endParaRPr>
              </a:p>
            </p:txBody>
          </p:sp>
          <p:cxnSp>
            <p:nvCxnSpPr>
              <p:cNvPr id="6" name="直接连接符 5"/>
              <p:cNvCxnSpPr/>
              <p:nvPr/>
            </p:nvCxnSpPr>
            <p:spPr>
              <a:xfrm>
                <a:off x="3505343" y="3964063"/>
                <a:ext cx="0" cy="1744551"/>
              </a:xfrm>
              <a:prstGeom prst="line">
                <a:avLst/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连接符 6"/>
              <p:cNvCxnSpPr/>
              <p:nvPr/>
            </p:nvCxnSpPr>
            <p:spPr>
              <a:xfrm>
                <a:off x="4978543" y="3964063"/>
                <a:ext cx="0" cy="1744551"/>
              </a:xfrm>
              <a:prstGeom prst="line">
                <a:avLst/>
              </a:prstGeom>
              <a:ln w="254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接箭头连接符 7"/>
              <p:cNvCxnSpPr/>
              <p:nvPr/>
            </p:nvCxnSpPr>
            <p:spPr>
              <a:xfrm>
                <a:off x="3500263" y="4258703"/>
                <a:ext cx="1483360" cy="2844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/>
              <p:cNvCxnSpPr/>
              <p:nvPr/>
            </p:nvCxnSpPr>
            <p:spPr>
              <a:xfrm flipV="1">
                <a:off x="3500263" y="4553343"/>
                <a:ext cx="1483360" cy="284480"/>
              </a:xfrm>
              <a:prstGeom prst="straightConnector1">
                <a:avLst/>
              </a:prstGeom>
              <a:ln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文本框 9"/>
              <p:cNvSpPr txBox="1"/>
              <p:nvPr/>
            </p:nvSpPr>
            <p:spPr>
              <a:xfrm>
                <a:off x="3178953" y="3781183"/>
                <a:ext cx="2904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prstClr val="black"/>
                    </a:solidFill>
                    <a:latin typeface="Calibri" panose="020F0502020204030204" pitchFamily="34" charset="0"/>
                  </a:rPr>
                  <a:t>S</a:t>
                </a:r>
                <a:endParaRPr lang="zh-CN" altLang="en-US" dirty="0">
                  <a:solidFill>
                    <a:prstClr val="black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4997593" y="3781183"/>
                <a:ext cx="3097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>
                    <a:solidFill>
                      <a:prstClr val="black"/>
                    </a:solidFill>
                    <a:latin typeface="Calibri" panose="020F0502020204030204" pitchFamily="34" charset="0"/>
                  </a:rPr>
                  <a:t>R</a:t>
                </a:r>
                <a:endParaRPr lang="zh-CN" altLang="en-US" dirty="0">
                  <a:solidFill>
                    <a:prstClr val="black"/>
                  </a:solidFill>
                  <a:latin typeface="Calibri" panose="020F0502020204030204" pitchFamily="34" charset="0"/>
                </a:endParaRPr>
              </a:p>
            </p:txBody>
          </p:sp>
          <p:cxnSp>
            <p:nvCxnSpPr>
              <p:cNvPr id="12" name="直接箭头连接符 11"/>
              <p:cNvCxnSpPr/>
              <p:nvPr/>
            </p:nvCxnSpPr>
            <p:spPr>
              <a:xfrm>
                <a:off x="3500263" y="4411103"/>
                <a:ext cx="1483360" cy="2844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/>
              <p:cNvCxnSpPr/>
              <p:nvPr/>
            </p:nvCxnSpPr>
            <p:spPr>
              <a:xfrm flipV="1">
                <a:off x="3500263" y="4705743"/>
                <a:ext cx="1483360" cy="284480"/>
              </a:xfrm>
              <a:prstGeom prst="straightConnector1">
                <a:avLst/>
              </a:prstGeom>
              <a:ln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箭头连接符 13"/>
              <p:cNvCxnSpPr/>
              <p:nvPr/>
            </p:nvCxnSpPr>
            <p:spPr>
              <a:xfrm>
                <a:off x="3500263" y="4573663"/>
                <a:ext cx="1483360" cy="2844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箭头连接符 14"/>
              <p:cNvCxnSpPr/>
              <p:nvPr/>
            </p:nvCxnSpPr>
            <p:spPr>
              <a:xfrm flipV="1">
                <a:off x="3500263" y="4868303"/>
                <a:ext cx="1483360" cy="284480"/>
              </a:xfrm>
              <a:prstGeom prst="straightConnector1">
                <a:avLst/>
              </a:prstGeom>
              <a:ln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接箭头连接符 15"/>
              <p:cNvCxnSpPr/>
              <p:nvPr/>
            </p:nvCxnSpPr>
            <p:spPr>
              <a:xfrm>
                <a:off x="3500263" y="4868303"/>
                <a:ext cx="1483360" cy="2844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/>
              <p:cNvCxnSpPr/>
              <p:nvPr/>
            </p:nvCxnSpPr>
            <p:spPr>
              <a:xfrm>
                <a:off x="3500263" y="5020703"/>
                <a:ext cx="1483360" cy="2844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/>
              <p:cNvCxnSpPr/>
              <p:nvPr/>
            </p:nvCxnSpPr>
            <p:spPr>
              <a:xfrm>
                <a:off x="3500263" y="5183263"/>
                <a:ext cx="1483360" cy="2844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文本框 18"/>
              <p:cNvSpPr txBox="1"/>
              <p:nvPr/>
            </p:nvSpPr>
            <p:spPr>
              <a:xfrm>
                <a:off x="4047155" y="5396623"/>
                <a:ext cx="461665" cy="251031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en-US" altLang="zh-CN" dirty="0">
                    <a:solidFill>
                      <a:prstClr val="black"/>
                    </a:solidFill>
                    <a:latin typeface="Calibri" panose="020F0502020204030204" pitchFamily="34" charset="0"/>
                  </a:rPr>
                  <a:t>…</a:t>
                </a:r>
                <a:endParaRPr lang="zh-CN" altLang="en-US" dirty="0">
                  <a:solidFill>
                    <a:prstClr val="black"/>
                  </a:solidFill>
                  <a:latin typeface="Calibri" panose="020F0502020204030204" pitchFamily="34" charset="0"/>
                </a:endParaRPr>
              </a:p>
            </p:txBody>
          </p:sp>
          <p:sp>
            <p:nvSpPr>
              <p:cNvPr id="20" name="右大括号 19"/>
              <p:cNvSpPr/>
              <p:nvPr/>
            </p:nvSpPr>
            <p:spPr>
              <a:xfrm flipH="1">
                <a:off x="3385946" y="4837823"/>
                <a:ext cx="60960" cy="345440"/>
              </a:xfrm>
              <a:prstGeom prst="rightBrac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black"/>
                  </a:solidFill>
                  <a:latin typeface="Calibri" panose="020F0502020204030204" pitchFamily="34" charset="0"/>
                </a:endParaRPr>
              </a:p>
            </p:txBody>
          </p:sp>
        </p:grpSp>
      </p:grpSp>
      <p:sp>
        <p:nvSpPr>
          <p:cNvPr id="25" name="内容占位符 2"/>
          <p:cNvSpPr txBox="1">
            <a:spLocks/>
          </p:cNvSpPr>
          <p:nvPr/>
        </p:nvSpPr>
        <p:spPr bwMode="auto">
          <a:xfrm>
            <a:off x="469392" y="5883734"/>
            <a:ext cx="8229600" cy="877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000" kern="0" dirty="0"/>
              <a:t>每个数据帧赋予一个序列号 </a:t>
            </a:r>
            <a:r>
              <a:rPr lang="en-US" altLang="zh-CN" sz="2000" kern="0" dirty="0"/>
              <a:t>(Sequence Number, </a:t>
            </a:r>
            <a:r>
              <a:rPr lang="en-US" altLang="zh-CN" sz="2000" kern="0" dirty="0" err="1"/>
              <a:t>SeqNum</a:t>
            </a:r>
            <a:r>
              <a:rPr lang="en-US" altLang="zh-CN" sz="2000" kern="0" dirty="0"/>
              <a:t>)</a:t>
            </a:r>
            <a:endParaRPr lang="zh-CN" altLang="en-US" sz="2000" kern="0" dirty="0"/>
          </a:p>
          <a:p>
            <a:pPr lvl="1">
              <a:spcBef>
                <a:spcPts val="0"/>
              </a:spcBef>
            </a:pPr>
            <a:r>
              <a:rPr lang="zh-CN" altLang="en-US" sz="1800" kern="0" dirty="0"/>
              <a:t>匹配数据帧与对应的</a:t>
            </a:r>
            <a:r>
              <a:rPr lang="en-US" altLang="zh-CN" sz="1800" kern="0" dirty="0"/>
              <a:t>ACK</a:t>
            </a:r>
            <a:r>
              <a:rPr lang="zh-CN" altLang="en-US" sz="1800" kern="0" dirty="0"/>
              <a:t>，假设</a:t>
            </a:r>
            <a:r>
              <a:rPr lang="en-US" altLang="zh-CN" sz="1800" kern="0" dirty="0" err="1"/>
              <a:t>SeqNum</a:t>
            </a:r>
            <a:r>
              <a:rPr lang="zh-CN" altLang="en-US" sz="1800" kern="0" dirty="0"/>
              <a:t>能无限大</a:t>
            </a:r>
            <a:endParaRPr lang="en-US" altLang="zh-CN" sz="1800" kern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0458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047366" y="3517624"/>
            <a:ext cx="5084953" cy="1484802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0756" y="1392207"/>
            <a:ext cx="8370711" cy="2097880"/>
          </a:xfrm>
        </p:spPr>
        <p:txBody>
          <a:bodyPr/>
          <a:lstStyle/>
          <a:p>
            <a:r>
              <a:rPr lang="zh-CN" altLang="en-US" dirty="0"/>
              <a:t>发送方</a:t>
            </a:r>
          </a:p>
          <a:p>
            <a:pPr marL="648000" lvl="1"/>
            <a:r>
              <a:rPr lang="zh-CN" altLang="en-US" dirty="0"/>
              <a:t>维护三个状态变量</a:t>
            </a:r>
            <a:endParaRPr lang="en-US" altLang="zh-CN" dirty="0"/>
          </a:p>
          <a:p>
            <a:pPr marL="900000" lvl="2"/>
            <a:r>
              <a:rPr lang="zh-CN" altLang="en-US" dirty="0"/>
              <a:t>发送窗口大小 </a:t>
            </a:r>
            <a:r>
              <a:rPr lang="en-US" altLang="zh-CN" dirty="0"/>
              <a:t>(Send Window Size, SWS)</a:t>
            </a:r>
            <a:r>
              <a:rPr lang="zh-CN" altLang="en-US" dirty="0"/>
              <a:t>：能够发送但未确认的帧数的上界</a:t>
            </a:r>
          </a:p>
          <a:p>
            <a:pPr marL="900000" lvl="2">
              <a:spcBef>
                <a:spcPts val="600"/>
              </a:spcBef>
            </a:pPr>
            <a:r>
              <a:rPr lang="zh-CN" altLang="en-US" dirty="0"/>
              <a:t>最近被确认过的帧的序号 </a:t>
            </a:r>
            <a:r>
              <a:rPr lang="en-US" altLang="zh-CN" dirty="0"/>
              <a:t>(Last Acknowledgement Received, LAR)</a:t>
            </a:r>
          </a:p>
          <a:p>
            <a:pPr marL="900000" lvl="2">
              <a:spcBef>
                <a:spcPts val="600"/>
              </a:spcBef>
            </a:pPr>
            <a:r>
              <a:rPr lang="zh-CN" altLang="en-US" dirty="0"/>
              <a:t>最近发送的帧的序号 </a:t>
            </a:r>
            <a:r>
              <a:rPr lang="en-US" altLang="zh-CN" dirty="0"/>
              <a:t>(Last Frame Sent, LFS)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Calibri" panose="020F0502020204030204" pitchFamily="34" charset="0"/>
              </a:rPr>
              <a:t>滑动窗口</a:t>
            </a:r>
            <a:r>
              <a:rPr lang="en-US" altLang="zh-CN" dirty="0">
                <a:latin typeface="Calibri" panose="020F0502020204030204" pitchFamily="34" charset="0"/>
              </a:rPr>
              <a:t>(sliding-window)</a:t>
            </a:r>
            <a:r>
              <a:rPr lang="zh-CN" altLang="en-US" dirty="0">
                <a:latin typeface="Calibri" panose="020F0502020204030204" pitchFamily="34" charset="0"/>
              </a:rPr>
              <a:t>算法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39</a:t>
            </a:fld>
            <a:endParaRPr lang="zh-CN" altLang="en-US" dirty="0"/>
          </a:p>
        </p:txBody>
      </p:sp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2196592" y="4125976"/>
          <a:ext cx="4683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3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3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3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3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3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37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A9A9D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A9A9D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A9A9D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A9A9D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A9A9D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A9A9D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A9A9D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A9A9D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A9A9D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A9A9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右大括号 26"/>
          <p:cNvSpPr/>
          <p:nvPr/>
        </p:nvSpPr>
        <p:spPr>
          <a:xfrm rot="16200000">
            <a:off x="4186682" y="2824226"/>
            <a:ext cx="259080" cy="2344420"/>
          </a:xfrm>
          <a:prstGeom prst="rightBrace">
            <a:avLst>
              <a:gd name="adj1" fmla="val 8333"/>
              <a:gd name="adj2" fmla="val 52646"/>
            </a:avLst>
          </a:prstGeom>
          <a:ln w="15875">
            <a:solidFill>
              <a:srgbClr val="2424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969159" y="3589003"/>
            <a:ext cx="6142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prstClr val="black"/>
                </a:solidFill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≤SWS</a:t>
            </a:r>
            <a:endParaRPr lang="zh-CN" altLang="en-US" sz="14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 flipV="1">
            <a:off x="2877312" y="4496816"/>
            <a:ext cx="0" cy="264160"/>
          </a:xfrm>
          <a:prstGeom prst="straightConnector1">
            <a:avLst/>
          </a:prstGeom>
          <a:ln>
            <a:solidFill>
              <a:srgbClr val="2424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2420112" y="4694648"/>
            <a:ext cx="5068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prstClr val="black"/>
                </a:solidFill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LAR</a:t>
            </a:r>
            <a:endParaRPr lang="zh-CN" altLang="en-US" sz="14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5254752" y="4496816"/>
            <a:ext cx="0" cy="264160"/>
          </a:xfrm>
          <a:prstGeom prst="straightConnector1">
            <a:avLst/>
          </a:prstGeom>
          <a:ln>
            <a:solidFill>
              <a:srgbClr val="2424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4706112" y="4694648"/>
            <a:ext cx="5068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prstClr val="black"/>
                </a:solidFill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LFS</a:t>
            </a:r>
            <a:endParaRPr lang="zh-CN" altLang="en-US" sz="14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内容占位符 2"/>
              <p:cNvSpPr txBox="1">
                <a:spLocks/>
              </p:cNvSpPr>
              <p:nvPr/>
            </p:nvSpPr>
            <p:spPr bwMode="auto">
              <a:xfrm>
                <a:off x="457199" y="5073174"/>
                <a:ext cx="8370711" cy="16324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891" indent="-342891" algn="l" rtl="0" eaLnBrk="1" fontAlgn="base" hangingPunct="1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  <a:cs typeface="+mn-cs"/>
                  </a:defRPr>
                </a:lvl1pPr>
                <a:lvl2pPr marL="742932" indent="-28574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0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2pPr>
                <a:lvl3pPr marL="1142971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18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3pPr>
                <a:lvl4pPr marL="1600160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16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4pPr>
                <a:lvl5pPr marL="2057349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16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5pPr>
                <a:lvl6pPr marL="2514537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726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8914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103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648000" lvl="1"/>
                <a:r>
                  <a:rPr lang="zh-CN" altLang="en-US" kern="0" dirty="0"/>
                  <a:t>操作</a:t>
                </a:r>
                <a:endParaRPr lang="en-US" altLang="zh-CN" kern="0" dirty="0"/>
              </a:p>
              <a:p>
                <a:pPr marL="900000" lvl="2"/>
                <a:r>
                  <a:rPr lang="zh-CN" altLang="en-US" kern="0" dirty="0"/>
                  <a:t>收到</a:t>
                </a:r>
                <a:r>
                  <a:rPr lang="en-US" altLang="zh-CN" kern="0" dirty="0"/>
                  <a:t>ACK</a:t>
                </a:r>
                <a:r>
                  <a:rPr lang="zh-CN" altLang="en-US" kern="0" dirty="0"/>
                  <a:t>：更新</a:t>
                </a:r>
                <a:r>
                  <a:rPr lang="en-US" altLang="zh-CN" kern="0" dirty="0"/>
                  <a:t>LAR (</a:t>
                </a:r>
                <a:r>
                  <a:rPr lang="zh-CN" altLang="en-US" kern="0" dirty="0"/>
                  <a:t>右移</a:t>
                </a:r>
                <a:r>
                  <a:rPr lang="en-US" altLang="zh-CN" kern="0" dirty="0"/>
                  <a:t>)</a:t>
                </a:r>
                <a:r>
                  <a:rPr lang="zh-CN" altLang="en-US" kern="0" dirty="0"/>
                  <a:t>，若窗口允许，发送新的帧，更新</a:t>
                </a:r>
                <a:r>
                  <a:rPr lang="en-US" altLang="zh-CN" kern="0" dirty="0"/>
                  <a:t>LFS</a:t>
                </a:r>
              </a:p>
              <a:p>
                <a:pPr marL="1357189" lvl="3"/>
                <a:r>
                  <a:rPr lang="zh-CN" altLang="en-US" kern="0" dirty="0"/>
                  <a:t>保证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0" smtClean="0">
                        <a:latin typeface="Cambria Math" panose="02040503050406030204" pitchFamily="18" charset="0"/>
                      </a:rPr>
                      <m:t>LFS</m:t>
                    </m:r>
                    <m:r>
                      <a:rPr lang="en-US" altLang="zh-CN" i="1" kern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altLang="zh-CN" kern="0" smtClean="0">
                        <a:latin typeface="Cambria Math" panose="02040503050406030204" pitchFamily="18" charset="0"/>
                      </a:rPr>
                      <m:t>LAR</m:t>
                    </m:r>
                    <m:r>
                      <a:rPr lang="en-US" altLang="zh-CN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SWS</m:t>
                    </m:r>
                  </m:oMath>
                </a14:m>
                <a:endParaRPr lang="en-US" altLang="zh-CN" kern="0" dirty="0"/>
              </a:p>
              <a:p>
                <a:pPr marL="900000" lvl="2">
                  <a:spcBef>
                    <a:spcPts val="600"/>
                  </a:spcBef>
                </a:pPr>
                <a:r>
                  <a:rPr lang="zh-CN" altLang="en-US" kern="0" dirty="0"/>
                  <a:t>为每帧设置定时器，若收到</a:t>
                </a:r>
                <a:r>
                  <a:rPr lang="en-US" altLang="zh-CN" kern="0" dirty="0"/>
                  <a:t>ACK</a:t>
                </a:r>
                <a:r>
                  <a:rPr lang="zh-CN" altLang="en-US" kern="0" dirty="0"/>
                  <a:t>前超时，重传该帧</a:t>
                </a:r>
                <a:endParaRPr lang="en-US" altLang="zh-CN" kern="0" dirty="0"/>
              </a:p>
              <a:p>
                <a:pPr marL="900000" lvl="2">
                  <a:spcBef>
                    <a:spcPts val="600"/>
                  </a:spcBef>
                </a:pPr>
                <a:r>
                  <a:rPr lang="zh-CN" altLang="en-US" kern="0" dirty="0"/>
                  <a:t>必须能缓存</a:t>
                </a:r>
                <a:r>
                  <a:rPr lang="en-US" altLang="zh-CN" kern="0" dirty="0"/>
                  <a:t>SWS</a:t>
                </a:r>
                <a:r>
                  <a:rPr lang="zh-CN" altLang="en-US" kern="0" dirty="0"/>
                  <a:t>个帧</a:t>
                </a:r>
                <a:endParaRPr lang="en-US" altLang="zh-CN" kern="0" dirty="0"/>
              </a:p>
            </p:txBody>
          </p:sp>
        </mc:Choice>
        <mc:Fallback xmlns="">
          <p:sp>
            <p:nvSpPr>
              <p:cNvPr id="34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199" y="5073174"/>
                <a:ext cx="8370711" cy="1632425"/>
              </a:xfrm>
              <a:prstGeom prst="rect">
                <a:avLst/>
              </a:prstGeom>
              <a:blipFill rotWithShape="0">
                <a:blip r:embed="rId7" cstate="print"/>
                <a:stretch>
                  <a:fillRect t="-2985" b="-115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4105282" y="5439287"/>
            <a:ext cx="1383150" cy="3493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0EFC08-ABFD-49C5-9F77-218549F7F560}"/>
              </a:ext>
            </a:extLst>
          </p:cNvPr>
          <p:cNvSpPr txBox="1"/>
          <p:nvPr/>
        </p:nvSpPr>
        <p:spPr>
          <a:xfrm>
            <a:off x="2047366" y="3517624"/>
            <a:ext cx="879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序号小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E6CA615-8A6E-4662-A949-8D7187E87FEB}"/>
              </a:ext>
            </a:extLst>
          </p:cNvPr>
          <p:cNvSpPr txBox="1"/>
          <p:nvPr/>
        </p:nvSpPr>
        <p:spPr>
          <a:xfrm>
            <a:off x="6318918" y="3533544"/>
            <a:ext cx="11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序号大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841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30" grpId="0"/>
      <p:bldP spid="32" grpId="0"/>
      <p:bldP spid="1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47366" y="3517624"/>
            <a:ext cx="5084953" cy="1484802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32787"/>
            <a:ext cx="8370711" cy="2097880"/>
          </a:xfrm>
        </p:spPr>
        <p:txBody>
          <a:bodyPr/>
          <a:lstStyle/>
          <a:p>
            <a:r>
              <a:rPr lang="zh-CN" altLang="en-US" dirty="0"/>
              <a:t>接收方</a:t>
            </a:r>
          </a:p>
          <a:p>
            <a:pPr marL="648000" lvl="1"/>
            <a:r>
              <a:rPr lang="zh-CN" altLang="en-US" dirty="0"/>
              <a:t>维护三个状态变量</a:t>
            </a:r>
            <a:endParaRPr lang="en-US" altLang="zh-CN" dirty="0"/>
          </a:p>
          <a:p>
            <a:pPr marL="900000" lvl="2">
              <a:spcBef>
                <a:spcPts val="600"/>
              </a:spcBef>
            </a:pPr>
            <a:r>
              <a:rPr lang="zh-CN" altLang="en-US" dirty="0"/>
              <a:t>接收窗口大小 </a:t>
            </a:r>
            <a:r>
              <a:rPr lang="en-US" altLang="zh-CN" dirty="0"/>
              <a:t>(Receive Window Size, RWS)</a:t>
            </a:r>
            <a:r>
              <a:rPr lang="zh-CN" altLang="en-US" dirty="0"/>
              <a:t>：能够接受的无序帧数目上界</a:t>
            </a:r>
          </a:p>
          <a:p>
            <a:pPr marL="900000" lvl="2">
              <a:spcBef>
                <a:spcPts val="600"/>
              </a:spcBef>
            </a:pPr>
            <a:r>
              <a:rPr lang="zh-CN" altLang="en-US" dirty="0"/>
              <a:t>最大的可接收帧的序号 </a:t>
            </a:r>
            <a:r>
              <a:rPr lang="en-US" altLang="zh-CN" dirty="0"/>
              <a:t>(Largest Acceptable Frame, LAF)</a:t>
            </a:r>
          </a:p>
          <a:p>
            <a:pPr marL="900000" lvl="2">
              <a:spcBef>
                <a:spcPts val="600"/>
              </a:spcBef>
            </a:pPr>
            <a:r>
              <a:rPr lang="zh-CN" altLang="en-US" dirty="0"/>
              <a:t>最后确认接收的帧的序号 </a:t>
            </a:r>
            <a:r>
              <a:rPr lang="en-US" altLang="zh-CN" dirty="0"/>
              <a:t>(Last Frame Received, LFR)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Calibri" panose="020F0502020204030204" pitchFamily="34" charset="0"/>
              </a:rPr>
              <a:t>滑动窗口</a:t>
            </a:r>
            <a:r>
              <a:rPr lang="en-US" altLang="zh-CN" dirty="0">
                <a:latin typeface="Calibri" panose="020F0502020204030204" pitchFamily="34" charset="0"/>
              </a:rPr>
              <a:t>(sliding-window)</a:t>
            </a:r>
            <a:r>
              <a:rPr lang="zh-CN" altLang="en-US" dirty="0">
                <a:latin typeface="Calibri" panose="020F0502020204030204" pitchFamily="34" charset="0"/>
              </a:rPr>
              <a:t>算法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40</a:t>
            </a:fld>
            <a:endParaRPr lang="zh-CN" altLang="en-US" dirty="0"/>
          </a:p>
        </p:txBody>
      </p:sp>
      <p:graphicFrame>
        <p:nvGraphicFramePr>
          <p:cNvPr id="26" name="表格 25"/>
          <p:cNvGraphicFramePr>
            <a:graphicFrameLocks noGrp="1"/>
          </p:cNvGraphicFramePr>
          <p:nvPr/>
        </p:nvGraphicFramePr>
        <p:xfrm>
          <a:off x="2196592" y="4125976"/>
          <a:ext cx="468376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83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83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683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683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837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6837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837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6837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A9A9D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A9A9D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A9A9D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A9A9D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A9A9D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A9A9D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A9A9D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A9A9D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solidFill>
                      <a:srgbClr val="A9A9D3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rgbClr val="A9A9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" name="右大括号 26"/>
          <p:cNvSpPr/>
          <p:nvPr/>
        </p:nvSpPr>
        <p:spPr>
          <a:xfrm rot="16200000">
            <a:off x="4186682" y="2824226"/>
            <a:ext cx="259080" cy="2344420"/>
          </a:xfrm>
          <a:prstGeom prst="rightBrace">
            <a:avLst>
              <a:gd name="adj1" fmla="val 8333"/>
              <a:gd name="adj2" fmla="val 52646"/>
            </a:avLst>
          </a:prstGeom>
          <a:ln w="15875">
            <a:solidFill>
              <a:srgbClr val="2424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969159" y="3589003"/>
            <a:ext cx="6142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prstClr val="black"/>
                </a:solidFill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≤RWS</a:t>
            </a:r>
            <a:endParaRPr lang="zh-CN" altLang="en-US" sz="14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 flipV="1">
            <a:off x="2877312" y="4496816"/>
            <a:ext cx="0" cy="264160"/>
          </a:xfrm>
          <a:prstGeom prst="straightConnector1">
            <a:avLst/>
          </a:prstGeom>
          <a:ln>
            <a:solidFill>
              <a:srgbClr val="2424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2420112" y="4694648"/>
            <a:ext cx="5068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prstClr val="black"/>
                </a:solidFill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LFR</a:t>
            </a:r>
            <a:endParaRPr lang="zh-CN" altLang="en-US" sz="14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5254752" y="4496816"/>
            <a:ext cx="0" cy="264160"/>
          </a:xfrm>
          <a:prstGeom prst="straightConnector1">
            <a:avLst/>
          </a:prstGeom>
          <a:ln>
            <a:solidFill>
              <a:srgbClr val="2424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4706112" y="4694648"/>
            <a:ext cx="5068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prstClr val="black"/>
                </a:solidFill>
                <a:latin typeface="Courier New" panose="02070309020205020404" pitchFamily="49" charset="0"/>
                <a:ea typeface="DejaVu Sans Mono" panose="020B0609030804020204" pitchFamily="49" charset="0"/>
                <a:cs typeface="Courier New" panose="02070309020205020404" pitchFamily="49" charset="0"/>
              </a:rPr>
              <a:t>LAF</a:t>
            </a:r>
            <a:endParaRPr lang="zh-CN" altLang="en-US" sz="1400" dirty="0">
              <a:solidFill>
                <a:prstClr val="black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内容占位符 2"/>
              <p:cNvSpPr txBox="1">
                <a:spLocks/>
              </p:cNvSpPr>
              <p:nvPr/>
            </p:nvSpPr>
            <p:spPr bwMode="auto">
              <a:xfrm>
                <a:off x="457199" y="5073174"/>
                <a:ext cx="8370711" cy="16324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891" indent="-342891" algn="l" rtl="0" eaLnBrk="1" fontAlgn="base" hangingPunct="1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  <a:cs typeface="+mn-cs"/>
                  </a:defRPr>
                </a:lvl1pPr>
                <a:lvl2pPr marL="742932" indent="-28574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0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2pPr>
                <a:lvl3pPr marL="1142971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18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3pPr>
                <a:lvl4pPr marL="1600160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16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4pPr>
                <a:lvl5pPr marL="2057349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16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5pPr>
                <a:lvl6pPr marL="2514537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726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8914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103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648000" lvl="1"/>
                <a:r>
                  <a:rPr lang="zh-CN" altLang="en-US" kern="0" dirty="0"/>
                  <a:t>操作</a:t>
                </a:r>
                <a:endParaRPr lang="en-US" altLang="zh-CN" kern="0" dirty="0"/>
              </a:p>
              <a:p>
                <a:pPr marL="900000" lvl="2">
                  <a:spcBef>
                    <a:spcPts val="600"/>
                  </a:spcBef>
                </a:pPr>
                <a:r>
                  <a:rPr lang="zh-CN" altLang="en-US" kern="0" dirty="0"/>
                  <a:t>收到帧：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kern="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US" altLang="zh-CN" b="0" i="0" kern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FR</m:t>
                    </m:r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 b="0" i="0" kern="0" smtClean="0">
                        <a:latin typeface="Cambria Math" panose="02040503050406030204" pitchFamily="18" charset="0"/>
                      </a:rPr>
                      <m:t>SeqNum</m:t>
                    </m:r>
                    <m:r>
                      <a:rPr lang="en-US" altLang="zh-CN" i="1" ker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 b="0" i="0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LAF</m:t>
                    </m:r>
                  </m:oMath>
                </a14:m>
                <a:r>
                  <a:rPr lang="zh-CN" altLang="en-US" kern="0" dirty="0"/>
                  <a:t>，帧在接收窗口内，接收；否则，丢弃</a:t>
                </a:r>
                <a:endParaRPr lang="en-US" altLang="zh-CN" kern="0" dirty="0"/>
              </a:p>
              <a:p>
                <a:pPr marL="900000" lvl="2">
                  <a:spcBef>
                    <a:spcPts val="600"/>
                  </a:spcBef>
                </a:pPr>
                <a:r>
                  <a:rPr lang="zh-CN" altLang="en-US" kern="0" dirty="0"/>
                  <a:t>接受数据帧后，将收到的最大连续数据帧的</a:t>
                </a:r>
                <a:r>
                  <a:rPr lang="en-US" altLang="zh-CN" kern="0" dirty="0" err="1"/>
                  <a:t>SeqNum</a:t>
                </a:r>
                <a:r>
                  <a:rPr lang="zh-CN" altLang="en-US" kern="0" dirty="0"/>
                  <a:t>作为</a:t>
                </a:r>
                <a:r>
                  <a:rPr lang="en-US" altLang="zh-CN" kern="0" dirty="0"/>
                  <a:t>ACK</a:t>
                </a:r>
                <a:r>
                  <a:rPr lang="zh-CN" altLang="en-US" kern="0" dirty="0"/>
                  <a:t>回复</a:t>
                </a:r>
                <a:endParaRPr lang="en-US" altLang="zh-CN" kern="0" dirty="0"/>
              </a:p>
              <a:p>
                <a:pPr marL="1152000" lvl="3">
                  <a:spcBef>
                    <a:spcPts val="600"/>
                  </a:spcBef>
                </a:pPr>
                <a:r>
                  <a:rPr lang="zh-CN" altLang="en-US" kern="0" dirty="0"/>
                  <a:t>例：收到帧</a:t>
                </a:r>
                <a:r>
                  <a:rPr lang="en-US" altLang="zh-CN" kern="0" dirty="0"/>
                  <a:t>2</a:t>
                </a:r>
                <a:r>
                  <a:rPr lang="zh-CN" altLang="en-US" kern="0" dirty="0"/>
                  <a:t>、</a:t>
                </a:r>
                <a:r>
                  <a:rPr lang="en-US" altLang="zh-CN" kern="0" dirty="0"/>
                  <a:t>3</a:t>
                </a:r>
                <a:r>
                  <a:rPr lang="zh-CN" altLang="en-US" kern="0" dirty="0"/>
                  <a:t>、</a:t>
                </a:r>
                <a:r>
                  <a:rPr lang="en-US" altLang="zh-CN" kern="0" dirty="0"/>
                  <a:t>4</a:t>
                </a:r>
                <a:r>
                  <a:rPr lang="zh-CN" altLang="en-US" kern="0" dirty="0"/>
                  <a:t>、</a:t>
                </a:r>
                <a:r>
                  <a:rPr lang="en-US" altLang="zh-CN" kern="0" dirty="0"/>
                  <a:t>6</a:t>
                </a:r>
                <a:r>
                  <a:rPr lang="zh-CN" altLang="en-US" kern="0" dirty="0"/>
                  <a:t>、</a:t>
                </a:r>
                <a:r>
                  <a:rPr lang="en-US" altLang="zh-CN" kern="0" dirty="0"/>
                  <a:t>7</a:t>
                </a:r>
                <a:r>
                  <a:rPr lang="zh-CN" altLang="en-US" kern="0" dirty="0"/>
                  <a:t>，则回复</a:t>
                </a:r>
                <a:r>
                  <a:rPr lang="en-US" altLang="zh-CN" kern="0" dirty="0"/>
                  <a:t>4</a:t>
                </a:r>
                <a:r>
                  <a:rPr lang="zh-CN" altLang="en-US" kern="0" dirty="0"/>
                  <a:t>的</a:t>
                </a:r>
                <a:r>
                  <a:rPr lang="en-US" altLang="zh-CN" kern="0" dirty="0"/>
                  <a:t>ACK</a:t>
                </a:r>
              </a:p>
            </p:txBody>
          </p:sp>
        </mc:Choice>
        <mc:Fallback xmlns="">
          <p:sp>
            <p:nvSpPr>
              <p:cNvPr id="34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199" y="5073174"/>
                <a:ext cx="8370711" cy="1632425"/>
              </a:xfrm>
              <a:prstGeom prst="rect">
                <a:avLst/>
              </a:prstGeom>
              <a:blipFill>
                <a:blip r:embed="rId6"/>
                <a:stretch>
                  <a:fillRect t="-298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28254F79-A5F9-4DF1-8D27-9965DCFF1A48}"/>
              </a:ext>
            </a:extLst>
          </p:cNvPr>
          <p:cNvSpPr txBox="1"/>
          <p:nvPr/>
        </p:nvSpPr>
        <p:spPr>
          <a:xfrm>
            <a:off x="2047366" y="3517624"/>
            <a:ext cx="879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序号小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B46FD8D-999B-44EB-821F-62DD897493D2}"/>
              </a:ext>
            </a:extLst>
          </p:cNvPr>
          <p:cNvSpPr txBox="1"/>
          <p:nvPr/>
        </p:nvSpPr>
        <p:spPr>
          <a:xfrm>
            <a:off x="6318918" y="3533544"/>
            <a:ext cx="11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序号大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0710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/>
      <p:bldP spid="30" grpId="0"/>
      <p:bldP spid="3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32786"/>
            <a:ext cx="8370711" cy="4285261"/>
          </a:xfrm>
        </p:spPr>
        <p:txBody>
          <a:bodyPr/>
          <a:lstStyle/>
          <a:p>
            <a:r>
              <a:rPr lang="zh-CN" altLang="en-US" dirty="0"/>
              <a:t>当数据帧丢失时</a:t>
            </a:r>
            <a:endParaRPr lang="en-US" altLang="zh-CN" dirty="0"/>
          </a:p>
          <a:p>
            <a:pPr marL="648000" lvl="1">
              <a:spcBef>
                <a:spcPts val="1200"/>
              </a:spcBef>
            </a:pPr>
            <a:r>
              <a:rPr lang="zh-CN" altLang="en-US" dirty="0"/>
              <a:t>方案一：回退</a:t>
            </a:r>
            <a:r>
              <a:rPr lang="en-US" altLang="zh-CN" dirty="0"/>
              <a:t>N</a:t>
            </a:r>
            <a:r>
              <a:rPr lang="zh-CN" altLang="en-US" dirty="0"/>
              <a:t>机制 </a:t>
            </a:r>
            <a:r>
              <a:rPr lang="en-US" altLang="zh-CN" dirty="0"/>
              <a:t>(Go-Back-N)</a:t>
            </a:r>
            <a:r>
              <a:rPr lang="zh-CN" altLang="en-US" dirty="0"/>
              <a:t>恢复丢包</a:t>
            </a:r>
          </a:p>
          <a:p>
            <a:pPr marL="900000" lvl="2">
              <a:spcBef>
                <a:spcPts val="1200"/>
              </a:spcBef>
            </a:pPr>
            <a:r>
              <a:rPr lang="zh-CN" altLang="en-US" dirty="0"/>
              <a:t>接收方只对连续收到的数据帧回复</a:t>
            </a:r>
            <a:r>
              <a:rPr lang="en-US" altLang="zh-CN" dirty="0"/>
              <a:t>ACK</a:t>
            </a:r>
          </a:p>
          <a:p>
            <a:pPr marL="1152000" lvl="3">
              <a:spcBef>
                <a:spcPts val="600"/>
              </a:spcBef>
            </a:pPr>
            <a:r>
              <a:rPr lang="zh-CN" altLang="en-US" dirty="0"/>
              <a:t>例：收到帧</a:t>
            </a:r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7</a:t>
            </a:r>
            <a:r>
              <a:rPr lang="zh-CN" altLang="en-US" dirty="0"/>
              <a:t>，只对帧</a:t>
            </a:r>
            <a:r>
              <a:rPr lang="en-US" altLang="zh-CN" dirty="0"/>
              <a:t>4</a:t>
            </a:r>
            <a:r>
              <a:rPr lang="zh-CN" altLang="en-US" dirty="0"/>
              <a:t>回复</a:t>
            </a:r>
            <a:r>
              <a:rPr lang="en-US" altLang="zh-CN" dirty="0"/>
              <a:t>ACK</a:t>
            </a:r>
          </a:p>
          <a:p>
            <a:pPr marL="900000" lvl="2">
              <a:spcBef>
                <a:spcPts val="1200"/>
              </a:spcBef>
            </a:pPr>
            <a:r>
              <a:rPr lang="zh-CN" altLang="en-US" dirty="0"/>
              <a:t>发送方，由于接收不到新的</a:t>
            </a:r>
            <a:r>
              <a:rPr lang="en-US" altLang="zh-CN" dirty="0"/>
              <a:t>ACK</a:t>
            </a:r>
            <a:r>
              <a:rPr lang="zh-CN" altLang="en-US" dirty="0"/>
              <a:t>，超时后重传</a:t>
            </a:r>
            <a:r>
              <a:rPr lang="en-US" altLang="zh-CN" dirty="0"/>
              <a:t>LAR+1</a:t>
            </a:r>
            <a:r>
              <a:rPr lang="zh-CN" altLang="en-US" dirty="0"/>
              <a:t>与</a:t>
            </a:r>
            <a:r>
              <a:rPr lang="en-US" altLang="zh-CN" dirty="0"/>
              <a:t>LFS</a:t>
            </a:r>
            <a:r>
              <a:rPr lang="zh-CN" altLang="en-US" dirty="0"/>
              <a:t>之间的数据帧</a:t>
            </a:r>
            <a:endParaRPr lang="en-US" altLang="zh-CN" dirty="0"/>
          </a:p>
          <a:p>
            <a:pPr marL="1152000" lvl="3">
              <a:spcBef>
                <a:spcPts val="600"/>
              </a:spcBef>
            </a:pPr>
            <a:r>
              <a:rPr lang="zh-CN" altLang="en-US" dirty="0"/>
              <a:t>如上例中的帧</a:t>
            </a:r>
            <a:r>
              <a:rPr lang="en-US" altLang="zh-CN" dirty="0"/>
              <a:t>5</a:t>
            </a:r>
            <a:r>
              <a:rPr lang="zh-CN" altLang="en-US" dirty="0"/>
              <a:t>、</a:t>
            </a:r>
            <a:r>
              <a:rPr lang="en-US" altLang="zh-CN" dirty="0"/>
              <a:t>6</a:t>
            </a:r>
            <a:r>
              <a:rPr lang="zh-CN" altLang="en-US" dirty="0"/>
              <a:t>、</a:t>
            </a:r>
            <a:r>
              <a:rPr lang="en-US" altLang="zh-CN" dirty="0"/>
              <a:t>7……</a:t>
            </a:r>
          </a:p>
          <a:p>
            <a:pPr marL="648000" lvl="1">
              <a:spcBef>
                <a:spcPts val="3000"/>
              </a:spcBef>
            </a:pPr>
            <a:r>
              <a:rPr lang="zh-CN" altLang="en-US" dirty="0"/>
              <a:t>方案二：选择确认机制 </a:t>
            </a:r>
            <a:r>
              <a:rPr lang="en-US" altLang="zh-CN" dirty="0"/>
              <a:t>(Selective Acknowledgments) </a:t>
            </a:r>
            <a:r>
              <a:rPr lang="zh-CN" altLang="en-US" dirty="0"/>
              <a:t>恢复丢包</a:t>
            </a:r>
          </a:p>
          <a:p>
            <a:pPr marL="900000" lvl="2">
              <a:spcBef>
                <a:spcPts val="1200"/>
              </a:spcBef>
            </a:pPr>
            <a:r>
              <a:rPr lang="zh-CN" altLang="en-US" dirty="0"/>
              <a:t>接收方准确地确认每个已接受的数据帧，发送方根据这些信息更快重传</a:t>
            </a:r>
            <a:endParaRPr lang="en-US" altLang="zh-CN" dirty="0"/>
          </a:p>
          <a:p>
            <a:pPr marL="900000" lvl="2">
              <a:spcBef>
                <a:spcPts val="1200"/>
              </a:spcBef>
            </a:pPr>
            <a:r>
              <a:rPr lang="zh-CN" altLang="en-US" dirty="0"/>
              <a:t>传输效率更高，但实现更复杂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Calibri" panose="020F0502020204030204" pitchFamily="34" charset="0"/>
              </a:rPr>
              <a:t>滑动窗口</a:t>
            </a:r>
            <a:r>
              <a:rPr lang="en-US" altLang="zh-CN" dirty="0">
                <a:latin typeface="Calibri" panose="020F0502020204030204" pitchFamily="34" charset="0"/>
              </a:rPr>
              <a:t>(sliding-window)</a:t>
            </a:r>
            <a:r>
              <a:rPr lang="zh-CN" altLang="en-US" dirty="0">
                <a:latin typeface="Calibri" panose="020F0502020204030204" pitchFamily="34" charset="0"/>
              </a:rPr>
              <a:t>算法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41</a:t>
            </a:fld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3AAF39AB-3227-485D-9E8E-5355B0FEAA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1011" y="5323893"/>
            <a:ext cx="4146910" cy="138170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44346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图片 15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971309" y="1329154"/>
            <a:ext cx="4008099" cy="4998494"/>
          </a:xfrm>
          <a:prstGeom prst="rect">
            <a:avLst/>
          </a:prstGeom>
        </p:spPr>
      </p:pic>
      <p:pic>
        <p:nvPicPr>
          <p:cNvPr id="151" name="图片 150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10332" y="1329154"/>
            <a:ext cx="4008099" cy="499849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滑动窗口例子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42</a:t>
            </a:fld>
            <a:endParaRPr lang="zh-CN" altLang="en-US" dirty="0"/>
          </a:p>
        </p:txBody>
      </p:sp>
      <p:graphicFrame>
        <p:nvGraphicFramePr>
          <p:cNvPr id="146" name="表格 145"/>
          <p:cNvGraphicFramePr>
            <a:graphicFrameLocks noGrp="1"/>
          </p:cNvGraphicFramePr>
          <p:nvPr/>
        </p:nvGraphicFramePr>
        <p:xfrm>
          <a:off x="355600" y="1842891"/>
          <a:ext cx="37388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6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7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8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9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8" name="矩形 147"/>
          <p:cNvSpPr/>
          <p:nvPr/>
        </p:nvSpPr>
        <p:spPr>
          <a:xfrm>
            <a:off x="335280" y="1658112"/>
            <a:ext cx="1152144" cy="633984"/>
          </a:xfrm>
          <a:prstGeom prst="rect">
            <a:avLst/>
          </a:prstGeom>
          <a:solidFill>
            <a:schemeClr val="bg1">
              <a:lumMod val="65000"/>
              <a:alpha val="32000"/>
            </a:schemeClr>
          </a:solidFill>
          <a:ln w="19050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1791829" y="1313164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Calibri" panose="020F0502020204030204"/>
              </a:rPr>
              <a:t>Sender</a:t>
            </a:r>
            <a:endParaRPr lang="zh-CN" altLang="en-US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6552806" y="1313164"/>
            <a:ext cx="998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Calibri" panose="020F0502020204030204"/>
              </a:rPr>
              <a:t>Receiver</a:t>
            </a:r>
            <a:endParaRPr lang="zh-CN" altLang="en-US" b="1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55" name="直接箭头连接符 154"/>
          <p:cNvCxnSpPr/>
          <p:nvPr/>
        </p:nvCxnSpPr>
        <p:spPr>
          <a:xfrm flipV="1">
            <a:off x="355600" y="2292096"/>
            <a:ext cx="0" cy="264160"/>
          </a:xfrm>
          <a:prstGeom prst="straightConnector1">
            <a:avLst/>
          </a:prstGeom>
          <a:ln>
            <a:solidFill>
              <a:srgbClr val="2424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矩形 155"/>
          <p:cNvSpPr/>
          <p:nvPr/>
        </p:nvSpPr>
        <p:spPr>
          <a:xfrm>
            <a:off x="335280" y="2332470"/>
            <a:ext cx="4619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prstClr val="black"/>
                </a:solidFill>
                <a:latin typeface="Calibri" panose="020F0502020204030204" pitchFamily="34" charset="0"/>
                <a:ea typeface="DejaVu Sans Mono" panose="020B0609030804020204" pitchFamily="49" charset="0"/>
                <a:cs typeface="Courier New" panose="02070309020205020404" pitchFamily="49" charset="0"/>
              </a:rPr>
              <a:t>LAR</a:t>
            </a:r>
            <a:endParaRPr lang="zh-CN" altLang="en-US" sz="1400" dirty="0">
              <a:solidFill>
                <a:prstClr val="black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</p:txBody>
      </p:sp>
      <p:cxnSp>
        <p:nvCxnSpPr>
          <p:cNvPr id="157" name="直接箭头连接符 156"/>
          <p:cNvCxnSpPr/>
          <p:nvPr/>
        </p:nvCxnSpPr>
        <p:spPr>
          <a:xfrm flipV="1">
            <a:off x="1483360" y="2292096"/>
            <a:ext cx="0" cy="264160"/>
          </a:xfrm>
          <a:prstGeom prst="straightConnector1">
            <a:avLst/>
          </a:prstGeom>
          <a:ln>
            <a:solidFill>
              <a:srgbClr val="2424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矩形 157"/>
          <p:cNvSpPr/>
          <p:nvPr/>
        </p:nvSpPr>
        <p:spPr>
          <a:xfrm>
            <a:off x="1463040" y="2332470"/>
            <a:ext cx="42094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prstClr val="black"/>
                </a:solidFill>
                <a:latin typeface="Calibri" panose="020F0502020204030204" pitchFamily="34" charset="0"/>
                <a:ea typeface="DejaVu Sans Mono" panose="020B0609030804020204" pitchFamily="49" charset="0"/>
                <a:cs typeface="Courier New" panose="02070309020205020404" pitchFamily="49" charset="0"/>
              </a:rPr>
              <a:t>LFS</a:t>
            </a:r>
            <a:endParaRPr lang="zh-CN" altLang="en-US" sz="1400" dirty="0">
              <a:solidFill>
                <a:prstClr val="black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</p:txBody>
      </p:sp>
      <p:graphicFrame>
        <p:nvGraphicFramePr>
          <p:cNvPr id="159" name="表格 158"/>
          <p:cNvGraphicFramePr>
            <a:graphicFrameLocks noGrp="1"/>
          </p:cNvGraphicFramePr>
          <p:nvPr/>
        </p:nvGraphicFramePr>
        <p:xfrm>
          <a:off x="5131929" y="1842891"/>
          <a:ext cx="37388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6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7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8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9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0" name="矩形 159"/>
          <p:cNvSpPr/>
          <p:nvPr/>
        </p:nvSpPr>
        <p:spPr>
          <a:xfrm>
            <a:off x="5111609" y="1658112"/>
            <a:ext cx="1152144" cy="633984"/>
          </a:xfrm>
          <a:prstGeom prst="rect">
            <a:avLst/>
          </a:prstGeom>
          <a:solidFill>
            <a:schemeClr val="bg1">
              <a:lumMod val="65000"/>
              <a:alpha val="32000"/>
            </a:schemeClr>
          </a:solidFill>
          <a:ln w="19050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161" name="直接箭头连接符 160"/>
          <p:cNvCxnSpPr/>
          <p:nvPr/>
        </p:nvCxnSpPr>
        <p:spPr>
          <a:xfrm flipV="1">
            <a:off x="5131929" y="2292096"/>
            <a:ext cx="0" cy="264160"/>
          </a:xfrm>
          <a:prstGeom prst="straightConnector1">
            <a:avLst/>
          </a:prstGeom>
          <a:ln>
            <a:solidFill>
              <a:srgbClr val="2424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矩形 161"/>
          <p:cNvSpPr/>
          <p:nvPr/>
        </p:nvSpPr>
        <p:spPr>
          <a:xfrm>
            <a:off x="5111609" y="2332470"/>
            <a:ext cx="4395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prstClr val="black"/>
                </a:solidFill>
                <a:latin typeface="Calibri" panose="020F0502020204030204" pitchFamily="34" charset="0"/>
                <a:ea typeface="DejaVu Sans Mono" panose="020B0609030804020204" pitchFamily="49" charset="0"/>
                <a:cs typeface="Courier New" panose="02070309020205020404" pitchFamily="49" charset="0"/>
              </a:rPr>
              <a:t>LFR</a:t>
            </a:r>
            <a:endParaRPr lang="zh-CN" altLang="en-US" sz="1400" dirty="0">
              <a:solidFill>
                <a:prstClr val="black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</p:txBody>
      </p:sp>
      <p:cxnSp>
        <p:nvCxnSpPr>
          <p:cNvPr id="163" name="直接箭头连接符 162"/>
          <p:cNvCxnSpPr/>
          <p:nvPr/>
        </p:nvCxnSpPr>
        <p:spPr>
          <a:xfrm flipV="1">
            <a:off x="6259689" y="2292096"/>
            <a:ext cx="0" cy="264160"/>
          </a:xfrm>
          <a:prstGeom prst="straightConnector1">
            <a:avLst/>
          </a:prstGeom>
          <a:ln>
            <a:solidFill>
              <a:srgbClr val="2424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矩形 163"/>
          <p:cNvSpPr/>
          <p:nvPr/>
        </p:nvSpPr>
        <p:spPr>
          <a:xfrm>
            <a:off x="6239369" y="2332470"/>
            <a:ext cx="4459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prstClr val="black"/>
                </a:solidFill>
                <a:latin typeface="Calibri" panose="020F0502020204030204" pitchFamily="34" charset="0"/>
                <a:ea typeface="DejaVu Sans Mono" panose="020B0609030804020204" pitchFamily="49" charset="0"/>
                <a:cs typeface="Courier New" panose="02070309020205020404" pitchFamily="49" charset="0"/>
              </a:rPr>
              <a:t>LAF</a:t>
            </a:r>
            <a:endParaRPr lang="zh-CN" altLang="en-US" sz="1400" dirty="0">
              <a:solidFill>
                <a:prstClr val="black"/>
              </a:solidFill>
              <a:latin typeface="Calibri" panose="020F0502020204030204" pitchFamily="34" charset="0"/>
              <a:cs typeface="Courier New" panose="02070309020205020404" pitchFamily="49" charset="0"/>
            </a:endParaRPr>
          </a:p>
        </p:txBody>
      </p:sp>
      <p:grpSp>
        <p:nvGrpSpPr>
          <p:cNvPr id="176" name="组合 175"/>
          <p:cNvGrpSpPr/>
          <p:nvPr/>
        </p:nvGrpSpPr>
        <p:grpSpPr>
          <a:xfrm>
            <a:off x="4116334" y="1996189"/>
            <a:ext cx="883920" cy="353936"/>
            <a:chOff x="4006606" y="3898141"/>
            <a:chExt cx="883920" cy="353936"/>
          </a:xfrm>
        </p:grpSpPr>
        <p:cxnSp>
          <p:nvCxnSpPr>
            <p:cNvPr id="170" name="直接箭头连接符 169"/>
            <p:cNvCxnSpPr/>
            <p:nvPr/>
          </p:nvCxnSpPr>
          <p:spPr>
            <a:xfrm>
              <a:off x="4006606" y="4018397"/>
              <a:ext cx="883920" cy="2336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文本框 172"/>
            <p:cNvSpPr txBox="1"/>
            <p:nvPr/>
          </p:nvSpPr>
          <p:spPr>
            <a:xfrm>
              <a:off x="4336806" y="3898141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</a:rPr>
                <a:t>1</a:t>
              </a:r>
              <a:endParaRPr lang="zh-CN" alt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177" name="组合 176"/>
          <p:cNvGrpSpPr/>
          <p:nvPr/>
        </p:nvGrpSpPr>
        <p:grpSpPr>
          <a:xfrm>
            <a:off x="4116334" y="2152653"/>
            <a:ext cx="883920" cy="349872"/>
            <a:chOff x="4006606" y="4054605"/>
            <a:chExt cx="883920" cy="349872"/>
          </a:xfrm>
        </p:grpSpPr>
        <p:cxnSp>
          <p:nvCxnSpPr>
            <p:cNvPr id="171" name="直接箭头连接符 170"/>
            <p:cNvCxnSpPr/>
            <p:nvPr/>
          </p:nvCxnSpPr>
          <p:spPr>
            <a:xfrm>
              <a:off x="4006606" y="4170797"/>
              <a:ext cx="883920" cy="2336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4" name="文本框 173"/>
            <p:cNvSpPr txBox="1"/>
            <p:nvPr/>
          </p:nvSpPr>
          <p:spPr>
            <a:xfrm>
              <a:off x="4336806" y="405460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</a:rPr>
                <a:t>2</a:t>
              </a:r>
              <a:endParaRPr lang="zh-CN" alt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178" name="组合 177"/>
          <p:cNvGrpSpPr/>
          <p:nvPr/>
        </p:nvGrpSpPr>
        <p:grpSpPr>
          <a:xfrm>
            <a:off x="4116334" y="2323341"/>
            <a:ext cx="883920" cy="351904"/>
            <a:chOff x="4006606" y="4225293"/>
            <a:chExt cx="883920" cy="351904"/>
          </a:xfrm>
        </p:grpSpPr>
        <p:cxnSp>
          <p:nvCxnSpPr>
            <p:cNvPr id="172" name="直接箭头连接符 171"/>
            <p:cNvCxnSpPr/>
            <p:nvPr/>
          </p:nvCxnSpPr>
          <p:spPr>
            <a:xfrm>
              <a:off x="4006606" y="4343517"/>
              <a:ext cx="883920" cy="2336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本框 174"/>
            <p:cNvSpPr txBox="1"/>
            <p:nvPr/>
          </p:nvSpPr>
          <p:spPr>
            <a:xfrm>
              <a:off x="4326646" y="42252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</a:rPr>
                <a:t>3</a:t>
              </a:r>
              <a:endParaRPr lang="zh-CN" alt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179" name="表格 178"/>
          <p:cNvGraphicFramePr>
            <a:graphicFrameLocks noGrp="1"/>
          </p:cNvGraphicFramePr>
          <p:nvPr/>
        </p:nvGraphicFramePr>
        <p:xfrm>
          <a:off x="5138025" y="2739003"/>
          <a:ext cx="37388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6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7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8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9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0" name="表格 179"/>
          <p:cNvGraphicFramePr>
            <a:graphicFrameLocks noGrp="1"/>
          </p:cNvGraphicFramePr>
          <p:nvPr/>
        </p:nvGraphicFramePr>
        <p:xfrm>
          <a:off x="361696" y="3068187"/>
          <a:ext cx="37388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6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7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8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9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3" name="矩形 182"/>
          <p:cNvSpPr/>
          <p:nvPr/>
        </p:nvSpPr>
        <p:spPr>
          <a:xfrm>
            <a:off x="5131929" y="2566416"/>
            <a:ext cx="1137920" cy="633984"/>
          </a:xfrm>
          <a:prstGeom prst="rect">
            <a:avLst/>
          </a:prstGeom>
          <a:solidFill>
            <a:schemeClr val="bg1">
              <a:lumMod val="65000"/>
              <a:alpha val="32000"/>
            </a:schemeClr>
          </a:solidFill>
          <a:ln w="19050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89" name="组合 188"/>
          <p:cNvGrpSpPr/>
          <p:nvPr/>
        </p:nvGrpSpPr>
        <p:grpSpPr>
          <a:xfrm>
            <a:off x="4100576" y="2794765"/>
            <a:ext cx="876921" cy="425822"/>
            <a:chOff x="4100576" y="2794765"/>
            <a:chExt cx="876921" cy="425822"/>
          </a:xfrm>
        </p:grpSpPr>
        <p:cxnSp>
          <p:nvCxnSpPr>
            <p:cNvPr id="184" name="直接箭头连接符 183"/>
            <p:cNvCxnSpPr>
              <a:endCxn id="180" idx="3"/>
            </p:cNvCxnSpPr>
            <p:nvPr/>
          </p:nvCxnSpPr>
          <p:spPr>
            <a:xfrm flipH="1">
              <a:off x="4100576" y="2901005"/>
              <a:ext cx="876921" cy="3195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文本框 187"/>
            <p:cNvSpPr txBox="1"/>
            <p:nvPr/>
          </p:nvSpPr>
          <p:spPr>
            <a:xfrm>
              <a:off x="4196598" y="2794765"/>
              <a:ext cx="6562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</a:rPr>
                <a:t>ACK: 3</a:t>
              </a:r>
              <a:endParaRPr lang="zh-CN" alt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90" name="矩形 189"/>
          <p:cNvSpPr/>
          <p:nvPr/>
        </p:nvSpPr>
        <p:spPr>
          <a:xfrm>
            <a:off x="355600" y="2903595"/>
            <a:ext cx="1137920" cy="633984"/>
          </a:xfrm>
          <a:prstGeom prst="rect">
            <a:avLst/>
          </a:prstGeom>
          <a:solidFill>
            <a:schemeClr val="bg1">
              <a:lumMod val="65000"/>
              <a:alpha val="32000"/>
            </a:schemeClr>
          </a:solidFill>
          <a:ln w="19050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91" name="组合 190"/>
          <p:cNvGrpSpPr/>
          <p:nvPr/>
        </p:nvGrpSpPr>
        <p:grpSpPr>
          <a:xfrm>
            <a:off x="4122430" y="3197101"/>
            <a:ext cx="883920" cy="353936"/>
            <a:chOff x="4006606" y="3898141"/>
            <a:chExt cx="883920" cy="353936"/>
          </a:xfrm>
        </p:grpSpPr>
        <p:cxnSp>
          <p:nvCxnSpPr>
            <p:cNvPr id="192" name="直接箭头连接符 191"/>
            <p:cNvCxnSpPr/>
            <p:nvPr/>
          </p:nvCxnSpPr>
          <p:spPr>
            <a:xfrm>
              <a:off x="4006606" y="4018397"/>
              <a:ext cx="883920" cy="2336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文本框 192"/>
            <p:cNvSpPr txBox="1"/>
            <p:nvPr/>
          </p:nvSpPr>
          <p:spPr>
            <a:xfrm>
              <a:off x="4336806" y="3898141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</a:rPr>
                <a:t>4</a:t>
              </a:r>
              <a:endParaRPr lang="zh-CN" alt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194" name="组合 193"/>
          <p:cNvGrpSpPr/>
          <p:nvPr/>
        </p:nvGrpSpPr>
        <p:grpSpPr>
          <a:xfrm>
            <a:off x="4122430" y="3353565"/>
            <a:ext cx="883920" cy="349872"/>
            <a:chOff x="4006606" y="4054605"/>
            <a:chExt cx="883920" cy="349872"/>
          </a:xfrm>
        </p:grpSpPr>
        <p:cxnSp>
          <p:nvCxnSpPr>
            <p:cNvPr id="195" name="直接箭头连接符 194"/>
            <p:cNvCxnSpPr/>
            <p:nvPr/>
          </p:nvCxnSpPr>
          <p:spPr>
            <a:xfrm>
              <a:off x="4006606" y="4170797"/>
              <a:ext cx="883920" cy="2336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文本框 195"/>
            <p:cNvSpPr txBox="1"/>
            <p:nvPr/>
          </p:nvSpPr>
          <p:spPr>
            <a:xfrm>
              <a:off x="4336806" y="405460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</a:rPr>
                <a:t>5</a:t>
              </a:r>
              <a:endParaRPr lang="zh-CN" alt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197" name="组合 196"/>
          <p:cNvGrpSpPr/>
          <p:nvPr/>
        </p:nvGrpSpPr>
        <p:grpSpPr>
          <a:xfrm>
            <a:off x="4122430" y="3524253"/>
            <a:ext cx="883920" cy="351904"/>
            <a:chOff x="4006606" y="4225293"/>
            <a:chExt cx="883920" cy="351904"/>
          </a:xfrm>
        </p:grpSpPr>
        <p:cxnSp>
          <p:nvCxnSpPr>
            <p:cNvPr id="198" name="直接箭头连接符 197"/>
            <p:cNvCxnSpPr/>
            <p:nvPr/>
          </p:nvCxnSpPr>
          <p:spPr>
            <a:xfrm>
              <a:off x="4006606" y="4343517"/>
              <a:ext cx="883920" cy="2336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文本框 198"/>
            <p:cNvSpPr txBox="1"/>
            <p:nvPr/>
          </p:nvSpPr>
          <p:spPr>
            <a:xfrm>
              <a:off x="4326646" y="42252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</a:rPr>
                <a:t>6</a:t>
              </a:r>
              <a:endParaRPr lang="zh-CN" alt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00" name="文本框 199"/>
          <p:cNvSpPr txBox="1"/>
          <p:nvPr/>
        </p:nvSpPr>
        <p:spPr>
          <a:xfrm>
            <a:off x="4822528" y="3487786"/>
            <a:ext cx="38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  <p:graphicFrame>
        <p:nvGraphicFramePr>
          <p:cNvPr id="201" name="表格 200"/>
          <p:cNvGraphicFramePr>
            <a:graphicFrameLocks noGrp="1"/>
          </p:cNvGraphicFramePr>
          <p:nvPr/>
        </p:nvGraphicFramePr>
        <p:xfrm>
          <a:off x="5156313" y="3671691"/>
          <a:ext cx="37388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6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7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8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9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2" name="矩形 201"/>
          <p:cNvSpPr/>
          <p:nvPr/>
        </p:nvSpPr>
        <p:spPr>
          <a:xfrm>
            <a:off x="6283606" y="3476727"/>
            <a:ext cx="1116938" cy="633984"/>
          </a:xfrm>
          <a:prstGeom prst="rect">
            <a:avLst/>
          </a:prstGeom>
          <a:solidFill>
            <a:schemeClr val="bg1">
              <a:lumMod val="65000"/>
              <a:alpha val="32000"/>
            </a:schemeClr>
          </a:solidFill>
          <a:ln w="19050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3" name="组合 202"/>
          <p:cNvGrpSpPr/>
          <p:nvPr/>
        </p:nvGrpSpPr>
        <p:grpSpPr>
          <a:xfrm>
            <a:off x="4119833" y="3885768"/>
            <a:ext cx="876921" cy="425822"/>
            <a:chOff x="4100576" y="2794765"/>
            <a:chExt cx="876921" cy="425822"/>
          </a:xfrm>
        </p:grpSpPr>
        <p:cxnSp>
          <p:nvCxnSpPr>
            <p:cNvPr id="204" name="直接箭头连接符 203"/>
            <p:cNvCxnSpPr/>
            <p:nvPr/>
          </p:nvCxnSpPr>
          <p:spPr>
            <a:xfrm flipH="1">
              <a:off x="4100576" y="2901005"/>
              <a:ext cx="876921" cy="3195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文本框 204"/>
            <p:cNvSpPr txBox="1"/>
            <p:nvPr/>
          </p:nvSpPr>
          <p:spPr>
            <a:xfrm>
              <a:off x="4196598" y="2794765"/>
              <a:ext cx="6562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</a:rPr>
                <a:t>ACK: 4</a:t>
              </a:r>
              <a:endParaRPr lang="zh-CN" alt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208" name="表格 207"/>
          <p:cNvGraphicFramePr>
            <a:graphicFrameLocks noGrp="1"/>
          </p:cNvGraphicFramePr>
          <p:nvPr/>
        </p:nvGraphicFramePr>
        <p:xfrm>
          <a:off x="363784" y="4160037"/>
          <a:ext cx="37388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6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7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8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9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0" name="矩形 209"/>
          <p:cNvSpPr/>
          <p:nvPr/>
        </p:nvSpPr>
        <p:spPr>
          <a:xfrm>
            <a:off x="1483360" y="3978045"/>
            <a:ext cx="1116938" cy="633984"/>
          </a:xfrm>
          <a:prstGeom prst="rect">
            <a:avLst/>
          </a:prstGeom>
          <a:solidFill>
            <a:schemeClr val="bg1">
              <a:lumMod val="65000"/>
              <a:alpha val="32000"/>
            </a:schemeClr>
          </a:solidFill>
          <a:ln w="19050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11" name="组合 210"/>
          <p:cNvGrpSpPr/>
          <p:nvPr/>
        </p:nvGrpSpPr>
        <p:grpSpPr>
          <a:xfrm>
            <a:off x="4136933" y="4276847"/>
            <a:ext cx="883920" cy="353936"/>
            <a:chOff x="4006606" y="3898141"/>
            <a:chExt cx="883920" cy="353936"/>
          </a:xfrm>
        </p:grpSpPr>
        <p:cxnSp>
          <p:nvCxnSpPr>
            <p:cNvPr id="212" name="直接箭头连接符 211"/>
            <p:cNvCxnSpPr/>
            <p:nvPr/>
          </p:nvCxnSpPr>
          <p:spPr>
            <a:xfrm>
              <a:off x="4006606" y="4018397"/>
              <a:ext cx="883920" cy="2336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文本框 212"/>
            <p:cNvSpPr txBox="1"/>
            <p:nvPr/>
          </p:nvSpPr>
          <p:spPr>
            <a:xfrm>
              <a:off x="4336806" y="3898141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</a:rPr>
                <a:t>7</a:t>
              </a:r>
              <a:endParaRPr lang="zh-CN" alt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214" name="表格 213"/>
          <p:cNvGraphicFramePr>
            <a:graphicFrameLocks noGrp="1"/>
          </p:cNvGraphicFramePr>
          <p:nvPr/>
        </p:nvGraphicFramePr>
        <p:xfrm>
          <a:off x="5158401" y="4500495"/>
          <a:ext cx="37388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6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7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8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9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5" name="矩形 214"/>
          <p:cNvSpPr/>
          <p:nvPr/>
        </p:nvSpPr>
        <p:spPr>
          <a:xfrm>
            <a:off x="6648948" y="4305531"/>
            <a:ext cx="1116938" cy="633984"/>
          </a:xfrm>
          <a:prstGeom prst="rect">
            <a:avLst/>
          </a:prstGeom>
          <a:solidFill>
            <a:schemeClr val="bg1">
              <a:lumMod val="65000"/>
              <a:alpha val="32000"/>
            </a:schemeClr>
          </a:solidFill>
          <a:ln w="19050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16" name="组合 215"/>
          <p:cNvGrpSpPr/>
          <p:nvPr/>
        </p:nvGrpSpPr>
        <p:grpSpPr>
          <a:xfrm>
            <a:off x="4134447" y="4576786"/>
            <a:ext cx="876921" cy="425822"/>
            <a:chOff x="4100576" y="2794765"/>
            <a:chExt cx="876921" cy="425822"/>
          </a:xfrm>
        </p:grpSpPr>
        <p:cxnSp>
          <p:nvCxnSpPr>
            <p:cNvPr id="217" name="直接箭头连接符 216"/>
            <p:cNvCxnSpPr/>
            <p:nvPr/>
          </p:nvCxnSpPr>
          <p:spPr>
            <a:xfrm flipH="1">
              <a:off x="4100576" y="2901005"/>
              <a:ext cx="876921" cy="3195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8" name="文本框 217"/>
            <p:cNvSpPr txBox="1"/>
            <p:nvPr/>
          </p:nvSpPr>
          <p:spPr>
            <a:xfrm>
              <a:off x="4196598" y="2794765"/>
              <a:ext cx="6562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</a:rPr>
                <a:t>ACK: 4</a:t>
              </a:r>
              <a:endParaRPr lang="zh-CN" alt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219" name="表格 218"/>
          <p:cNvGraphicFramePr>
            <a:graphicFrameLocks noGrp="1"/>
          </p:cNvGraphicFramePr>
          <p:nvPr/>
        </p:nvGraphicFramePr>
        <p:xfrm>
          <a:off x="365872" y="4926211"/>
          <a:ext cx="37388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6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7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8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9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0" name="矩形 219"/>
          <p:cNvSpPr/>
          <p:nvPr/>
        </p:nvSpPr>
        <p:spPr>
          <a:xfrm>
            <a:off x="1861501" y="4745656"/>
            <a:ext cx="1116938" cy="633984"/>
          </a:xfrm>
          <a:prstGeom prst="rect">
            <a:avLst/>
          </a:prstGeom>
          <a:solidFill>
            <a:schemeClr val="bg1">
              <a:lumMod val="65000"/>
              <a:alpha val="32000"/>
            </a:schemeClr>
          </a:solidFill>
          <a:ln w="19050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1" name="文本框 220"/>
          <p:cNvSpPr txBox="1"/>
          <p:nvPr/>
        </p:nvSpPr>
        <p:spPr>
          <a:xfrm>
            <a:off x="1081045" y="5440034"/>
            <a:ext cx="2178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alibri" panose="020F0502020204030204"/>
              </a:rPr>
              <a:t>Timeout</a:t>
            </a:r>
            <a:r>
              <a:rPr lang="zh-CN" altLang="en-US" dirty="0">
                <a:solidFill>
                  <a:srgbClr val="FF0000"/>
                </a:solidFill>
                <a:latin typeface="Calibri" panose="020F0502020204030204"/>
              </a:rPr>
              <a:t>！</a:t>
            </a:r>
            <a:r>
              <a:rPr lang="en-US" altLang="zh-CN" dirty="0">
                <a:solidFill>
                  <a:srgbClr val="FF0000"/>
                </a:solidFill>
                <a:latin typeface="Calibri" panose="020F0502020204030204"/>
              </a:rPr>
              <a:t>Go-Back N</a:t>
            </a:r>
          </a:p>
        </p:txBody>
      </p:sp>
      <p:grpSp>
        <p:nvGrpSpPr>
          <p:cNvPr id="222" name="组合 221"/>
          <p:cNvGrpSpPr/>
          <p:nvPr/>
        </p:nvGrpSpPr>
        <p:grpSpPr>
          <a:xfrm>
            <a:off x="4124518" y="4990407"/>
            <a:ext cx="883920" cy="353936"/>
            <a:chOff x="4006606" y="3898141"/>
            <a:chExt cx="883920" cy="353936"/>
          </a:xfrm>
        </p:grpSpPr>
        <p:cxnSp>
          <p:nvCxnSpPr>
            <p:cNvPr id="223" name="直接箭头连接符 222"/>
            <p:cNvCxnSpPr/>
            <p:nvPr/>
          </p:nvCxnSpPr>
          <p:spPr>
            <a:xfrm>
              <a:off x="4006606" y="4018397"/>
              <a:ext cx="883920" cy="2336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文本框 223"/>
            <p:cNvSpPr txBox="1"/>
            <p:nvPr/>
          </p:nvSpPr>
          <p:spPr>
            <a:xfrm>
              <a:off x="4336806" y="3898141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</a:rPr>
                <a:t>5</a:t>
              </a:r>
              <a:endParaRPr lang="zh-CN" alt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225" name="组合 224"/>
          <p:cNvGrpSpPr/>
          <p:nvPr/>
        </p:nvGrpSpPr>
        <p:grpSpPr>
          <a:xfrm>
            <a:off x="4124518" y="5146871"/>
            <a:ext cx="883920" cy="349872"/>
            <a:chOff x="4006606" y="4054605"/>
            <a:chExt cx="883920" cy="349872"/>
          </a:xfrm>
        </p:grpSpPr>
        <p:cxnSp>
          <p:nvCxnSpPr>
            <p:cNvPr id="226" name="直接箭头连接符 225"/>
            <p:cNvCxnSpPr/>
            <p:nvPr/>
          </p:nvCxnSpPr>
          <p:spPr>
            <a:xfrm>
              <a:off x="4006606" y="4170797"/>
              <a:ext cx="883920" cy="2336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文本框 226"/>
            <p:cNvSpPr txBox="1"/>
            <p:nvPr/>
          </p:nvSpPr>
          <p:spPr>
            <a:xfrm>
              <a:off x="4336806" y="405460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</a:rPr>
                <a:t>6</a:t>
              </a:r>
              <a:endParaRPr lang="zh-CN" alt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</a:endParaRPr>
            </a:p>
          </p:txBody>
        </p:sp>
      </p:grpSp>
      <p:grpSp>
        <p:nvGrpSpPr>
          <p:cNvPr id="228" name="组合 227"/>
          <p:cNvGrpSpPr/>
          <p:nvPr/>
        </p:nvGrpSpPr>
        <p:grpSpPr>
          <a:xfrm>
            <a:off x="4124518" y="5317559"/>
            <a:ext cx="883920" cy="351904"/>
            <a:chOff x="4006606" y="4225293"/>
            <a:chExt cx="883920" cy="351904"/>
          </a:xfrm>
        </p:grpSpPr>
        <p:cxnSp>
          <p:nvCxnSpPr>
            <p:cNvPr id="229" name="直接箭头连接符 228"/>
            <p:cNvCxnSpPr/>
            <p:nvPr/>
          </p:nvCxnSpPr>
          <p:spPr>
            <a:xfrm>
              <a:off x="4006606" y="4343517"/>
              <a:ext cx="883920" cy="23368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文本框 229"/>
            <p:cNvSpPr txBox="1"/>
            <p:nvPr/>
          </p:nvSpPr>
          <p:spPr>
            <a:xfrm>
              <a:off x="4326646" y="422529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</a:rPr>
                <a:t>7</a:t>
              </a:r>
              <a:endParaRPr lang="zh-CN" alt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</a:endParaRPr>
            </a:p>
          </p:txBody>
        </p:sp>
      </p:grpSp>
      <p:graphicFrame>
        <p:nvGraphicFramePr>
          <p:cNvPr id="231" name="表格 230"/>
          <p:cNvGraphicFramePr>
            <a:graphicFrameLocks noGrp="1"/>
          </p:cNvGraphicFramePr>
          <p:nvPr/>
        </p:nvGraphicFramePr>
        <p:xfrm>
          <a:off x="5149218" y="5454648"/>
          <a:ext cx="37388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692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6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7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8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9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3" name="矩形 232"/>
          <p:cNvSpPr/>
          <p:nvPr/>
        </p:nvSpPr>
        <p:spPr>
          <a:xfrm>
            <a:off x="6637610" y="5290056"/>
            <a:ext cx="1137920" cy="633984"/>
          </a:xfrm>
          <a:prstGeom prst="rect">
            <a:avLst/>
          </a:prstGeom>
          <a:solidFill>
            <a:schemeClr val="bg1">
              <a:lumMod val="65000"/>
              <a:alpha val="32000"/>
            </a:schemeClr>
          </a:solidFill>
          <a:ln w="19050" cap="flat" cmpd="sng" algn="ctr">
            <a:solidFill>
              <a:schemeClr val="accent5">
                <a:lumMod val="50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5" name="组合 74"/>
          <p:cNvGrpSpPr/>
          <p:nvPr/>
        </p:nvGrpSpPr>
        <p:grpSpPr>
          <a:xfrm>
            <a:off x="4105104" y="5649425"/>
            <a:ext cx="876921" cy="425822"/>
            <a:chOff x="4100576" y="2794765"/>
            <a:chExt cx="876921" cy="425822"/>
          </a:xfrm>
        </p:grpSpPr>
        <p:cxnSp>
          <p:nvCxnSpPr>
            <p:cNvPr id="76" name="直接箭头连接符 75"/>
            <p:cNvCxnSpPr/>
            <p:nvPr/>
          </p:nvCxnSpPr>
          <p:spPr>
            <a:xfrm flipH="1">
              <a:off x="4100576" y="2901005"/>
              <a:ext cx="876921" cy="3195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文本框 76"/>
            <p:cNvSpPr txBox="1"/>
            <p:nvPr/>
          </p:nvSpPr>
          <p:spPr>
            <a:xfrm>
              <a:off x="4196598" y="2794765"/>
              <a:ext cx="65620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</a:rPr>
                <a:t>ACK: 7</a:t>
              </a:r>
              <a:endParaRPr lang="zh-CN" altLang="en-US" sz="140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365216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3.7037E-7 L 0.11996 -3.7037E-7 " pathEditMode="relative" rAng="0" ptsTypes="AA">
                                      <p:cBhvr>
                                        <p:cTn id="100" dur="20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9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4.44444E-6 L 0.11997 -4.44444E-6 " pathEditMode="relative" rAng="0" ptsTypes="AA">
                                      <p:cBhvr>
                                        <p:cTn id="112" dur="20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9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500"/>
                            </p:stCondLst>
                            <p:childTnLst>
                              <p:par>
                                <p:cTn id="1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1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7.40741E-7 L 0.03993 -0.00093 " pathEditMode="relative" rAng="0" ptsTypes="AA">
                                      <p:cBhvr>
                                        <p:cTn id="145" dur="20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97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0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3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2.59259E-6 L 0.03993 -0.00093 " pathEditMode="relative" rAng="0" ptsTypes="AA">
                                      <p:cBhvr>
                                        <p:cTn id="157" dur="20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97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5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0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3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00"/>
                            </p:stCondLst>
                            <p:childTnLst>
                              <p:par>
                                <p:cTn id="1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1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59259E-6 L 0.11997 -2.59259E-6 " pathEditMode="relative" rAng="0" ptsTypes="AA">
                                      <p:cBhvr>
                                        <p:cTn id="218" dur="20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9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" grpId="0" animBg="1"/>
      <p:bldP spid="150" grpId="0"/>
      <p:bldP spid="154" grpId="0"/>
      <p:bldP spid="156" grpId="0"/>
      <p:bldP spid="158" grpId="0"/>
      <p:bldP spid="160" grpId="0" animBg="1"/>
      <p:bldP spid="162" grpId="0"/>
      <p:bldP spid="164" grpId="0"/>
      <p:bldP spid="183" grpId="0" animBg="1"/>
      <p:bldP spid="183" grpId="1" animBg="1"/>
      <p:bldP spid="190" grpId="0" animBg="1"/>
      <p:bldP spid="190" grpId="1" animBg="1"/>
      <p:bldP spid="200" grpId="0"/>
      <p:bldP spid="202" grpId="0" animBg="1"/>
      <p:bldP spid="202" grpId="1" animBg="1"/>
      <p:bldP spid="210" grpId="0" animBg="1"/>
      <p:bldP spid="210" grpId="1" animBg="1"/>
      <p:bldP spid="215" grpId="0" animBg="1"/>
      <p:bldP spid="220" grpId="0" animBg="1"/>
      <p:bldP spid="221" grpId="0"/>
      <p:bldP spid="233" grpId="0" animBg="1"/>
      <p:bldP spid="233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32786"/>
            <a:ext cx="8370711" cy="4285261"/>
          </a:xfrm>
        </p:spPr>
        <p:txBody>
          <a:bodyPr/>
          <a:lstStyle/>
          <a:p>
            <a:r>
              <a:rPr lang="zh-CN" altLang="en-US" dirty="0"/>
              <a:t>窗口大小</a:t>
            </a:r>
            <a:endParaRPr lang="en-US" altLang="zh-CN" dirty="0"/>
          </a:p>
          <a:p>
            <a:pPr marL="648000" lvl="1">
              <a:spcBef>
                <a:spcPts val="1200"/>
              </a:spcBef>
            </a:pPr>
            <a:r>
              <a:rPr lang="zh-CN" altLang="en-US" dirty="0"/>
              <a:t>发送方 </a:t>
            </a:r>
            <a:r>
              <a:rPr lang="en-US" altLang="zh-CN" dirty="0"/>
              <a:t>SWS</a:t>
            </a:r>
            <a:endParaRPr lang="zh-CN" altLang="en-US" dirty="0"/>
          </a:p>
          <a:p>
            <a:pPr marL="900000" lvl="2">
              <a:spcBef>
                <a:spcPts val="1200"/>
              </a:spcBef>
            </a:pPr>
            <a:r>
              <a:rPr lang="zh-CN" altLang="en-US" dirty="0"/>
              <a:t>可根据一段给定时间内链路上有多少待确认的帧来选择</a:t>
            </a:r>
            <a:endParaRPr lang="en-US" altLang="zh-CN" dirty="0"/>
          </a:p>
          <a:p>
            <a:pPr marL="900000" lvl="2">
              <a:spcBef>
                <a:spcPts val="600"/>
              </a:spcBef>
            </a:pPr>
            <a:r>
              <a:rPr lang="zh-CN" altLang="en-US" dirty="0"/>
              <a:t>依据给定的延迟与带宽的乘积</a:t>
            </a:r>
            <a:endParaRPr lang="en-US" altLang="zh-CN" dirty="0"/>
          </a:p>
          <a:p>
            <a:pPr marL="648000" lvl="1">
              <a:spcBef>
                <a:spcPts val="3000"/>
              </a:spcBef>
            </a:pPr>
            <a:r>
              <a:rPr lang="zh-CN" altLang="en-US" dirty="0"/>
              <a:t>接收方 </a:t>
            </a:r>
            <a:r>
              <a:rPr lang="en-US" altLang="zh-CN" dirty="0"/>
              <a:t>RWS</a:t>
            </a:r>
            <a:endParaRPr lang="zh-CN" altLang="en-US" dirty="0"/>
          </a:p>
          <a:p>
            <a:pPr marL="900000" lvl="2">
              <a:spcBef>
                <a:spcPts val="1200"/>
              </a:spcBef>
            </a:pPr>
            <a:r>
              <a:rPr lang="en-US" altLang="zh-CN" dirty="0"/>
              <a:t>RWS=1</a:t>
            </a:r>
            <a:r>
              <a:rPr lang="zh-CN" altLang="en-US" dirty="0"/>
              <a:t>：接收方不缓存任何错序到达的帧</a:t>
            </a:r>
          </a:p>
          <a:p>
            <a:pPr marL="900000" lvl="2">
              <a:spcBef>
                <a:spcPts val="1200"/>
              </a:spcBef>
            </a:pPr>
            <a:r>
              <a:rPr lang="en-US" altLang="zh-CN" dirty="0"/>
              <a:t>RWS=SWS</a:t>
            </a:r>
            <a:r>
              <a:rPr lang="zh-CN" altLang="en-US" dirty="0"/>
              <a:t>：接收方能够缓存发送方传输的任何帧（</a:t>
            </a:r>
            <a:r>
              <a:rPr lang="zh-CN" altLang="en-US" sz="2400" dirty="0">
                <a:solidFill>
                  <a:srgbClr val="FF0000"/>
                </a:solidFill>
              </a:rPr>
              <a:t>为什么？？</a:t>
            </a:r>
            <a:r>
              <a:rPr lang="zh-CN" altLang="en-US" dirty="0"/>
              <a:t>）</a:t>
            </a:r>
          </a:p>
          <a:p>
            <a:pPr marL="900000" lvl="2">
              <a:spcBef>
                <a:spcPts val="1200"/>
              </a:spcBef>
            </a:pPr>
            <a:r>
              <a:rPr lang="zh-CN" altLang="en-US" dirty="0"/>
              <a:t>由于错序到达的帧不可能超过</a:t>
            </a:r>
            <a:r>
              <a:rPr lang="en-US" altLang="zh-CN" dirty="0"/>
              <a:t>SWS</a:t>
            </a:r>
            <a:r>
              <a:rPr lang="zh-CN" altLang="en-US" dirty="0"/>
              <a:t>个，</a:t>
            </a:r>
            <a:r>
              <a:rPr lang="en-US" altLang="zh-CN" dirty="0"/>
              <a:t>RWS &gt; SWS</a:t>
            </a:r>
            <a:r>
              <a:rPr lang="zh-CN" altLang="en-US" dirty="0"/>
              <a:t>无意义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zh-CN" altLang="en-US" dirty="0">
                <a:latin typeface="Calibri" panose="020F0502020204030204" pitchFamily="34" charset="0"/>
              </a:rPr>
              <a:t>滑动窗口</a:t>
            </a:r>
            <a:r>
              <a:rPr lang="en-US" altLang="zh-CN" dirty="0">
                <a:latin typeface="Calibri" panose="020F0502020204030204" pitchFamily="34" charset="0"/>
              </a:rPr>
              <a:t>(sliding-window)</a:t>
            </a:r>
            <a:r>
              <a:rPr lang="zh-CN" altLang="en-US" dirty="0">
                <a:latin typeface="Calibri" panose="020F0502020204030204" pitchFamily="34" charset="0"/>
              </a:rPr>
              <a:t>算法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7747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32786"/>
            <a:ext cx="8370711" cy="4285261"/>
          </a:xfrm>
        </p:spPr>
        <p:txBody>
          <a:bodyPr/>
          <a:lstStyle/>
          <a:p>
            <a:pPr marL="247959">
              <a:spcBef>
                <a:spcPts val="1200"/>
              </a:spcBef>
            </a:pPr>
            <a:r>
              <a:rPr lang="zh-CN" altLang="en-US" dirty="0"/>
              <a:t>序列号无限大的假设不成立</a:t>
            </a:r>
          </a:p>
          <a:p>
            <a:pPr marL="499961" lvl="1">
              <a:spcBef>
                <a:spcPts val="600"/>
              </a:spcBef>
            </a:pPr>
            <a:r>
              <a:rPr lang="zh-CN" altLang="en-US" sz="1800" dirty="0"/>
              <a:t>序列号在大小有限的首部字段中，如</a:t>
            </a:r>
            <a:r>
              <a:rPr lang="en-US" altLang="zh-CN" sz="1800" dirty="0"/>
              <a:t>3bit</a:t>
            </a:r>
            <a:r>
              <a:rPr lang="zh-CN" altLang="en-US" sz="1800" dirty="0"/>
              <a:t>可用序号</a:t>
            </a:r>
            <a:r>
              <a:rPr lang="en-US" altLang="zh-CN" sz="1800" dirty="0"/>
              <a:t>0~7</a:t>
            </a:r>
          </a:p>
          <a:p>
            <a:pPr marL="499961" lvl="1">
              <a:spcBef>
                <a:spcPts val="600"/>
              </a:spcBef>
            </a:pPr>
            <a:r>
              <a:rPr lang="zh-CN" altLang="en-US" sz="1800" dirty="0"/>
              <a:t>序列号必须可重用，能回绕</a:t>
            </a:r>
            <a:endParaRPr lang="en-US" altLang="zh-CN" sz="1800" dirty="0"/>
          </a:p>
          <a:p>
            <a:pPr marL="247959">
              <a:spcBef>
                <a:spcPts val="3000"/>
              </a:spcBef>
            </a:pPr>
            <a:r>
              <a:rPr lang="zh-CN" altLang="en-US" dirty="0"/>
              <a:t>需解决的问题</a:t>
            </a:r>
          </a:p>
          <a:p>
            <a:pPr marL="499961" lvl="1">
              <a:spcBef>
                <a:spcPts val="600"/>
              </a:spcBef>
            </a:pPr>
            <a:r>
              <a:rPr lang="zh-CN" altLang="en-US" sz="1800" dirty="0"/>
              <a:t>能够区别同一序列号的不同次发送</a:t>
            </a:r>
            <a:endParaRPr lang="en-US" altLang="zh-CN" sz="1800" dirty="0"/>
          </a:p>
          <a:p>
            <a:pPr marL="499961" lvl="1">
              <a:spcBef>
                <a:spcPts val="1200"/>
              </a:spcBef>
            </a:pPr>
            <a:r>
              <a:rPr lang="zh-CN" altLang="en-US" sz="1800" dirty="0"/>
              <a:t>可用序列号的数目必须大于所允许的待确认的帧的数目</a:t>
            </a:r>
            <a:endParaRPr lang="en-US" altLang="zh-CN" sz="1800" dirty="0"/>
          </a:p>
          <a:p>
            <a:pPr marL="900000" lvl="2">
              <a:spcBef>
                <a:spcPts val="1200"/>
              </a:spcBef>
            </a:pPr>
            <a:r>
              <a:rPr lang="zh-CN" altLang="en-US" sz="1600" dirty="0"/>
              <a:t>比如：停等算法允许一次只有</a:t>
            </a:r>
            <a:r>
              <a:rPr lang="en-US" altLang="zh-CN" sz="1600" dirty="0"/>
              <a:t>1</a:t>
            </a:r>
            <a:r>
              <a:rPr lang="zh-CN" altLang="en-US" sz="1600" dirty="0"/>
              <a:t>个待确认的帧，用</a:t>
            </a:r>
            <a:r>
              <a:rPr lang="en-US" altLang="zh-CN" sz="1600" dirty="0"/>
              <a:t>2</a:t>
            </a:r>
            <a:r>
              <a:rPr lang="zh-CN" altLang="en-US" sz="1600" dirty="0"/>
              <a:t>个序列号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滑动窗口算法 </a:t>
            </a:r>
            <a:r>
              <a:rPr lang="en-US" altLang="zh-CN" sz="2800" dirty="0"/>
              <a:t>-- </a:t>
            </a:r>
            <a:r>
              <a:rPr lang="zh-CN" altLang="en-US" sz="2800" dirty="0"/>
              <a:t>有限序号与窗口大小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972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60704" y="3048000"/>
            <a:ext cx="6388609" cy="28773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432786"/>
                <a:ext cx="8370711" cy="1411153"/>
              </a:xfrm>
            </p:spPr>
            <p:txBody>
              <a:bodyPr/>
              <a:lstStyle/>
              <a:p>
                <a:pPr marL="247959">
                  <a:spcBef>
                    <a:spcPts val="1200"/>
                  </a:spcBef>
                </a:pPr>
                <a:r>
                  <a:rPr lang="zh-CN" altLang="en-US" dirty="0"/>
                  <a:t>发送窗口大小小于可用序列号数就行？</a:t>
                </a:r>
              </a:p>
              <a:p>
                <a:pPr marL="499961"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1" dirty="0">
                        <a:latin typeface="Cambria Math" panose="02040503050406030204" pitchFamily="18" charset="0"/>
                      </a:rPr>
                      <m:t>SWS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𝑀𝑎𝑥𝑆𝑒𝑞𝑁𝑢𝑚</m:t>
                    </m:r>
                  </m:oMath>
                </a14:m>
                <a:r>
                  <a:rPr lang="en-US" altLang="zh-CN" sz="1800" dirty="0"/>
                  <a:t>  ?</a:t>
                </a:r>
              </a:p>
              <a:p>
                <a:pPr marL="499961" lvl="1">
                  <a:spcBef>
                    <a:spcPts val="600"/>
                  </a:spcBef>
                </a:pPr>
                <a:r>
                  <a:rPr lang="zh-CN" altLang="en-US" sz="1800" dirty="0"/>
                  <a:t>例：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1" dirty="0">
                        <a:latin typeface="Cambria Math" panose="02040503050406030204" pitchFamily="18" charset="0"/>
                      </a:rPr>
                      <m:t>SWS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RWS</m:t>
                    </m:r>
                    <m: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zh-CN" altLang="en-US" sz="1800" dirty="0"/>
                  <a:t>，</a:t>
                </a:r>
                <a:r>
                  <a:rPr lang="en-US" altLang="zh-CN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𝑀𝑎𝑥𝑆𝑒𝑞𝑁𝑢𝑚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en-US" sz="1800" dirty="0"/>
                  <a:t>，可用序列号</a:t>
                </a:r>
                <a:r>
                  <a:rPr lang="en-US" altLang="zh-CN" sz="1800" dirty="0"/>
                  <a:t>0 ~ 7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432786"/>
                <a:ext cx="8370711" cy="1411153"/>
              </a:xfrm>
              <a:blipFill rotWithShape="0">
                <a:blip r:embed="rId7" cstate="print"/>
                <a:stretch>
                  <a:fillRect l="-437" b="-2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滑动窗口算法 </a:t>
            </a:r>
            <a:r>
              <a:rPr lang="en-US" altLang="zh-CN" sz="2800" dirty="0"/>
              <a:t>-- </a:t>
            </a:r>
            <a:r>
              <a:rPr lang="zh-CN" altLang="en-US" sz="2800" dirty="0"/>
              <a:t>有限序号与窗口大小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45</a:t>
            </a:fld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693529" y="3718560"/>
          <a:ext cx="37388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16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6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7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432409" y="3654028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…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2200882" y="3678412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…</a:t>
            </a:r>
            <a:endParaRPr lang="zh-CN" altLang="en-US" b="1" dirty="0"/>
          </a:p>
        </p:txBody>
      </p:sp>
      <p:sp>
        <p:nvSpPr>
          <p:cNvPr id="9" name="AutoShape 34"/>
          <p:cNvSpPr>
            <a:spLocks/>
          </p:cNvSpPr>
          <p:nvPr/>
        </p:nvSpPr>
        <p:spPr bwMode="auto">
          <a:xfrm rot="5400000">
            <a:off x="3841471" y="2378433"/>
            <a:ext cx="297914" cy="2333576"/>
          </a:xfrm>
          <a:prstGeom prst="leftBrace">
            <a:avLst>
              <a:gd name="adj1" fmla="val 3873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534021" y="3155059"/>
                <a:ext cx="91281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SWS</m:t>
                      </m:r>
                      <m:r>
                        <a:rPr lang="en-US" altLang="zh-CN" sz="1400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021" y="3155059"/>
                <a:ext cx="912814" cy="307777"/>
              </a:xfrm>
              <a:prstGeom prst="rect">
                <a:avLst/>
              </a:prstGeom>
              <a:blipFill rotWithShape="0">
                <a:blip r:embed="rId8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1279765" y="3704041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Calibri" panose="020F0502020204030204"/>
              </a:rPr>
              <a:t>Sender</a:t>
            </a:r>
            <a:endParaRPr lang="zh-CN" altLang="en-US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46480" y="4784199"/>
            <a:ext cx="998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Calibri" panose="020F0502020204030204"/>
              </a:rPr>
              <a:t>Receiver</a:t>
            </a:r>
            <a:endParaRPr lang="zh-CN" altLang="en-US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Line 21"/>
          <p:cNvSpPr>
            <a:spLocks noChangeShapeType="1"/>
          </p:cNvSpPr>
          <p:nvPr/>
        </p:nvSpPr>
        <p:spPr bwMode="auto">
          <a:xfrm>
            <a:off x="2280806" y="4992497"/>
            <a:ext cx="4449178" cy="0"/>
          </a:xfrm>
          <a:prstGeom prst="lin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14" name="Line 22"/>
          <p:cNvSpPr>
            <a:spLocks noChangeShapeType="1"/>
          </p:cNvSpPr>
          <p:nvPr/>
        </p:nvSpPr>
        <p:spPr bwMode="auto">
          <a:xfrm>
            <a:off x="2916936" y="4160520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3342194" y="5148844"/>
                <a:ext cx="93685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b="0" i="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altLang="zh-CN" sz="1400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WS</m:t>
                      </m:r>
                      <m:r>
                        <a:rPr lang="en-US" altLang="zh-CN" sz="1400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194" y="5148844"/>
                <a:ext cx="936859" cy="307777"/>
              </a:xfrm>
              <a:prstGeom prst="rect">
                <a:avLst/>
              </a:prstGeom>
              <a:blipFill rotWithShape="0">
                <a:blip r:embed="rId9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Line 22"/>
          <p:cNvSpPr>
            <a:spLocks noChangeShapeType="1"/>
          </p:cNvSpPr>
          <p:nvPr/>
        </p:nvSpPr>
        <p:spPr bwMode="auto">
          <a:xfrm>
            <a:off x="3274088" y="4153140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17" name="Line 22"/>
          <p:cNvSpPr>
            <a:spLocks noChangeShapeType="1"/>
          </p:cNvSpPr>
          <p:nvPr/>
        </p:nvSpPr>
        <p:spPr bwMode="auto">
          <a:xfrm>
            <a:off x="3631240" y="4159360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18" name="Line 22"/>
          <p:cNvSpPr>
            <a:spLocks noChangeShapeType="1"/>
          </p:cNvSpPr>
          <p:nvPr/>
        </p:nvSpPr>
        <p:spPr bwMode="auto">
          <a:xfrm>
            <a:off x="4023896" y="4159236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19" name="Line 22"/>
          <p:cNvSpPr>
            <a:spLocks noChangeShapeType="1"/>
          </p:cNvSpPr>
          <p:nvPr/>
        </p:nvSpPr>
        <p:spPr bwMode="auto">
          <a:xfrm>
            <a:off x="4393240" y="4165456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>
            <a:off x="4761512" y="4165332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21" name="Line 22"/>
          <p:cNvSpPr>
            <a:spLocks noChangeShapeType="1"/>
          </p:cNvSpPr>
          <p:nvPr/>
        </p:nvSpPr>
        <p:spPr bwMode="auto">
          <a:xfrm>
            <a:off x="5130856" y="4171552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22" name="Line 22"/>
          <p:cNvSpPr>
            <a:spLocks noChangeShapeType="1"/>
          </p:cNvSpPr>
          <p:nvPr/>
        </p:nvSpPr>
        <p:spPr bwMode="auto">
          <a:xfrm flipV="1">
            <a:off x="5320100" y="4171552"/>
            <a:ext cx="167908" cy="797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064609" y="4985117"/>
            <a:ext cx="6708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ACK: 6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4" name="Line 22"/>
          <p:cNvSpPr>
            <a:spLocks noChangeShapeType="1"/>
          </p:cNvSpPr>
          <p:nvPr/>
        </p:nvSpPr>
        <p:spPr bwMode="auto">
          <a:xfrm>
            <a:off x="5533192" y="4147168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25" name="Line 22"/>
          <p:cNvSpPr>
            <a:spLocks noChangeShapeType="1"/>
          </p:cNvSpPr>
          <p:nvPr/>
        </p:nvSpPr>
        <p:spPr bwMode="auto">
          <a:xfrm>
            <a:off x="5901464" y="4147044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26" name="Line 22"/>
          <p:cNvSpPr>
            <a:spLocks noChangeShapeType="1"/>
          </p:cNvSpPr>
          <p:nvPr/>
        </p:nvSpPr>
        <p:spPr bwMode="auto">
          <a:xfrm>
            <a:off x="6270808" y="4153264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438190" y="4314526"/>
            <a:ext cx="100540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正常情况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6075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500"/>
                            </p:stCondLst>
                            <p:childTnLst>
                              <p:par>
                                <p:cTn id="8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300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500"/>
                            </p:stCondLst>
                            <p:childTnLst>
                              <p:par>
                                <p:cTn id="1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9" grpId="0" animBg="1"/>
      <p:bldP spid="10" grpId="0" animBg="1"/>
      <p:bldP spid="11" grpId="0"/>
      <p:bldP spid="12" grpId="0"/>
      <p:bldP spid="13" grpId="0" animBg="1"/>
      <p:bldP spid="14" grpId="0" animBg="1"/>
      <p:bldP spid="14" grpId="1" animBg="1"/>
      <p:bldP spid="15" grpId="0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/>
      <p:bldP spid="23" grpId="1"/>
      <p:bldP spid="24" grpId="0" animBg="1"/>
      <p:bldP spid="25" grpId="0" animBg="1"/>
      <p:bldP spid="26" grpId="0" animBg="1"/>
      <p:bldP spid="2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图片 38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60704" y="3048000"/>
            <a:ext cx="6388609" cy="28773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432786"/>
                <a:ext cx="8370711" cy="1411153"/>
              </a:xfrm>
            </p:spPr>
            <p:txBody>
              <a:bodyPr/>
              <a:lstStyle/>
              <a:p>
                <a:pPr marL="247959">
                  <a:spcBef>
                    <a:spcPts val="1200"/>
                  </a:spcBef>
                </a:pPr>
                <a:r>
                  <a:rPr lang="zh-CN" altLang="en-US" dirty="0"/>
                  <a:t>发送窗口大小小于可用序列号数就行？</a:t>
                </a:r>
              </a:p>
              <a:p>
                <a:pPr marL="499961"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1" dirty="0">
                        <a:latin typeface="Cambria Math" panose="02040503050406030204" pitchFamily="18" charset="0"/>
                      </a:rPr>
                      <m:t>SWS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𝑀𝑎𝑥𝑆𝑒𝑞𝑁𝑢𝑚</m:t>
                    </m:r>
                  </m:oMath>
                </a14:m>
                <a:r>
                  <a:rPr lang="en-US" altLang="zh-CN" sz="1800" dirty="0"/>
                  <a:t>  ?</a:t>
                </a:r>
              </a:p>
              <a:p>
                <a:pPr marL="499961" lvl="1">
                  <a:spcBef>
                    <a:spcPts val="600"/>
                  </a:spcBef>
                </a:pPr>
                <a:r>
                  <a:rPr lang="zh-CN" altLang="en-US" sz="1800" dirty="0"/>
                  <a:t>例：</a:t>
                </a:r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1" dirty="0">
                        <a:latin typeface="Cambria Math" panose="02040503050406030204" pitchFamily="18" charset="0"/>
                      </a:rPr>
                      <m:t>SWS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RWS</m:t>
                    </m:r>
                    <m: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zh-CN" altLang="en-US" sz="1800" dirty="0"/>
                  <a:t>，</a:t>
                </a:r>
                <a:r>
                  <a:rPr lang="en-US" altLang="zh-CN" sz="18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𝑀𝑎𝑥𝑆𝑒𝑞𝑁𝑢𝑚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en-US" sz="1800" dirty="0"/>
                  <a:t>，可用序列号</a:t>
                </a:r>
                <a:r>
                  <a:rPr lang="en-US" altLang="zh-CN" sz="1800" dirty="0"/>
                  <a:t>0 ~ 7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432786"/>
                <a:ext cx="8370711" cy="1411153"/>
              </a:xfrm>
              <a:blipFill rotWithShape="0">
                <a:blip r:embed="rId7" cstate="print"/>
                <a:stretch>
                  <a:fillRect l="-437" b="-2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滑动窗口算法 </a:t>
            </a:r>
            <a:r>
              <a:rPr lang="en-US" altLang="zh-CN" sz="2800" dirty="0"/>
              <a:t>-- </a:t>
            </a:r>
            <a:r>
              <a:rPr lang="zh-CN" altLang="en-US" sz="2800" dirty="0"/>
              <a:t>有限序号与窗口大小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46</a:t>
            </a:fld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2693529" y="3718560"/>
          <a:ext cx="373888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738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016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2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3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4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5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6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7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0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rPr>
                        <a:t>1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432409" y="3654028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…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2200882" y="3678412"/>
            <a:ext cx="426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…</a:t>
            </a:r>
            <a:endParaRPr lang="zh-CN" altLang="en-US" b="1" dirty="0"/>
          </a:p>
        </p:txBody>
      </p:sp>
      <p:sp>
        <p:nvSpPr>
          <p:cNvPr id="9" name="AutoShape 34"/>
          <p:cNvSpPr>
            <a:spLocks/>
          </p:cNvSpPr>
          <p:nvPr/>
        </p:nvSpPr>
        <p:spPr bwMode="auto">
          <a:xfrm rot="5400000">
            <a:off x="3841471" y="2378433"/>
            <a:ext cx="297914" cy="2333576"/>
          </a:xfrm>
          <a:prstGeom prst="leftBrace">
            <a:avLst>
              <a:gd name="adj1" fmla="val 38736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/>
              <p:cNvSpPr/>
              <p:nvPr/>
            </p:nvSpPr>
            <p:spPr>
              <a:xfrm>
                <a:off x="3534021" y="3155059"/>
                <a:ext cx="91281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SWS</m:t>
                      </m:r>
                      <m:r>
                        <a:rPr lang="en-US" altLang="zh-CN" sz="1400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021" y="3155059"/>
                <a:ext cx="912814" cy="307777"/>
              </a:xfrm>
              <a:prstGeom prst="rect">
                <a:avLst/>
              </a:prstGeom>
              <a:blipFill rotWithShape="0">
                <a:blip r:embed="rId8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1279765" y="3704041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Calibri" panose="020F0502020204030204"/>
              </a:rPr>
              <a:t>Sender</a:t>
            </a:r>
            <a:endParaRPr lang="zh-CN" altLang="en-US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246480" y="4784199"/>
            <a:ext cx="9982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Calibri" panose="020F0502020204030204"/>
              </a:rPr>
              <a:t>Receiver</a:t>
            </a:r>
            <a:endParaRPr lang="zh-CN" altLang="en-US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" name="Line 21"/>
          <p:cNvSpPr>
            <a:spLocks noChangeShapeType="1"/>
          </p:cNvSpPr>
          <p:nvPr/>
        </p:nvSpPr>
        <p:spPr bwMode="auto">
          <a:xfrm>
            <a:off x="2280806" y="4992497"/>
            <a:ext cx="4449178" cy="0"/>
          </a:xfrm>
          <a:prstGeom prst="lin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14" name="Line 22"/>
          <p:cNvSpPr>
            <a:spLocks noChangeShapeType="1"/>
          </p:cNvSpPr>
          <p:nvPr/>
        </p:nvSpPr>
        <p:spPr bwMode="auto">
          <a:xfrm>
            <a:off x="2916936" y="4160520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3342194" y="5148844"/>
                <a:ext cx="93685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400" b="0" i="0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m:rPr>
                          <m:sty m:val="p"/>
                        </m:rPr>
                        <a:rPr lang="en-US" altLang="zh-CN" sz="1400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WS</m:t>
                      </m:r>
                      <m:r>
                        <a:rPr lang="en-US" altLang="zh-CN" sz="1400" i="1" dirty="0" smtClean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40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zh-CN" altLang="en-US" sz="1400" dirty="0">
                  <a:solidFill>
                    <a:schemeClr val="accent5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2194" y="5148844"/>
                <a:ext cx="936859" cy="307777"/>
              </a:xfrm>
              <a:prstGeom prst="rect">
                <a:avLst/>
              </a:prstGeom>
              <a:blipFill rotWithShape="0">
                <a:blip r:embed="rId9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Line 22"/>
          <p:cNvSpPr>
            <a:spLocks noChangeShapeType="1"/>
          </p:cNvSpPr>
          <p:nvPr/>
        </p:nvSpPr>
        <p:spPr bwMode="auto">
          <a:xfrm>
            <a:off x="3274088" y="4153140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17" name="Line 22"/>
          <p:cNvSpPr>
            <a:spLocks noChangeShapeType="1"/>
          </p:cNvSpPr>
          <p:nvPr/>
        </p:nvSpPr>
        <p:spPr bwMode="auto">
          <a:xfrm>
            <a:off x="3631240" y="4159360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18" name="Line 22"/>
          <p:cNvSpPr>
            <a:spLocks noChangeShapeType="1"/>
          </p:cNvSpPr>
          <p:nvPr/>
        </p:nvSpPr>
        <p:spPr bwMode="auto">
          <a:xfrm>
            <a:off x="4023896" y="4159236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19" name="Line 22"/>
          <p:cNvSpPr>
            <a:spLocks noChangeShapeType="1"/>
          </p:cNvSpPr>
          <p:nvPr/>
        </p:nvSpPr>
        <p:spPr bwMode="auto">
          <a:xfrm>
            <a:off x="4393240" y="4165456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20" name="Line 22"/>
          <p:cNvSpPr>
            <a:spLocks noChangeShapeType="1"/>
          </p:cNvSpPr>
          <p:nvPr/>
        </p:nvSpPr>
        <p:spPr bwMode="auto">
          <a:xfrm>
            <a:off x="4761512" y="4165332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21" name="Line 22"/>
          <p:cNvSpPr>
            <a:spLocks noChangeShapeType="1"/>
          </p:cNvSpPr>
          <p:nvPr/>
        </p:nvSpPr>
        <p:spPr bwMode="auto">
          <a:xfrm>
            <a:off x="5130856" y="4171552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22" name="Line 22"/>
          <p:cNvSpPr>
            <a:spLocks noChangeShapeType="1"/>
          </p:cNvSpPr>
          <p:nvPr/>
        </p:nvSpPr>
        <p:spPr bwMode="auto">
          <a:xfrm flipV="1">
            <a:off x="5320100" y="4425442"/>
            <a:ext cx="156642" cy="5434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064609" y="4985117"/>
            <a:ext cx="67080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ACK: 6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438190" y="4314526"/>
            <a:ext cx="101662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ACK</a:t>
            </a:r>
            <a:r>
              <a:rPr lang="zh-CN" altLang="en-US" sz="16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丢失</a:t>
            </a:r>
          </a:p>
        </p:txBody>
      </p:sp>
      <p:sp>
        <p:nvSpPr>
          <p:cNvPr id="28" name="Line 22"/>
          <p:cNvSpPr>
            <a:spLocks noChangeShapeType="1"/>
          </p:cNvSpPr>
          <p:nvPr/>
        </p:nvSpPr>
        <p:spPr bwMode="auto">
          <a:xfrm>
            <a:off x="2910840" y="4154424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29" name="Line 22"/>
          <p:cNvSpPr>
            <a:spLocks noChangeShapeType="1"/>
          </p:cNvSpPr>
          <p:nvPr/>
        </p:nvSpPr>
        <p:spPr bwMode="auto">
          <a:xfrm>
            <a:off x="3267992" y="4147044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30" name="Line 22"/>
          <p:cNvSpPr>
            <a:spLocks noChangeShapeType="1"/>
          </p:cNvSpPr>
          <p:nvPr/>
        </p:nvSpPr>
        <p:spPr bwMode="auto">
          <a:xfrm>
            <a:off x="3625144" y="4153264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31" name="Line 22"/>
          <p:cNvSpPr>
            <a:spLocks noChangeShapeType="1"/>
          </p:cNvSpPr>
          <p:nvPr/>
        </p:nvSpPr>
        <p:spPr bwMode="auto">
          <a:xfrm>
            <a:off x="4017800" y="4153140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32" name="Line 22"/>
          <p:cNvSpPr>
            <a:spLocks noChangeShapeType="1"/>
          </p:cNvSpPr>
          <p:nvPr/>
        </p:nvSpPr>
        <p:spPr bwMode="auto">
          <a:xfrm>
            <a:off x="4387144" y="4159360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33" name="Line 22"/>
          <p:cNvSpPr>
            <a:spLocks noChangeShapeType="1"/>
          </p:cNvSpPr>
          <p:nvPr/>
        </p:nvSpPr>
        <p:spPr bwMode="auto">
          <a:xfrm>
            <a:off x="4755416" y="4159236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34" name="文本框 199"/>
          <p:cNvSpPr txBox="1"/>
          <p:nvPr/>
        </p:nvSpPr>
        <p:spPr>
          <a:xfrm>
            <a:off x="5209202" y="4133213"/>
            <a:ext cx="393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3600" dirty="0">
                <a:solidFill>
                  <a:srgbClr val="FF0000"/>
                </a:solidFill>
                <a:sym typeface="Wingdings" panose="05000000000000000000" pitchFamily="2" charset="2"/>
              </a:rPr>
              <a:t>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5047450" y="5231216"/>
            <a:ext cx="23862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期望收到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7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和下一轮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0 ~ 5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5220772" y="3394530"/>
            <a:ext cx="9118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超时重发</a:t>
            </a:r>
          </a:p>
        </p:txBody>
      </p:sp>
      <p:sp>
        <p:nvSpPr>
          <p:cNvPr id="37" name="Line 22"/>
          <p:cNvSpPr>
            <a:spLocks noChangeShapeType="1"/>
          </p:cNvSpPr>
          <p:nvPr/>
        </p:nvSpPr>
        <p:spPr bwMode="auto">
          <a:xfrm>
            <a:off x="5149144" y="4177648"/>
            <a:ext cx="179832" cy="83197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</a:pPr>
            <a:endParaRPr lang="zh-CN" altLang="en-US" sz="3600" b="1">
              <a:solidFill>
                <a:srgbClr val="2B0286"/>
              </a:solidFill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571962" y="5531612"/>
            <a:ext cx="288954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误把第一轮的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0 ~ 5</a:t>
            </a:r>
            <a:r>
              <a:rPr lang="zh-CN" altLang="en-US" sz="14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当做下一轮</a:t>
            </a:r>
            <a:r>
              <a:rPr lang="en-US" altLang="zh-CN" sz="1400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0 ~ 5</a:t>
            </a:r>
            <a:endParaRPr lang="zh-CN" altLang="en-US" sz="1400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04624" y="5983916"/>
            <a:ext cx="6986016" cy="844548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>
            <a:defPPr>
              <a:defRPr lang="zh-CN"/>
            </a:defPPr>
            <a:lvl1pPr>
              <a:defRPr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¥"/>
            </a:pPr>
            <a:r>
              <a:rPr lang="zh-CN" altLang="en-US" dirty="0"/>
              <a:t>原因</a:t>
            </a:r>
            <a:endParaRPr lang="en-US" altLang="zh-CN" dirty="0"/>
          </a:p>
          <a:p>
            <a:pPr marL="648000" lvl="1" indent="-285750">
              <a:lnSpc>
                <a:spcPct val="150000"/>
              </a:lnSpc>
              <a:buFont typeface="Wingdings 3" panose="05040102010807070707" pitchFamily="18" charset="2"/>
              <a:buChar char="4"/>
            </a:pP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接收窗口滑动之后期望的帧序号与上一轮序号重合所致</a:t>
            </a:r>
            <a:endParaRPr lang="en-US" altLang="zh-CN" dirty="0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685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500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500"/>
                            </p:stCondLst>
                            <p:childTnLst>
                              <p:par>
                                <p:cTn id="1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000"/>
                            </p:stCondLst>
                            <p:childTnLst>
                              <p:par>
                                <p:cTn id="1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3" grpId="0"/>
      <p:bldP spid="27" grpId="0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/>
      <p:bldP spid="35" grpId="0"/>
      <p:bldP spid="36" grpId="0"/>
      <p:bldP spid="37" grpId="0" animBg="1"/>
      <p:bldP spid="38" grpId="0"/>
      <p:bldP spid="40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432786"/>
                <a:ext cx="8370711" cy="4285261"/>
              </a:xfrm>
            </p:spPr>
            <p:txBody>
              <a:bodyPr/>
              <a:lstStyle/>
              <a:p>
                <a:pPr marL="247959">
                  <a:spcBef>
                    <a:spcPts val="120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i="1" dirty="0" smtClean="0">
                        <a:latin typeface="Cambria Math" panose="02040503050406030204" pitchFamily="18" charset="0"/>
                      </a:rPr>
                      <m:t>SWS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RWS</m:t>
                    </m:r>
                  </m:oMath>
                </a14:m>
                <a:r>
                  <a:rPr lang="zh-CN" altLang="en-US" dirty="0"/>
                  <a:t>时</a:t>
                </a:r>
              </a:p>
              <a:p>
                <a:pPr marL="499961" lvl="1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8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sz="1800" i="1" dirty="0">
                        <a:latin typeface="Cambria Math" panose="02040503050406030204" pitchFamily="18" charset="0"/>
                      </a:rPr>
                      <m:t>SWS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1800" dirty="0">
                        <a:latin typeface="Cambria Math" panose="02040503050406030204" pitchFamily="18" charset="0"/>
                      </a:rPr>
                      <m:t>RWS</m:t>
                    </m:r>
                    <m:r>
                      <a:rPr lang="en-US" altLang="zh-CN" sz="1800" b="0" i="0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𝑀𝑎𝑥𝑆𝑒𝑞𝑁𝑢𝑚</m:t>
                    </m:r>
                  </m:oMath>
                </a14:m>
                <a:r>
                  <a:rPr lang="zh-CN" altLang="en-US" sz="1800" dirty="0"/>
                  <a:t>  </a:t>
                </a:r>
                <a:r>
                  <a:rPr lang="en-US" altLang="zh-CN" sz="1800" dirty="0"/>
                  <a:t>(</a:t>
                </a:r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𝑀𝑎𝑥𝑆𝑒𝑞𝑁𝑢𝑚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zh-CN" altLang="en-US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1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1800" dirty="0"/>
                  <a:t>为序列号使用的比特数</a:t>
                </a:r>
                <a:r>
                  <a:rPr lang="en-US" altLang="zh-CN" sz="1800" dirty="0"/>
                  <a:t>)</a:t>
                </a:r>
              </a:p>
              <a:p>
                <a:pPr marL="499961" lvl="1">
                  <a:spcBef>
                    <a:spcPts val="600"/>
                  </a:spcBef>
                </a:pPr>
                <a:r>
                  <a:rPr lang="zh-CN" altLang="en-US" sz="1800" dirty="0"/>
                  <a:t>即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800" i="1" dirty="0">
                        <a:latin typeface="Cambria Math" panose="02040503050406030204" pitchFamily="18" charset="0"/>
                      </a:rPr>
                      <m:t>SWS</m:t>
                    </m:r>
                    <m:r>
                      <a:rPr lang="en-US" altLang="zh-CN" sz="18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800" dirty="0">
                        <a:latin typeface="Cambria Math" panose="02040503050406030204" pitchFamily="18" charset="0"/>
                      </a:rPr>
                      <m:t>RWS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1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altLang="zh-CN" sz="1800" dirty="0"/>
              </a:p>
              <a:p>
                <a:pPr marL="499961" lvl="1">
                  <a:spcBef>
                    <a:spcPts val="600"/>
                  </a:spcBef>
                </a:pPr>
                <a:r>
                  <a:rPr lang="zh-CN" altLang="en-US" sz="1800" dirty="0"/>
                  <a:t>发送窗口大小不能大于可用序列号数的一半</a:t>
                </a:r>
                <a:endParaRPr lang="en-US" altLang="zh-CN" sz="1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432786"/>
                <a:ext cx="8370711" cy="4285261"/>
              </a:xfrm>
              <a:blipFill>
                <a:blip r:embed="rId4"/>
                <a:stretch>
                  <a:fillRect l="-437" r="-13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滑动窗口算法 </a:t>
            </a:r>
            <a:r>
              <a:rPr lang="en-US" altLang="zh-CN" sz="2800" dirty="0"/>
              <a:t>-- </a:t>
            </a:r>
            <a:r>
              <a:rPr lang="zh-CN" altLang="en-US" sz="2800" dirty="0"/>
              <a:t>有限序号与窗口大小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47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2315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32786"/>
            <a:ext cx="8370711" cy="4651022"/>
          </a:xfrm>
        </p:spPr>
        <p:txBody>
          <a:bodyPr/>
          <a:lstStyle/>
          <a:p>
            <a:pPr marL="247959">
              <a:spcBef>
                <a:spcPts val="1200"/>
              </a:spcBef>
            </a:pPr>
            <a:r>
              <a:rPr lang="zh-CN" altLang="en-US" dirty="0"/>
              <a:t>滑动窗口是一种高效的可靠传输机制，</a:t>
            </a:r>
            <a:r>
              <a:rPr lang="en-US" altLang="zh-CN" dirty="0"/>
              <a:t>4</a:t>
            </a:r>
            <a:r>
              <a:rPr lang="zh-CN" altLang="en-US" dirty="0"/>
              <a:t>个功能</a:t>
            </a:r>
            <a:endParaRPr lang="en-US" altLang="zh-CN" dirty="0"/>
          </a:p>
          <a:p>
            <a:pPr marL="648000" lvl="1">
              <a:spcBef>
                <a:spcPts val="600"/>
              </a:spcBef>
            </a:pPr>
            <a:r>
              <a:rPr lang="zh-CN" altLang="en-US" dirty="0"/>
              <a:t>可靠传输</a:t>
            </a:r>
            <a:endParaRPr lang="en-US" altLang="zh-CN" dirty="0"/>
          </a:p>
          <a:p>
            <a:pPr marL="936000" lvl="2">
              <a:spcBef>
                <a:spcPts val="600"/>
              </a:spcBef>
            </a:pPr>
            <a:r>
              <a:rPr lang="zh-CN" altLang="en-US" dirty="0"/>
              <a:t>基于确认和超时重传机制，在不可靠链路上可靠传输</a:t>
            </a:r>
            <a:endParaRPr lang="en-US" altLang="zh-CN" dirty="0"/>
          </a:p>
          <a:p>
            <a:pPr marL="648000" lvl="1">
              <a:spcBef>
                <a:spcPts val="1800"/>
              </a:spcBef>
            </a:pPr>
            <a:r>
              <a:rPr lang="zh-CN" altLang="en-US" dirty="0"/>
              <a:t>高效传输</a:t>
            </a:r>
            <a:endParaRPr lang="en-US" altLang="zh-CN" dirty="0"/>
          </a:p>
          <a:p>
            <a:pPr marL="936000" lvl="2">
              <a:spcBef>
                <a:spcPts val="600"/>
              </a:spcBef>
            </a:pPr>
            <a:r>
              <a:rPr lang="zh-CN" altLang="en-US" dirty="0"/>
              <a:t>通过并发提升传输性能</a:t>
            </a:r>
            <a:endParaRPr lang="en-US" altLang="zh-CN" dirty="0"/>
          </a:p>
          <a:p>
            <a:pPr marL="648000" lvl="1">
              <a:spcBef>
                <a:spcPts val="1800"/>
              </a:spcBef>
            </a:pPr>
            <a:r>
              <a:rPr lang="zh-CN" altLang="en-US" dirty="0"/>
              <a:t>按序传送</a:t>
            </a:r>
            <a:endParaRPr lang="en-US" altLang="zh-CN" dirty="0"/>
          </a:p>
          <a:p>
            <a:pPr marL="936000" lvl="2">
              <a:spcBef>
                <a:spcPts val="600"/>
              </a:spcBef>
            </a:pPr>
            <a:r>
              <a:rPr lang="zh-CN" altLang="en-US" dirty="0"/>
              <a:t>接收方将连续的数据交给上层，缓存不连续 </a:t>
            </a:r>
            <a:r>
              <a:rPr lang="en-US" altLang="zh-CN" dirty="0"/>
              <a:t>(</a:t>
            </a:r>
            <a:r>
              <a:rPr lang="zh-CN" altLang="en-US" dirty="0"/>
              <a:t>乱序到达</a:t>
            </a:r>
            <a:r>
              <a:rPr lang="en-US" altLang="zh-CN" dirty="0"/>
              <a:t>)</a:t>
            </a:r>
            <a:r>
              <a:rPr lang="zh-CN" altLang="en-US" dirty="0"/>
              <a:t>的数据</a:t>
            </a:r>
            <a:endParaRPr lang="en-US" altLang="zh-CN" dirty="0"/>
          </a:p>
          <a:p>
            <a:pPr marL="648000" lvl="1">
              <a:spcBef>
                <a:spcPts val="1800"/>
              </a:spcBef>
            </a:pPr>
            <a:r>
              <a:rPr lang="zh-CN" altLang="en-US" dirty="0"/>
              <a:t>流量控制 </a:t>
            </a:r>
            <a:r>
              <a:rPr lang="en-US" altLang="zh-CN" dirty="0"/>
              <a:t>(flow control)</a:t>
            </a:r>
          </a:p>
          <a:p>
            <a:pPr marL="936000" lvl="2">
              <a:spcBef>
                <a:spcPts val="600"/>
              </a:spcBef>
            </a:pPr>
            <a:r>
              <a:rPr lang="zh-CN" altLang="en-US" dirty="0"/>
              <a:t>接收方能够控制发送方使其降低速度的反馈机制</a:t>
            </a:r>
            <a:endParaRPr lang="en-US" altLang="zh-CN" dirty="0"/>
          </a:p>
          <a:p>
            <a:pPr marL="936000" lvl="2">
              <a:spcBef>
                <a:spcPts val="600"/>
              </a:spcBef>
            </a:pPr>
            <a:r>
              <a:rPr lang="zh-CN" altLang="en-US" dirty="0"/>
              <a:t>通信双方通过设定</a:t>
            </a:r>
            <a:r>
              <a:rPr lang="en-US" altLang="zh-CN" dirty="0"/>
              <a:t>Window</a:t>
            </a:r>
            <a:r>
              <a:rPr lang="zh-CN" altLang="en-US" dirty="0"/>
              <a:t>大小表达自己的发送</a:t>
            </a:r>
            <a:r>
              <a:rPr lang="en-US" altLang="zh-CN" dirty="0"/>
              <a:t>/</a:t>
            </a:r>
            <a:r>
              <a:rPr lang="zh-CN" altLang="en-US" dirty="0"/>
              <a:t>接收能力</a:t>
            </a:r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滑动窗口算法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48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1557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397726" y="2084840"/>
            <a:ext cx="3418110" cy="1717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4800" b="1" i="1" dirty="0">
                <a:solidFill>
                  <a:srgbClr val="6900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方正舒体" panose="02010601030101010101" pitchFamily="2" charset="-122"/>
              </a:rPr>
              <a:t>Any 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4800" b="1" i="1" dirty="0">
                <a:solidFill>
                  <a:srgbClr val="6900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方正舒体" panose="02010601030101010101" pitchFamily="2" charset="-122"/>
              </a:rPr>
              <a:t>Questions</a:t>
            </a:r>
            <a:endParaRPr lang="zh-CN" altLang="en-US" sz="4800" b="1" i="1" dirty="0">
              <a:solidFill>
                <a:srgbClr val="6900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  <a:ea typeface="方正舒体" panose="02010601030101010101" pitchFamily="2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518257" y="4850361"/>
            <a:ext cx="176784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谢谢！</a:t>
            </a:r>
          </a:p>
        </p:txBody>
      </p:sp>
      <p:pic>
        <p:nvPicPr>
          <p:cNvPr id="7" name="图片 1" descr="问号13.jpg"/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480" y="1551990"/>
            <a:ext cx="3298371" cy="3298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3634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FF1E48-DD50-4607-86C5-8DAD64A317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50</a:t>
            </a:fld>
            <a:endParaRPr lang="zh-CN" altLang="en-US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E3D163A-A249-4BC4-B22E-1131872C6561}"/>
              </a:ext>
            </a:extLst>
          </p:cNvPr>
          <p:cNvGrpSpPr/>
          <p:nvPr/>
        </p:nvGrpSpPr>
        <p:grpSpPr>
          <a:xfrm>
            <a:off x="756298" y="614763"/>
            <a:ext cx="7721852" cy="5854475"/>
            <a:chOff x="767056" y="604326"/>
            <a:chExt cx="7721852" cy="5854475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8D7D54BB-1027-43A3-A314-C1D57923CC11}"/>
                </a:ext>
              </a:extLst>
            </p:cNvPr>
            <p:cNvGrpSpPr/>
            <p:nvPr/>
          </p:nvGrpSpPr>
          <p:grpSpPr>
            <a:xfrm>
              <a:off x="767056" y="604326"/>
              <a:ext cx="7721852" cy="5854475"/>
              <a:chOff x="767056" y="604326"/>
              <a:chExt cx="7721852" cy="5854475"/>
            </a:xfrm>
          </p:grpSpPr>
          <p:pic>
            <p:nvPicPr>
              <p:cNvPr id="5" name="图片 4">
                <a:extLst>
                  <a:ext uri="{FF2B5EF4-FFF2-40B4-BE49-F238E27FC236}">
                    <a16:creationId xmlns:a16="http://schemas.microsoft.com/office/drawing/2014/main" id="{DB303464-DA73-40BF-A89A-6256DD4682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67056" y="604326"/>
                <a:ext cx="7721852" cy="5854475"/>
              </a:xfrm>
              <a:prstGeom prst="rect">
                <a:avLst/>
              </a:prstGeom>
            </p:spPr>
          </p:pic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B325CAD-A8ED-466A-B51B-7C4D4A6CD2E1}"/>
                  </a:ext>
                </a:extLst>
              </p:cNvPr>
              <p:cNvSpPr txBox="1"/>
              <p:nvPr/>
            </p:nvSpPr>
            <p:spPr>
              <a:xfrm>
                <a:off x="6266597" y="2254161"/>
                <a:ext cx="1621809" cy="89847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endParaRPr lang="zh-CN" altLang="en-US" sz="20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AEBF49D4-7C01-484E-BC5C-EC4E374D3BFA}"/>
                </a:ext>
              </a:extLst>
            </p:cNvPr>
            <p:cNvSpPr txBox="1"/>
            <p:nvPr/>
          </p:nvSpPr>
          <p:spPr>
            <a:xfrm>
              <a:off x="5540991" y="3316412"/>
              <a:ext cx="2347415" cy="248388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no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>
                  <a:solidFill>
                    <a:srgbClr val="FF0000"/>
                  </a:solidFill>
                </a:rPr>
                <a:t>7</a:t>
              </a:r>
              <a:r>
                <a:rPr lang="zh-CN" altLang="en-US" sz="2000" dirty="0">
                  <a:solidFill>
                    <a:srgbClr val="FF0000"/>
                  </a:solidFill>
                </a:rPr>
                <a:t>先到达，</a:t>
              </a:r>
              <a:r>
                <a:rPr lang="en-US" altLang="zh-CN" sz="2000" dirty="0">
                  <a:solidFill>
                    <a:srgbClr val="FF0000"/>
                  </a:solidFill>
                </a:rPr>
                <a:t>0-5</a:t>
              </a:r>
              <a:r>
                <a:rPr lang="zh-CN" altLang="en-US" sz="2000" dirty="0">
                  <a:solidFill>
                    <a:srgbClr val="FF0000"/>
                  </a:solidFill>
                </a:rPr>
                <a:t>延迟；</a:t>
              </a:r>
              <a:endParaRPr lang="en-US" altLang="zh-CN" sz="2000" dirty="0">
                <a:solidFill>
                  <a:srgbClr val="FF0000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2000" dirty="0">
                  <a:solidFill>
                    <a:srgbClr val="FF0000"/>
                  </a:solidFill>
                </a:rPr>
                <a:t>接收方已缓存自己认为的</a:t>
              </a:r>
              <a:r>
                <a:rPr lang="en-US" altLang="zh-CN" sz="2000" dirty="0">
                  <a:solidFill>
                    <a:srgbClr val="FF0000"/>
                  </a:solidFill>
                </a:rPr>
                <a:t>8-14</a:t>
              </a:r>
              <a:r>
                <a:rPr lang="zh-CN" altLang="en-US" sz="2000" dirty="0">
                  <a:solidFill>
                    <a:srgbClr val="FF0000"/>
                  </a:solidFill>
                </a:rPr>
                <a:t>（其实是</a:t>
              </a:r>
              <a:r>
                <a:rPr lang="en-US" altLang="zh-CN" sz="2000" dirty="0">
                  <a:solidFill>
                    <a:srgbClr val="FF0000"/>
                  </a:solidFill>
                </a:rPr>
                <a:t>0-6</a:t>
              </a:r>
              <a:r>
                <a:rPr lang="zh-CN" altLang="en-US" sz="2000" dirty="0">
                  <a:solidFill>
                    <a:srgbClr val="FF0000"/>
                  </a:solidFill>
                </a:rPr>
                <a:t>），导致错误接收。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4C04CA67-FAD4-4CE2-A243-547AD5DAD984}"/>
                </a:ext>
              </a:extLst>
            </p:cNvPr>
            <p:cNvCxnSpPr/>
            <p:nvPr/>
          </p:nvCxnSpPr>
          <p:spPr>
            <a:xfrm>
              <a:off x="3302758" y="4995081"/>
              <a:ext cx="1760561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96361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FF1E48-DD50-4607-86C5-8DAD64A317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51</a:t>
            </a:fld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2BC666B-F8F6-4AD8-B4FE-35E63E0F592E}"/>
              </a:ext>
            </a:extLst>
          </p:cNvPr>
          <p:cNvSpPr txBox="1"/>
          <p:nvPr/>
        </p:nvSpPr>
        <p:spPr>
          <a:xfrm>
            <a:off x="336175" y="5825698"/>
            <a:ext cx="8491735" cy="946238"/>
          </a:xfrm>
          <a:prstGeom prst="rect">
            <a:avLst/>
          </a:prstGeom>
          <a:solidFill>
            <a:srgbClr val="FFFF99"/>
          </a:solidFill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实际上，接收方最多只能预留</a:t>
            </a:r>
            <a:r>
              <a:rPr lang="en-US" altLang="zh-CN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7</a:t>
            </a:r>
            <a:r>
              <a:rPr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个位置，暂存数据，</a:t>
            </a:r>
            <a:r>
              <a:rPr lang="en-US" altLang="zh-CN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8-14</a:t>
            </a:r>
            <a:r>
              <a:rPr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（认为）的无法被全部存下，只有</a:t>
            </a:r>
            <a:r>
              <a:rPr lang="en-US" altLang="zh-CN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8-13</a:t>
            </a:r>
            <a:r>
              <a:rPr lang="zh-CN" altLang="en-US" sz="2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（认为）的被存下来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BC199F7-FB1E-400A-9865-1DF35D0115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2002356" y="-1108523"/>
            <a:ext cx="5176168" cy="850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215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7|8.1|19.4|27.6|4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9|6.6|4|5.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9|54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5|14.7|2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8|69.8|37.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2|68.8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1|98.7|42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.3|18.7|55.4|3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23.7|20.3|30.1|42.8|28.5|47|40.4|20.7|19.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0|26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28.7|66.9|29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6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1|9.6|5.8|16.7|13.7|17.2|2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|3.5|57.4|6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4|68.2|45.3|25.6|19.2|34.1|13.2|12.7|23.5|4.4|35.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40.6|7|47.5|20.5|12.7|76.3|13.2|20.5|37.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11.3|19.6|11.4|96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9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5.2|5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9.8|49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2.2|103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1.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5.7|5.8|23.6|4.9|20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4|2.9|18.9|22.8|4.2|7.8|4.5|29|85.9|9.3|3.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0.9|11.9|55|30.3|36.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1.2|60.3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3.2|38.8|57.2|70.1|2.1|82.4|28.9|2.4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|22.9|11.6|64.5|3.4|19.2|27.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5|38.6|15.9|64.7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8|16.6|6.6|2.2|8.3|4.2|1.9|11.3|12.9|12.3|12.6|10.8|6.7|10.5|10|3.8|12.2|6.4|9.2|16.2|16.4|5.5|12.1|1.2|11.1|2.9|7.6|3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6|12.9|13.9|15.7|23.9|51.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3.3|17.1|22.6|23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5|10.5|7|2.7|1.7|8|1.7|14.2|1.9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|2.8|5.3|1.8|9.9|37.3|1.2|49.5|2.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6|25.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4|40.5|9.7|25.9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5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6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7.xml><?xml version="1.0" encoding="utf-8"?>
<a:theme xmlns:a="http://schemas.openxmlformats.org/drawingml/2006/main" name="5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8.xml><?xml version="1.0" encoding="utf-8"?>
<a:theme xmlns:a="http://schemas.openxmlformats.org/drawingml/2006/main" name="6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第一章概述</Template>
  <TotalTime>23683</TotalTime>
  <Words>4610</Words>
  <Application>Microsoft Office PowerPoint</Application>
  <PresentationFormat>全屏显示(4:3)</PresentationFormat>
  <Paragraphs>943</Paragraphs>
  <Slides>51</Slides>
  <Notes>36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8</vt:i4>
      </vt:variant>
      <vt:variant>
        <vt:lpstr>幻灯片标题</vt:lpstr>
      </vt:variant>
      <vt:variant>
        <vt:i4>51</vt:i4>
      </vt:variant>
    </vt:vector>
  </HeadingPairs>
  <TitlesOfParts>
    <vt:vector size="72" baseType="lpstr">
      <vt:lpstr>黑体</vt:lpstr>
      <vt:lpstr>华文楷体</vt:lpstr>
      <vt:lpstr>华文新魏</vt:lpstr>
      <vt:lpstr>Arial</vt:lpstr>
      <vt:lpstr>Arial Black</vt:lpstr>
      <vt:lpstr>Calibri</vt:lpstr>
      <vt:lpstr>Cambria Math</vt:lpstr>
      <vt:lpstr>Comic Sans MS</vt:lpstr>
      <vt:lpstr>Courier New</vt:lpstr>
      <vt:lpstr>Tahoma</vt:lpstr>
      <vt:lpstr>Times New Roman</vt:lpstr>
      <vt:lpstr>Wingdings</vt:lpstr>
      <vt:lpstr>Wingdings 3</vt:lpstr>
      <vt:lpstr>Pixel</vt:lpstr>
      <vt:lpstr>自定义设计方案</vt:lpstr>
      <vt:lpstr>1_自定义设计方案</vt:lpstr>
      <vt:lpstr>2_自定义设计方案</vt:lpstr>
      <vt:lpstr>3_自定义设计方案</vt:lpstr>
      <vt:lpstr>4_自定义设计方案</vt:lpstr>
      <vt:lpstr>5_自定义设计方案</vt:lpstr>
      <vt:lpstr>6_自定义设计方案</vt:lpstr>
      <vt:lpstr>两种链路类型</vt:lpstr>
      <vt:lpstr>第二章 直连网络(2)          </vt:lpstr>
      <vt:lpstr>提纲</vt:lpstr>
      <vt:lpstr>组帧</vt:lpstr>
      <vt:lpstr>组帧</vt:lpstr>
      <vt:lpstr>组帧</vt:lpstr>
      <vt:lpstr>面向字节的组帧</vt:lpstr>
      <vt:lpstr>起止标记法</vt:lpstr>
      <vt:lpstr>起止标记法</vt:lpstr>
      <vt:lpstr>字节计数法</vt:lpstr>
      <vt:lpstr>面向比特的组帧</vt:lpstr>
      <vt:lpstr>面向比特的组帧</vt:lpstr>
      <vt:lpstr>提纲</vt:lpstr>
      <vt:lpstr>差错检测</vt:lpstr>
      <vt:lpstr>差错检测</vt:lpstr>
      <vt:lpstr>奇偶校验</vt:lpstr>
      <vt:lpstr>奇偶校验</vt:lpstr>
      <vt:lpstr>奇偶校验</vt:lpstr>
      <vt:lpstr>奇偶校验</vt:lpstr>
      <vt:lpstr>校验和 (checksum)</vt:lpstr>
      <vt:lpstr>校验和 (checksum)</vt:lpstr>
      <vt:lpstr>循环冗余校验(Cyclic Redundancy Check, CRC)</vt:lpstr>
      <vt:lpstr>循环冗余校验(Cyclic Redundancy Check, CRC)</vt:lpstr>
      <vt:lpstr>循环冗余校验(Cyclic Redundancy Check, CRC)</vt:lpstr>
      <vt:lpstr>循环冗余校验(Cyclic Redundancy Check, CRC)</vt:lpstr>
      <vt:lpstr>循环冗余校验(Cyclic Redundancy Check, CRC)</vt:lpstr>
      <vt:lpstr>循环冗余校验(Cyclic Redundancy Check, CRC)</vt:lpstr>
      <vt:lpstr>循环冗余校验(Cyclic Redundancy Check, CRC)</vt:lpstr>
      <vt:lpstr>检错还是纠错</vt:lpstr>
      <vt:lpstr>提纲</vt:lpstr>
      <vt:lpstr>可靠传输</vt:lpstr>
      <vt:lpstr>可靠传输</vt:lpstr>
      <vt:lpstr>可靠传输</vt:lpstr>
      <vt:lpstr>停等(stop-and-wait)算法</vt:lpstr>
      <vt:lpstr>停等(stop-and-wait)算法</vt:lpstr>
      <vt:lpstr>停等(stop-and-wait)算法</vt:lpstr>
      <vt:lpstr>停等(stop-and-wait)算法</vt:lpstr>
      <vt:lpstr>滑动窗口(sliding-window)算法</vt:lpstr>
      <vt:lpstr>滑动窗口(sliding-window)算法</vt:lpstr>
      <vt:lpstr>滑动窗口(sliding-window)算法</vt:lpstr>
      <vt:lpstr>滑动窗口(sliding-window)算法</vt:lpstr>
      <vt:lpstr>滑动窗口例子</vt:lpstr>
      <vt:lpstr>滑动窗口(sliding-window)算法</vt:lpstr>
      <vt:lpstr>滑动窗口算法 -- 有限序号与窗口大小</vt:lpstr>
      <vt:lpstr>滑动窗口算法 -- 有限序号与窗口大小</vt:lpstr>
      <vt:lpstr>滑动窗口算法 -- 有限序号与窗口大小</vt:lpstr>
      <vt:lpstr>滑动窗口算法 -- 有限序号与窗口大小</vt:lpstr>
      <vt:lpstr>滑动窗口算法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计算机网络概述</dc:title>
  <dc:creator>zhw</dc:creator>
  <cp:lastModifiedBy>Yujun Zhang</cp:lastModifiedBy>
  <cp:revision>1172</cp:revision>
  <dcterms:created xsi:type="dcterms:W3CDTF">2017-02-02T15:53:23Z</dcterms:created>
  <dcterms:modified xsi:type="dcterms:W3CDTF">2026-09-15T13:55:59Z</dcterms:modified>
</cp:coreProperties>
</file>