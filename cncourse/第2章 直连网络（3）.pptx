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vsdx" ContentType="application/vnd.ms-visio.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6.xml" ContentType="application/vnd.openxmlformats-officedocument.theme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theme/theme7.xml" ContentType="application/vnd.openxmlformats-officedocument.theme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3.xml" ContentType="application/vnd.openxmlformats-officedocument.presentationml.notesSlide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7.xml" ContentType="application/vnd.openxmlformats-officedocument.presentationml.notesSlide+xml"/>
  <Override PartName="/ppt/tags/tag10.xml" ContentType="application/vnd.openxmlformats-officedocument.presentationml.tags+xml"/>
  <Override PartName="/ppt/notesSlides/notesSlide8.xml" ContentType="application/vnd.openxmlformats-officedocument.presentationml.notesSlide+xml"/>
  <Override PartName="/ppt/tags/tag11.xml" ContentType="application/vnd.openxmlformats-officedocument.presentationml.tags+xml"/>
  <Override PartName="/ppt/notesSlides/notesSlide9.xml" ContentType="application/vnd.openxmlformats-officedocument.presentationml.notesSlide+xml"/>
  <Override PartName="/ppt/tags/tag12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16.xml" ContentType="application/vnd.openxmlformats-officedocument.presentationml.tag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7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18.xml" ContentType="application/vnd.openxmlformats-officedocument.presentationml.tags+xml"/>
  <Override PartName="/ppt/notesSlides/notesSlide20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1.xml" ContentType="application/vnd.openxmlformats-officedocument.presentationml.notesSlide+xml"/>
  <Override PartName="/ppt/tags/tag22.xml" ContentType="application/vnd.openxmlformats-officedocument.presentationml.tag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23.xml" ContentType="application/vnd.openxmlformats-officedocument.presentationml.tags+xml"/>
  <Override PartName="/ppt/notesSlides/notesSlide24.xml" ContentType="application/vnd.openxmlformats-officedocument.presentationml.notesSlide+xml"/>
  <Override PartName="/ppt/tags/tag24.xml" ContentType="application/vnd.openxmlformats-officedocument.presentationml.tags+xml"/>
  <Override PartName="/ppt/notesSlides/notesSlide25.xml" ContentType="application/vnd.openxmlformats-officedocument.presentationml.notesSlide+xml"/>
  <Override PartName="/ppt/tags/tag25.xml" ContentType="application/vnd.openxmlformats-officedocument.presentationml.tags+xml"/>
  <Override PartName="/ppt/notesSlides/notesSlide26.xml" ContentType="application/vnd.openxmlformats-officedocument.presentationml.notesSlid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27.xml" ContentType="application/vnd.openxmlformats-officedocument.presentationml.notesSlide+xml"/>
  <Override PartName="/ppt/tags/tag28.xml" ContentType="application/vnd.openxmlformats-officedocument.presentationml.tags+xml"/>
  <Override PartName="/ppt/notesSlides/notesSlide28.xml" ContentType="application/vnd.openxmlformats-officedocument.presentationml.notesSlide+xml"/>
  <Override PartName="/ppt/tags/tag29.xml" ContentType="application/vnd.openxmlformats-officedocument.presentationml.tags+xml"/>
  <Override PartName="/ppt/notesSlides/notesSlide29.xml" ContentType="application/vnd.openxmlformats-officedocument.presentationml.notesSlide+xml"/>
  <Override PartName="/ppt/tags/tag30.xml" ContentType="application/vnd.openxmlformats-officedocument.presentationml.tags+xml"/>
  <Override PartName="/ppt/notesSlides/notesSlide30.xml" ContentType="application/vnd.openxmlformats-officedocument.presentationml.notesSlide+xml"/>
  <Override PartName="/ppt/tags/tag31.xml" ContentType="application/vnd.openxmlformats-officedocument.presentationml.tags+xml"/>
  <Override PartName="/ppt/notesSlides/notesSlide3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2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33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  <p:sldMasterId id="2147483685" r:id="rId3"/>
    <p:sldMasterId id="2147483698" r:id="rId4"/>
    <p:sldMasterId id="2147483711" r:id="rId5"/>
    <p:sldMasterId id="2147483724" r:id="rId6"/>
    <p:sldMasterId id="2147483737" r:id="rId7"/>
    <p:sldMasterId id="2147483750" r:id="rId8"/>
  </p:sldMasterIdLst>
  <p:notesMasterIdLst>
    <p:notesMasterId r:id="rId80"/>
  </p:notesMasterIdLst>
  <p:sldIdLst>
    <p:sldId id="256" r:id="rId9"/>
    <p:sldId id="389" r:id="rId10"/>
    <p:sldId id="439" r:id="rId11"/>
    <p:sldId id="441" r:id="rId12"/>
    <p:sldId id="452" r:id="rId13"/>
    <p:sldId id="454" r:id="rId14"/>
    <p:sldId id="455" r:id="rId15"/>
    <p:sldId id="456" r:id="rId16"/>
    <p:sldId id="457" r:id="rId17"/>
    <p:sldId id="458" r:id="rId18"/>
    <p:sldId id="459" r:id="rId19"/>
    <p:sldId id="461" r:id="rId20"/>
    <p:sldId id="570" r:id="rId21"/>
    <p:sldId id="598" r:id="rId22"/>
    <p:sldId id="597" r:id="rId23"/>
    <p:sldId id="464" r:id="rId24"/>
    <p:sldId id="571" r:id="rId25"/>
    <p:sldId id="601" r:id="rId26"/>
    <p:sldId id="465" r:id="rId27"/>
    <p:sldId id="466" r:id="rId28"/>
    <p:sldId id="467" r:id="rId29"/>
    <p:sldId id="468" r:id="rId30"/>
    <p:sldId id="469" r:id="rId31"/>
    <p:sldId id="602" r:id="rId32"/>
    <p:sldId id="603" r:id="rId33"/>
    <p:sldId id="474" r:id="rId34"/>
    <p:sldId id="477" r:id="rId35"/>
    <p:sldId id="479" r:id="rId36"/>
    <p:sldId id="482" r:id="rId37"/>
    <p:sldId id="483" r:id="rId38"/>
    <p:sldId id="485" r:id="rId39"/>
    <p:sldId id="480" r:id="rId40"/>
    <p:sldId id="487" r:id="rId41"/>
    <p:sldId id="489" r:id="rId42"/>
    <p:sldId id="490" r:id="rId43"/>
    <p:sldId id="491" r:id="rId44"/>
    <p:sldId id="440" r:id="rId45"/>
    <p:sldId id="390" r:id="rId46"/>
    <p:sldId id="508" r:id="rId47"/>
    <p:sldId id="509" r:id="rId48"/>
    <p:sldId id="510" r:id="rId49"/>
    <p:sldId id="511" r:id="rId50"/>
    <p:sldId id="512" r:id="rId51"/>
    <p:sldId id="513" r:id="rId52"/>
    <p:sldId id="514" r:id="rId53"/>
    <p:sldId id="605" r:id="rId54"/>
    <p:sldId id="523" r:id="rId55"/>
    <p:sldId id="520" r:id="rId56"/>
    <p:sldId id="521" r:id="rId57"/>
    <p:sldId id="530" r:id="rId58"/>
    <p:sldId id="531" r:id="rId59"/>
    <p:sldId id="556" r:id="rId60"/>
    <p:sldId id="557" r:id="rId61"/>
    <p:sldId id="543" r:id="rId62"/>
    <p:sldId id="544" r:id="rId63"/>
    <p:sldId id="545" r:id="rId64"/>
    <p:sldId id="546" r:id="rId65"/>
    <p:sldId id="596" r:id="rId66"/>
    <p:sldId id="548" r:id="rId67"/>
    <p:sldId id="549" r:id="rId68"/>
    <p:sldId id="550" r:id="rId69"/>
    <p:sldId id="553" r:id="rId70"/>
    <p:sldId id="554" r:id="rId71"/>
    <p:sldId id="555" r:id="rId72"/>
    <p:sldId id="576" r:id="rId73"/>
    <p:sldId id="572" r:id="rId74"/>
    <p:sldId id="573" r:id="rId75"/>
    <p:sldId id="574" r:id="rId76"/>
    <p:sldId id="575" r:id="rId77"/>
    <p:sldId id="569" r:id="rId78"/>
    <p:sldId id="604" r:id="rId79"/>
  </p:sldIdLst>
  <p:sldSz cx="9144000" cy="6858000" type="screen4x3"/>
  <p:notesSz cx="6858000" cy="994568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2F2F8"/>
    <a:srgbClr val="9898CC"/>
    <a:srgbClr val="808080"/>
    <a:srgbClr val="336699"/>
    <a:srgbClr val="000000"/>
    <a:srgbClr val="CC9900"/>
    <a:srgbClr val="9A9600"/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70015" autoAdjust="0"/>
  </p:normalViewPr>
  <p:slideViewPr>
    <p:cSldViewPr snapToGrid="0">
      <p:cViewPr varScale="1">
        <p:scale>
          <a:sx n="53" d="100"/>
          <a:sy n="53" d="100"/>
        </p:scale>
        <p:origin x="168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tableStyles" Target="tableStyle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3.xml"/><Relationship Id="rId82" Type="http://schemas.openxmlformats.org/officeDocument/2006/relationships/viewProps" Target="viewProps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1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35F783-0C0C-4437-971D-53EACF12D7BE}" type="datetimeFigureOut">
              <a:rPr lang="zh-CN" altLang="en-US" smtClean="0"/>
              <a:pPr/>
              <a:t>2026/9/15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90625" y="1243013"/>
            <a:ext cx="447675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786362"/>
            <a:ext cx="5486400" cy="39161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9446678"/>
            <a:ext cx="2971800" cy="4990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DC233E-39C6-4AB0-A67B-6BD0A5E8E2F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331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824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68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441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9541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450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91635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3722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268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0522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82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4678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7709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3484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01866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995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92865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4826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备注占位符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2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altLang="zh-CN" sz="1600" dirty="0" smtClean="0"/>
                  <a:t>32/48bit</a:t>
                </a:r>
                <a:r>
                  <a:rPr lang="zh-CN" altLang="en-US" sz="1600" dirty="0" smtClean="0"/>
                  <a:t>，</a:t>
                </a:r>
                <a:r>
                  <a:rPr lang="en-US" altLang="zh-CN" sz="1600" dirty="0"/>
                  <a:t> </a:t>
                </a:r>
                <a:r>
                  <a:rPr lang="en-US" altLang="zh-CN" sz="1600" i="0" dirty="0">
                    <a:latin typeface="Cambria Math" panose="02040503050406030204" pitchFamily="18" charset="0"/>
                  </a:rPr>
                  <a:t>10𝑀𝑏𝑝𝑠</a:t>
                </a:r>
                <a:r>
                  <a:rPr lang="zh-CN" altLang="en-US" sz="1600" dirty="0" smtClean="0"/>
                  <a:t>以太网上发送时延为</a:t>
                </a:r>
                <a:r>
                  <a:rPr lang="en-US" altLang="zh-CN" sz="1600" dirty="0" smtClean="0"/>
                  <a:t>3.2/4.8</a:t>
                </a:r>
                <a:r>
                  <a:rPr lang="el-GR" altLang="zh-CN" sz="1600" dirty="0">
                    <a:ea typeface="Cambria Math" panose="02040503050406030204" pitchFamily="18" charset="0"/>
                  </a:rPr>
                  <a:t> </a:t>
                </a:r>
                <a:r>
                  <a:rPr lang="el-GR" altLang="zh-CN" sz="160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μ</a:t>
                </a:r>
                <a:r>
                  <a:rPr lang="en-US" altLang="zh-CN" sz="1600" i="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𝑠</a:t>
                </a:r>
                <a:r>
                  <a:rPr lang="zh-CN" altLang="en-US" sz="1600" dirty="0" smtClean="0"/>
                  <a:t> </a:t>
                </a:r>
              </a:p>
              <a:p>
                <a:endParaRPr lang="zh-CN" altLang="en-US" dirty="0"/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555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5958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101576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7083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3819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0937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8982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83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1"/>
            <a:endParaRPr lang="zh-CN" altLang="en-US" dirty="0">
              <a:effectLst/>
            </a:endParaRPr>
          </a:p>
          <a:p>
            <a:pPr latinLnBrk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77332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57141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0876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19706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zh-CN" altLang="en-US" dirty="0"/>
            </a:b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73518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0155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49863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402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CDC233E-39C6-4AB0-A67B-6BD0A5E8E2F9}" type="slidenum">
              <a:rPr lang="zh-CN" altLang="en-US" smtClean="0"/>
              <a:pPr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04179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hidden">
          <a:xfrm>
            <a:off x="0" y="0"/>
            <a:ext cx="3505200" cy="6858000"/>
          </a:xfrm>
          <a:prstGeom prst="rect">
            <a:avLst/>
          </a:prstGeom>
          <a:gradFill rotWithShape="0">
            <a:gsLst>
              <a:gs pos="0">
                <a:srgbClr val="CCECFF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5" name="Rectangle 35"/>
          <p:cNvSpPr>
            <a:spLocks noChangeArrowheads="1"/>
          </p:cNvSpPr>
          <p:nvPr/>
        </p:nvSpPr>
        <p:spPr bwMode="auto">
          <a:xfrm>
            <a:off x="1187453" y="1706566"/>
            <a:ext cx="574675" cy="6429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6" name="Rectangle 26"/>
          <p:cNvSpPr>
            <a:spLocks noChangeArrowheads="1"/>
          </p:cNvSpPr>
          <p:nvPr/>
        </p:nvSpPr>
        <p:spPr bwMode="auto">
          <a:xfrm>
            <a:off x="573090" y="3582988"/>
            <a:ext cx="576262" cy="641350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7" name="Picture 21" descr="logo－t-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1" y="1700213"/>
            <a:ext cx="7956550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27"/>
          <p:cNvSpPr>
            <a:spLocks noChangeArrowheads="1"/>
          </p:cNvSpPr>
          <p:nvPr/>
        </p:nvSpPr>
        <p:spPr bwMode="auto">
          <a:xfrm>
            <a:off x="1187450" y="1690690"/>
            <a:ext cx="1103313" cy="642937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" name="Rectangle 28"/>
          <p:cNvSpPr>
            <a:spLocks noChangeArrowheads="1"/>
          </p:cNvSpPr>
          <p:nvPr/>
        </p:nvSpPr>
        <p:spPr bwMode="auto">
          <a:xfrm>
            <a:off x="2281241" y="1066800"/>
            <a:ext cx="585787" cy="6350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1141413" y="3582988"/>
            <a:ext cx="584200" cy="641350"/>
          </a:xfrm>
          <a:prstGeom prst="rect">
            <a:avLst/>
          </a:prstGeom>
          <a:solidFill>
            <a:srgbClr val="00196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2281241" y="1690690"/>
            <a:ext cx="585787" cy="642937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2" name="Rectangle 31"/>
          <p:cNvSpPr>
            <a:spLocks noChangeArrowheads="1"/>
          </p:cNvSpPr>
          <p:nvPr/>
        </p:nvSpPr>
        <p:spPr bwMode="auto">
          <a:xfrm>
            <a:off x="1141413" y="2324106"/>
            <a:ext cx="584200" cy="633413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1716091" y="2324106"/>
            <a:ext cx="574675" cy="63341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14" name="Rectangle 34"/>
          <p:cNvSpPr>
            <a:spLocks noChangeArrowheads="1"/>
          </p:cNvSpPr>
          <p:nvPr/>
        </p:nvSpPr>
        <p:spPr bwMode="auto">
          <a:xfrm>
            <a:off x="1141413" y="2947994"/>
            <a:ext cx="584200" cy="644525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15" name="图片 2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8" y="6289675"/>
            <a:ext cx="229076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组合 28"/>
          <p:cNvGrpSpPr>
            <a:grpSpLocks/>
          </p:cNvGrpSpPr>
          <p:nvPr/>
        </p:nvGrpSpPr>
        <p:grpSpPr bwMode="auto">
          <a:xfrm>
            <a:off x="339725" y="6335713"/>
            <a:ext cx="1951038" cy="412750"/>
            <a:chOff x="317485" y="6328079"/>
            <a:chExt cx="1950259" cy="413289"/>
          </a:xfrm>
        </p:grpSpPr>
        <p:grpSp>
          <p:nvGrpSpPr>
            <p:cNvPr id="17" name="Group 19"/>
            <p:cNvGrpSpPr>
              <a:grpSpLocks/>
            </p:cNvGrpSpPr>
            <p:nvPr userDrawn="1"/>
          </p:nvGrpSpPr>
          <p:grpSpPr bwMode="auto">
            <a:xfrm>
              <a:off x="317485" y="6328079"/>
              <a:ext cx="504751" cy="413289"/>
              <a:chOff x="249" y="414"/>
              <a:chExt cx="681" cy="586"/>
            </a:xfrm>
          </p:grpSpPr>
          <p:pic>
            <p:nvPicPr>
              <p:cNvPr id="20" name="Picture 20" descr="logo－b"/>
              <p:cNvPicPr>
                <a:picLocks noChangeAspect="1" noChangeArrowheads="1"/>
              </p:cNvPicPr>
              <p:nvPr userDrawn="1"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36"/>
                <a:ext cx="681" cy="5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1" name="Picture 21" descr="logo"/>
              <p:cNvPicPr>
                <a:picLocks noChangeAspect="1" noChangeArrowheads="1"/>
              </p:cNvPicPr>
              <p:nvPr userDrawn="1"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9" y="414"/>
                <a:ext cx="681" cy="5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8" name="Picture 22" descr="logo－zi"/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6082" y="6386484"/>
              <a:ext cx="974503" cy="2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23" descr="logo－Y-H-1"/>
            <p:cNvPicPr>
              <a:picLocks noChangeAspect="1" noChangeArrowheads="1"/>
            </p:cNvPicPr>
            <p:nvPr userDrawn="1"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5831" y="6616168"/>
              <a:ext cx="1331913" cy="69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651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10651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1547664" y="2028036"/>
            <a:ext cx="7560840" cy="2010569"/>
          </a:xfrm>
        </p:spPr>
        <p:txBody>
          <a:bodyPr/>
          <a:lstStyle>
            <a:lvl1pPr algn="ctr">
              <a:defRPr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23" name="Rectangle 17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24" name="Rectangle 1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25" name="Rectangle 16"/>
          <p:cNvSpPr>
            <a:spLocks noGrp="1" noChangeArrowheads="1"/>
          </p:cNvSpPr>
          <p:nvPr>
            <p:ph type="dt" sz="half" idx="1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0A3781D2-0FC0-429B-B9FE-5030B6E54291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723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11560"/>
          </a:xfrm>
        </p:spPr>
        <p:txBody>
          <a:bodyPr/>
          <a:lstStyle>
            <a:lvl1pPr>
              <a:defRPr sz="3600" b="1">
                <a:effectLst/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>
            <a:lvl1pPr>
              <a:lnSpc>
                <a:spcPct val="150000"/>
              </a:lnSpc>
              <a:defRPr sz="2400" b="0" baseline="0">
                <a:latin typeface="Calibri" panose="020F0502020204030204" pitchFamily="34" charset="0"/>
                <a:ea typeface="黑体" panose="02010609060101010101" pitchFamily="49" charset="-122"/>
              </a:defRPr>
            </a:lvl1pPr>
            <a:lvl2pPr>
              <a:defRPr sz="2000" b="0" baseline="0"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 sz="1800" b="0" baseline="0"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>
              <a:defRPr sz="1600" b="0" baseline="0">
                <a:latin typeface="Calibri" panose="020F050202020403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827911" y="6705599"/>
            <a:ext cx="208843" cy="152401"/>
          </a:xfrm>
          <a:ln/>
        </p:spPr>
        <p:txBody>
          <a:bodyPr lIns="0" tIns="0" rIns="0" bIns="0"/>
          <a:lstStyle>
            <a:lvl1pPr>
              <a:defRPr baseline="0">
                <a:latin typeface="Calibri" panose="020F050202020403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DAE9093-A4E2-4ED4-AAFA-F803B756B8DD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9401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6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D3EE5A-7480-4B4A-838B-B5929882DECF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621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0C815E-B128-4FAE-9EDE-FEA89F6F958C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354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8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86C8468-6983-4678-9AAB-4D2ABEF84341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57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2D5C6D-787B-474F-BCC3-F53F5951B20A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879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3B29B9-1B90-4121-8663-FE563B07C9D8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2164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6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97EA2-195E-4D7E-B5BC-907A7C70C3E2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7093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F8BEF2-D925-49E7-9561-3704E2CF9A2D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97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AEF739-1766-471D-BA9F-A4322C6F8843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70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7922407-BCB3-4B2A-B7F9-3492D5F65C0B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32596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07771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062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0139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20427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5245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01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17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43622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32651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3464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8255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9636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4100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62743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239537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1064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59231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12247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40125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434754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18411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2611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28777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62413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05376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408815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76054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6470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1128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0052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01979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793717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48449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89665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41781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13468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679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89570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41116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11217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89590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9875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083074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562978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65952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285503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02012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86382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0360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233347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41066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41257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896519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79115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4138452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971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92249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818510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87017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09138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32831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902019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3100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759386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3530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0498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3218650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7728244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90069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599699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5991080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3673420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4"/>
            <a:ext cx="6858000" cy="195726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717985"/>
            <a:ext cx="6858000" cy="1539815"/>
          </a:xfrm>
        </p:spPr>
        <p:txBody>
          <a:bodyPr>
            <a:normAutofit/>
          </a:bodyPr>
          <a:lstStyle>
            <a:lvl1pPr marL="0" indent="0" algn="ctr">
              <a:buNone/>
              <a:defRPr sz="21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D036C-30ED-475C-AF32-13C3C17B8B0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393990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51201-E2F4-433C-8650-6712FD08D17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64042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3EC36-783B-4B7F-9CA0-04709EFBA72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94913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AC250-9652-46DA-95BA-C2F9287BD97F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73814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372F-15A7-45C4-87DB-D1434446AB2B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041374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7A9C2-71DD-4310-BBAB-E4D4958B0EF8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62278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2078-E184-453C-8552-860B0767659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96712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7BEB-2C37-43CB-8768-1A49ECD4CEA4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52236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659AD-F653-4BF1-8B95-DD00660FBC89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07763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5E879-AB21-456C-9121-AD17927CB7B3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81406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66897-8650-4CA3-9E1A-F1B827F867B2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955832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F5F98-A751-4323-93BF-DB3E7A688F2C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524056" y="1595887"/>
            <a:ext cx="8184311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9446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2" Type="http://schemas.openxmlformats.org/officeDocument/2006/relationships/slideLayout" Target="../slideLayouts/slideLayout49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1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slideLayout" Target="../slideLayouts/slideLayout83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1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6.xml"/><Relationship Id="rId7" Type="http://schemas.openxmlformats.org/officeDocument/2006/relationships/slideLayout" Target="../slideLayouts/slideLayout90.xml"/><Relationship Id="rId12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5.xml"/><Relationship Id="rId1" Type="http://schemas.openxmlformats.org/officeDocument/2006/relationships/slideLayout" Target="../slideLayouts/slideLayout84.xml"/><Relationship Id="rId6" Type="http://schemas.openxmlformats.org/officeDocument/2006/relationships/slideLayout" Target="../slideLayouts/slideLayout89.xml"/><Relationship Id="rId11" Type="http://schemas.openxmlformats.org/officeDocument/2006/relationships/slideLayout" Target="../slideLayouts/slideLayout94.xml"/><Relationship Id="rId5" Type="http://schemas.openxmlformats.org/officeDocument/2006/relationships/slideLayout" Target="../slideLayouts/slideLayout88.xml"/><Relationship Id="rId10" Type="http://schemas.openxmlformats.org/officeDocument/2006/relationships/slideLayout" Target="../slideLayouts/slideLayout93.xml"/><Relationship Id="rId4" Type="http://schemas.openxmlformats.org/officeDocument/2006/relationships/slideLayout" Target="../slideLayouts/slideLayout87.xml"/><Relationship Id="rId9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endParaRPr lang="zh-CN" altLang="en-US"/>
          </a:p>
        </p:txBody>
      </p:sp>
      <p:sp>
        <p:nvSpPr>
          <p:cNvPr id="10547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A04020102020204" pitchFamily="34" charset="0"/>
              </a:defRPr>
            </a:lvl1pPr>
          </a:lstStyle>
          <a:p>
            <a:fld id="{1A7A0873-376A-4A4E-91BA-7081C35D808C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180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548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fld id="{3642891A-AB75-4714-BBBF-90ED55B80069}" type="datetime1">
              <a:rPr lang="zh-CN" altLang="en-US" smtClean="0"/>
              <a:pPr/>
              <a:t>2026/9/15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9737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5pPr>
      <a:lvl6pPr marL="457189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6pPr>
      <a:lvl7pPr marL="914377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7pPr>
      <a:lvl8pPr marL="1371566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8pPr>
      <a:lvl9pPr marL="1828754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宋体" charset="-122"/>
        </a:defRPr>
      </a:lvl9pPr>
    </p:titleStyle>
    <p:bodyStyle>
      <a:lvl1pPr marL="342891" indent="-342891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11997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983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482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63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602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0985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272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751163"/>
            <a:ext cx="7886700" cy="4425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3A97BF3E-1736-4D84-A356-468CCD4E9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2026/9/15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aseline="0"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ea typeface="微软雅黑" panose="020B0503020204020204" pitchFamily="34" charset="-122"/>
              </a:defRPr>
            </a:lvl1pPr>
          </a:lstStyle>
          <a:p>
            <a:fld id="{27BA39ED-B879-431C-8E9E-24EA4B8C491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530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buFont typeface="Arial" panose="020B0604020202020204" pitchFamily="34" charset="0"/>
        <a:buChar char="•"/>
        <a:defRPr sz="21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50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4pPr>
      <a:lvl5pPr marL="1543050" indent="-171450" algn="l" defTabSz="685800" rtl="0" eaLnBrk="1" latinLnBrk="0" hangingPunct="1">
        <a:lnSpc>
          <a:spcPct val="114000"/>
        </a:lnSpc>
        <a:spcBef>
          <a:spcPts val="375"/>
        </a:spcBef>
        <a:buFont typeface="Arial" panose="020B0604020202020204" pitchFamily="34" charset="0"/>
        <a:buChar char="•"/>
        <a:defRPr sz="1350" kern="1200" baseline="0">
          <a:solidFill>
            <a:schemeClr val="tx1"/>
          </a:solidFill>
          <a:latin typeface="Calibri" panose="020F0502020204030204" pitchFamily="34" charset="0"/>
          <a:ea typeface="微软雅黑" panose="020B0503020204020204" pitchFamily="3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34.png"/><Relationship Id="rId5" Type="http://schemas.openxmlformats.org/officeDocument/2006/relationships/image" Target="../media/image100.png"/><Relationship Id="rId9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13.jpeg"/><Relationship Id="rId5" Type="http://schemas.openxmlformats.org/officeDocument/2006/relationships/image" Target="NULL"/><Relationship Id="rId10" Type="http://schemas.openxmlformats.org/officeDocument/2006/relationships/image" Target="NULL"/><Relationship Id="rId9" Type="http://schemas.openxmlformats.org/officeDocument/2006/relationships/image" Target="NUL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12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10" Type="http://schemas.openxmlformats.org/officeDocument/2006/relationships/image" Target="../media/image16.png"/><Relationship Id="rId4" Type="http://schemas.openxmlformats.org/officeDocument/2006/relationships/image" Target="../media/image12.png"/><Relationship Id="rId9" Type="http://schemas.openxmlformats.org/officeDocument/2006/relationships/image" Target="../media/image15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13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6" Type="http://schemas.openxmlformats.org/officeDocument/2006/relationships/image" Target="NULL"/><Relationship Id="rId9" Type="http://schemas.openxmlformats.org/officeDocument/2006/relationships/image" Target="NUL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19.png"/><Relationship Id="rId3" Type="http://schemas.openxmlformats.org/officeDocument/2006/relationships/notesSlide" Target="../notesSlides/notesSlide16.xm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11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../media/image170.png"/><Relationship Id="rId9" Type="http://schemas.openxmlformats.org/officeDocument/2006/relationships/image" Target="NUL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notesSlide" Target="../notesSlides/notesSlide18.xml"/><Relationship Id="rId7" Type="http://schemas.openxmlformats.org/officeDocument/2006/relationships/image" Target="NUL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6" Type="http://schemas.openxmlformats.org/officeDocument/2006/relationships/image" Target="NUL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Relationship Id="rId4" Type="http://schemas.openxmlformats.org/officeDocument/2006/relationships/image" Target="../media/image2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8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Relationship Id="rId9" Type="http://schemas.openxmlformats.org/officeDocument/2006/relationships/image" Target="../media/image30.jpe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emf"/><Relationship Id="rId5" Type="http://schemas.openxmlformats.org/officeDocument/2006/relationships/package" Target="../embeddings/Microsoft_Visio_Drawing.vsdx"/><Relationship Id="rId4" Type="http://schemas.openxmlformats.org/officeDocument/2006/relationships/notesSlide" Target="../notesSlides/notesSlide2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w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33.wmf"/><Relationship Id="rId4" Type="http://schemas.openxmlformats.org/officeDocument/2006/relationships/image" Target="../media/image32.wmf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5" Type="http://schemas.openxmlformats.org/officeDocument/2006/relationships/image" Target="../media/image32.wmf"/><Relationship Id="rId4" Type="http://schemas.openxmlformats.org/officeDocument/2006/relationships/image" Target="../media/image34.wmf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wmf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4" Type="http://schemas.openxmlformats.org/officeDocument/2006/relationships/image" Target="../media/image34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第二章 直连网络</a:t>
            </a:r>
            <a:r>
              <a:rPr lang="en-US" altLang="zh-CN" dirty="0"/>
              <a:t>(</a:t>
            </a:r>
            <a:r>
              <a:rPr lang="en-US" altLang="zh-CN"/>
              <a:t>3)    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3500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442524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2.1  </a:t>
            </a:r>
            <a:r>
              <a:rPr lang="zh-CN" altLang="en-US" dirty="0"/>
              <a:t>数据通信的基本概念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2.2  </a:t>
            </a:r>
            <a:r>
              <a:rPr lang="zh-CN" altLang="en-US" dirty="0"/>
              <a:t>网络构件</a:t>
            </a:r>
            <a:endParaRPr lang="en-US" altLang="zh-CN" dirty="0"/>
          </a:p>
          <a:p>
            <a:r>
              <a:rPr lang="en-US" altLang="zh-CN" dirty="0"/>
              <a:t>2.3  </a:t>
            </a:r>
            <a:r>
              <a:rPr lang="zh-CN" altLang="en-US" dirty="0"/>
              <a:t>组帧</a:t>
            </a:r>
          </a:p>
          <a:p>
            <a:r>
              <a:rPr lang="en-US" altLang="zh-CN" dirty="0"/>
              <a:t>2.4  </a:t>
            </a:r>
            <a:r>
              <a:rPr lang="zh-CN" altLang="en-US"/>
              <a:t>差错检测 </a:t>
            </a:r>
            <a:endParaRPr lang="zh-CN" altLang="en-US" dirty="0"/>
          </a:p>
          <a:p>
            <a:r>
              <a:rPr lang="en-US" altLang="zh-CN" dirty="0"/>
              <a:t>2.5  </a:t>
            </a:r>
            <a:r>
              <a:rPr lang="zh-CN" altLang="en-US" dirty="0"/>
              <a:t>可靠传输</a:t>
            </a:r>
          </a:p>
          <a:p>
            <a:r>
              <a:rPr lang="en-US" altLang="zh-CN" dirty="0"/>
              <a:t>2.6  </a:t>
            </a:r>
            <a:r>
              <a:rPr lang="zh-CN" altLang="en-US" dirty="0"/>
              <a:t>媒体共享</a:t>
            </a:r>
            <a:r>
              <a:rPr lang="en-US" altLang="zh-CN" dirty="0"/>
              <a:t> </a:t>
            </a:r>
          </a:p>
          <a:p>
            <a:r>
              <a:rPr lang="en-US" altLang="zh-CN" dirty="0"/>
              <a:t>2.7  </a:t>
            </a:r>
            <a:r>
              <a:rPr lang="zh-CN" altLang="en-US" dirty="0"/>
              <a:t>以太网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69494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1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媒体共享技术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639598"/>
          </a:xfrm>
        </p:spPr>
        <p:txBody>
          <a:bodyPr/>
          <a:lstStyle/>
          <a:p>
            <a:r>
              <a:rPr lang="zh-CN" altLang="en-US" dirty="0"/>
              <a:t>静态划分信道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信道复用技术 </a:t>
            </a:r>
            <a:r>
              <a:rPr lang="en-US" altLang="zh-CN" sz="1800" dirty="0"/>
              <a:t>(Multiplexing)</a:t>
            </a:r>
            <a:r>
              <a:rPr lang="zh-CN" altLang="en-US" sz="1800" dirty="0"/>
              <a:t>，为多个用户静态划分逻辑信道，相互不冲突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频分复用、时分复用、波分复用、码分复用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 bwMode="auto">
          <a:xfrm>
            <a:off x="578555" y="4714127"/>
            <a:ext cx="8229600" cy="16395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动态媒体接入控制，多点接入</a:t>
            </a:r>
            <a:r>
              <a:rPr lang="en-US" altLang="zh-CN" kern="0" dirty="0"/>
              <a:t>(multiple access)</a:t>
            </a:r>
          </a:p>
          <a:p>
            <a:pPr lvl="1"/>
            <a:r>
              <a:rPr lang="zh-CN" altLang="en-US" kern="0" dirty="0"/>
              <a:t>信道不固定分配给用户，实际接入时动态接入，分布式算法</a:t>
            </a:r>
            <a:endParaRPr lang="en-US" altLang="zh-CN" kern="0" dirty="0"/>
          </a:p>
          <a:p>
            <a:pPr lvl="2">
              <a:spcBef>
                <a:spcPts val="600"/>
              </a:spcBef>
            </a:pPr>
            <a:r>
              <a:rPr lang="zh-CN" altLang="en-US" sz="2000" kern="0" dirty="0"/>
              <a:t>随机接入：结点按需随机接入，需解决碰撞问题</a:t>
            </a:r>
            <a:endParaRPr lang="en-US" altLang="zh-CN" sz="2000" kern="0" dirty="0"/>
          </a:p>
          <a:p>
            <a:pPr lvl="2">
              <a:spcBef>
                <a:spcPts val="600"/>
              </a:spcBef>
            </a:pPr>
            <a:r>
              <a:rPr lang="zh-CN" altLang="en-US" sz="2000" kern="0" dirty="0"/>
              <a:t>受控接入：结点接入服从一定控制，如令牌环网</a:t>
            </a:r>
          </a:p>
        </p:txBody>
      </p:sp>
      <p:grpSp>
        <p:nvGrpSpPr>
          <p:cNvPr id="41" name="组合 40"/>
          <p:cNvGrpSpPr/>
          <p:nvPr/>
        </p:nvGrpSpPr>
        <p:grpSpPr>
          <a:xfrm>
            <a:off x="1269435" y="2911081"/>
            <a:ext cx="5925425" cy="1651286"/>
            <a:chOff x="1609287" y="2717533"/>
            <a:chExt cx="5925425" cy="1651286"/>
          </a:xfrm>
        </p:grpSpPr>
        <p:grpSp>
          <p:nvGrpSpPr>
            <p:cNvPr id="42" name="组合 41"/>
            <p:cNvGrpSpPr/>
            <p:nvPr/>
          </p:nvGrpSpPr>
          <p:grpSpPr>
            <a:xfrm>
              <a:off x="1609287" y="2717533"/>
              <a:ext cx="5925425" cy="1612526"/>
              <a:chOff x="1325880" y="3964913"/>
              <a:chExt cx="5925425" cy="1612526"/>
            </a:xfrm>
          </p:grpSpPr>
          <p:cxnSp>
            <p:nvCxnSpPr>
              <p:cNvPr id="61" name="直接连接符 60"/>
              <p:cNvCxnSpPr>
                <a:stCxn id="62" idx="3"/>
                <a:endCxn id="63" idx="1"/>
              </p:cNvCxnSpPr>
              <p:nvPr/>
            </p:nvCxnSpPr>
            <p:spPr>
              <a:xfrm>
                <a:off x="2908469" y="4772632"/>
                <a:ext cx="2760246" cy="0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sp>
            <p:nvSpPr>
              <p:cNvPr id="62" name="矩形 61"/>
              <p:cNvSpPr/>
              <p:nvPr/>
            </p:nvSpPr>
            <p:spPr>
              <a:xfrm>
                <a:off x="2432304" y="4589752"/>
                <a:ext cx="476165" cy="365760"/>
              </a:xfrm>
              <a:prstGeom prst="rect">
                <a:avLst/>
              </a:prstGeom>
              <a:solidFill>
                <a:srgbClr val="5B9BD5"/>
              </a:solidFill>
              <a:ln w="190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矩形 62"/>
              <p:cNvSpPr/>
              <p:nvPr/>
            </p:nvSpPr>
            <p:spPr>
              <a:xfrm>
                <a:off x="5668715" y="4589752"/>
                <a:ext cx="482261" cy="365760"/>
              </a:xfrm>
              <a:prstGeom prst="rect">
                <a:avLst/>
              </a:prstGeom>
              <a:solidFill>
                <a:srgbClr val="5B9BD5"/>
              </a:solidFill>
              <a:ln w="19050" cap="flat" cmpd="sng" algn="ctr">
                <a:solidFill>
                  <a:sysClr val="window" lastClr="FFFFFF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pic>
            <p:nvPicPr>
              <p:cNvPr id="64" name="图片 63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5880" y="3964913"/>
                <a:ext cx="569976" cy="373522"/>
              </a:xfrm>
              <a:prstGeom prst="rect">
                <a:avLst/>
              </a:prstGeom>
            </p:spPr>
          </p:pic>
          <p:pic>
            <p:nvPicPr>
              <p:cNvPr id="65" name="图片 64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5880" y="4584415"/>
                <a:ext cx="569976" cy="373522"/>
              </a:xfrm>
              <a:prstGeom prst="rect">
                <a:avLst/>
              </a:prstGeom>
            </p:spPr>
          </p:pic>
          <p:pic>
            <p:nvPicPr>
              <p:cNvPr id="66" name="图片 65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25880" y="5203917"/>
                <a:ext cx="569976" cy="373522"/>
              </a:xfrm>
              <a:prstGeom prst="rect">
                <a:avLst/>
              </a:prstGeom>
            </p:spPr>
          </p:pic>
          <p:cxnSp>
            <p:nvCxnSpPr>
              <p:cNvPr id="67" name="直接连接符 66"/>
              <p:cNvCxnSpPr>
                <a:stCxn id="66" idx="3"/>
                <a:endCxn id="62" idx="1"/>
              </p:cNvCxnSpPr>
              <p:nvPr/>
            </p:nvCxnSpPr>
            <p:spPr>
              <a:xfrm flipV="1">
                <a:off x="1895856" y="4772632"/>
                <a:ext cx="536448" cy="618046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8" name="直接连接符 67"/>
              <p:cNvCxnSpPr>
                <a:stCxn id="65" idx="3"/>
                <a:endCxn id="62" idx="1"/>
              </p:cNvCxnSpPr>
              <p:nvPr/>
            </p:nvCxnSpPr>
            <p:spPr>
              <a:xfrm>
                <a:off x="1895856" y="4771176"/>
                <a:ext cx="536448" cy="1456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69" name="直接连接符 68"/>
              <p:cNvCxnSpPr>
                <a:stCxn id="64" idx="3"/>
                <a:endCxn id="62" idx="1"/>
              </p:cNvCxnSpPr>
              <p:nvPr/>
            </p:nvCxnSpPr>
            <p:spPr>
              <a:xfrm>
                <a:off x="1895856" y="4151674"/>
                <a:ext cx="536448" cy="620958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pic>
            <p:nvPicPr>
              <p:cNvPr id="70" name="图片 69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1329" y="3964913"/>
                <a:ext cx="569976" cy="373522"/>
              </a:xfrm>
              <a:prstGeom prst="rect">
                <a:avLst/>
              </a:prstGeom>
            </p:spPr>
          </p:pic>
          <p:pic>
            <p:nvPicPr>
              <p:cNvPr id="71" name="图片 70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1329" y="4584415"/>
                <a:ext cx="569976" cy="373522"/>
              </a:xfrm>
              <a:prstGeom prst="rect">
                <a:avLst/>
              </a:prstGeom>
            </p:spPr>
          </p:pic>
          <p:pic>
            <p:nvPicPr>
              <p:cNvPr id="72" name="图片 7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1329" y="5203917"/>
                <a:ext cx="569976" cy="373522"/>
              </a:xfrm>
              <a:prstGeom prst="rect">
                <a:avLst/>
              </a:prstGeom>
            </p:spPr>
          </p:pic>
          <p:cxnSp>
            <p:nvCxnSpPr>
              <p:cNvPr id="73" name="直接连接符 72"/>
              <p:cNvCxnSpPr>
                <a:stCxn id="63" idx="3"/>
                <a:endCxn id="70" idx="1"/>
              </p:cNvCxnSpPr>
              <p:nvPr/>
            </p:nvCxnSpPr>
            <p:spPr>
              <a:xfrm flipV="1">
                <a:off x="6150976" y="4151674"/>
                <a:ext cx="530353" cy="620958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4" name="直接连接符 73"/>
              <p:cNvCxnSpPr>
                <a:stCxn id="63" idx="3"/>
                <a:endCxn id="71" idx="1"/>
              </p:cNvCxnSpPr>
              <p:nvPr/>
            </p:nvCxnSpPr>
            <p:spPr>
              <a:xfrm flipV="1">
                <a:off x="6150976" y="4771176"/>
                <a:ext cx="530353" cy="1456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  <p:cxnSp>
            <p:nvCxnSpPr>
              <p:cNvPr id="75" name="直接连接符 74"/>
              <p:cNvCxnSpPr>
                <a:stCxn id="63" idx="3"/>
                <a:endCxn id="72" idx="1"/>
              </p:cNvCxnSpPr>
              <p:nvPr/>
            </p:nvCxnSpPr>
            <p:spPr>
              <a:xfrm>
                <a:off x="6150976" y="4772632"/>
                <a:ext cx="530353" cy="618046"/>
              </a:xfrm>
              <a:prstGeom prst="line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</a:ln>
              <a:effectLst/>
            </p:spPr>
          </p:cxnSp>
        </p:grpSp>
        <p:sp>
          <p:nvSpPr>
            <p:cNvPr id="43" name="文本框 42"/>
            <p:cNvSpPr txBox="1"/>
            <p:nvPr/>
          </p:nvSpPr>
          <p:spPr>
            <a:xfrm>
              <a:off x="2463437" y="3771817"/>
              <a:ext cx="121219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华文楷体" panose="02010600040101010101" pitchFamily="2" charset="-122"/>
                </a:rPr>
                <a:t>复用</a:t>
              </a:r>
              <a:endPara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华文楷体" panose="0201060004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华文楷体" panose="02010600040101010101" pitchFamily="2" charset="-122"/>
                </a:rPr>
                <a:t>multiplexing</a:t>
              </a:r>
              <a:endPara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华文楷体" panose="02010600040101010101" pitchFamily="2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5368804" y="3784044"/>
              <a:ext cx="148470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华文楷体" panose="02010600040101010101" pitchFamily="2" charset="-122"/>
                </a:rPr>
                <a:t>分用</a:t>
              </a:r>
              <a:endParaRPr kumimoji="0" lang="en-US" altLang="zh-CN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华文楷体" panose="02010600040101010101" pitchFamily="2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6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华文楷体" panose="02010600040101010101" pitchFamily="2" charset="-122"/>
                </a:rPr>
                <a:t>de-multiplexing</a:t>
              </a:r>
              <a:endParaRPr kumimoji="0" lang="zh-CN" altLang="en-US" sz="1600" b="0" i="0" u="none" strike="noStrike" kern="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华文楷体" panose="02010600040101010101" pitchFamily="2" charset="-122"/>
              </a:endParaRPr>
            </a:p>
          </p:txBody>
        </p:sp>
        <p:sp>
          <p:nvSpPr>
            <p:cNvPr id="45" name="Line 68"/>
            <p:cNvSpPr>
              <a:spLocks noChangeShapeType="1"/>
            </p:cNvSpPr>
            <p:nvPr/>
          </p:nvSpPr>
          <p:spPr bwMode="auto">
            <a:xfrm>
              <a:off x="2178246" y="3455020"/>
              <a:ext cx="432829" cy="809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6" name="Line 70"/>
            <p:cNvSpPr>
              <a:spLocks noChangeShapeType="1"/>
            </p:cNvSpPr>
            <p:nvPr/>
          </p:nvSpPr>
          <p:spPr bwMode="auto">
            <a:xfrm rot="1484370">
              <a:off x="2239005" y="2981961"/>
              <a:ext cx="407944" cy="16765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7" name="Line 72"/>
            <p:cNvSpPr>
              <a:spLocks noChangeShapeType="1"/>
            </p:cNvSpPr>
            <p:nvPr/>
          </p:nvSpPr>
          <p:spPr bwMode="auto">
            <a:xfrm rot="19951492" flipV="1">
              <a:off x="2305882" y="3839520"/>
              <a:ext cx="376400" cy="14869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48" name="Oval 74"/>
            <p:cNvSpPr>
              <a:spLocks noChangeArrowheads="1"/>
            </p:cNvSpPr>
            <p:nvPr/>
          </p:nvSpPr>
          <p:spPr bwMode="auto">
            <a:xfrm>
              <a:off x="2463437" y="2880981"/>
              <a:ext cx="147638" cy="152400"/>
            </a:xfrm>
            <a:prstGeom prst="ellipse">
              <a:avLst/>
            </a:prstGeom>
            <a:solidFill>
              <a:srgbClr val="5B9BD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" name="Rectangle 76"/>
            <p:cNvSpPr>
              <a:spLocks noChangeArrowheads="1"/>
            </p:cNvSpPr>
            <p:nvPr/>
          </p:nvSpPr>
          <p:spPr bwMode="auto">
            <a:xfrm>
              <a:off x="2271910" y="3288334"/>
              <a:ext cx="119063" cy="122238"/>
            </a:xfrm>
            <a:prstGeom prst="rect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0" name="AutoShape 88"/>
            <p:cNvSpPr>
              <a:spLocks noChangeArrowheads="1"/>
            </p:cNvSpPr>
            <p:nvPr/>
          </p:nvSpPr>
          <p:spPr bwMode="auto">
            <a:xfrm>
              <a:off x="2528668" y="3871605"/>
              <a:ext cx="166688" cy="169863"/>
            </a:xfrm>
            <a:prstGeom prst="star5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51" name="Oval 74"/>
            <p:cNvSpPr>
              <a:spLocks noChangeArrowheads="1"/>
            </p:cNvSpPr>
            <p:nvPr/>
          </p:nvSpPr>
          <p:spPr bwMode="auto">
            <a:xfrm>
              <a:off x="4754418" y="3288334"/>
              <a:ext cx="147638" cy="152400"/>
            </a:xfrm>
            <a:prstGeom prst="ellipse">
              <a:avLst/>
            </a:prstGeom>
            <a:solidFill>
              <a:srgbClr val="5B9BD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2" name="Rectangle 76"/>
            <p:cNvSpPr>
              <a:spLocks noChangeArrowheads="1"/>
            </p:cNvSpPr>
            <p:nvPr/>
          </p:nvSpPr>
          <p:spPr bwMode="auto">
            <a:xfrm>
              <a:off x="4479716" y="3298737"/>
              <a:ext cx="119063" cy="122238"/>
            </a:xfrm>
            <a:prstGeom prst="rect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3" name="AutoShape 88"/>
            <p:cNvSpPr>
              <a:spLocks noChangeArrowheads="1"/>
            </p:cNvSpPr>
            <p:nvPr/>
          </p:nvSpPr>
          <p:spPr bwMode="auto">
            <a:xfrm>
              <a:off x="4173617" y="3270077"/>
              <a:ext cx="166688" cy="169863"/>
            </a:xfrm>
            <a:prstGeom prst="star5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54" name="Line 68"/>
            <p:cNvSpPr>
              <a:spLocks noChangeShapeType="1"/>
            </p:cNvSpPr>
            <p:nvPr/>
          </p:nvSpPr>
          <p:spPr bwMode="auto">
            <a:xfrm>
              <a:off x="4037719" y="3460830"/>
              <a:ext cx="1028057" cy="2282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5" name="AutoShape 88"/>
            <p:cNvSpPr>
              <a:spLocks noChangeArrowheads="1"/>
            </p:cNvSpPr>
            <p:nvPr/>
          </p:nvSpPr>
          <p:spPr bwMode="auto">
            <a:xfrm>
              <a:off x="6473574" y="3837589"/>
              <a:ext cx="166688" cy="169863"/>
            </a:xfrm>
            <a:prstGeom prst="star5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itchFamily="34" charset="0"/>
              </a:endParaRPr>
            </a:p>
          </p:txBody>
        </p:sp>
        <p:sp>
          <p:nvSpPr>
            <p:cNvPr id="56" name="Line 70"/>
            <p:cNvSpPr>
              <a:spLocks noChangeShapeType="1"/>
            </p:cNvSpPr>
            <p:nvPr/>
          </p:nvSpPr>
          <p:spPr bwMode="auto">
            <a:xfrm rot="1484370">
              <a:off x="6434560" y="3788266"/>
              <a:ext cx="411913" cy="175043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7" name="Line 68"/>
            <p:cNvSpPr>
              <a:spLocks noChangeShapeType="1"/>
            </p:cNvSpPr>
            <p:nvPr/>
          </p:nvSpPr>
          <p:spPr bwMode="auto">
            <a:xfrm>
              <a:off x="6583929" y="3479653"/>
              <a:ext cx="437901" cy="2039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8" name="Rectangle 76"/>
            <p:cNvSpPr>
              <a:spLocks noChangeArrowheads="1"/>
            </p:cNvSpPr>
            <p:nvPr/>
          </p:nvSpPr>
          <p:spPr bwMode="auto">
            <a:xfrm>
              <a:off x="6677593" y="3312967"/>
              <a:ext cx="119063" cy="122238"/>
            </a:xfrm>
            <a:prstGeom prst="rect">
              <a:avLst/>
            </a:prstGeom>
            <a:solidFill>
              <a:srgbClr val="5B9BD5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9" name="Oval 74"/>
            <p:cNvSpPr>
              <a:spLocks noChangeArrowheads="1"/>
            </p:cNvSpPr>
            <p:nvPr/>
          </p:nvSpPr>
          <p:spPr bwMode="auto">
            <a:xfrm>
              <a:off x="6551988" y="2924060"/>
              <a:ext cx="147638" cy="152400"/>
            </a:xfrm>
            <a:prstGeom prst="ellipse">
              <a:avLst/>
            </a:prstGeom>
            <a:solidFill>
              <a:srgbClr val="5B9BD5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0" name="Line 72"/>
            <p:cNvSpPr>
              <a:spLocks noChangeShapeType="1"/>
            </p:cNvSpPr>
            <p:nvPr/>
          </p:nvSpPr>
          <p:spPr bwMode="auto">
            <a:xfrm rot="19951492" flipV="1">
              <a:off x="6465455" y="3073133"/>
              <a:ext cx="376400" cy="148691"/>
            </a:xfrm>
            <a:prstGeom prst="line">
              <a:avLst/>
            </a:prstGeom>
            <a:noFill/>
            <a:ln w="9525">
              <a:solidFill>
                <a:sysClr val="windowText" lastClr="000000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29218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频分复用</a:t>
            </a:r>
            <a:r>
              <a:rPr lang="en-US" altLang="zh-CN" sz="2800" dirty="0">
                <a:latin typeface="Calibri" panose="020F0502020204030204" pitchFamily="34" charset="0"/>
              </a:rPr>
              <a:t>(Frequency Division Multiplexing, FDM)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078766"/>
          </a:xfrm>
        </p:spPr>
        <p:txBody>
          <a:bodyPr/>
          <a:lstStyle/>
          <a:p>
            <a:r>
              <a:rPr lang="zh-CN" altLang="en-US" sz="2000" dirty="0"/>
              <a:t>用户分配到一定的频带后，在通信过程中自始至终都占用该频带</a:t>
            </a:r>
          </a:p>
          <a:p>
            <a:pPr lvl="1"/>
            <a:r>
              <a:rPr lang="zh-CN" altLang="en-US" sz="1800" dirty="0"/>
              <a:t>所有用户在同样的时间占用各自的带宽资源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grpSp>
        <p:nvGrpSpPr>
          <p:cNvPr id="103" name="组合 102"/>
          <p:cNvGrpSpPr/>
          <p:nvPr/>
        </p:nvGrpSpPr>
        <p:grpSpPr>
          <a:xfrm>
            <a:off x="1131411" y="2523745"/>
            <a:ext cx="6505550" cy="2707828"/>
            <a:chOff x="1167987" y="2753798"/>
            <a:chExt cx="6505550" cy="2707828"/>
          </a:xfrm>
        </p:grpSpPr>
        <p:sp>
          <p:nvSpPr>
            <p:cNvPr id="87" name="Line 3"/>
            <p:cNvSpPr>
              <a:spLocks noChangeShapeType="1"/>
            </p:cNvSpPr>
            <p:nvPr/>
          </p:nvSpPr>
          <p:spPr bwMode="auto">
            <a:xfrm flipV="1">
              <a:off x="1793725" y="5419473"/>
              <a:ext cx="5598487" cy="9644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8" name="Text Box 4"/>
            <p:cNvSpPr txBox="1">
              <a:spLocks noChangeArrowheads="1"/>
            </p:cNvSpPr>
            <p:nvPr/>
          </p:nvSpPr>
          <p:spPr bwMode="auto">
            <a:xfrm>
              <a:off x="1167987" y="2753798"/>
              <a:ext cx="646331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频率</a:t>
              </a:r>
            </a:p>
          </p:txBody>
        </p:sp>
        <p:sp>
          <p:nvSpPr>
            <p:cNvPr id="89" name="Text Box 5"/>
            <p:cNvSpPr txBox="1">
              <a:spLocks noChangeArrowheads="1"/>
            </p:cNvSpPr>
            <p:nvPr/>
          </p:nvSpPr>
          <p:spPr bwMode="auto">
            <a:xfrm>
              <a:off x="7238353" y="3356614"/>
              <a:ext cx="435184" cy="12913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kern="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共享带宽</a:t>
              </a:r>
              <a:endParaRPr kumimoji="0" lang="zh-CN" altLang="en-US" i="0" u="none" strike="noStrike" kern="0" cap="none" spc="0" normalizeH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Rectangle 6"/>
            <p:cNvSpPr>
              <a:spLocks noChangeArrowheads="1"/>
            </p:cNvSpPr>
            <p:nvPr/>
          </p:nvSpPr>
          <p:spPr bwMode="auto">
            <a:xfrm>
              <a:off x="1793725" y="3054024"/>
              <a:ext cx="5073946" cy="374725"/>
            </a:xfrm>
            <a:prstGeom prst="rect">
              <a:avLst/>
            </a:prstGeom>
            <a:solidFill>
              <a:srgbClr val="00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Rectangle 7"/>
            <p:cNvSpPr>
              <a:spLocks noChangeArrowheads="1"/>
            </p:cNvSpPr>
            <p:nvPr/>
          </p:nvSpPr>
          <p:spPr bwMode="auto">
            <a:xfrm>
              <a:off x="1793725" y="3428749"/>
              <a:ext cx="5073946" cy="374725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2" name="Rectangle 8"/>
            <p:cNvSpPr>
              <a:spLocks noChangeArrowheads="1"/>
            </p:cNvSpPr>
            <p:nvPr/>
          </p:nvSpPr>
          <p:spPr bwMode="auto">
            <a:xfrm>
              <a:off x="1793725" y="3803473"/>
              <a:ext cx="5073946" cy="374725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3" name="Rectangle 9"/>
            <p:cNvSpPr>
              <a:spLocks noChangeArrowheads="1"/>
            </p:cNvSpPr>
            <p:nvPr/>
          </p:nvSpPr>
          <p:spPr bwMode="auto">
            <a:xfrm>
              <a:off x="1793725" y="4178198"/>
              <a:ext cx="5073946" cy="374725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4" name="Rectangle 10"/>
            <p:cNvSpPr>
              <a:spLocks noChangeArrowheads="1"/>
            </p:cNvSpPr>
            <p:nvPr/>
          </p:nvSpPr>
          <p:spPr bwMode="auto">
            <a:xfrm>
              <a:off x="1793725" y="4552922"/>
              <a:ext cx="5073946" cy="374725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5" name="Text Box 11"/>
            <p:cNvSpPr txBox="1">
              <a:spLocks noChangeArrowheads="1"/>
            </p:cNvSpPr>
            <p:nvPr/>
          </p:nvSpPr>
          <p:spPr bwMode="auto">
            <a:xfrm>
              <a:off x="3967443" y="4598385"/>
              <a:ext cx="747103" cy="29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频带 </a:t>
              </a:r>
              <a:r>
                <a:rPr kumimoji="0" lang="zh-CN" altLang="zh-CN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0" lang="en-US" altLang="zh-CN" i="0" u="none" strike="noStrike" kern="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6" name="Text Box 12"/>
            <p:cNvSpPr txBox="1">
              <a:spLocks noChangeArrowheads="1"/>
            </p:cNvSpPr>
            <p:nvPr/>
          </p:nvSpPr>
          <p:spPr bwMode="auto">
            <a:xfrm>
              <a:off x="3967443" y="4219528"/>
              <a:ext cx="747103" cy="29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频带 </a:t>
              </a:r>
              <a:r>
                <a:rPr kumimoji="0" lang="zh-CN" altLang="zh-CN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0" lang="en-US" altLang="zh-CN" i="0" u="none" strike="noStrike" kern="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7" name="Text Box 13"/>
            <p:cNvSpPr txBox="1">
              <a:spLocks noChangeArrowheads="1"/>
            </p:cNvSpPr>
            <p:nvPr/>
          </p:nvSpPr>
          <p:spPr bwMode="auto">
            <a:xfrm>
              <a:off x="3967443" y="3840670"/>
              <a:ext cx="747103" cy="29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频带 </a:t>
              </a:r>
              <a:r>
                <a:rPr kumimoji="0" lang="zh-CN" altLang="zh-CN" i="0" u="none" strike="noStrike" kern="0" cap="none" spc="0" normalizeH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0" lang="en-US" altLang="zh-CN" i="0" u="none" strike="noStrike" kern="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8" name="Text Box 14"/>
            <p:cNvSpPr txBox="1">
              <a:spLocks noChangeArrowheads="1"/>
            </p:cNvSpPr>
            <p:nvPr/>
          </p:nvSpPr>
          <p:spPr bwMode="auto">
            <a:xfrm>
              <a:off x="3967443" y="3461813"/>
              <a:ext cx="747103" cy="29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频带 </a:t>
              </a:r>
              <a:r>
                <a:rPr kumimoji="0" lang="zh-CN" altLang="zh-CN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4</a:t>
              </a:r>
              <a:endParaRPr kumimoji="0" lang="en-US" altLang="zh-CN" i="0" u="none" strike="noStrike" kern="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9" name="Text Box 15"/>
            <p:cNvSpPr txBox="1">
              <a:spLocks noChangeArrowheads="1"/>
            </p:cNvSpPr>
            <p:nvPr/>
          </p:nvSpPr>
          <p:spPr bwMode="auto">
            <a:xfrm>
              <a:off x="3967443" y="3084333"/>
              <a:ext cx="747103" cy="296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频带 </a:t>
              </a:r>
              <a:r>
                <a:rPr kumimoji="0" lang="zh-CN" altLang="zh-CN" i="0" u="none" strike="noStrike" kern="0" cap="none" spc="0" normalizeH="0" noProof="0" dirty="0">
                  <a:ln>
                    <a:noFill/>
                  </a:ln>
                  <a:solidFill>
                    <a:srgbClr val="333399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endParaRPr kumimoji="0" lang="en-US" altLang="zh-CN" i="0" u="none" strike="noStrike" kern="0" cap="none" spc="0" normalizeH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0" name="Line 16"/>
            <p:cNvSpPr>
              <a:spLocks noChangeShapeType="1"/>
            </p:cNvSpPr>
            <p:nvPr/>
          </p:nvSpPr>
          <p:spPr bwMode="auto">
            <a:xfrm rot="16200000">
              <a:off x="505609" y="4136868"/>
              <a:ext cx="2576232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1" name="右大括号 100"/>
            <p:cNvSpPr/>
            <p:nvPr/>
          </p:nvSpPr>
          <p:spPr>
            <a:xfrm>
              <a:off x="6909609" y="3073158"/>
              <a:ext cx="295864" cy="1821701"/>
            </a:xfrm>
            <a:prstGeom prst="rightBrace">
              <a:avLst>
                <a:gd name="adj1" fmla="val 29559"/>
                <a:gd name="adj2" fmla="val 50475"/>
              </a:avLst>
            </a:prstGeom>
            <a:noFill/>
            <a:ln w="190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2" name="Text Box 5"/>
            <p:cNvSpPr txBox="1">
              <a:spLocks noChangeArrowheads="1"/>
            </p:cNvSpPr>
            <p:nvPr/>
          </p:nvSpPr>
          <p:spPr bwMode="auto">
            <a:xfrm>
              <a:off x="6981831" y="5119994"/>
              <a:ext cx="646331" cy="3416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defTabSz="91440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i="0" u="none" strike="noStrike" kern="0" cap="none" spc="0" normalizeH="0" noProof="0" dirty="0">
                  <a:ln>
                    <a:noFill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rPr>
                <a:t>时间</a:t>
              </a:r>
            </a:p>
          </p:txBody>
        </p:sp>
      </p:grpSp>
      <p:sp>
        <p:nvSpPr>
          <p:cNvPr id="104" name="内容占位符 2"/>
          <p:cNvSpPr txBox="1">
            <a:spLocks/>
          </p:cNvSpPr>
          <p:nvPr/>
        </p:nvSpPr>
        <p:spPr bwMode="auto">
          <a:xfrm>
            <a:off x="457200" y="5475320"/>
            <a:ext cx="8229600" cy="997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000" kern="0" dirty="0"/>
              <a:t>应用</a:t>
            </a:r>
          </a:p>
          <a:p>
            <a:pPr lvl="1"/>
            <a:r>
              <a:rPr lang="zh-CN" altLang="en-US" sz="1800" dirty="0"/>
              <a:t>早期的有线电视网络、光纤通信网络、模拟电话系统等</a:t>
            </a:r>
            <a:endParaRPr lang="zh-CN" altLang="en-US" sz="1800" kern="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21341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时分复用</a:t>
            </a:r>
            <a:r>
              <a:rPr lang="en-US" altLang="zh-CN" sz="2800" dirty="0">
                <a:latin typeface="Calibri" panose="020F0502020204030204" pitchFamily="34" charset="0"/>
              </a:rPr>
              <a:t>(Time Division Multiplexing, 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1490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将时间划分为一段段等长的时分复用帧 </a:t>
            </a:r>
            <a:r>
              <a:rPr lang="en-US" altLang="zh-CN" sz="2000" dirty="0"/>
              <a:t>(TDM </a:t>
            </a:r>
            <a:r>
              <a:rPr lang="zh-CN" altLang="en-US" sz="2000" dirty="0"/>
              <a:t>帧</a:t>
            </a:r>
            <a:r>
              <a:rPr lang="en-US" altLang="zh-CN" sz="2000" dirty="0"/>
              <a:t>)</a:t>
            </a:r>
          </a:p>
          <a:p>
            <a:pPr lvl="1">
              <a:spcBef>
                <a:spcPts val="600"/>
              </a:spcBef>
              <a:buClr>
                <a:srgbClr val="9999CC"/>
              </a:buClr>
            </a:pPr>
            <a:r>
              <a:rPr lang="zh-CN" altLang="en-US" sz="1600" dirty="0">
                <a:solidFill>
                  <a:srgbClr val="000000"/>
                </a:solidFill>
              </a:rPr>
              <a:t>每个用户在每个 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帧中占用固定序号的时隙，占用的时隙周期性地出现 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周期为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帧的长度</a:t>
            </a:r>
            <a:r>
              <a:rPr lang="en-US" altLang="zh-CN" sz="1600" dirty="0">
                <a:solidFill>
                  <a:srgbClr val="000000"/>
                </a:solidFill>
              </a:rPr>
              <a:t>)</a:t>
            </a:r>
            <a:endParaRPr lang="zh-CN" altLang="en-US" sz="1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grpSp>
        <p:nvGrpSpPr>
          <p:cNvPr id="112" name="Group 30"/>
          <p:cNvGrpSpPr>
            <a:grpSpLocks/>
          </p:cNvGrpSpPr>
          <p:nvPr/>
        </p:nvGrpSpPr>
        <p:grpSpPr bwMode="auto">
          <a:xfrm>
            <a:off x="1614284" y="5210964"/>
            <a:ext cx="1136978" cy="469716"/>
            <a:chOff x="0" y="0"/>
            <a:chExt cx="725" cy="299"/>
          </a:xfrm>
        </p:grpSpPr>
        <p:sp>
          <p:nvSpPr>
            <p:cNvPr id="113" name="Text Box 31"/>
            <p:cNvSpPr txBox="1">
              <a:spLocks noChangeArrowheads="1"/>
            </p:cNvSpPr>
            <p:nvPr/>
          </p:nvSpPr>
          <p:spPr bwMode="auto">
            <a:xfrm>
              <a:off x="101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4" name="AutoShape 32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5" name="Group 33"/>
          <p:cNvGrpSpPr>
            <a:grpSpLocks/>
          </p:cNvGrpSpPr>
          <p:nvPr/>
        </p:nvGrpSpPr>
        <p:grpSpPr bwMode="auto">
          <a:xfrm>
            <a:off x="2751262" y="5210964"/>
            <a:ext cx="1136977" cy="469716"/>
            <a:chOff x="0" y="0"/>
            <a:chExt cx="725" cy="299"/>
          </a:xfrm>
        </p:grpSpPr>
        <p:sp>
          <p:nvSpPr>
            <p:cNvPr id="116" name="Text Box 34"/>
            <p:cNvSpPr txBox="1">
              <a:spLocks noChangeArrowheads="1"/>
            </p:cNvSpPr>
            <p:nvPr/>
          </p:nvSpPr>
          <p:spPr bwMode="auto">
            <a:xfrm>
              <a:off x="109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7" name="AutoShape 35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7" name="Line 3"/>
          <p:cNvSpPr>
            <a:spLocks noChangeShapeType="1"/>
          </p:cNvSpPr>
          <p:nvPr/>
        </p:nvSpPr>
        <p:spPr bwMode="auto">
          <a:xfrm flipV="1">
            <a:off x="1614284" y="5697071"/>
            <a:ext cx="6042449" cy="1099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1016367" y="2936720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频率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7586315" y="5501392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14284" y="3286547"/>
            <a:ext cx="3699490" cy="1852153"/>
            <a:chOff x="1614284" y="3286547"/>
            <a:chExt cx="3699490" cy="1852153"/>
          </a:xfrm>
        </p:grpSpPr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614284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2752830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Rectangle 14"/>
            <p:cNvSpPr>
              <a:spLocks noChangeArrowheads="1"/>
            </p:cNvSpPr>
            <p:nvPr/>
          </p:nvSpPr>
          <p:spPr bwMode="auto">
            <a:xfrm>
              <a:off x="3891376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15"/>
            <p:cNvSpPr>
              <a:spLocks noChangeArrowheads="1"/>
            </p:cNvSpPr>
            <p:nvPr/>
          </p:nvSpPr>
          <p:spPr bwMode="auto">
            <a:xfrm>
              <a:off x="5029921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98137" y="3286547"/>
            <a:ext cx="3699489" cy="1852153"/>
            <a:chOff x="1898137" y="3286547"/>
            <a:chExt cx="3699489" cy="1852153"/>
          </a:xfrm>
        </p:grpSpPr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1898137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3036683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4175228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Rectangle 16"/>
            <p:cNvSpPr>
              <a:spLocks noChangeArrowheads="1"/>
            </p:cNvSpPr>
            <p:nvPr/>
          </p:nvSpPr>
          <p:spPr bwMode="auto">
            <a:xfrm>
              <a:off x="5313774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83557" y="3286547"/>
            <a:ext cx="3699490" cy="1852153"/>
            <a:chOff x="2183557" y="3286547"/>
            <a:chExt cx="3699490" cy="1852153"/>
          </a:xfrm>
        </p:grpSpPr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2183557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3322103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4460649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17"/>
            <p:cNvSpPr>
              <a:spLocks noChangeArrowheads="1"/>
            </p:cNvSpPr>
            <p:nvPr/>
          </p:nvSpPr>
          <p:spPr bwMode="auto">
            <a:xfrm>
              <a:off x="5599195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82" name="Group 18"/>
          <p:cNvGrpSpPr>
            <a:grpSpLocks/>
          </p:cNvGrpSpPr>
          <p:nvPr/>
        </p:nvGrpSpPr>
        <p:grpSpPr bwMode="auto">
          <a:xfrm>
            <a:off x="2467409" y="3286547"/>
            <a:ext cx="3699491" cy="1852153"/>
            <a:chOff x="0" y="0"/>
            <a:chExt cx="2359" cy="1179"/>
          </a:xfrm>
        </p:grpSpPr>
        <p:sp>
          <p:nvSpPr>
            <p:cNvPr id="83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726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1452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Rectangle 22"/>
            <p:cNvSpPr>
              <a:spLocks noChangeArrowheads="1"/>
            </p:cNvSpPr>
            <p:nvPr/>
          </p:nvSpPr>
          <p:spPr bwMode="auto">
            <a:xfrm>
              <a:off x="2178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6237470" y="3965199"/>
            <a:ext cx="34625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…</a:t>
            </a:r>
            <a:endParaRPr lang="en-US" altLang="zh-CN" sz="1800" dirty="0">
              <a:solidFill>
                <a:srgbClr val="3333CC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5" name="Line 43"/>
          <p:cNvSpPr>
            <a:spLocks noChangeShapeType="1"/>
          </p:cNvSpPr>
          <p:nvPr/>
        </p:nvSpPr>
        <p:spPr bwMode="auto">
          <a:xfrm rot="16200000" flipV="1">
            <a:off x="286926" y="4365516"/>
            <a:ext cx="26547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89023" y="5210179"/>
            <a:ext cx="1136978" cy="476596"/>
            <a:chOff x="3889023" y="5210179"/>
            <a:chExt cx="1136978" cy="476596"/>
          </a:xfrm>
        </p:grpSpPr>
        <p:sp>
          <p:nvSpPr>
            <p:cNvPr id="120" name="AutoShape 38"/>
            <p:cNvSpPr>
              <a:spLocks/>
            </p:cNvSpPr>
            <p:nvPr/>
          </p:nvSpPr>
          <p:spPr bwMode="auto">
            <a:xfrm rot="16200000" flipV="1">
              <a:off x="4386819" y="4712383"/>
              <a:ext cx="141386" cy="1136978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9" name="Text Box 31"/>
            <p:cNvSpPr txBox="1">
              <a:spLocks noChangeArrowheads="1"/>
            </p:cNvSpPr>
            <p:nvPr/>
          </p:nvSpPr>
          <p:spPr bwMode="auto">
            <a:xfrm>
              <a:off x="4083061" y="5344306"/>
              <a:ext cx="815488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6001" y="5210179"/>
            <a:ext cx="1136977" cy="476596"/>
            <a:chOff x="5026001" y="5210179"/>
            <a:chExt cx="1136977" cy="476596"/>
          </a:xfrm>
        </p:grpSpPr>
        <p:sp>
          <p:nvSpPr>
            <p:cNvPr id="123" name="AutoShape 41"/>
            <p:cNvSpPr>
              <a:spLocks/>
            </p:cNvSpPr>
            <p:nvPr/>
          </p:nvSpPr>
          <p:spPr bwMode="auto">
            <a:xfrm rot="16200000" flipV="1">
              <a:off x="5523797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0" name="Text Box 34"/>
            <p:cNvSpPr txBox="1">
              <a:spLocks noChangeArrowheads="1"/>
            </p:cNvSpPr>
            <p:nvPr/>
          </p:nvSpPr>
          <p:spPr bwMode="auto">
            <a:xfrm>
              <a:off x="5232585" y="5344306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67684" y="5210179"/>
            <a:ext cx="1136977" cy="470500"/>
            <a:chOff x="6167684" y="5210179"/>
            <a:chExt cx="1136977" cy="470500"/>
          </a:xfrm>
        </p:grpSpPr>
        <p:sp>
          <p:nvSpPr>
            <p:cNvPr id="128" name="AutoShape 46"/>
            <p:cNvSpPr>
              <a:spLocks/>
            </p:cNvSpPr>
            <p:nvPr/>
          </p:nvSpPr>
          <p:spPr bwMode="auto">
            <a:xfrm rot="16200000" flipV="1">
              <a:off x="6665480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384729" y="5338210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756680" y="2695662"/>
            <a:ext cx="5980847" cy="666801"/>
            <a:chOff x="1756680" y="2695662"/>
            <a:chExt cx="5980847" cy="666801"/>
          </a:xfrm>
        </p:grpSpPr>
        <p:grpSp>
          <p:nvGrpSpPr>
            <p:cNvPr id="44" name="Group 23"/>
            <p:cNvGrpSpPr>
              <a:grpSpLocks/>
            </p:cNvGrpSpPr>
            <p:nvPr/>
          </p:nvGrpSpPr>
          <p:grpSpPr bwMode="auto">
            <a:xfrm>
              <a:off x="1756680" y="2771784"/>
              <a:ext cx="5980847" cy="590679"/>
              <a:chOff x="0" y="-56"/>
              <a:chExt cx="3715" cy="376"/>
            </a:xfrm>
          </p:grpSpPr>
          <p:sp>
            <p:nvSpPr>
              <p:cNvPr id="45" name="Text Box 24"/>
              <p:cNvSpPr txBox="1">
                <a:spLocks noChangeArrowheads="1"/>
              </p:cNvSpPr>
              <p:nvPr/>
            </p:nvSpPr>
            <p:spPr bwMode="auto">
              <a:xfrm>
                <a:off x="2588" y="-56"/>
                <a:ext cx="1127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用户在 </a:t>
                </a:r>
                <a:r>
                  <a:rPr lang="en-US" altLang="zh-CN" kern="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TDM</a:t>
                </a:r>
                <a:r>
                  <a:rPr lang="zh-CN" altLang="zh-CN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 </a:t>
                </a: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帧中的位置不变</a:t>
                </a:r>
              </a:p>
            </p:txBody>
          </p:sp>
          <p:sp>
            <p:nvSpPr>
              <p:cNvPr id="46" name="Line 25"/>
              <p:cNvSpPr>
                <a:spLocks noChangeShapeType="1"/>
              </p:cNvSpPr>
              <p:nvPr/>
            </p:nvSpPr>
            <p:spPr bwMode="auto">
              <a:xfrm>
                <a:off x="0" y="99"/>
                <a:ext cx="2540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/>
            </p:nvSpPr>
            <p:spPr bwMode="auto">
              <a:xfrm>
                <a:off x="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Line 27"/>
              <p:cNvSpPr>
                <a:spLocks noChangeShapeType="1"/>
              </p:cNvSpPr>
              <p:nvPr/>
            </p:nvSpPr>
            <p:spPr bwMode="auto">
              <a:xfrm>
                <a:off x="71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Line 28"/>
              <p:cNvSpPr>
                <a:spLocks noChangeShapeType="1"/>
              </p:cNvSpPr>
              <p:nvPr/>
            </p:nvSpPr>
            <p:spPr bwMode="auto">
              <a:xfrm>
                <a:off x="1421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Line 29"/>
              <p:cNvSpPr>
                <a:spLocks noChangeShapeType="1"/>
              </p:cNvSpPr>
              <p:nvPr/>
            </p:nvSpPr>
            <p:spPr bwMode="auto">
              <a:xfrm>
                <a:off x="2132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578142" y="2695662"/>
              <a:ext cx="779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用户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zh-CN" altLang="en-US" dirty="0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272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7" grpId="0" animBg="1"/>
      <p:bldP spid="68" grpId="0"/>
      <p:bldP spid="69" grpId="0"/>
      <p:bldP spid="124" grpId="0"/>
      <p:bldP spid="1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时分复用</a:t>
            </a:r>
            <a:r>
              <a:rPr lang="en-US" altLang="zh-CN" sz="2800" dirty="0">
                <a:latin typeface="Calibri" panose="020F0502020204030204" pitchFamily="34" charset="0"/>
              </a:rPr>
              <a:t>(Time Division Multiplexing, 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112" name="Group 30"/>
          <p:cNvGrpSpPr>
            <a:grpSpLocks/>
          </p:cNvGrpSpPr>
          <p:nvPr/>
        </p:nvGrpSpPr>
        <p:grpSpPr bwMode="auto">
          <a:xfrm>
            <a:off x="1614284" y="5210964"/>
            <a:ext cx="1136978" cy="469716"/>
            <a:chOff x="0" y="0"/>
            <a:chExt cx="725" cy="299"/>
          </a:xfrm>
        </p:grpSpPr>
        <p:sp>
          <p:nvSpPr>
            <p:cNvPr id="113" name="Text Box 31"/>
            <p:cNvSpPr txBox="1">
              <a:spLocks noChangeArrowheads="1"/>
            </p:cNvSpPr>
            <p:nvPr/>
          </p:nvSpPr>
          <p:spPr bwMode="auto">
            <a:xfrm>
              <a:off x="101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4" name="AutoShape 32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5" name="Group 33"/>
          <p:cNvGrpSpPr>
            <a:grpSpLocks/>
          </p:cNvGrpSpPr>
          <p:nvPr/>
        </p:nvGrpSpPr>
        <p:grpSpPr bwMode="auto">
          <a:xfrm>
            <a:off x="2751262" y="5210964"/>
            <a:ext cx="1136977" cy="469716"/>
            <a:chOff x="0" y="0"/>
            <a:chExt cx="725" cy="299"/>
          </a:xfrm>
        </p:grpSpPr>
        <p:sp>
          <p:nvSpPr>
            <p:cNvPr id="116" name="Text Box 34"/>
            <p:cNvSpPr txBox="1">
              <a:spLocks noChangeArrowheads="1"/>
            </p:cNvSpPr>
            <p:nvPr/>
          </p:nvSpPr>
          <p:spPr bwMode="auto">
            <a:xfrm>
              <a:off x="109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7" name="AutoShape 35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7" name="Line 3"/>
          <p:cNvSpPr>
            <a:spLocks noChangeShapeType="1"/>
          </p:cNvSpPr>
          <p:nvPr/>
        </p:nvSpPr>
        <p:spPr bwMode="auto">
          <a:xfrm flipV="1">
            <a:off x="1614284" y="5697071"/>
            <a:ext cx="6042449" cy="1099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1016367" y="2936720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频率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7586315" y="5501392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14284" y="3286547"/>
            <a:ext cx="3699490" cy="1852153"/>
            <a:chOff x="1614284" y="3286547"/>
            <a:chExt cx="3699490" cy="1852153"/>
          </a:xfrm>
        </p:grpSpPr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614284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2752830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Rectangle 14"/>
            <p:cNvSpPr>
              <a:spLocks noChangeArrowheads="1"/>
            </p:cNvSpPr>
            <p:nvPr/>
          </p:nvSpPr>
          <p:spPr bwMode="auto">
            <a:xfrm>
              <a:off x="3891376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15"/>
            <p:cNvSpPr>
              <a:spLocks noChangeArrowheads="1"/>
            </p:cNvSpPr>
            <p:nvPr/>
          </p:nvSpPr>
          <p:spPr bwMode="auto">
            <a:xfrm>
              <a:off x="5029921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98137" y="3286547"/>
            <a:ext cx="3699489" cy="1852153"/>
            <a:chOff x="1898137" y="3286547"/>
            <a:chExt cx="3699489" cy="1852153"/>
          </a:xfrm>
        </p:grpSpPr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1898137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3036683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4175228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Rectangle 16"/>
            <p:cNvSpPr>
              <a:spLocks noChangeArrowheads="1"/>
            </p:cNvSpPr>
            <p:nvPr/>
          </p:nvSpPr>
          <p:spPr bwMode="auto">
            <a:xfrm>
              <a:off x="5313774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83557" y="3286547"/>
            <a:ext cx="3699490" cy="1852153"/>
            <a:chOff x="2183557" y="3286547"/>
            <a:chExt cx="3699490" cy="1852153"/>
          </a:xfrm>
        </p:grpSpPr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2183557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3322103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4460649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17"/>
            <p:cNvSpPr>
              <a:spLocks noChangeArrowheads="1"/>
            </p:cNvSpPr>
            <p:nvPr/>
          </p:nvSpPr>
          <p:spPr bwMode="auto">
            <a:xfrm>
              <a:off x="5599195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82" name="Group 18"/>
          <p:cNvGrpSpPr>
            <a:grpSpLocks/>
          </p:cNvGrpSpPr>
          <p:nvPr/>
        </p:nvGrpSpPr>
        <p:grpSpPr bwMode="auto">
          <a:xfrm>
            <a:off x="2467409" y="3286547"/>
            <a:ext cx="3699491" cy="1852153"/>
            <a:chOff x="0" y="0"/>
            <a:chExt cx="2359" cy="1179"/>
          </a:xfrm>
        </p:grpSpPr>
        <p:sp>
          <p:nvSpPr>
            <p:cNvPr id="83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726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1452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Rectangle 22"/>
            <p:cNvSpPr>
              <a:spLocks noChangeArrowheads="1"/>
            </p:cNvSpPr>
            <p:nvPr/>
          </p:nvSpPr>
          <p:spPr bwMode="auto">
            <a:xfrm>
              <a:off x="2178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6237470" y="3965199"/>
            <a:ext cx="34625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…</a:t>
            </a:r>
            <a:endParaRPr lang="en-US" altLang="zh-CN" sz="1800" dirty="0">
              <a:solidFill>
                <a:srgbClr val="3333CC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5" name="Line 43"/>
          <p:cNvSpPr>
            <a:spLocks noChangeShapeType="1"/>
          </p:cNvSpPr>
          <p:nvPr/>
        </p:nvSpPr>
        <p:spPr bwMode="auto">
          <a:xfrm rot="16200000" flipV="1">
            <a:off x="286926" y="4365516"/>
            <a:ext cx="26547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89023" y="5210179"/>
            <a:ext cx="1136978" cy="476596"/>
            <a:chOff x="3889023" y="5210179"/>
            <a:chExt cx="1136978" cy="476596"/>
          </a:xfrm>
        </p:grpSpPr>
        <p:sp>
          <p:nvSpPr>
            <p:cNvPr id="120" name="AutoShape 38"/>
            <p:cNvSpPr>
              <a:spLocks/>
            </p:cNvSpPr>
            <p:nvPr/>
          </p:nvSpPr>
          <p:spPr bwMode="auto">
            <a:xfrm rot="16200000" flipV="1">
              <a:off x="4386819" y="4712383"/>
              <a:ext cx="141386" cy="1136978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9" name="Text Box 31"/>
            <p:cNvSpPr txBox="1">
              <a:spLocks noChangeArrowheads="1"/>
            </p:cNvSpPr>
            <p:nvPr/>
          </p:nvSpPr>
          <p:spPr bwMode="auto">
            <a:xfrm>
              <a:off x="4083061" y="5344306"/>
              <a:ext cx="815488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6001" y="5210179"/>
            <a:ext cx="1136977" cy="476596"/>
            <a:chOff x="5026001" y="5210179"/>
            <a:chExt cx="1136977" cy="476596"/>
          </a:xfrm>
        </p:grpSpPr>
        <p:sp>
          <p:nvSpPr>
            <p:cNvPr id="123" name="AutoShape 41"/>
            <p:cNvSpPr>
              <a:spLocks/>
            </p:cNvSpPr>
            <p:nvPr/>
          </p:nvSpPr>
          <p:spPr bwMode="auto">
            <a:xfrm rot="16200000" flipV="1">
              <a:off x="5523797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0" name="Text Box 34"/>
            <p:cNvSpPr txBox="1">
              <a:spLocks noChangeArrowheads="1"/>
            </p:cNvSpPr>
            <p:nvPr/>
          </p:nvSpPr>
          <p:spPr bwMode="auto">
            <a:xfrm>
              <a:off x="5232585" y="5344306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67684" y="5210179"/>
            <a:ext cx="1136977" cy="470500"/>
            <a:chOff x="6167684" y="5210179"/>
            <a:chExt cx="1136977" cy="470500"/>
          </a:xfrm>
        </p:grpSpPr>
        <p:sp>
          <p:nvSpPr>
            <p:cNvPr id="128" name="AutoShape 46"/>
            <p:cNvSpPr>
              <a:spLocks/>
            </p:cNvSpPr>
            <p:nvPr/>
          </p:nvSpPr>
          <p:spPr bwMode="auto">
            <a:xfrm rot="16200000" flipV="1">
              <a:off x="6665480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384729" y="5338210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024904" y="2695662"/>
            <a:ext cx="5980847" cy="666801"/>
            <a:chOff x="1756680" y="2695662"/>
            <a:chExt cx="5980847" cy="666801"/>
          </a:xfrm>
        </p:grpSpPr>
        <p:grpSp>
          <p:nvGrpSpPr>
            <p:cNvPr id="44" name="Group 23"/>
            <p:cNvGrpSpPr>
              <a:grpSpLocks/>
            </p:cNvGrpSpPr>
            <p:nvPr/>
          </p:nvGrpSpPr>
          <p:grpSpPr bwMode="auto">
            <a:xfrm>
              <a:off x="1756680" y="2771784"/>
              <a:ext cx="5980847" cy="590679"/>
              <a:chOff x="0" y="-56"/>
              <a:chExt cx="3715" cy="376"/>
            </a:xfrm>
          </p:grpSpPr>
          <p:sp>
            <p:nvSpPr>
              <p:cNvPr id="45" name="Text Box 24"/>
              <p:cNvSpPr txBox="1">
                <a:spLocks noChangeArrowheads="1"/>
              </p:cNvSpPr>
              <p:nvPr/>
            </p:nvSpPr>
            <p:spPr bwMode="auto">
              <a:xfrm>
                <a:off x="2588" y="-56"/>
                <a:ext cx="1127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用户在 </a:t>
                </a:r>
                <a:r>
                  <a:rPr lang="en-US" altLang="zh-CN" kern="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TDM</a:t>
                </a:r>
                <a:r>
                  <a:rPr lang="zh-CN" altLang="zh-CN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 </a:t>
                </a: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帧中的位置不变</a:t>
                </a:r>
              </a:p>
            </p:txBody>
          </p:sp>
          <p:sp>
            <p:nvSpPr>
              <p:cNvPr id="46" name="Line 25"/>
              <p:cNvSpPr>
                <a:spLocks noChangeShapeType="1"/>
              </p:cNvSpPr>
              <p:nvPr/>
            </p:nvSpPr>
            <p:spPr bwMode="auto">
              <a:xfrm>
                <a:off x="0" y="99"/>
                <a:ext cx="2540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/>
            </p:nvSpPr>
            <p:spPr bwMode="auto">
              <a:xfrm>
                <a:off x="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Line 27"/>
              <p:cNvSpPr>
                <a:spLocks noChangeShapeType="1"/>
              </p:cNvSpPr>
              <p:nvPr/>
            </p:nvSpPr>
            <p:spPr bwMode="auto">
              <a:xfrm>
                <a:off x="71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Line 28"/>
              <p:cNvSpPr>
                <a:spLocks noChangeShapeType="1"/>
              </p:cNvSpPr>
              <p:nvPr/>
            </p:nvSpPr>
            <p:spPr bwMode="auto">
              <a:xfrm>
                <a:off x="1421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Line 29"/>
              <p:cNvSpPr>
                <a:spLocks noChangeShapeType="1"/>
              </p:cNvSpPr>
              <p:nvPr/>
            </p:nvSpPr>
            <p:spPr bwMode="auto">
              <a:xfrm>
                <a:off x="2132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578142" y="2695662"/>
              <a:ext cx="779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用户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zh-CN" altLang="en-US" dirty="0"/>
            </a:p>
          </p:txBody>
        </p:sp>
      </p:grpSp>
      <p:sp>
        <p:nvSpPr>
          <p:cNvPr id="56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1490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将时间划分为一段段等长的时分复用帧 </a:t>
            </a:r>
            <a:r>
              <a:rPr lang="en-US" altLang="zh-CN" sz="2000" dirty="0"/>
              <a:t>(TDM </a:t>
            </a:r>
            <a:r>
              <a:rPr lang="zh-CN" altLang="en-US" sz="2000" dirty="0"/>
              <a:t>帧</a:t>
            </a:r>
            <a:r>
              <a:rPr lang="en-US" altLang="zh-CN" sz="2000" dirty="0"/>
              <a:t>)</a:t>
            </a:r>
          </a:p>
          <a:p>
            <a:pPr lvl="1">
              <a:spcBef>
                <a:spcPts val="600"/>
              </a:spcBef>
              <a:buClr>
                <a:srgbClr val="9999CC"/>
              </a:buClr>
            </a:pPr>
            <a:r>
              <a:rPr lang="zh-CN" altLang="en-US" sz="1600" dirty="0">
                <a:solidFill>
                  <a:srgbClr val="000000"/>
                </a:solidFill>
              </a:rPr>
              <a:t>每个用户在每个 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帧中占用固定序号的时隙，占用的时隙周期性地出现 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周期为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帧的长度</a:t>
            </a:r>
            <a:r>
              <a:rPr lang="en-US" altLang="zh-CN" sz="1600" dirty="0">
                <a:solidFill>
                  <a:srgbClr val="000000"/>
                </a:solidFill>
              </a:rPr>
              <a:t>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7401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时分复用</a:t>
            </a:r>
            <a:r>
              <a:rPr lang="en-US" altLang="zh-CN" sz="2800" dirty="0">
                <a:latin typeface="Calibri" panose="020F0502020204030204" pitchFamily="34" charset="0"/>
              </a:rPr>
              <a:t>(Time Division Multiplexing, 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112" name="Group 30"/>
          <p:cNvGrpSpPr>
            <a:grpSpLocks/>
          </p:cNvGrpSpPr>
          <p:nvPr/>
        </p:nvGrpSpPr>
        <p:grpSpPr bwMode="auto">
          <a:xfrm>
            <a:off x="1614284" y="5210964"/>
            <a:ext cx="1136978" cy="469716"/>
            <a:chOff x="0" y="0"/>
            <a:chExt cx="725" cy="299"/>
          </a:xfrm>
        </p:grpSpPr>
        <p:sp>
          <p:nvSpPr>
            <p:cNvPr id="113" name="Text Box 31"/>
            <p:cNvSpPr txBox="1">
              <a:spLocks noChangeArrowheads="1"/>
            </p:cNvSpPr>
            <p:nvPr/>
          </p:nvSpPr>
          <p:spPr bwMode="auto">
            <a:xfrm>
              <a:off x="101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4" name="AutoShape 32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5" name="Group 33"/>
          <p:cNvGrpSpPr>
            <a:grpSpLocks/>
          </p:cNvGrpSpPr>
          <p:nvPr/>
        </p:nvGrpSpPr>
        <p:grpSpPr bwMode="auto">
          <a:xfrm>
            <a:off x="2751262" y="5210964"/>
            <a:ext cx="1136977" cy="469716"/>
            <a:chOff x="0" y="0"/>
            <a:chExt cx="725" cy="299"/>
          </a:xfrm>
        </p:grpSpPr>
        <p:sp>
          <p:nvSpPr>
            <p:cNvPr id="116" name="Text Box 34"/>
            <p:cNvSpPr txBox="1">
              <a:spLocks noChangeArrowheads="1"/>
            </p:cNvSpPr>
            <p:nvPr/>
          </p:nvSpPr>
          <p:spPr bwMode="auto">
            <a:xfrm>
              <a:off x="109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7" name="AutoShape 35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7" name="Line 3"/>
          <p:cNvSpPr>
            <a:spLocks noChangeShapeType="1"/>
          </p:cNvSpPr>
          <p:nvPr/>
        </p:nvSpPr>
        <p:spPr bwMode="auto">
          <a:xfrm flipV="1">
            <a:off x="1614284" y="5697071"/>
            <a:ext cx="6042449" cy="1099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1016367" y="2936720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频率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7586315" y="5501392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14284" y="3286547"/>
            <a:ext cx="3699490" cy="1852153"/>
            <a:chOff x="1614284" y="3286547"/>
            <a:chExt cx="3699490" cy="1852153"/>
          </a:xfrm>
        </p:grpSpPr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614284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2752830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Rectangle 14"/>
            <p:cNvSpPr>
              <a:spLocks noChangeArrowheads="1"/>
            </p:cNvSpPr>
            <p:nvPr/>
          </p:nvSpPr>
          <p:spPr bwMode="auto">
            <a:xfrm>
              <a:off x="3891376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15"/>
            <p:cNvSpPr>
              <a:spLocks noChangeArrowheads="1"/>
            </p:cNvSpPr>
            <p:nvPr/>
          </p:nvSpPr>
          <p:spPr bwMode="auto">
            <a:xfrm>
              <a:off x="5029921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98137" y="3286547"/>
            <a:ext cx="3699489" cy="1852153"/>
            <a:chOff x="1898137" y="3286547"/>
            <a:chExt cx="3699489" cy="1852153"/>
          </a:xfrm>
        </p:grpSpPr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1898137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3036683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4175228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Rectangle 16"/>
            <p:cNvSpPr>
              <a:spLocks noChangeArrowheads="1"/>
            </p:cNvSpPr>
            <p:nvPr/>
          </p:nvSpPr>
          <p:spPr bwMode="auto">
            <a:xfrm>
              <a:off x="5313774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83557" y="3286547"/>
            <a:ext cx="3699490" cy="1852153"/>
            <a:chOff x="2183557" y="3286547"/>
            <a:chExt cx="3699490" cy="1852153"/>
          </a:xfrm>
        </p:grpSpPr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2183557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3322103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4460649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17"/>
            <p:cNvSpPr>
              <a:spLocks noChangeArrowheads="1"/>
            </p:cNvSpPr>
            <p:nvPr/>
          </p:nvSpPr>
          <p:spPr bwMode="auto">
            <a:xfrm>
              <a:off x="5599195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82" name="Group 18"/>
          <p:cNvGrpSpPr>
            <a:grpSpLocks/>
          </p:cNvGrpSpPr>
          <p:nvPr/>
        </p:nvGrpSpPr>
        <p:grpSpPr bwMode="auto">
          <a:xfrm>
            <a:off x="2467409" y="3286547"/>
            <a:ext cx="3699491" cy="1852153"/>
            <a:chOff x="0" y="0"/>
            <a:chExt cx="2359" cy="1179"/>
          </a:xfrm>
        </p:grpSpPr>
        <p:sp>
          <p:nvSpPr>
            <p:cNvPr id="83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726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1452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Rectangle 22"/>
            <p:cNvSpPr>
              <a:spLocks noChangeArrowheads="1"/>
            </p:cNvSpPr>
            <p:nvPr/>
          </p:nvSpPr>
          <p:spPr bwMode="auto">
            <a:xfrm>
              <a:off x="2178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6237470" y="3965199"/>
            <a:ext cx="34625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…</a:t>
            </a:r>
            <a:endParaRPr lang="en-US" altLang="zh-CN" sz="1800" dirty="0">
              <a:solidFill>
                <a:srgbClr val="3333CC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5" name="Line 43"/>
          <p:cNvSpPr>
            <a:spLocks noChangeShapeType="1"/>
          </p:cNvSpPr>
          <p:nvPr/>
        </p:nvSpPr>
        <p:spPr bwMode="auto">
          <a:xfrm rot="16200000" flipV="1">
            <a:off x="286926" y="4365516"/>
            <a:ext cx="26547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89023" y="5210179"/>
            <a:ext cx="1136978" cy="476596"/>
            <a:chOff x="3889023" y="5210179"/>
            <a:chExt cx="1136978" cy="476596"/>
          </a:xfrm>
        </p:grpSpPr>
        <p:sp>
          <p:nvSpPr>
            <p:cNvPr id="120" name="AutoShape 38"/>
            <p:cNvSpPr>
              <a:spLocks/>
            </p:cNvSpPr>
            <p:nvPr/>
          </p:nvSpPr>
          <p:spPr bwMode="auto">
            <a:xfrm rot="16200000" flipV="1">
              <a:off x="4386819" y="4712383"/>
              <a:ext cx="141386" cy="1136978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9" name="Text Box 31"/>
            <p:cNvSpPr txBox="1">
              <a:spLocks noChangeArrowheads="1"/>
            </p:cNvSpPr>
            <p:nvPr/>
          </p:nvSpPr>
          <p:spPr bwMode="auto">
            <a:xfrm>
              <a:off x="4083061" y="5344306"/>
              <a:ext cx="815488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6001" y="5210179"/>
            <a:ext cx="1136977" cy="476596"/>
            <a:chOff x="5026001" y="5210179"/>
            <a:chExt cx="1136977" cy="476596"/>
          </a:xfrm>
        </p:grpSpPr>
        <p:sp>
          <p:nvSpPr>
            <p:cNvPr id="123" name="AutoShape 41"/>
            <p:cNvSpPr>
              <a:spLocks/>
            </p:cNvSpPr>
            <p:nvPr/>
          </p:nvSpPr>
          <p:spPr bwMode="auto">
            <a:xfrm rot="16200000" flipV="1">
              <a:off x="5523797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0" name="Text Box 34"/>
            <p:cNvSpPr txBox="1">
              <a:spLocks noChangeArrowheads="1"/>
            </p:cNvSpPr>
            <p:nvPr/>
          </p:nvSpPr>
          <p:spPr bwMode="auto">
            <a:xfrm>
              <a:off x="5232585" y="5344306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67684" y="5210179"/>
            <a:ext cx="1136977" cy="470500"/>
            <a:chOff x="6167684" y="5210179"/>
            <a:chExt cx="1136977" cy="470500"/>
          </a:xfrm>
        </p:grpSpPr>
        <p:sp>
          <p:nvSpPr>
            <p:cNvPr id="128" name="AutoShape 46"/>
            <p:cNvSpPr>
              <a:spLocks/>
            </p:cNvSpPr>
            <p:nvPr/>
          </p:nvSpPr>
          <p:spPr bwMode="auto">
            <a:xfrm rot="16200000" flipV="1">
              <a:off x="6665480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384729" y="5338210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305320" y="2695662"/>
            <a:ext cx="5980847" cy="666801"/>
            <a:chOff x="1756680" y="2695662"/>
            <a:chExt cx="5980847" cy="666801"/>
          </a:xfrm>
        </p:grpSpPr>
        <p:grpSp>
          <p:nvGrpSpPr>
            <p:cNvPr id="44" name="Group 23"/>
            <p:cNvGrpSpPr>
              <a:grpSpLocks/>
            </p:cNvGrpSpPr>
            <p:nvPr/>
          </p:nvGrpSpPr>
          <p:grpSpPr bwMode="auto">
            <a:xfrm>
              <a:off x="1756680" y="2771784"/>
              <a:ext cx="5980847" cy="590679"/>
              <a:chOff x="0" y="-56"/>
              <a:chExt cx="3715" cy="376"/>
            </a:xfrm>
          </p:grpSpPr>
          <p:sp>
            <p:nvSpPr>
              <p:cNvPr id="45" name="Text Box 24"/>
              <p:cNvSpPr txBox="1">
                <a:spLocks noChangeArrowheads="1"/>
              </p:cNvSpPr>
              <p:nvPr/>
            </p:nvSpPr>
            <p:spPr bwMode="auto">
              <a:xfrm>
                <a:off x="2588" y="-56"/>
                <a:ext cx="1127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用户在 </a:t>
                </a:r>
                <a:r>
                  <a:rPr lang="en-US" altLang="zh-CN" kern="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TDM</a:t>
                </a:r>
                <a:r>
                  <a:rPr lang="zh-CN" altLang="zh-CN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 </a:t>
                </a: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帧中的位置不变</a:t>
                </a:r>
              </a:p>
            </p:txBody>
          </p:sp>
          <p:sp>
            <p:nvSpPr>
              <p:cNvPr id="46" name="Line 25"/>
              <p:cNvSpPr>
                <a:spLocks noChangeShapeType="1"/>
              </p:cNvSpPr>
              <p:nvPr/>
            </p:nvSpPr>
            <p:spPr bwMode="auto">
              <a:xfrm>
                <a:off x="0" y="99"/>
                <a:ext cx="2540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/>
            </p:nvSpPr>
            <p:spPr bwMode="auto">
              <a:xfrm>
                <a:off x="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Line 27"/>
              <p:cNvSpPr>
                <a:spLocks noChangeShapeType="1"/>
              </p:cNvSpPr>
              <p:nvPr/>
            </p:nvSpPr>
            <p:spPr bwMode="auto">
              <a:xfrm>
                <a:off x="71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Line 28"/>
              <p:cNvSpPr>
                <a:spLocks noChangeShapeType="1"/>
              </p:cNvSpPr>
              <p:nvPr/>
            </p:nvSpPr>
            <p:spPr bwMode="auto">
              <a:xfrm>
                <a:off x="1421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Line 29"/>
              <p:cNvSpPr>
                <a:spLocks noChangeShapeType="1"/>
              </p:cNvSpPr>
              <p:nvPr/>
            </p:nvSpPr>
            <p:spPr bwMode="auto">
              <a:xfrm>
                <a:off x="2132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578142" y="2695662"/>
              <a:ext cx="77938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用户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zh-CN" altLang="en-US" dirty="0"/>
            </a:p>
          </p:txBody>
        </p:sp>
      </p:grpSp>
      <p:sp>
        <p:nvSpPr>
          <p:cNvPr id="55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1490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将时间划分为一段段等长的时分复用帧 </a:t>
            </a:r>
            <a:r>
              <a:rPr lang="en-US" altLang="zh-CN" sz="2000" dirty="0"/>
              <a:t>(TDM </a:t>
            </a:r>
            <a:r>
              <a:rPr lang="zh-CN" altLang="en-US" sz="2000" dirty="0"/>
              <a:t>帧</a:t>
            </a:r>
            <a:r>
              <a:rPr lang="en-US" altLang="zh-CN" sz="2000" dirty="0"/>
              <a:t>)</a:t>
            </a:r>
          </a:p>
          <a:p>
            <a:pPr lvl="1">
              <a:spcBef>
                <a:spcPts val="600"/>
              </a:spcBef>
              <a:buClr>
                <a:srgbClr val="9999CC"/>
              </a:buClr>
            </a:pPr>
            <a:r>
              <a:rPr lang="zh-CN" altLang="en-US" sz="1600" dirty="0">
                <a:solidFill>
                  <a:srgbClr val="000000"/>
                </a:solidFill>
              </a:rPr>
              <a:t>每个用户在每个 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帧中占用固定序号的时隙，占用的时隙周期性地出现 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周期为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帧的长度</a:t>
            </a:r>
            <a:r>
              <a:rPr lang="en-US" altLang="zh-CN" sz="1600" dirty="0">
                <a:solidFill>
                  <a:srgbClr val="000000"/>
                </a:solidFill>
              </a:rPr>
              <a:t>)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776321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时分复用</a:t>
            </a:r>
            <a:r>
              <a:rPr lang="en-US" altLang="zh-CN" sz="2800" dirty="0">
                <a:latin typeface="Calibri" panose="020F0502020204030204" pitchFamily="34" charset="0"/>
              </a:rPr>
              <a:t>(Time Division Multiplexing, 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112" name="Group 30"/>
          <p:cNvGrpSpPr>
            <a:grpSpLocks/>
          </p:cNvGrpSpPr>
          <p:nvPr/>
        </p:nvGrpSpPr>
        <p:grpSpPr bwMode="auto">
          <a:xfrm>
            <a:off x="1614284" y="5210964"/>
            <a:ext cx="1136978" cy="469716"/>
            <a:chOff x="0" y="0"/>
            <a:chExt cx="725" cy="299"/>
          </a:xfrm>
        </p:grpSpPr>
        <p:sp>
          <p:nvSpPr>
            <p:cNvPr id="113" name="Text Box 31"/>
            <p:cNvSpPr txBox="1">
              <a:spLocks noChangeArrowheads="1"/>
            </p:cNvSpPr>
            <p:nvPr/>
          </p:nvSpPr>
          <p:spPr bwMode="auto">
            <a:xfrm>
              <a:off x="101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4" name="AutoShape 32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15" name="Group 33"/>
          <p:cNvGrpSpPr>
            <a:grpSpLocks/>
          </p:cNvGrpSpPr>
          <p:nvPr/>
        </p:nvGrpSpPr>
        <p:grpSpPr bwMode="auto">
          <a:xfrm>
            <a:off x="2751262" y="5210964"/>
            <a:ext cx="1136977" cy="469716"/>
            <a:chOff x="0" y="0"/>
            <a:chExt cx="725" cy="299"/>
          </a:xfrm>
        </p:grpSpPr>
        <p:sp>
          <p:nvSpPr>
            <p:cNvPr id="116" name="Text Box 34"/>
            <p:cNvSpPr txBox="1">
              <a:spLocks noChangeArrowheads="1"/>
            </p:cNvSpPr>
            <p:nvPr/>
          </p:nvSpPr>
          <p:spPr bwMode="auto">
            <a:xfrm>
              <a:off x="109" y="81"/>
              <a:ext cx="520" cy="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  <p:sp>
          <p:nvSpPr>
            <p:cNvPr id="117" name="AutoShape 35"/>
            <p:cNvSpPr>
              <a:spLocks/>
            </p:cNvSpPr>
            <p:nvPr/>
          </p:nvSpPr>
          <p:spPr bwMode="auto">
            <a:xfrm rot="16200000" flipV="1">
              <a:off x="318" y="-318"/>
              <a:ext cx="90" cy="725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67" name="Line 3"/>
          <p:cNvSpPr>
            <a:spLocks noChangeShapeType="1"/>
          </p:cNvSpPr>
          <p:nvPr/>
        </p:nvSpPr>
        <p:spPr bwMode="auto">
          <a:xfrm flipV="1">
            <a:off x="1614284" y="5697071"/>
            <a:ext cx="6042449" cy="10997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8" name="Text Box 4"/>
          <p:cNvSpPr txBox="1">
            <a:spLocks noChangeArrowheads="1"/>
          </p:cNvSpPr>
          <p:nvPr/>
        </p:nvSpPr>
        <p:spPr bwMode="auto">
          <a:xfrm>
            <a:off x="1016367" y="2936720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频率</a:t>
            </a:r>
          </a:p>
        </p:txBody>
      </p:sp>
      <p:sp>
        <p:nvSpPr>
          <p:cNvPr id="69" name="Text Box 5"/>
          <p:cNvSpPr txBox="1">
            <a:spLocks noChangeArrowheads="1"/>
          </p:cNvSpPr>
          <p:nvPr/>
        </p:nvSpPr>
        <p:spPr bwMode="auto">
          <a:xfrm>
            <a:off x="7586315" y="5501392"/>
            <a:ext cx="649537" cy="341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时间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1614284" y="3286547"/>
            <a:ext cx="3699490" cy="1852153"/>
            <a:chOff x="1614284" y="3286547"/>
            <a:chExt cx="3699490" cy="1852153"/>
          </a:xfrm>
        </p:grpSpPr>
        <p:sp>
          <p:nvSpPr>
            <p:cNvPr id="76" name="Rectangle 12"/>
            <p:cNvSpPr>
              <a:spLocks noChangeArrowheads="1"/>
            </p:cNvSpPr>
            <p:nvPr/>
          </p:nvSpPr>
          <p:spPr bwMode="auto">
            <a:xfrm>
              <a:off x="1614284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7" name="Rectangle 13"/>
            <p:cNvSpPr>
              <a:spLocks noChangeArrowheads="1"/>
            </p:cNvSpPr>
            <p:nvPr/>
          </p:nvSpPr>
          <p:spPr bwMode="auto">
            <a:xfrm>
              <a:off x="2752830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8" name="Rectangle 14"/>
            <p:cNvSpPr>
              <a:spLocks noChangeArrowheads="1"/>
            </p:cNvSpPr>
            <p:nvPr/>
          </p:nvSpPr>
          <p:spPr bwMode="auto">
            <a:xfrm>
              <a:off x="3891376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9" name="Rectangle 15"/>
            <p:cNvSpPr>
              <a:spLocks noChangeArrowheads="1"/>
            </p:cNvSpPr>
            <p:nvPr/>
          </p:nvSpPr>
          <p:spPr bwMode="auto">
            <a:xfrm>
              <a:off x="5029921" y="3286547"/>
              <a:ext cx="283853" cy="1852153"/>
            </a:xfrm>
            <a:prstGeom prst="rect">
              <a:avLst/>
            </a:prstGeom>
            <a:solidFill>
              <a:srgbClr val="CCE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898137" y="3286547"/>
            <a:ext cx="3699489" cy="1852153"/>
            <a:chOff x="1898137" y="3286547"/>
            <a:chExt cx="3699489" cy="1852153"/>
          </a:xfrm>
        </p:grpSpPr>
        <p:sp>
          <p:nvSpPr>
            <p:cNvPr id="70" name="Rectangle 6"/>
            <p:cNvSpPr>
              <a:spLocks noChangeArrowheads="1"/>
            </p:cNvSpPr>
            <p:nvPr/>
          </p:nvSpPr>
          <p:spPr bwMode="auto">
            <a:xfrm>
              <a:off x="1898137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Rectangle 8"/>
            <p:cNvSpPr>
              <a:spLocks noChangeArrowheads="1"/>
            </p:cNvSpPr>
            <p:nvPr/>
          </p:nvSpPr>
          <p:spPr bwMode="auto">
            <a:xfrm>
              <a:off x="3036683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" name="Rectangle 10"/>
            <p:cNvSpPr>
              <a:spLocks noChangeArrowheads="1"/>
            </p:cNvSpPr>
            <p:nvPr/>
          </p:nvSpPr>
          <p:spPr bwMode="auto">
            <a:xfrm>
              <a:off x="4175228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0" name="Rectangle 16"/>
            <p:cNvSpPr>
              <a:spLocks noChangeArrowheads="1"/>
            </p:cNvSpPr>
            <p:nvPr/>
          </p:nvSpPr>
          <p:spPr bwMode="auto">
            <a:xfrm>
              <a:off x="5313774" y="3286547"/>
              <a:ext cx="283852" cy="1852153"/>
            </a:xfrm>
            <a:prstGeom prst="rect">
              <a:avLst/>
            </a:prstGeom>
            <a:solidFill>
              <a:srgbClr val="FF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83557" y="3286547"/>
            <a:ext cx="3699490" cy="1852153"/>
            <a:chOff x="2183557" y="3286547"/>
            <a:chExt cx="3699490" cy="1852153"/>
          </a:xfrm>
        </p:grpSpPr>
        <p:sp>
          <p:nvSpPr>
            <p:cNvPr id="71" name="Rectangle 7"/>
            <p:cNvSpPr>
              <a:spLocks noChangeArrowheads="1"/>
            </p:cNvSpPr>
            <p:nvPr/>
          </p:nvSpPr>
          <p:spPr bwMode="auto">
            <a:xfrm>
              <a:off x="2183557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Rectangle 9"/>
            <p:cNvSpPr>
              <a:spLocks noChangeArrowheads="1"/>
            </p:cNvSpPr>
            <p:nvPr/>
          </p:nvSpPr>
          <p:spPr bwMode="auto">
            <a:xfrm>
              <a:off x="3322103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5" name="Rectangle 11"/>
            <p:cNvSpPr>
              <a:spLocks noChangeArrowheads="1"/>
            </p:cNvSpPr>
            <p:nvPr/>
          </p:nvSpPr>
          <p:spPr bwMode="auto">
            <a:xfrm>
              <a:off x="4460649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Rectangle 17"/>
            <p:cNvSpPr>
              <a:spLocks noChangeArrowheads="1"/>
            </p:cNvSpPr>
            <p:nvPr/>
          </p:nvSpPr>
          <p:spPr bwMode="auto">
            <a:xfrm>
              <a:off x="5599195" y="3286547"/>
              <a:ext cx="283852" cy="1852153"/>
            </a:xfrm>
            <a:prstGeom prst="rect">
              <a:avLst/>
            </a:prstGeom>
            <a:solidFill>
              <a:srgbClr val="FF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C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82" name="Group 18"/>
          <p:cNvGrpSpPr>
            <a:grpSpLocks/>
          </p:cNvGrpSpPr>
          <p:nvPr/>
        </p:nvGrpSpPr>
        <p:grpSpPr bwMode="auto">
          <a:xfrm>
            <a:off x="2467409" y="3286547"/>
            <a:ext cx="3699491" cy="1852153"/>
            <a:chOff x="0" y="0"/>
            <a:chExt cx="2359" cy="1179"/>
          </a:xfrm>
        </p:grpSpPr>
        <p:sp>
          <p:nvSpPr>
            <p:cNvPr id="83" name="Rectangle 19"/>
            <p:cNvSpPr>
              <a:spLocks noChangeArrowheads="1"/>
            </p:cNvSpPr>
            <p:nvPr/>
          </p:nvSpPr>
          <p:spPr bwMode="auto">
            <a:xfrm>
              <a:off x="0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4" name="Rectangle 20"/>
            <p:cNvSpPr>
              <a:spLocks noChangeArrowheads="1"/>
            </p:cNvSpPr>
            <p:nvPr/>
          </p:nvSpPr>
          <p:spPr bwMode="auto">
            <a:xfrm>
              <a:off x="726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5" name="Rectangle 21"/>
            <p:cNvSpPr>
              <a:spLocks noChangeArrowheads="1"/>
            </p:cNvSpPr>
            <p:nvPr/>
          </p:nvSpPr>
          <p:spPr bwMode="auto">
            <a:xfrm>
              <a:off x="1452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Rectangle 22"/>
            <p:cNvSpPr>
              <a:spLocks noChangeArrowheads="1"/>
            </p:cNvSpPr>
            <p:nvPr/>
          </p:nvSpPr>
          <p:spPr bwMode="auto">
            <a:xfrm>
              <a:off x="2178" y="0"/>
              <a:ext cx="181" cy="1179"/>
            </a:xfrm>
            <a:prstGeom prst="rect">
              <a:avLst/>
            </a:prstGeom>
            <a:solidFill>
              <a:srgbClr val="66FF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200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en-US" altLang="zh-CN" sz="200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24" name="Rectangle 42"/>
          <p:cNvSpPr>
            <a:spLocks noChangeArrowheads="1"/>
          </p:cNvSpPr>
          <p:nvPr/>
        </p:nvSpPr>
        <p:spPr bwMode="auto">
          <a:xfrm>
            <a:off x="6237470" y="3965199"/>
            <a:ext cx="346250" cy="366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71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defTabSz="7620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8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…</a:t>
            </a:r>
            <a:endParaRPr lang="en-US" altLang="zh-CN" sz="1800" dirty="0">
              <a:solidFill>
                <a:srgbClr val="3333CC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125" name="Line 43"/>
          <p:cNvSpPr>
            <a:spLocks noChangeShapeType="1"/>
          </p:cNvSpPr>
          <p:nvPr/>
        </p:nvSpPr>
        <p:spPr bwMode="auto">
          <a:xfrm rot="16200000" flipV="1">
            <a:off x="286926" y="4365516"/>
            <a:ext cx="26547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89023" y="5210179"/>
            <a:ext cx="1136978" cy="476596"/>
            <a:chOff x="3889023" y="5210179"/>
            <a:chExt cx="1136978" cy="476596"/>
          </a:xfrm>
        </p:grpSpPr>
        <p:sp>
          <p:nvSpPr>
            <p:cNvPr id="120" name="AutoShape 38"/>
            <p:cNvSpPr>
              <a:spLocks/>
            </p:cNvSpPr>
            <p:nvPr/>
          </p:nvSpPr>
          <p:spPr bwMode="auto">
            <a:xfrm rot="16200000" flipV="1">
              <a:off x="4386819" y="4712383"/>
              <a:ext cx="141386" cy="1136978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9" name="Text Box 31"/>
            <p:cNvSpPr txBox="1">
              <a:spLocks noChangeArrowheads="1"/>
            </p:cNvSpPr>
            <p:nvPr/>
          </p:nvSpPr>
          <p:spPr bwMode="auto">
            <a:xfrm>
              <a:off x="4083061" y="5344306"/>
              <a:ext cx="815488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1600" kern="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5026001" y="5210179"/>
            <a:ext cx="1136977" cy="476596"/>
            <a:chOff x="5026001" y="5210179"/>
            <a:chExt cx="1136977" cy="476596"/>
          </a:xfrm>
        </p:grpSpPr>
        <p:sp>
          <p:nvSpPr>
            <p:cNvPr id="123" name="AutoShape 41"/>
            <p:cNvSpPr>
              <a:spLocks/>
            </p:cNvSpPr>
            <p:nvPr/>
          </p:nvSpPr>
          <p:spPr bwMode="auto">
            <a:xfrm rot="16200000" flipV="1">
              <a:off x="5523797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0" name="Text Box 34"/>
            <p:cNvSpPr txBox="1">
              <a:spLocks noChangeArrowheads="1"/>
            </p:cNvSpPr>
            <p:nvPr/>
          </p:nvSpPr>
          <p:spPr bwMode="auto">
            <a:xfrm>
              <a:off x="5232585" y="5344306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6167684" y="5210179"/>
            <a:ext cx="1136977" cy="470500"/>
            <a:chOff x="6167684" y="5210179"/>
            <a:chExt cx="1136977" cy="470500"/>
          </a:xfrm>
        </p:grpSpPr>
        <p:sp>
          <p:nvSpPr>
            <p:cNvPr id="128" name="AutoShape 46"/>
            <p:cNvSpPr>
              <a:spLocks/>
            </p:cNvSpPr>
            <p:nvPr/>
          </p:nvSpPr>
          <p:spPr bwMode="auto">
            <a:xfrm rot="16200000" flipV="1">
              <a:off x="6665480" y="4712383"/>
              <a:ext cx="141386" cy="1136977"/>
            </a:xfrm>
            <a:prstGeom prst="leftBrace">
              <a:avLst>
                <a:gd name="adj1" fmla="val 67130"/>
                <a:gd name="adj2" fmla="val 50000"/>
              </a:avLst>
            </a:prstGeom>
            <a:noFill/>
            <a:ln w="158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1" name="Text Box 34"/>
            <p:cNvSpPr txBox="1">
              <a:spLocks noChangeArrowheads="1"/>
            </p:cNvSpPr>
            <p:nvPr/>
          </p:nvSpPr>
          <p:spPr bwMode="auto">
            <a:xfrm>
              <a:off x="6384729" y="5338210"/>
              <a:ext cx="815487" cy="342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sz="16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TDM</a:t>
              </a: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帧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97928" y="2695662"/>
            <a:ext cx="5980847" cy="666801"/>
            <a:chOff x="1756680" y="2695662"/>
            <a:chExt cx="5980847" cy="666801"/>
          </a:xfrm>
        </p:grpSpPr>
        <p:grpSp>
          <p:nvGrpSpPr>
            <p:cNvPr id="44" name="Group 23"/>
            <p:cNvGrpSpPr>
              <a:grpSpLocks/>
            </p:cNvGrpSpPr>
            <p:nvPr/>
          </p:nvGrpSpPr>
          <p:grpSpPr bwMode="auto">
            <a:xfrm>
              <a:off x="1756680" y="2771784"/>
              <a:ext cx="5980847" cy="590679"/>
              <a:chOff x="0" y="-56"/>
              <a:chExt cx="3715" cy="376"/>
            </a:xfrm>
          </p:grpSpPr>
          <p:sp>
            <p:nvSpPr>
              <p:cNvPr id="45" name="Text Box 24"/>
              <p:cNvSpPr txBox="1">
                <a:spLocks noChangeArrowheads="1"/>
              </p:cNvSpPr>
              <p:nvPr/>
            </p:nvSpPr>
            <p:spPr bwMode="auto">
              <a:xfrm>
                <a:off x="2588" y="-56"/>
                <a:ext cx="1127" cy="3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algn="ctr" fontAlgn="base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用户在 </a:t>
                </a:r>
                <a:r>
                  <a:rPr lang="en-US" altLang="zh-CN" kern="0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TDM</a:t>
                </a:r>
                <a:r>
                  <a:rPr lang="zh-CN" altLang="zh-CN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 </a:t>
                </a:r>
                <a:r>
                  <a:rPr lang="zh-CN" altLang="en-US" dirty="0">
                    <a:solidFill>
                      <a:srgbClr val="3333CC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帧中的位置不变</a:t>
                </a:r>
              </a:p>
            </p:txBody>
          </p:sp>
          <p:sp>
            <p:nvSpPr>
              <p:cNvPr id="46" name="Line 25"/>
              <p:cNvSpPr>
                <a:spLocks noChangeShapeType="1"/>
              </p:cNvSpPr>
              <p:nvPr/>
            </p:nvSpPr>
            <p:spPr bwMode="auto">
              <a:xfrm>
                <a:off x="0" y="99"/>
                <a:ext cx="2540" cy="0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7" name="Line 26"/>
              <p:cNvSpPr>
                <a:spLocks noChangeShapeType="1"/>
              </p:cNvSpPr>
              <p:nvPr/>
            </p:nvSpPr>
            <p:spPr bwMode="auto">
              <a:xfrm>
                <a:off x="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8" name="Line 27"/>
              <p:cNvSpPr>
                <a:spLocks noChangeShapeType="1"/>
              </p:cNvSpPr>
              <p:nvPr/>
            </p:nvSpPr>
            <p:spPr bwMode="auto">
              <a:xfrm>
                <a:off x="710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49" name="Line 28"/>
              <p:cNvSpPr>
                <a:spLocks noChangeShapeType="1"/>
              </p:cNvSpPr>
              <p:nvPr/>
            </p:nvSpPr>
            <p:spPr bwMode="auto">
              <a:xfrm>
                <a:off x="1421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50" name="Line 29"/>
              <p:cNvSpPr>
                <a:spLocks noChangeShapeType="1"/>
              </p:cNvSpPr>
              <p:nvPr/>
            </p:nvSpPr>
            <p:spPr bwMode="auto">
              <a:xfrm>
                <a:off x="2132" y="99"/>
                <a:ext cx="0" cy="182"/>
              </a:xfrm>
              <a:prstGeom prst="line">
                <a:avLst/>
              </a:prstGeom>
              <a:noFill/>
              <a:ln w="19050">
                <a:solidFill>
                  <a:srgbClr val="33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20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9" name="矩形 8"/>
            <p:cNvSpPr/>
            <p:nvPr/>
          </p:nvSpPr>
          <p:spPr>
            <a:xfrm>
              <a:off x="3578142" y="2695662"/>
              <a:ext cx="78899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用户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D</a:t>
              </a:r>
              <a:endParaRPr lang="zh-CN" altLang="en-US" dirty="0"/>
            </a:p>
          </p:txBody>
        </p:sp>
      </p:grpSp>
      <p:sp>
        <p:nvSpPr>
          <p:cNvPr id="55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149011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将时间划分为一段段等长的时分复用帧 </a:t>
            </a:r>
            <a:r>
              <a:rPr lang="en-US" altLang="zh-CN" sz="2000" dirty="0"/>
              <a:t>(TDM </a:t>
            </a:r>
            <a:r>
              <a:rPr lang="zh-CN" altLang="en-US" sz="2000" dirty="0"/>
              <a:t>帧</a:t>
            </a:r>
            <a:r>
              <a:rPr lang="en-US" altLang="zh-CN" sz="2000" dirty="0"/>
              <a:t>)</a:t>
            </a:r>
          </a:p>
          <a:p>
            <a:pPr lvl="1">
              <a:spcBef>
                <a:spcPts val="600"/>
              </a:spcBef>
              <a:buClr>
                <a:srgbClr val="9999CC"/>
              </a:buClr>
            </a:pPr>
            <a:r>
              <a:rPr lang="zh-CN" altLang="en-US" sz="1600" dirty="0">
                <a:solidFill>
                  <a:srgbClr val="000000"/>
                </a:solidFill>
              </a:rPr>
              <a:t>每个用户在每个 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帧中占用固定序号的时隙，占用的时隙周期性地出现 </a:t>
            </a:r>
            <a:r>
              <a:rPr lang="en-US" altLang="zh-CN" sz="1600" dirty="0">
                <a:solidFill>
                  <a:srgbClr val="000000"/>
                </a:solidFill>
              </a:rPr>
              <a:t>(</a:t>
            </a:r>
            <a:r>
              <a:rPr lang="zh-CN" altLang="en-US" sz="1600" dirty="0">
                <a:solidFill>
                  <a:srgbClr val="000000"/>
                </a:solidFill>
              </a:rPr>
              <a:t>周期为</a:t>
            </a:r>
            <a:r>
              <a:rPr lang="en-US" altLang="zh-CN" sz="1600" dirty="0">
                <a:solidFill>
                  <a:srgbClr val="000000"/>
                </a:solidFill>
              </a:rPr>
              <a:t>TDM </a:t>
            </a:r>
            <a:r>
              <a:rPr lang="zh-CN" altLang="en-US" sz="1600" dirty="0">
                <a:solidFill>
                  <a:srgbClr val="000000"/>
                </a:solidFill>
              </a:rPr>
              <a:t>帧的长度</a:t>
            </a:r>
            <a:r>
              <a:rPr lang="en-US" altLang="zh-CN" sz="1600" dirty="0">
                <a:solidFill>
                  <a:srgbClr val="000000"/>
                </a:solidFill>
              </a:rPr>
              <a:t>)</a:t>
            </a:r>
          </a:p>
          <a:p>
            <a:pPr lvl="1">
              <a:spcBef>
                <a:spcPts val="600"/>
              </a:spcBef>
              <a:buClr>
                <a:srgbClr val="9999CC"/>
              </a:buClr>
            </a:pPr>
            <a:r>
              <a:rPr lang="zh-CN" altLang="en-US" sz="1600" dirty="0"/>
              <a:t>所有用户在不同的时间占用同样的频带宽度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198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indefinite" fill="hold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时分复用</a:t>
            </a:r>
            <a:r>
              <a:rPr lang="en-US" altLang="zh-CN" sz="2800" dirty="0">
                <a:latin typeface="Calibri" panose="020F0502020204030204" pitchFamily="34" charset="0"/>
              </a:rPr>
              <a:t>(Time Division Multiplexing, 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sp>
        <p:nvSpPr>
          <p:cNvPr id="55" name="内容占位符 2"/>
          <p:cNvSpPr>
            <a:spLocks noGrp="1"/>
          </p:cNvSpPr>
          <p:nvPr>
            <p:ph idx="1"/>
          </p:nvPr>
        </p:nvSpPr>
        <p:spPr>
          <a:xfrm>
            <a:off x="457199" y="1627859"/>
            <a:ext cx="8370711" cy="5057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计算机网络中，由于数据传输具有突发性，</a:t>
            </a:r>
            <a:r>
              <a:rPr lang="en-US" altLang="zh-CN" sz="2000" dirty="0"/>
              <a:t>TDM</a:t>
            </a:r>
            <a:r>
              <a:rPr lang="zh-CN" altLang="en-US" sz="2000" dirty="0"/>
              <a:t>总带宽利用率不高</a:t>
            </a:r>
          </a:p>
        </p:txBody>
      </p:sp>
      <p:pic>
        <p:nvPicPr>
          <p:cNvPr id="82" name="图片 81">
            <a:extLst>
              <a:ext uri="{FF2B5EF4-FFF2-40B4-BE49-F238E27FC236}">
                <a16:creationId xmlns:a16="http://schemas.microsoft.com/office/drawing/2014/main" id="{14FF818F-DFAF-45FD-A0FE-12DA22DE7CE6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45" y="2209502"/>
            <a:ext cx="7644026" cy="4320946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59676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统计时分复用</a:t>
            </a:r>
            <a:r>
              <a:rPr lang="en-US" altLang="zh-CN" sz="2800" dirty="0">
                <a:latin typeface="Calibri" panose="020F0502020204030204" pitchFamily="34" charset="0"/>
              </a:rPr>
              <a:t>(Statistic TDM, STDM)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sp>
        <p:nvSpPr>
          <p:cNvPr id="55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505741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sz="2000" dirty="0"/>
              <a:t>按需动态分配时隙</a:t>
            </a:r>
            <a:endParaRPr lang="en-US" altLang="zh-CN" sz="2000" dirty="0"/>
          </a:p>
          <a:p>
            <a:pPr lvl="1"/>
            <a:r>
              <a:rPr lang="zh-CN" altLang="en-US" sz="1600" dirty="0"/>
              <a:t>每个</a:t>
            </a:r>
            <a:r>
              <a:rPr lang="en-US" altLang="zh-CN" sz="1600" dirty="0"/>
              <a:t>STDM</a:t>
            </a:r>
            <a:r>
              <a:rPr lang="zh-CN" altLang="en-US" sz="1600" dirty="0"/>
              <a:t>帧中的时隙数小于用户数</a:t>
            </a:r>
            <a:endParaRPr lang="en-US" altLang="zh-CN" sz="1600" dirty="0"/>
          </a:p>
          <a:p>
            <a:pPr lvl="1"/>
            <a:r>
              <a:rPr lang="zh-CN" altLang="en-US" sz="1600" dirty="0"/>
              <a:t>用户所占时隙非周期性出现，又称异步时分复用；</a:t>
            </a:r>
            <a:r>
              <a:rPr lang="en-US" altLang="zh-CN" sz="1600" dirty="0"/>
              <a:t>TDM</a:t>
            </a:r>
            <a:r>
              <a:rPr lang="zh-CN" altLang="en-US" sz="1600" dirty="0"/>
              <a:t>称同步时分复用</a:t>
            </a:r>
            <a:endParaRPr lang="en-US" altLang="zh-CN" sz="1600" dirty="0"/>
          </a:p>
          <a:p>
            <a:pPr lvl="1"/>
            <a:r>
              <a:rPr lang="zh-CN" altLang="en-US" sz="1600" dirty="0"/>
              <a:t>每个时隙中必须有用户的地址信息</a:t>
            </a:r>
          </a:p>
        </p:txBody>
      </p:sp>
      <p:pic>
        <p:nvPicPr>
          <p:cNvPr id="86" name="图片 85">
            <a:extLst>
              <a:ext uri="{FF2B5EF4-FFF2-40B4-BE49-F238E27FC236}">
                <a16:creationId xmlns:a16="http://schemas.microsoft.com/office/drawing/2014/main" id="{E23F0DC1-7AA5-4B6E-BB0F-08FBEC03C0CA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671" y="2853307"/>
            <a:ext cx="6847954" cy="3852292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8033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波分复用</a:t>
            </a:r>
            <a:r>
              <a:rPr lang="en-US" altLang="zh-CN" sz="2800" dirty="0">
                <a:latin typeface="Calibri" panose="020F0502020204030204" pitchFamily="34" charset="0"/>
              </a:rPr>
              <a:t>(Wavelength Division Multiplexing, WDM)</a:t>
            </a:r>
            <a:endParaRPr lang="zh-CN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932502"/>
          </a:xfrm>
        </p:spPr>
        <p:txBody>
          <a:bodyPr/>
          <a:lstStyle/>
          <a:p>
            <a:r>
              <a:rPr lang="zh-CN" altLang="en-US" sz="2000" dirty="0"/>
              <a:t>光的频分复用</a:t>
            </a:r>
            <a:endParaRPr lang="en-US" altLang="zh-CN" sz="2000" dirty="0"/>
          </a:p>
          <a:p>
            <a:pPr lvl="1"/>
            <a:r>
              <a:rPr lang="zh-CN" altLang="en-US" sz="1800" dirty="0"/>
              <a:t>光载波的频率很高，习惯用波长而非频率表示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grpSp>
        <p:nvGrpSpPr>
          <p:cNvPr id="57" name="组合 56"/>
          <p:cNvGrpSpPr/>
          <p:nvPr/>
        </p:nvGrpSpPr>
        <p:grpSpPr>
          <a:xfrm>
            <a:off x="158520" y="2763033"/>
            <a:ext cx="8784654" cy="3240087"/>
            <a:chOff x="313500" y="2925763"/>
            <a:chExt cx="8784654" cy="3240087"/>
          </a:xfrm>
        </p:grpSpPr>
        <p:sp>
          <p:nvSpPr>
            <p:cNvPr id="6" name="Text Box 3"/>
            <p:cNvSpPr txBox="1">
              <a:spLocks noChangeArrowheads="1"/>
            </p:cNvSpPr>
            <p:nvPr/>
          </p:nvSpPr>
          <p:spPr bwMode="auto">
            <a:xfrm>
              <a:off x="423228" y="2943225"/>
              <a:ext cx="2081019" cy="294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0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1550 nm    </a:t>
              </a:r>
            </a:p>
            <a:p>
              <a:pPr fontAlgn="base">
                <a:lnSpc>
                  <a:spcPct val="115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1551 nm  </a:t>
              </a:r>
            </a:p>
            <a:p>
              <a:pPr fontAlgn="base">
                <a:lnSpc>
                  <a:spcPct val="115000"/>
                </a:lnSpc>
                <a:spcBef>
                  <a:spcPts val="5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1552 nm  </a:t>
              </a: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1553 nm  </a:t>
              </a:r>
            </a:p>
            <a:p>
              <a:pPr fontAlgn="base">
                <a:lnSpc>
                  <a:spcPct val="115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4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1554 nm  </a:t>
              </a:r>
            </a:p>
            <a:p>
              <a:pPr fontAlgn="base">
                <a:lnSpc>
                  <a:spcPct val="115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   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1555 nm  </a:t>
              </a: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6       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1556 nm  </a:t>
              </a: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7       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1557 nm  </a:t>
              </a:r>
              <a:endParaRPr lang="en-US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4624829" y="3506516"/>
              <a:ext cx="1321579" cy="369332"/>
            </a:xfrm>
            <a:prstGeom prst="rect">
              <a:avLst/>
            </a:prstGeom>
            <a:noFill/>
            <a:ln w="9525">
              <a:solidFill>
                <a:srgbClr val="3333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8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 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2.5 Gb/s</a:t>
              </a:r>
              <a:endParaRPr lang="en-US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" name="Line 7"/>
            <p:cNvSpPr>
              <a:spLocks noChangeShapeType="1"/>
            </p:cNvSpPr>
            <p:nvPr/>
          </p:nvSpPr>
          <p:spPr bwMode="auto">
            <a:xfrm>
              <a:off x="6898259" y="3317875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>
              <a:off x="6898259" y="3668713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>
              <a:off x="6898259" y="4017963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1" name="Line 10"/>
            <p:cNvSpPr>
              <a:spLocks noChangeShapeType="1"/>
            </p:cNvSpPr>
            <p:nvPr/>
          </p:nvSpPr>
          <p:spPr bwMode="auto">
            <a:xfrm>
              <a:off x="6898259" y="4370388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2" name="Line 11"/>
            <p:cNvSpPr>
              <a:spLocks noChangeShapeType="1"/>
            </p:cNvSpPr>
            <p:nvPr/>
          </p:nvSpPr>
          <p:spPr bwMode="auto">
            <a:xfrm>
              <a:off x="6898259" y="4719638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6898259" y="5072063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" name="Line 13"/>
            <p:cNvSpPr>
              <a:spLocks noChangeShapeType="1"/>
            </p:cNvSpPr>
            <p:nvPr/>
          </p:nvSpPr>
          <p:spPr bwMode="auto">
            <a:xfrm>
              <a:off x="6898259" y="5421313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6898259" y="5773738"/>
              <a:ext cx="20907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>
              <a:off x="313500" y="3317875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Line 16"/>
            <p:cNvSpPr>
              <a:spLocks noChangeShapeType="1"/>
            </p:cNvSpPr>
            <p:nvPr/>
          </p:nvSpPr>
          <p:spPr bwMode="auto">
            <a:xfrm>
              <a:off x="313500" y="3668713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313500" y="4017963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>
              <a:off x="313500" y="4370388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>
              <a:off x="313500" y="4719638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313500" y="5072063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>
              <a:off x="313500" y="5421313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>
              <a:off x="313500" y="5773738"/>
              <a:ext cx="209073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2453450" y="4540250"/>
              <a:ext cx="4498975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5" name="AutoShape 24"/>
            <p:cNvSpPr>
              <a:spLocks noChangeArrowheads="1"/>
            </p:cNvSpPr>
            <p:nvPr/>
          </p:nvSpPr>
          <p:spPr bwMode="auto">
            <a:xfrm rot="5400000">
              <a:off x="3297999" y="4387851"/>
              <a:ext cx="354013" cy="296862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767525" y="3221038"/>
              <a:ext cx="496887" cy="19685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7" name="Rectangle 26"/>
            <p:cNvSpPr>
              <a:spLocks noChangeArrowheads="1"/>
            </p:cNvSpPr>
            <p:nvPr/>
          </p:nvSpPr>
          <p:spPr bwMode="auto">
            <a:xfrm>
              <a:off x="767525" y="3570288"/>
              <a:ext cx="496887" cy="19526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8" name="Rectangle 27"/>
            <p:cNvSpPr>
              <a:spLocks noChangeArrowheads="1"/>
            </p:cNvSpPr>
            <p:nvPr/>
          </p:nvSpPr>
          <p:spPr bwMode="auto">
            <a:xfrm>
              <a:off x="767525" y="3921125"/>
              <a:ext cx="496887" cy="195263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Rectangle 28"/>
            <p:cNvSpPr>
              <a:spLocks noChangeArrowheads="1"/>
            </p:cNvSpPr>
            <p:nvPr/>
          </p:nvSpPr>
          <p:spPr bwMode="auto">
            <a:xfrm>
              <a:off x="767525" y="4271963"/>
              <a:ext cx="496887" cy="195262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Rectangle 29"/>
            <p:cNvSpPr>
              <a:spLocks noChangeArrowheads="1"/>
            </p:cNvSpPr>
            <p:nvPr/>
          </p:nvSpPr>
          <p:spPr bwMode="auto">
            <a:xfrm>
              <a:off x="767525" y="4622800"/>
              <a:ext cx="496887" cy="195263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767525" y="4973638"/>
              <a:ext cx="496887" cy="195262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2" name="Rectangle 31"/>
            <p:cNvSpPr>
              <a:spLocks noChangeArrowheads="1"/>
            </p:cNvSpPr>
            <p:nvPr/>
          </p:nvSpPr>
          <p:spPr bwMode="auto">
            <a:xfrm>
              <a:off x="767525" y="5324475"/>
              <a:ext cx="496887" cy="19526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3" name="Rectangle 32"/>
            <p:cNvSpPr>
              <a:spLocks noChangeArrowheads="1"/>
            </p:cNvSpPr>
            <p:nvPr/>
          </p:nvSpPr>
          <p:spPr bwMode="auto">
            <a:xfrm>
              <a:off x="767525" y="5673725"/>
              <a:ext cx="496887" cy="196850"/>
            </a:xfrm>
            <a:prstGeom prst="rect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4" name="Text Box 33"/>
            <p:cNvSpPr txBox="1">
              <a:spLocks noChangeArrowheads="1"/>
            </p:cNvSpPr>
            <p:nvPr/>
          </p:nvSpPr>
          <p:spPr bwMode="auto">
            <a:xfrm>
              <a:off x="3540887" y="3494088"/>
              <a:ext cx="91441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 Gb/s</a:t>
              </a:r>
              <a:endParaRPr lang="en-US" altLang="zh-CN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5" name="AutoShape 34"/>
            <p:cNvSpPr>
              <a:spLocks noChangeArrowheads="1"/>
            </p:cNvSpPr>
            <p:nvPr/>
          </p:nvSpPr>
          <p:spPr bwMode="auto">
            <a:xfrm rot="-5400000">
              <a:off x="933419" y="4296569"/>
              <a:ext cx="3240087" cy="498475"/>
            </a:xfrm>
            <a:custGeom>
              <a:avLst/>
              <a:gdLst>
                <a:gd name="G0" fmla="+- 2408 0 0"/>
                <a:gd name="G1" fmla="+- 21600 0 2408"/>
                <a:gd name="G2" fmla="*/ 2408 1 2"/>
                <a:gd name="G3" fmla="+- 21600 0 G2"/>
                <a:gd name="G4" fmla="+/ 2408 21600 2"/>
                <a:gd name="G5" fmla="+/ G1 0 2"/>
                <a:gd name="G6" fmla="*/ 21600 21600 2408"/>
                <a:gd name="G7" fmla="*/ G6 1 2"/>
                <a:gd name="G8" fmla="+- 21600 0 G7"/>
                <a:gd name="G9" fmla="*/ 21600 1 2"/>
                <a:gd name="G10" fmla="+- 2408 0 G9"/>
                <a:gd name="G11" fmla="?: G10 G8 0"/>
                <a:gd name="G12" fmla="?: G10 G7 21600"/>
                <a:gd name="T0" fmla="*/ 20396 w 21600"/>
                <a:gd name="T1" fmla="*/ 10800 h 21600"/>
                <a:gd name="T2" fmla="*/ 10800 w 21600"/>
                <a:gd name="T3" fmla="*/ 21600 h 21600"/>
                <a:gd name="T4" fmla="*/ 1204 w 21600"/>
                <a:gd name="T5" fmla="*/ 10800 h 21600"/>
                <a:gd name="T6" fmla="*/ 10800 w 21600"/>
                <a:gd name="T7" fmla="*/ 0 h 21600"/>
                <a:gd name="T8" fmla="*/ 3004 w 21600"/>
                <a:gd name="T9" fmla="*/ 3004 h 21600"/>
                <a:gd name="T10" fmla="*/ 18596 w 21600"/>
                <a:gd name="T11" fmla="*/ 1859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408" y="21600"/>
                  </a:lnTo>
                  <a:lnTo>
                    <a:pt x="191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CC00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6" name="AutoShape 35"/>
            <p:cNvSpPr>
              <a:spLocks noChangeArrowheads="1"/>
            </p:cNvSpPr>
            <p:nvPr/>
          </p:nvSpPr>
          <p:spPr bwMode="auto">
            <a:xfrm rot="5400000" flipH="1">
              <a:off x="5029772" y="4297363"/>
              <a:ext cx="3240087" cy="496887"/>
            </a:xfrm>
            <a:custGeom>
              <a:avLst/>
              <a:gdLst>
                <a:gd name="G0" fmla="+- 2408 0 0"/>
                <a:gd name="G1" fmla="+- 21600 0 2408"/>
                <a:gd name="G2" fmla="*/ 2408 1 2"/>
                <a:gd name="G3" fmla="+- 21600 0 G2"/>
                <a:gd name="G4" fmla="+/ 2408 21600 2"/>
                <a:gd name="G5" fmla="+/ G1 0 2"/>
                <a:gd name="G6" fmla="*/ 21600 21600 2408"/>
                <a:gd name="G7" fmla="*/ G6 1 2"/>
                <a:gd name="G8" fmla="+- 21600 0 G7"/>
                <a:gd name="G9" fmla="*/ 21600 1 2"/>
                <a:gd name="G10" fmla="+- 2408 0 G9"/>
                <a:gd name="G11" fmla="?: G10 G8 0"/>
                <a:gd name="G12" fmla="?: G10 G7 21600"/>
                <a:gd name="T0" fmla="*/ 20396 w 21600"/>
                <a:gd name="T1" fmla="*/ 10800 h 21600"/>
                <a:gd name="T2" fmla="*/ 10800 w 21600"/>
                <a:gd name="T3" fmla="*/ 21600 h 21600"/>
                <a:gd name="T4" fmla="*/ 1204 w 21600"/>
                <a:gd name="T5" fmla="*/ 10800 h 21600"/>
                <a:gd name="T6" fmla="*/ 10800 w 21600"/>
                <a:gd name="T7" fmla="*/ 0 h 21600"/>
                <a:gd name="T8" fmla="*/ 3004 w 21600"/>
                <a:gd name="T9" fmla="*/ 3004 h 21600"/>
                <a:gd name="T10" fmla="*/ 18596 w 21600"/>
                <a:gd name="T11" fmla="*/ 18596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2408" y="21600"/>
                  </a:lnTo>
                  <a:lnTo>
                    <a:pt x="19192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FF99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8009509" y="3221038"/>
              <a:ext cx="496888" cy="196850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8009509" y="3570288"/>
              <a:ext cx="496888" cy="195262"/>
            </a:xfrm>
            <a:prstGeom prst="rect">
              <a:avLst/>
            </a:prstGeom>
            <a:solidFill>
              <a:srgbClr val="CC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8009509" y="3921125"/>
              <a:ext cx="496888" cy="195263"/>
            </a:xfrm>
            <a:prstGeom prst="rect">
              <a:avLst/>
            </a:prstGeom>
            <a:solidFill>
              <a:srgbClr val="CC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Rectangle 39"/>
            <p:cNvSpPr>
              <a:spLocks noChangeArrowheads="1"/>
            </p:cNvSpPr>
            <p:nvPr/>
          </p:nvSpPr>
          <p:spPr bwMode="auto">
            <a:xfrm>
              <a:off x="8009509" y="4271963"/>
              <a:ext cx="496888" cy="195262"/>
            </a:xfrm>
            <a:prstGeom prst="rect">
              <a:avLst/>
            </a:prstGeom>
            <a:solidFill>
              <a:srgbClr val="00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Rectangle 40"/>
            <p:cNvSpPr>
              <a:spLocks noChangeArrowheads="1"/>
            </p:cNvSpPr>
            <p:nvPr/>
          </p:nvSpPr>
          <p:spPr bwMode="auto">
            <a:xfrm>
              <a:off x="8009509" y="4622800"/>
              <a:ext cx="496888" cy="195263"/>
            </a:xfrm>
            <a:prstGeom prst="rect">
              <a:avLst/>
            </a:prstGeom>
            <a:solidFill>
              <a:srgbClr val="FF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2" name="Rectangle 41"/>
            <p:cNvSpPr>
              <a:spLocks noChangeArrowheads="1"/>
            </p:cNvSpPr>
            <p:nvPr/>
          </p:nvSpPr>
          <p:spPr bwMode="auto">
            <a:xfrm>
              <a:off x="8009509" y="4973638"/>
              <a:ext cx="496888" cy="195262"/>
            </a:xfrm>
            <a:prstGeom prst="rect">
              <a:avLst/>
            </a:prstGeom>
            <a:solidFill>
              <a:srgbClr val="00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3" name="Rectangle 42"/>
            <p:cNvSpPr>
              <a:spLocks noChangeArrowheads="1"/>
            </p:cNvSpPr>
            <p:nvPr/>
          </p:nvSpPr>
          <p:spPr bwMode="auto">
            <a:xfrm>
              <a:off x="8009509" y="5324475"/>
              <a:ext cx="496888" cy="195263"/>
            </a:xfrm>
            <a:prstGeom prst="rect">
              <a:avLst/>
            </a:prstGeom>
            <a:solidFill>
              <a:srgbClr val="FF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4" name="Rectangle 43"/>
            <p:cNvSpPr>
              <a:spLocks noChangeArrowheads="1"/>
            </p:cNvSpPr>
            <p:nvPr/>
          </p:nvSpPr>
          <p:spPr bwMode="auto">
            <a:xfrm>
              <a:off x="8009509" y="5673725"/>
              <a:ext cx="496888" cy="196850"/>
            </a:xfrm>
            <a:prstGeom prst="rect">
              <a:avLst/>
            </a:prstGeom>
            <a:solidFill>
              <a:srgbClr val="3399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5" name="AutoShape 44"/>
            <p:cNvSpPr>
              <a:spLocks noChangeArrowheads="1"/>
            </p:cNvSpPr>
            <p:nvPr/>
          </p:nvSpPr>
          <p:spPr bwMode="auto">
            <a:xfrm rot="5400000">
              <a:off x="4473543" y="4388644"/>
              <a:ext cx="354013" cy="295275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6" name="AutoShape 45"/>
            <p:cNvSpPr>
              <a:spLocks noChangeArrowheads="1"/>
            </p:cNvSpPr>
            <p:nvPr/>
          </p:nvSpPr>
          <p:spPr bwMode="auto">
            <a:xfrm rot="5400000">
              <a:off x="5685599" y="4387851"/>
              <a:ext cx="354013" cy="296862"/>
            </a:xfrm>
            <a:prstGeom prst="triangle">
              <a:avLst>
                <a:gd name="adj" fmla="val 50000"/>
              </a:avLst>
            </a:prstGeom>
            <a:solidFill>
              <a:srgbClr val="FF0066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 flipH="1">
              <a:off x="3893312" y="3908425"/>
              <a:ext cx="128588" cy="62230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Text Box 47"/>
            <p:cNvSpPr txBox="1">
              <a:spLocks noChangeArrowheads="1"/>
            </p:cNvSpPr>
            <p:nvPr/>
          </p:nvSpPr>
          <p:spPr bwMode="auto">
            <a:xfrm>
              <a:off x="2329625" y="4006850"/>
              <a:ext cx="41549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66FF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器</a:t>
              </a:r>
            </a:p>
          </p:txBody>
        </p:sp>
        <p:sp>
          <p:nvSpPr>
            <p:cNvPr id="49" name="Text Box 48"/>
            <p:cNvSpPr txBox="1">
              <a:spLocks noChangeArrowheads="1"/>
            </p:cNvSpPr>
            <p:nvPr/>
          </p:nvSpPr>
          <p:spPr bwMode="auto">
            <a:xfrm>
              <a:off x="6429947" y="4006850"/>
              <a:ext cx="415498" cy="923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分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器</a:t>
              </a:r>
            </a:p>
          </p:txBody>
        </p:sp>
        <p:sp>
          <p:nvSpPr>
            <p:cNvPr id="52" name="Line 51"/>
            <p:cNvSpPr>
              <a:spLocks noChangeShapeType="1"/>
            </p:cNvSpPr>
            <p:nvPr/>
          </p:nvSpPr>
          <p:spPr bwMode="auto">
            <a:xfrm>
              <a:off x="3425000" y="4791075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Line 52"/>
            <p:cNvSpPr>
              <a:spLocks noChangeShapeType="1"/>
            </p:cNvSpPr>
            <p:nvPr/>
          </p:nvSpPr>
          <p:spPr bwMode="auto">
            <a:xfrm>
              <a:off x="4618800" y="4791075"/>
              <a:ext cx="0" cy="196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4" name="Line 53"/>
            <p:cNvSpPr>
              <a:spLocks noChangeShapeType="1"/>
            </p:cNvSpPr>
            <p:nvPr/>
          </p:nvSpPr>
          <p:spPr bwMode="auto">
            <a:xfrm>
              <a:off x="3421825" y="4887913"/>
              <a:ext cx="1195387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Text Box 54"/>
            <p:cNvSpPr txBox="1">
              <a:spLocks noChangeArrowheads="1"/>
            </p:cNvSpPr>
            <p:nvPr/>
          </p:nvSpPr>
          <p:spPr bwMode="auto">
            <a:xfrm>
              <a:off x="3440875" y="4872038"/>
              <a:ext cx="87716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120 km</a:t>
              </a:r>
              <a:endParaRPr lang="en-US" altLang="zh-CN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Text Box 3"/>
            <p:cNvSpPr txBox="1">
              <a:spLocks noChangeArrowheads="1"/>
            </p:cNvSpPr>
            <p:nvPr/>
          </p:nvSpPr>
          <p:spPr bwMode="auto">
            <a:xfrm>
              <a:off x="6964236" y="2949321"/>
              <a:ext cx="2133918" cy="2948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115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1550 nm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 0</a:t>
              </a: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</a:t>
              </a:r>
            </a:p>
            <a:p>
              <a:pPr fontAlgn="base">
                <a:lnSpc>
                  <a:spcPct val="115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1551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1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5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1552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2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1553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3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1554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4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2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1555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5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1556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6</a:t>
              </a:r>
              <a:endParaRPr lang="zh-CN" altLang="zh-CN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  <a:p>
              <a:pPr fontAlgn="base">
                <a:lnSpc>
                  <a:spcPct val="115000"/>
                </a:lnSpc>
                <a:spcBef>
                  <a:spcPts val="300"/>
                </a:spcBef>
                <a:spcAft>
                  <a:spcPct val="0"/>
                </a:spcAft>
              </a:pPr>
              <a:r>
                <a:rPr lang="zh-CN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1557 nm  </a:t>
              </a: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            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1143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5260621"/>
          </a:xfrm>
        </p:spPr>
        <p:txBody>
          <a:bodyPr/>
          <a:lstStyle/>
          <a:p>
            <a:r>
              <a:rPr lang="zh-CN" altLang="en-US" dirty="0"/>
              <a:t>码分多址 </a:t>
            </a:r>
            <a:r>
              <a:rPr lang="en-US" altLang="zh-CN" dirty="0"/>
              <a:t>(Code Division Multiple Access, CDMA)</a:t>
            </a:r>
            <a:endParaRPr lang="zh-CN" altLang="en-US" dirty="0"/>
          </a:p>
          <a:p>
            <a:pPr lvl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基于扩频技术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发送端：将需传送的具有一定信号带宽的信息数据，用一个带宽远大于信号带宽的高速伪随机码进行调制，使原数据信号的带宽被扩展，再经载波调制并发送出去</a:t>
            </a:r>
            <a:endParaRPr lang="en-US" altLang="zh-CN" sz="2000" dirty="0"/>
          </a:p>
          <a:p>
            <a:pPr lvl="2">
              <a:lnSpc>
                <a:spcPct val="150000"/>
              </a:lnSpc>
            </a:pPr>
            <a:r>
              <a:rPr lang="zh-CN" altLang="en-US" sz="2000" dirty="0"/>
              <a:t>接收端使用完全相同的伪随机码，与接收的宽带信号作相关处理，把宽带信号换成原信息数据的窄带信号即解扩，以实现信息通信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906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31" y="1939346"/>
            <a:ext cx="7830643" cy="3950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1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BFFA82C-576C-486F-8275-44BCC3A98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4287083"/>
          </a:xfrm>
        </p:spPr>
        <p:txBody>
          <a:bodyPr/>
          <a:lstStyle/>
          <a:p>
            <a:r>
              <a:rPr lang="zh-CN" altLang="en-US" sz="2800" dirty="0"/>
              <a:t>举例：</a:t>
            </a:r>
            <a:r>
              <a:rPr lang="en-US" altLang="zh-CN" sz="2800" dirty="0"/>
              <a:t>S</a:t>
            </a:r>
            <a:r>
              <a:rPr lang="zh-CN" altLang="en-US" sz="2800" dirty="0"/>
              <a:t>站的</a:t>
            </a:r>
            <a:r>
              <a:rPr lang="en-US" altLang="zh-CN" sz="2800" dirty="0"/>
              <a:t>8 bits</a:t>
            </a:r>
            <a:r>
              <a:rPr lang="zh-CN" altLang="en-US" sz="2800" dirty="0"/>
              <a:t>码片序列是</a:t>
            </a:r>
            <a:r>
              <a:rPr lang="en-US" altLang="zh-CN" sz="2800" dirty="0"/>
              <a:t>00011011</a:t>
            </a:r>
            <a:endParaRPr lang="zh-CN" altLang="en-US" sz="2800" dirty="0"/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发送比特</a:t>
            </a:r>
            <a:r>
              <a:rPr lang="en-US" altLang="zh-CN" sz="2800" dirty="0"/>
              <a:t>1</a:t>
            </a:r>
            <a:r>
              <a:rPr lang="zh-CN" altLang="en-US" sz="2800" dirty="0"/>
              <a:t>时，就发送序列</a:t>
            </a:r>
            <a:r>
              <a:rPr lang="en-US" altLang="zh-CN" sz="2800" dirty="0"/>
              <a:t>00011011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发送比特</a:t>
            </a:r>
            <a:r>
              <a:rPr lang="en-US" altLang="zh-CN" sz="2800" dirty="0"/>
              <a:t>0</a:t>
            </a:r>
            <a:r>
              <a:rPr lang="zh-CN" altLang="en-US" sz="2800" dirty="0"/>
              <a:t>时，就发送序列</a:t>
            </a:r>
            <a:r>
              <a:rPr lang="en-US" altLang="zh-CN" sz="2800" dirty="0"/>
              <a:t>11100100</a:t>
            </a:r>
          </a:p>
          <a:p>
            <a:pPr lvl="1">
              <a:lnSpc>
                <a:spcPct val="150000"/>
              </a:lnSpc>
            </a:pPr>
            <a:r>
              <a:rPr lang="zh-CN" altLang="en-US" sz="2800" dirty="0"/>
              <a:t>通常将码片种的</a:t>
            </a:r>
            <a:r>
              <a:rPr lang="en-US" altLang="zh-CN" sz="2800" dirty="0"/>
              <a:t>0</a:t>
            </a:r>
            <a:r>
              <a:rPr lang="zh-CN" altLang="en-US" sz="2800" dirty="0"/>
              <a:t>表示成</a:t>
            </a:r>
            <a:r>
              <a:rPr lang="en-US" altLang="zh-CN" sz="2800" dirty="0"/>
              <a:t>-1</a:t>
            </a:r>
            <a:r>
              <a:rPr lang="zh-CN" altLang="en-US" sz="2800" dirty="0"/>
              <a:t>，</a:t>
            </a:r>
            <a:r>
              <a:rPr lang="en-US" altLang="zh-CN" sz="2800" dirty="0"/>
              <a:t>1</a:t>
            </a:r>
            <a:r>
              <a:rPr lang="zh-CN" altLang="en-US" sz="2800" dirty="0"/>
              <a:t>表示成</a:t>
            </a:r>
            <a:r>
              <a:rPr lang="en-US" altLang="zh-CN" sz="2800" dirty="0"/>
              <a:t>+1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/>
              <a:t>S</a:t>
            </a:r>
            <a:r>
              <a:rPr lang="zh-CN" altLang="en-US" sz="2400" dirty="0"/>
              <a:t>站的码片即为（</a:t>
            </a:r>
            <a:r>
              <a:rPr lang="en-US" altLang="zh-CN" sz="2400" dirty="0"/>
              <a:t>-1 -1 -1 +1 +1 -1 +1 +1</a:t>
            </a:r>
            <a:r>
              <a:rPr lang="zh-CN" altLang="en-US" sz="2400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08875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00736" y="1444977"/>
                <a:ext cx="8954086" cy="1371375"/>
              </a:xfrm>
            </p:spPr>
            <p:txBody>
              <a:bodyPr/>
              <a:lstStyle/>
              <a:p>
                <a:r>
                  <a:rPr lang="zh-CN" altLang="en-US" dirty="0"/>
                  <a:t>如何实现信道复用？</a:t>
                </a:r>
              </a:p>
              <a:p>
                <a:pPr lvl="1"/>
                <a:r>
                  <a:rPr lang="zh-CN" altLang="en-US" dirty="0"/>
                  <a:t>每个站分配的码片序列必须各不相同，并且还必须相互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正交</a:t>
                </a:r>
                <a:r>
                  <a:rPr lang="en-US" altLang="zh-CN" dirty="0"/>
                  <a:t>(orthogonal)</a:t>
                </a:r>
              </a:p>
              <a:p>
                <a:pPr lvl="1"/>
                <a:r>
                  <a:rPr lang="zh-CN" altLang="en-US" dirty="0"/>
                  <a:t>令向量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𝑻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分别</m:t>
                    </m:r>
                  </m:oMath>
                </a14:m>
                <a:r>
                  <a:rPr lang="zh-CN" altLang="en-US" dirty="0"/>
                  <a:t>表示两个站点的码片，即任意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𝑺</m:t>
                    </m:r>
                  </m:oMath>
                </a14:m>
                <a:r>
                  <a:rPr lang="zh-CN" altLang="en-US" dirty="0"/>
                  <a:t>和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dirty="0"/>
                  <a:t>的</a:t>
                </a:r>
                <a:r>
                  <a:rPr lang="zh-CN" altLang="en-US" dirty="0">
                    <a:solidFill>
                      <a:schemeClr val="accent5">
                        <a:lumMod val="50000"/>
                      </a:schemeClr>
                    </a:solidFill>
                  </a:rPr>
                  <a:t>归一化内积</a:t>
                </a:r>
                <a:r>
                  <a:rPr lang="en-US" altLang="zh-CN" dirty="0"/>
                  <a:t>(inner product)</a:t>
                </a:r>
                <a:r>
                  <a:rPr lang="zh-CN" altLang="en-US" dirty="0"/>
                  <a:t>为</a:t>
                </a:r>
                <a:r>
                  <a:rPr lang="en-US" altLang="zh-CN" dirty="0"/>
                  <a:t>0</a:t>
                </a:r>
              </a:p>
              <a:p>
                <a:pPr marL="457188" lvl="1" indent="0">
                  <a:buNone/>
                </a:pPr>
                <a:endParaRPr lang="en-US" altLang="zh-CN" dirty="0"/>
              </a:p>
              <a:p>
                <a:pPr marL="457188" lvl="1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736" y="1444977"/>
                <a:ext cx="8954086" cy="1371375"/>
              </a:xfrm>
              <a:blipFill>
                <a:blip r:embed="rId5"/>
                <a:stretch>
                  <a:fillRect l="-47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2"/>
              <p:cNvSpPr>
                <a:spLocks noChangeArrowheads="1"/>
              </p:cNvSpPr>
              <p:nvPr/>
            </p:nvSpPr>
            <p:spPr bwMode="auto">
              <a:xfrm>
                <a:off x="1726545" y="3241438"/>
                <a:ext cx="5308541" cy="804672"/>
              </a:xfrm>
              <a:prstGeom prst="rect">
                <a:avLst/>
              </a:prstGeom>
              <a:solidFill>
                <a:srgbClr val="F4F4FA"/>
              </a:solidFill>
              <a:ln w="25400">
                <a:solidFill>
                  <a:srgbClr val="DCDCEC"/>
                </a:solidFill>
              </a:ln>
              <a:effectLst/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𝑻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lang="en-US" altLang="zh-CN" b="1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26545" y="3241438"/>
                <a:ext cx="5308541" cy="804672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  <a:ln w="25400">
                <a:solidFill>
                  <a:srgbClr val="DCDCEC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/>
              <p:cNvSpPr txBox="1">
                <a:spLocks/>
              </p:cNvSpPr>
              <p:nvPr/>
            </p:nvSpPr>
            <p:spPr bwMode="auto">
              <a:xfrm>
                <a:off x="457200" y="4225451"/>
                <a:ext cx="8229600" cy="186515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lvl1pPr marL="342891" indent="-342891" algn="l" rtl="0" eaLnBrk="1" fontAlgn="base" hangingPunct="1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  <a:defRPr sz="24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  <a:cs typeface="+mn-cs"/>
                  </a:defRPr>
                </a:lvl1pPr>
                <a:lvl2pPr marL="742932" indent="-28574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¨"/>
                  <a:defRPr sz="20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2pPr>
                <a:lvl3pPr marL="1142971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SzPct val="65000"/>
                  <a:buFont typeface="Wingdings" panose="05000000000000000000" pitchFamily="2" charset="2"/>
                  <a:buChar char="n"/>
                  <a:defRPr sz="18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3pPr>
                <a:lvl4pPr marL="1600160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¨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4pPr>
                <a:lvl5pPr marL="2057349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anose="05000000000000000000" pitchFamily="2" charset="2"/>
                  <a:buChar char="§"/>
                  <a:defRPr sz="1600" b="0" baseline="0">
                    <a:solidFill>
                      <a:schemeClr val="tx1"/>
                    </a:solidFill>
                    <a:latin typeface="Calibri" panose="020F0502020204030204" pitchFamily="34" charset="0"/>
                    <a:ea typeface="黑体" panose="02010609060101010101" pitchFamily="49" charset="-122"/>
                  </a:defRPr>
                </a:lvl5pPr>
                <a:lvl6pPr marL="2514537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6pPr>
                <a:lvl7pPr marL="2971726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7pPr>
                <a:lvl8pPr marL="3428914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8pPr>
                <a:lvl9pPr marL="3886103" indent="-228594" algn="l" rtl="0" eaLnBrk="1" fontAlgn="base" hangingPunct="1">
                  <a:spcBef>
                    <a:spcPct val="20000"/>
                  </a:spcBef>
                  <a:spcAft>
                    <a:spcPct val="0"/>
                  </a:spcAft>
                  <a:buClr>
                    <a:schemeClr val="bg2"/>
                  </a:buClr>
                  <a:buFont typeface="Wingdings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9pPr>
              </a:lstStyle>
              <a:p>
                <a:pPr lvl="2"/>
                <a:r>
                  <a:rPr lang="zh-CN" altLang="en-US" kern="0" dirty="0"/>
                  <a:t>例：</a:t>
                </a:r>
                <a:r>
                  <a:rPr lang="en-US" altLang="zh-CN" b="1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𝑺</m:t>
                    </m:r>
                  </m:oMath>
                </a14:m>
                <a:r>
                  <a:rPr lang="zh-CN" altLang="en-US" kern="0" dirty="0"/>
                  <a:t>为</a:t>
                </a:r>
                <a:r>
                  <a:rPr lang="en-US" altLang="zh-CN" kern="0" dirty="0"/>
                  <a:t>(-1 -1 -1 +1 +1 -1 +1 +1)</a:t>
                </a:r>
                <a:r>
                  <a:rPr lang="zh-CN" altLang="en-US" kern="0" dirty="0"/>
                  <a:t>，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𝑻</m:t>
                    </m:r>
                  </m:oMath>
                </a14:m>
                <a:r>
                  <a:rPr lang="zh-CN" altLang="en-US" kern="0" dirty="0"/>
                  <a:t>为 </a:t>
                </a:r>
                <a:r>
                  <a:rPr lang="en-US" altLang="zh-CN" kern="0" dirty="0"/>
                  <a:t>(-1 -1 +1 -1 +1 +1 +1 -1)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zh-CN" altLang="en-US" kern="0" dirty="0"/>
                  <a:t>不难得出</a:t>
                </a:r>
                <a:endParaRPr lang="en-US" altLang="zh-CN" kern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𝑺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zh-CN" alt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en-US" altLang="zh-CN" b="1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𝑺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!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𝑺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kern="0" dirty="0"/>
              </a:p>
            </p:txBody>
          </p:sp>
        </mc:Choice>
        <mc:Fallback xmlns="">
          <p:sp>
            <p:nvSpPr>
              <p:cNvPr id="6" name="内容占位符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7200" y="4225451"/>
                <a:ext cx="8229600" cy="1865151"/>
              </a:xfrm>
              <a:prstGeom prst="rect">
                <a:avLst/>
              </a:prstGeom>
              <a:blipFill rotWithShape="0">
                <a:blip r:embed="rId7" cstate="print"/>
                <a:stretch>
                  <a:fillRect t="-261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2"/>
              <p:cNvSpPr>
                <a:spLocks noChangeArrowheads="1"/>
              </p:cNvSpPr>
              <p:nvPr/>
            </p:nvSpPr>
            <p:spPr bwMode="auto">
              <a:xfrm>
                <a:off x="1214212" y="5459671"/>
                <a:ext cx="4004902" cy="804672"/>
              </a:xfrm>
              <a:prstGeom prst="rect">
                <a:avLst/>
              </a:prstGeom>
              <a:solidFill>
                <a:srgbClr val="F4F4FA"/>
              </a:solidFill>
              <a:ln w="25400">
                <a:solidFill>
                  <a:srgbClr val="DCDCEC"/>
                </a:solidFill>
              </a:ln>
              <a:effectLst/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  <m: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𝒎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±</m:t>
                                      </m:r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𝟏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US" altLang="zh-CN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1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14212" y="5459671"/>
                <a:ext cx="4004902" cy="804672"/>
              </a:xfrm>
              <a:prstGeom prst="rect">
                <a:avLst/>
              </a:prstGeom>
              <a:blipFill rotWithShape="0">
                <a:blip r:embed="rId8" cstate="print"/>
                <a:stretch>
                  <a:fillRect/>
                </a:stretch>
              </a:blipFill>
              <a:ln w="25400">
                <a:solidFill>
                  <a:srgbClr val="DCDCEC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2"/>
              <p:cNvSpPr>
                <a:spLocks noChangeArrowheads="1"/>
              </p:cNvSpPr>
              <p:nvPr/>
            </p:nvSpPr>
            <p:spPr bwMode="auto">
              <a:xfrm>
                <a:off x="5383373" y="5469518"/>
                <a:ext cx="3303427" cy="804672"/>
              </a:xfrm>
              <a:prstGeom prst="rect">
                <a:avLst/>
              </a:prstGeom>
              <a:solidFill>
                <a:srgbClr val="F4F4FA"/>
              </a:solidFill>
              <a:ln w="25400">
                <a:solidFill>
                  <a:srgbClr val="DCDCEC"/>
                </a:solidFill>
              </a:ln>
              <a:effectLst/>
            </p:spPr>
            <p:txBody>
              <a:bodyPr wrap="none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∙!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𝑺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</m:e>
                      </m:nary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n-US" altLang="zh-CN" b="1" dirty="0"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83373" y="5469518"/>
                <a:ext cx="3303427" cy="804672"/>
              </a:xfrm>
              <a:prstGeom prst="rect">
                <a:avLst/>
              </a:prstGeom>
              <a:blipFill rotWithShape="0">
                <a:blip r:embed="rId9" cstate="print"/>
                <a:stretch>
                  <a:fillRect/>
                </a:stretch>
              </a:blipFill>
              <a:ln w="25400">
                <a:solidFill>
                  <a:srgbClr val="DCDCEC"/>
                </a:solidFill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48842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build="p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7"/>
            <a:ext cx="8229600" cy="1371375"/>
          </a:xfrm>
        </p:spPr>
        <p:txBody>
          <a:bodyPr/>
          <a:lstStyle/>
          <a:p>
            <a:r>
              <a:rPr lang="zh-CN" altLang="en-US" dirty="0"/>
              <a:t>如何实现信道复用？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grpSp>
        <p:nvGrpSpPr>
          <p:cNvPr id="9" name="组合 8"/>
          <p:cNvGrpSpPr/>
          <p:nvPr/>
        </p:nvGrpSpPr>
        <p:grpSpPr>
          <a:xfrm>
            <a:off x="611811" y="2480849"/>
            <a:ext cx="7920378" cy="1969454"/>
            <a:chOff x="742008" y="4359303"/>
            <a:chExt cx="7920378" cy="1969454"/>
          </a:xfrm>
        </p:grpSpPr>
        <p:cxnSp>
          <p:nvCxnSpPr>
            <p:cNvPr id="10" name="直接连接符 9"/>
            <p:cNvCxnSpPr>
              <a:stCxn id="11" idx="3"/>
              <a:endCxn id="12" idx="1"/>
            </p:cNvCxnSpPr>
            <p:nvPr/>
          </p:nvCxnSpPr>
          <p:spPr>
            <a:xfrm>
              <a:off x="3052434" y="5324347"/>
              <a:ext cx="272367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矩形 10"/>
            <p:cNvSpPr/>
            <p:nvPr/>
          </p:nvSpPr>
          <p:spPr>
            <a:xfrm>
              <a:off x="2576269" y="5141467"/>
              <a:ext cx="476165" cy="36576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dirty="0">
                <a:solidFill>
                  <a:prstClr val="white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5776104" y="5141467"/>
              <a:ext cx="482261" cy="365760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prstClr val="white"/>
                </a:solidFill>
                <a:ea typeface="楷体" panose="02010609060101010101" pitchFamily="49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845" y="4736084"/>
              <a:ext cx="569976" cy="373522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845" y="5554464"/>
              <a:ext cx="569976" cy="373522"/>
            </a:xfrm>
            <a:prstGeom prst="rect">
              <a:avLst/>
            </a:prstGeom>
          </p:spPr>
        </p:pic>
        <p:cxnSp>
          <p:nvCxnSpPr>
            <p:cNvPr id="15" name="直接连接符 14"/>
            <p:cNvCxnSpPr>
              <a:stCxn id="14" idx="3"/>
              <a:endCxn id="11" idx="1"/>
            </p:cNvCxnSpPr>
            <p:nvPr/>
          </p:nvCxnSpPr>
          <p:spPr>
            <a:xfrm flipV="1">
              <a:off x="2039821" y="5324347"/>
              <a:ext cx="536448" cy="41687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>
              <a:stCxn id="13" idx="3"/>
              <a:endCxn id="11" idx="1"/>
            </p:cNvCxnSpPr>
            <p:nvPr/>
          </p:nvCxnSpPr>
          <p:spPr>
            <a:xfrm>
              <a:off x="2039821" y="4922845"/>
              <a:ext cx="536448" cy="4015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图片 16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8718" y="4736084"/>
              <a:ext cx="569976" cy="373522"/>
            </a:xfrm>
            <a:prstGeom prst="rect">
              <a:avLst/>
            </a:prstGeom>
          </p:spPr>
        </p:pic>
        <p:pic>
          <p:nvPicPr>
            <p:cNvPr id="18" name="图片 1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07006" y="5508744"/>
              <a:ext cx="569976" cy="373522"/>
            </a:xfrm>
            <a:prstGeom prst="rect">
              <a:avLst/>
            </a:prstGeom>
          </p:spPr>
        </p:pic>
        <p:cxnSp>
          <p:nvCxnSpPr>
            <p:cNvPr id="19" name="直接连接符 18"/>
            <p:cNvCxnSpPr>
              <a:stCxn id="12" idx="3"/>
              <a:endCxn id="17" idx="1"/>
            </p:cNvCxnSpPr>
            <p:nvPr/>
          </p:nvCxnSpPr>
          <p:spPr>
            <a:xfrm flipV="1">
              <a:off x="6258365" y="4922845"/>
              <a:ext cx="530353" cy="40150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>
              <a:stCxn id="12" idx="3"/>
              <a:endCxn id="18" idx="1"/>
            </p:cNvCxnSpPr>
            <p:nvPr/>
          </p:nvCxnSpPr>
          <p:spPr>
            <a:xfrm>
              <a:off x="6258365" y="5324347"/>
              <a:ext cx="548641" cy="37115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Line 70"/>
            <p:cNvSpPr>
              <a:spLocks noChangeShapeType="1"/>
            </p:cNvSpPr>
            <p:nvPr/>
          </p:nvSpPr>
          <p:spPr bwMode="auto">
            <a:xfrm rot="1484370">
              <a:off x="2114726" y="4885878"/>
              <a:ext cx="462625" cy="10260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2" name="Line 72"/>
            <p:cNvSpPr>
              <a:spLocks noChangeShapeType="1"/>
            </p:cNvSpPr>
            <p:nvPr/>
          </p:nvSpPr>
          <p:spPr bwMode="auto">
            <a:xfrm rot="19951492" flipV="1">
              <a:off x="2128558" y="5670679"/>
              <a:ext cx="467226" cy="92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3" name="Line 70"/>
            <p:cNvSpPr>
              <a:spLocks noChangeShapeType="1"/>
            </p:cNvSpPr>
            <p:nvPr/>
          </p:nvSpPr>
          <p:spPr bwMode="auto">
            <a:xfrm rot="1484370">
              <a:off x="6228628" y="5648083"/>
              <a:ext cx="498020" cy="1189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4" name="Line 72"/>
            <p:cNvSpPr>
              <a:spLocks noChangeShapeType="1"/>
            </p:cNvSpPr>
            <p:nvPr/>
          </p:nvSpPr>
          <p:spPr bwMode="auto">
            <a:xfrm rot="19951492" flipV="1">
              <a:off x="6207721" y="4892204"/>
              <a:ext cx="453233" cy="1087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5" name="文本框 38"/>
            <p:cNvSpPr txBox="1"/>
            <p:nvPr/>
          </p:nvSpPr>
          <p:spPr>
            <a:xfrm>
              <a:off x="742008" y="4392586"/>
              <a:ext cx="18197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码片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:S, </a:t>
              </a:r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发送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(0,1)</a:t>
              </a:r>
              <a:endParaRPr lang="zh-CN" altLang="en-US" dirty="0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6" name="文本框 39"/>
            <p:cNvSpPr txBox="1"/>
            <p:nvPr/>
          </p:nvSpPr>
          <p:spPr>
            <a:xfrm>
              <a:off x="742008" y="5959425"/>
              <a:ext cx="1855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码片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:T, </a:t>
              </a:r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发送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(1, 1)</a:t>
              </a:r>
              <a:endParaRPr lang="zh-CN" altLang="en-US" dirty="0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7" name="文本框 40"/>
            <p:cNvSpPr txBox="1"/>
            <p:nvPr/>
          </p:nvSpPr>
          <p:spPr>
            <a:xfrm>
              <a:off x="6788718" y="4359303"/>
              <a:ext cx="18726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码片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:S, </a:t>
              </a:r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解码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(0, 1)</a:t>
              </a:r>
              <a:endParaRPr lang="zh-CN" altLang="en-US" dirty="0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8" name="文本框 41"/>
            <p:cNvSpPr txBox="1"/>
            <p:nvPr/>
          </p:nvSpPr>
          <p:spPr>
            <a:xfrm>
              <a:off x="6807006" y="5959425"/>
              <a:ext cx="18553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码片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:T, </a:t>
              </a:r>
              <a:r>
                <a:rPr lang="zh-CN" altLang="en-US" dirty="0">
                  <a:solidFill>
                    <a:prstClr val="black"/>
                  </a:solidFill>
                  <a:ea typeface="楷体" panose="02010609060101010101" pitchFamily="49" charset="-122"/>
                </a:rPr>
                <a:t>解码</a:t>
              </a:r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(1, 1)</a:t>
              </a:r>
              <a:endParaRPr lang="zh-CN" altLang="en-US" dirty="0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  <p:sp>
          <p:nvSpPr>
            <p:cNvPr id="29" name="文本框 43"/>
            <p:cNvSpPr txBox="1"/>
            <p:nvPr/>
          </p:nvSpPr>
          <p:spPr>
            <a:xfrm>
              <a:off x="3683916" y="4863575"/>
              <a:ext cx="1366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prstClr val="black"/>
                  </a:solidFill>
                  <a:ea typeface="楷体" panose="02010609060101010101" pitchFamily="49" charset="-122"/>
                </a:rPr>
                <a:t>(!S + T, S + T)</a:t>
              </a:r>
              <a:endParaRPr lang="zh-CN" altLang="en-US" dirty="0">
                <a:solidFill>
                  <a:prstClr val="black"/>
                </a:solidFill>
                <a:ea typeface="楷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40790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码分复用</a:t>
            </a:r>
            <a:r>
              <a:rPr lang="en-US" altLang="zh-CN" sz="2800" dirty="0">
                <a:latin typeface="Calibri" panose="020F0502020204030204" pitchFamily="34" charset="0"/>
              </a:rPr>
              <a:t>(Code Division Multiplexing, CDM)</a:t>
            </a:r>
            <a:endParaRPr lang="zh-CN" altLang="en-US" sz="28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33960"/>
            <a:ext cx="8229600" cy="1371375"/>
          </a:xfrm>
        </p:spPr>
        <p:txBody>
          <a:bodyPr/>
          <a:lstStyle/>
          <a:p>
            <a:r>
              <a:rPr lang="zh-CN" altLang="en-US" dirty="0"/>
              <a:t>如何实现信道复用？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17</a:t>
            </a:fld>
            <a:endParaRPr lang="zh-CN" altLang="en-US" dirty="0"/>
          </a:p>
        </p:txBody>
      </p:sp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-305962" y="3170931"/>
            <a:ext cx="184731" cy="34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>
            <a:off x="3170080" y="2522312"/>
            <a:ext cx="169743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2" name="Text Box 11"/>
          <p:cNvSpPr txBox="1">
            <a:spLocks noChangeArrowheads="1"/>
          </p:cNvSpPr>
          <p:nvPr/>
        </p:nvSpPr>
        <p:spPr bwMode="auto">
          <a:xfrm>
            <a:off x="1210789" y="2884251"/>
            <a:ext cx="1697901" cy="3115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>
              <a:lnSpc>
                <a:spcPct val="85000"/>
              </a:lnSpc>
            </a:pP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S </a:t>
            </a:r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站的码片序列 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S</a:t>
            </a:r>
          </a:p>
        </p:txBody>
      </p:sp>
      <p:sp>
        <p:nvSpPr>
          <p:cNvPr id="33" name="Line 12"/>
          <p:cNvSpPr>
            <a:spLocks noChangeShapeType="1"/>
          </p:cNvSpPr>
          <p:nvPr/>
        </p:nvSpPr>
        <p:spPr bwMode="auto">
          <a:xfrm>
            <a:off x="3171800" y="2007701"/>
            <a:ext cx="0" cy="447750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4" name="Line 13"/>
          <p:cNvSpPr>
            <a:spLocks noChangeShapeType="1"/>
          </p:cNvSpPr>
          <p:nvPr/>
        </p:nvSpPr>
        <p:spPr bwMode="auto">
          <a:xfrm>
            <a:off x="4881273" y="2007701"/>
            <a:ext cx="0" cy="4477503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5" name="Line 14"/>
          <p:cNvSpPr>
            <a:spLocks noChangeShapeType="1"/>
          </p:cNvSpPr>
          <p:nvPr/>
        </p:nvSpPr>
        <p:spPr bwMode="auto">
          <a:xfrm>
            <a:off x="6590746" y="2007700"/>
            <a:ext cx="0" cy="447750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6" name="Line 15"/>
          <p:cNvSpPr>
            <a:spLocks noChangeShapeType="1"/>
          </p:cNvSpPr>
          <p:nvPr/>
        </p:nvSpPr>
        <p:spPr bwMode="auto">
          <a:xfrm>
            <a:off x="8300218" y="2007700"/>
            <a:ext cx="0" cy="4477504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7" name="Freeform 16"/>
          <p:cNvSpPr>
            <a:spLocks/>
          </p:cNvSpPr>
          <p:nvPr/>
        </p:nvSpPr>
        <p:spPr bwMode="auto">
          <a:xfrm>
            <a:off x="3171800" y="2930166"/>
            <a:ext cx="1709473" cy="32960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8" name="Freeform 17"/>
          <p:cNvSpPr>
            <a:spLocks/>
          </p:cNvSpPr>
          <p:nvPr/>
        </p:nvSpPr>
        <p:spPr bwMode="auto">
          <a:xfrm>
            <a:off x="4881273" y="2930166"/>
            <a:ext cx="1709473" cy="32960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39" name="Freeform 18"/>
          <p:cNvSpPr>
            <a:spLocks/>
          </p:cNvSpPr>
          <p:nvPr/>
        </p:nvSpPr>
        <p:spPr bwMode="auto">
          <a:xfrm>
            <a:off x="3171800" y="4193072"/>
            <a:ext cx="1709473" cy="321403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0" name="Freeform 19"/>
          <p:cNvSpPr>
            <a:spLocks/>
          </p:cNvSpPr>
          <p:nvPr/>
        </p:nvSpPr>
        <p:spPr bwMode="auto">
          <a:xfrm>
            <a:off x="4881273" y="4193072"/>
            <a:ext cx="1709473" cy="321403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00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1" name="Freeform 20"/>
          <p:cNvSpPr>
            <a:spLocks/>
          </p:cNvSpPr>
          <p:nvPr/>
        </p:nvSpPr>
        <p:spPr bwMode="auto">
          <a:xfrm flipV="1">
            <a:off x="6590746" y="4193072"/>
            <a:ext cx="1709473" cy="321403"/>
          </a:xfrm>
          <a:custGeom>
            <a:avLst/>
            <a:gdLst>
              <a:gd name="T0" fmla="*/ 0 w 768"/>
              <a:gd name="T1" fmla="*/ 96 h 192"/>
              <a:gd name="T2" fmla="*/ 0 w 768"/>
              <a:gd name="T3" fmla="*/ 192 h 192"/>
              <a:gd name="T4" fmla="*/ 192 w 768"/>
              <a:gd name="T5" fmla="*/ 192 h 192"/>
              <a:gd name="T6" fmla="*/ 192 w 768"/>
              <a:gd name="T7" fmla="*/ 0 h 192"/>
              <a:gd name="T8" fmla="*/ 288 w 768"/>
              <a:gd name="T9" fmla="*/ 0 h 192"/>
              <a:gd name="T10" fmla="*/ 288 w 768"/>
              <a:gd name="T11" fmla="*/ 192 h 192"/>
              <a:gd name="T12" fmla="*/ 384 w 768"/>
              <a:gd name="T13" fmla="*/ 192 h 192"/>
              <a:gd name="T14" fmla="*/ 384 w 768"/>
              <a:gd name="T15" fmla="*/ 0 h 192"/>
              <a:gd name="T16" fmla="*/ 672 w 768"/>
              <a:gd name="T17" fmla="*/ 0 h 192"/>
              <a:gd name="T18" fmla="*/ 672 w 768"/>
              <a:gd name="T19" fmla="*/ 192 h 192"/>
              <a:gd name="T20" fmla="*/ 768 w 768"/>
              <a:gd name="T21" fmla="*/ 192 h 192"/>
              <a:gd name="T22" fmla="*/ 768 w 768"/>
              <a:gd name="T23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768" h="192">
                <a:moveTo>
                  <a:pt x="0" y="96"/>
                </a:moveTo>
                <a:lnTo>
                  <a:pt x="0" y="192"/>
                </a:lnTo>
                <a:lnTo>
                  <a:pt x="192" y="192"/>
                </a:lnTo>
                <a:lnTo>
                  <a:pt x="192" y="0"/>
                </a:lnTo>
                <a:lnTo>
                  <a:pt x="288" y="0"/>
                </a:lnTo>
                <a:lnTo>
                  <a:pt x="288" y="192"/>
                </a:lnTo>
                <a:lnTo>
                  <a:pt x="384" y="192"/>
                </a:lnTo>
                <a:lnTo>
                  <a:pt x="384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  <a:lnTo>
                  <a:pt x="768" y="96"/>
                </a:lnTo>
              </a:path>
            </a:pathLst>
          </a:custGeom>
          <a:solidFill>
            <a:srgbClr val="66FF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5" name="Freeform 24"/>
          <p:cNvSpPr>
            <a:spLocks/>
          </p:cNvSpPr>
          <p:nvPr/>
        </p:nvSpPr>
        <p:spPr bwMode="auto">
          <a:xfrm>
            <a:off x="3171800" y="6122813"/>
            <a:ext cx="5128419" cy="324683"/>
          </a:xfrm>
          <a:custGeom>
            <a:avLst/>
            <a:gdLst>
              <a:gd name="T0" fmla="*/ 0 w 2827"/>
              <a:gd name="T1" fmla="*/ 96 h 194"/>
              <a:gd name="T2" fmla="*/ 0 w 2827"/>
              <a:gd name="T3" fmla="*/ 0 h 194"/>
              <a:gd name="T4" fmla="*/ 1886 w 2827"/>
              <a:gd name="T5" fmla="*/ 2 h 194"/>
              <a:gd name="T6" fmla="*/ 1886 w 2827"/>
              <a:gd name="T7" fmla="*/ 194 h 194"/>
              <a:gd name="T8" fmla="*/ 2826 w 2827"/>
              <a:gd name="T9" fmla="*/ 192 h 194"/>
              <a:gd name="T10" fmla="*/ 2827 w 2827"/>
              <a:gd name="T11" fmla="*/ 96 h 1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7" h="194">
                <a:moveTo>
                  <a:pt x="0" y="96"/>
                </a:moveTo>
                <a:lnTo>
                  <a:pt x="0" y="0"/>
                </a:lnTo>
                <a:lnTo>
                  <a:pt x="1886" y="2"/>
                </a:lnTo>
                <a:lnTo>
                  <a:pt x="1886" y="194"/>
                </a:lnTo>
                <a:lnTo>
                  <a:pt x="2826" y="192"/>
                </a:lnTo>
                <a:lnTo>
                  <a:pt x="2827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6" name="Freeform 25"/>
          <p:cNvSpPr>
            <a:spLocks/>
          </p:cNvSpPr>
          <p:nvPr/>
        </p:nvSpPr>
        <p:spPr bwMode="auto">
          <a:xfrm>
            <a:off x="3171800" y="2150861"/>
            <a:ext cx="5128419" cy="323043"/>
          </a:xfrm>
          <a:custGeom>
            <a:avLst/>
            <a:gdLst>
              <a:gd name="T0" fmla="*/ 0 w 2304"/>
              <a:gd name="T1" fmla="*/ 96 h 192"/>
              <a:gd name="T2" fmla="*/ 0 w 2304"/>
              <a:gd name="T3" fmla="*/ 0 h 192"/>
              <a:gd name="T4" fmla="*/ 1536 w 2304"/>
              <a:gd name="T5" fmla="*/ 0 h 192"/>
              <a:gd name="T6" fmla="*/ 1536 w 2304"/>
              <a:gd name="T7" fmla="*/ 192 h 192"/>
              <a:gd name="T8" fmla="*/ 2304 w 2304"/>
              <a:gd name="T9" fmla="*/ 192 h 192"/>
              <a:gd name="T10" fmla="*/ 2304 w 2304"/>
              <a:gd name="T11" fmla="*/ 96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04" h="192">
                <a:moveTo>
                  <a:pt x="0" y="96"/>
                </a:moveTo>
                <a:lnTo>
                  <a:pt x="0" y="0"/>
                </a:lnTo>
                <a:lnTo>
                  <a:pt x="1536" y="0"/>
                </a:lnTo>
                <a:lnTo>
                  <a:pt x="1536" y="192"/>
                </a:lnTo>
                <a:lnTo>
                  <a:pt x="2304" y="192"/>
                </a:lnTo>
                <a:lnTo>
                  <a:pt x="2304" y="96"/>
                </a:lnTo>
              </a:path>
            </a:pathLst>
          </a:custGeom>
          <a:solidFill>
            <a:srgbClr val="FFFF00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7" name="Line 26"/>
          <p:cNvSpPr>
            <a:spLocks noChangeShapeType="1"/>
          </p:cNvSpPr>
          <p:nvPr/>
        </p:nvSpPr>
        <p:spPr bwMode="auto">
          <a:xfrm>
            <a:off x="4881273" y="2031156"/>
            <a:ext cx="0" cy="16070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48" name="Text Box 27"/>
          <p:cNvSpPr txBox="1">
            <a:spLocks noChangeArrowheads="1"/>
          </p:cNvSpPr>
          <p:nvPr/>
        </p:nvSpPr>
        <p:spPr bwMode="auto">
          <a:xfrm>
            <a:off x="3815002" y="1809780"/>
            <a:ext cx="301686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1</a:t>
            </a:r>
          </a:p>
        </p:txBody>
      </p:sp>
      <p:sp>
        <p:nvSpPr>
          <p:cNvPr id="49" name="Line 28"/>
          <p:cNvSpPr>
            <a:spLocks noChangeShapeType="1"/>
          </p:cNvSpPr>
          <p:nvPr/>
        </p:nvSpPr>
        <p:spPr bwMode="auto">
          <a:xfrm>
            <a:off x="3003260" y="4352134"/>
            <a:ext cx="572518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0" name="Line 29"/>
          <p:cNvSpPr>
            <a:spLocks noChangeShapeType="1"/>
          </p:cNvSpPr>
          <p:nvPr/>
        </p:nvSpPr>
        <p:spPr bwMode="auto">
          <a:xfrm>
            <a:off x="3003260" y="6283513"/>
            <a:ext cx="572518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2" name="Freeform 31"/>
          <p:cNvSpPr>
            <a:spLocks/>
          </p:cNvSpPr>
          <p:nvPr/>
        </p:nvSpPr>
        <p:spPr bwMode="auto">
          <a:xfrm>
            <a:off x="3171800" y="4763407"/>
            <a:ext cx="1709473" cy="642806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3" name="Freeform 32"/>
          <p:cNvSpPr>
            <a:spLocks/>
          </p:cNvSpPr>
          <p:nvPr/>
        </p:nvSpPr>
        <p:spPr bwMode="auto">
          <a:xfrm>
            <a:off x="4881273" y="4763407"/>
            <a:ext cx="1709473" cy="642806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660033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4" name="Freeform 33"/>
          <p:cNvSpPr>
            <a:spLocks/>
          </p:cNvSpPr>
          <p:nvPr/>
        </p:nvSpPr>
        <p:spPr bwMode="auto">
          <a:xfrm flipV="1">
            <a:off x="6590746" y="4763407"/>
            <a:ext cx="1709473" cy="642806"/>
          </a:xfrm>
          <a:custGeom>
            <a:avLst/>
            <a:gdLst>
              <a:gd name="T0" fmla="*/ 0 w 768"/>
              <a:gd name="T1" fmla="*/ 192 h 384"/>
              <a:gd name="T2" fmla="*/ 0 w 768"/>
              <a:gd name="T3" fmla="*/ 384 h 384"/>
              <a:gd name="T4" fmla="*/ 192 w 768"/>
              <a:gd name="T5" fmla="*/ 384 h 384"/>
              <a:gd name="T6" fmla="*/ 192 w 768"/>
              <a:gd name="T7" fmla="*/ 192 h 384"/>
              <a:gd name="T8" fmla="*/ 384 w 768"/>
              <a:gd name="T9" fmla="*/ 192 h 384"/>
              <a:gd name="T10" fmla="*/ 384 w 768"/>
              <a:gd name="T11" fmla="*/ 0 h 384"/>
              <a:gd name="T12" fmla="*/ 480 w 768"/>
              <a:gd name="T13" fmla="*/ 0 h 384"/>
              <a:gd name="T14" fmla="*/ 480 w 768"/>
              <a:gd name="T15" fmla="*/ 192 h 384"/>
              <a:gd name="T16" fmla="*/ 576 w 768"/>
              <a:gd name="T17" fmla="*/ 192 h 384"/>
              <a:gd name="T18" fmla="*/ 576 w 768"/>
              <a:gd name="T19" fmla="*/ 0 h 384"/>
              <a:gd name="T20" fmla="*/ 672 w 768"/>
              <a:gd name="T21" fmla="*/ 0 h 384"/>
              <a:gd name="T22" fmla="*/ 672 w 768"/>
              <a:gd name="T23" fmla="*/ 192 h 384"/>
              <a:gd name="T24" fmla="*/ 768 w 768"/>
              <a:gd name="T25" fmla="*/ 192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768" h="384">
                <a:moveTo>
                  <a:pt x="0" y="192"/>
                </a:moveTo>
                <a:lnTo>
                  <a:pt x="0" y="384"/>
                </a:lnTo>
                <a:lnTo>
                  <a:pt x="192" y="384"/>
                </a:lnTo>
                <a:lnTo>
                  <a:pt x="192" y="192"/>
                </a:lnTo>
                <a:lnTo>
                  <a:pt x="384" y="192"/>
                </a:lnTo>
                <a:lnTo>
                  <a:pt x="384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672" y="0"/>
                </a:lnTo>
                <a:lnTo>
                  <a:pt x="672" y="192"/>
                </a:lnTo>
                <a:lnTo>
                  <a:pt x="768" y="192"/>
                </a:lnTo>
              </a:path>
            </a:pathLst>
          </a:custGeom>
          <a:solidFill>
            <a:srgbClr val="CC00FF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5" name="Line 34"/>
          <p:cNvSpPr>
            <a:spLocks noChangeShapeType="1"/>
          </p:cNvSpPr>
          <p:nvPr/>
        </p:nvSpPr>
        <p:spPr bwMode="auto">
          <a:xfrm>
            <a:off x="3003260" y="5083171"/>
            <a:ext cx="5725187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6" name="Line 35"/>
          <p:cNvSpPr>
            <a:spLocks noChangeShapeType="1"/>
          </p:cNvSpPr>
          <p:nvPr/>
        </p:nvSpPr>
        <p:spPr bwMode="auto">
          <a:xfrm>
            <a:off x="3025618" y="2313203"/>
            <a:ext cx="570282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57" name="Text Box 36"/>
          <p:cNvSpPr txBox="1">
            <a:spLocks noChangeArrowheads="1"/>
          </p:cNvSpPr>
          <p:nvPr/>
        </p:nvSpPr>
        <p:spPr bwMode="auto">
          <a:xfrm>
            <a:off x="5534793" y="1809780"/>
            <a:ext cx="301686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1</a:t>
            </a:r>
          </a:p>
        </p:txBody>
      </p:sp>
      <p:sp>
        <p:nvSpPr>
          <p:cNvPr id="58" name="Text Box 37"/>
          <p:cNvSpPr txBox="1">
            <a:spLocks noChangeArrowheads="1"/>
          </p:cNvSpPr>
          <p:nvPr/>
        </p:nvSpPr>
        <p:spPr bwMode="auto">
          <a:xfrm>
            <a:off x="7249427" y="1809780"/>
            <a:ext cx="301686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0</a:t>
            </a:r>
          </a:p>
        </p:txBody>
      </p:sp>
      <p:sp>
        <p:nvSpPr>
          <p:cNvPr id="59" name="Text Box 38"/>
          <p:cNvSpPr txBox="1">
            <a:spLocks noChangeArrowheads="1"/>
          </p:cNvSpPr>
          <p:nvPr/>
        </p:nvSpPr>
        <p:spPr bwMode="auto">
          <a:xfrm>
            <a:off x="8730166" y="2045914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60" name="Text Box 39"/>
          <p:cNvSpPr txBox="1">
            <a:spLocks noChangeArrowheads="1"/>
          </p:cNvSpPr>
          <p:nvPr/>
        </p:nvSpPr>
        <p:spPr bwMode="auto">
          <a:xfrm>
            <a:off x="8730166" y="2838337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61" name="Text Box 40"/>
          <p:cNvSpPr txBox="1">
            <a:spLocks noChangeArrowheads="1"/>
          </p:cNvSpPr>
          <p:nvPr/>
        </p:nvSpPr>
        <p:spPr bwMode="auto">
          <a:xfrm>
            <a:off x="8730166" y="4116002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62" name="Text Box 41"/>
          <p:cNvSpPr txBox="1">
            <a:spLocks noChangeArrowheads="1"/>
          </p:cNvSpPr>
          <p:nvPr/>
        </p:nvSpPr>
        <p:spPr bwMode="auto">
          <a:xfrm>
            <a:off x="8730166" y="4832280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63" name="Text Box 42"/>
          <p:cNvSpPr txBox="1">
            <a:spLocks noChangeArrowheads="1"/>
          </p:cNvSpPr>
          <p:nvPr/>
        </p:nvSpPr>
        <p:spPr bwMode="auto">
          <a:xfrm>
            <a:off x="8730166" y="6030983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65" name="Rectangle 44"/>
          <p:cNvSpPr>
            <a:spLocks noChangeArrowheads="1"/>
          </p:cNvSpPr>
          <p:nvPr/>
        </p:nvSpPr>
        <p:spPr bwMode="auto">
          <a:xfrm>
            <a:off x="3460725" y="2401715"/>
            <a:ext cx="1145381" cy="2820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66" name="Text Box 45"/>
          <p:cNvSpPr txBox="1">
            <a:spLocks noChangeArrowheads="1"/>
          </p:cNvSpPr>
          <p:nvPr/>
        </p:nvSpPr>
        <p:spPr bwMode="auto">
          <a:xfrm>
            <a:off x="3448687" y="2373876"/>
            <a:ext cx="1112805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i="1">
                <a:latin typeface="Calibri" panose="020F0502020204030204" pitchFamily="34" charset="0"/>
                <a:ea typeface="黑体" pitchFamily="2" charset="-122"/>
              </a:rPr>
              <a:t>m</a:t>
            </a:r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 </a:t>
            </a:r>
            <a:r>
              <a:rPr kumimoji="1" lang="zh-CN" altLang="en-US">
                <a:latin typeface="Calibri" panose="020F0502020204030204" pitchFamily="34" charset="0"/>
                <a:ea typeface="黑体" pitchFamily="2" charset="-122"/>
              </a:rPr>
              <a:t>个码片</a:t>
            </a:r>
          </a:p>
        </p:txBody>
      </p:sp>
      <p:sp>
        <p:nvSpPr>
          <p:cNvPr id="67" name="Freeform 46"/>
          <p:cNvSpPr>
            <a:spLocks/>
          </p:cNvSpPr>
          <p:nvPr/>
        </p:nvSpPr>
        <p:spPr bwMode="auto">
          <a:xfrm>
            <a:off x="3171800" y="3487701"/>
            <a:ext cx="1709473" cy="32796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68" name="Freeform 47"/>
          <p:cNvSpPr>
            <a:spLocks/>
          </p:cNvSpPr>
          <p:nvPr/>
        </p:nvSpPr>
        <p:spPr bwMode="auto">
          <a:xfrm>
            <a:off x="4881273" y="3487701"/>
            <a:ext cx="1709473" cy="32796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69" name="Freeform 48"/>
          <p:cNvSpPr>
            <a:spLocks/>
          </p:cNvSpPr>
          <p:nvPr/>
        </p:nvSpPr>
        <p:spPr bwMode="auto">
          <a:xfrm flipV="1">
            <a:off x="6590746" y="3487701"/>
            <a:ext cx="1709473" cy="32796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rgbClr val="FF6699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0" name="Line 49"/>
          <p:cNvSpPr>
            <a:spLocks noChangeShapeType="1"/>
          </p:cNvSpPr>
          <p:nvPr/>
        </p:nvSpPr>
        <p:spPr bwMode="auto">
          <a:xfrm flipV="1">
            <a:off x="3003260" y="3648402"/>
            <a:ext cx="5725187" cy="6559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1" name="Text Box 50"/>
          <p:cNvSpPr txBox="1">
            <a:spLocks noChangeArrowheads="1"/>
          </p:cNvSpPr>
          <p:nvPr/>
        </p:nvSpPr>
        <p:spPr bwMode="auto">
          <a:xfrm>
            <a:off x="8730166" y="3392592"/>
            <a:ext cx="261610" cy="381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>
                <a:latin typeface="Calibri" panose="020F0502020204030204" pitchFamily="34" charset="0"/>
                <a:ea typeface="黑体" pitchFamily="2" charset="-122"/>
              </a:rPr>
              <a:t>t</a:t>
            </a:r>
          </a:p>
        </p:txBody>
      </p:sp>
      <p:sp>
        <p:nvSpPr>
          <p:cNvPr id="72" name="Freeform 51"/>
          <p:cNvSpPr>
            <a:spLocks/>
          </p:cNvSpPr>
          <p:nvPr/>
        </p:nvSpPr>
        <p:spPr bwMode="auto">
          <a:xfrm>
            <a:off x="6595906" y="2930166"/>
            <a:ext cx="1709473" cy="329602"/>
          </a:xfrm>
          <a:custGeom>
            <a:avLst/>
            <a:gdLst>
              <a:gd name="T0" fmla="*/ 0 w 768"/>
              <a:gd name="T1" fmla="*/ 96 h 196"/>
              <a:gd name="T2" fmla="*/ 0 w 768"/>
              <a:gd name="T3" fmla="*/ 196 h 196"/>
              <a:gd name="T4" fmla="*/ 288 w 768"/>
              <a:gd name="T5" fmla="*/ 192 h 196"/>
              <a:gd name="T6" fmla="*/ 288 w 768"/>
              <a:gd name="T7" fmla="*/ 0 h 196"/>
              <a:gd name="T8" fmla="*/ 480 w 768"/>
              <a:gd name="T9" fmla="*/ 0 h 196"/>
              <a:gd name="T10" fmla="*/ 480 w 768"/>
              <a:gd name="T11" fmla="*/ 192 h 196"/>
              <a:gd name="T12" fmla="*/ 576 w 768"/>
              <a:gd name="T13" fmla="*/ 192 h 196"/>
              <a:gd name="T14" fmla="*/ 576 w 768"/>
              <a:gd name="T15" fmla="*/ 0 h 196"/>
              <a:gd name="T16" fmla="*/ 768 w 768"/>
              <a:gd name="T17" fmla="*/ 0 h 196"/>
              <a:gd name="T18" fmla="*/ 768 w 768"/>
              <a:gd name="T19" fmla="*/ 96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768" h="196">
                <a:moveTo>
                  <a:pt x="0" y="96"/>
                </a:moveTo>
                <a:lnTo>
                  <a:pt x="0" y="196"/>
                </a:lnTo>
                <a:lnTo>
                  <a:pt x="288" y="192"/>
                </a:lnTo>
                <a:lnTo>
                  <a:pt x="288" y="0"/>
                </a:lnTo>
                <a:lnTo>
                  <a:pt x="480" y="0"/>
                </a:lnTo>
                <a:lnTo>
                  <a:pt x="480" y="192"/>
                </a:lnTo>
                <a:lnTo>
                  <a:pt x="576" y="192"/>
                </a:lnTo>
                <a:lnTo>
                  <a:pt x="576" y="0"/>
                </a:lnTo>
                <a:lnTo>
                  <a:pt x="768" y="0"/>
                </a:lnTo>
                <a:lnTo>
                  <a:pt x="768" y="96"/>
                </a:lnTo>
              </a:path>
            </a:pathLst>
          </a:custGeom>
          <a:solidFill>
            <a:schemeClr val="hlink"/>
          </a:solidFill>
          <a:ln w="19050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3" name="Line 52"/>
          <p:cNvSpPr>
            <a:spLocks noChangeShapeType="1"/>
          </p:cNvSpPr>
          <p:nvPr/>
        </p:nvSpPr>
        <p:spPr bwMode="auto">
          <a:xfrm>
            <a:off x="3025618" y="3092506"/>
            <a:ext cx="5702829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4" name="Text Box 53"/>
          <p:cNvSpPr txBox="1">
            <a:spLocks noChangeArrowheads="1"/>
          </p:cNvSpPr>
          <p:nvPr/>
        </p:nvSpPr>
        <p:spPr bwMode="auto">
          <a:xfrm>
            <a:off x="1210788" y="3379473"/>
            <a:ext cx="1757212" cy="34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S </a:t>
            </a:r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站发送的信号 </a:t>
            </a:r>
            <a:r>
              <a:rPr kumimoji="1" lang="en-US" altLang="zh-CN" sz="1600" dirty="0" err="1">
                <a:latin typeface="Calibri" panose="020F0502020204030204" pitchFamily="34" charset="0"/>
                <a:ea typeface="黑体" pitchFamily="2" charset="-122"/>
              </a:rPr>
              <a:t>S</a:t>
            </a:r>
            <a:r>
              <a:rPr kumimoji="1" lang="en-US" altLang="zh-CN" sz="1600" baseline="-25000" dirty="0" err="1">
                <a:latin typeface="Calibri" panose="020F0502020204030204" pitchFamily="34" charset="0"/>
                <a:ea typeface="黑体" pitchFamily="2" charset="-122"/>
              </a:rPr>
              <a:t>x</a:t>
            </a:r>
            <a:endParaRPr kumimoji="1" lang="en-US" altLang="zh-CN" sz="1600" baseline="-25000" dirty="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5" name="Text Box 54"/>
          <p:cNvSpPr txBox="1">
            <a:spLocks noChangeArrowheads="1"/>
          </p:cNvSpPr>
          <p:nvPr/>
        </p:nvSpPr>
        <p:spPr bwMode="auto">
          <a:xfrm>
            <a:off x="1210789" y="4084844"/>
            <a:ext cx="1757789" cy="34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en-US" altLang="zh-CN" sz="1600">
                <a:latin typeface="Calibri" panose="020F0502020204030204" pitchFamily="34" charset="0"/>
                <a:ea typeface="黑体" pitchFamily="2" charset="-122"/>
              </a:rPr>
              <a:t>T </a:t>
            </a:r>
            <a:r>
              <a:rPr kumimoji="1" lang="zh-CN" altLang="en-US" sz="1600">
                <a:latin typeface="Calibri" panose="020F0502020204030204" pitchFamily="34" charset="0"/>
                <a:ea typeface="黑体" pitchFamily="2" charset="-122"/>
              </a:rPr>
              <a:t>站发送的信号 </a:t>
            </a:r>
            <a:r>
              <a:rPr kumimoji="1" lang="en-US" altLang="zh-CN" sz="1600">
                <a:latin typeface="Calibri" panose="020F0502020204030204" pitchFamily="34" charset="0"/>
                <a:ea typeface="黑体" pitchFamily="2" charset="-122"/>
              </a:rPr>
              <a:t>T</a:t>
            </a:r>
            <a:r>
              <a:rPr kumimoji="1" lang="en-US" altLang="zh-CN" sz="1600" baseline="-25000">
                <a:latin typeface="Calibri" panose="020F0502020204030204" pitchFamily="34" charset="0"/>
                <a:ea typeface="黑体" pitchFamily="2" charset="-122"/>
              </a:rPr>
              <a:t>x</a:t>
            </a:r>
          </a:p>
        </p:txBody>
      </p:sp>
      <p:sp>
        <p:nvSpPr>
          <p:cNvPr id="76" name="Text Box 55"/>
          <p:cNvSpPr txBox="1">
            <a:spLocks noChangeArrowheads="1"/>
          </p:cNvSpPr>
          <p:nvPr/>
        </p:nvSpPr>
        <p:spPr bwMode="auto">
          <a:xfrm>
            <a:off x="957088" y="4832280"/>
            <a:ext cx="1961371" cy="34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总的发送信号 </a:t>
            </a:r>
            <a:r>
              <a:rPr kumimoji="1" lang="en-US" altLang="zh-CN" sz="1600" dirty="0" err="1">
                <a:latin typeface="Calibri" panose="020F0502020204030204" pitchFamily="34" charset="0"/>
                <a:ea typeface="黑体" pitchFamily="2" charset="-122"/>
              </a:rPr>
              <a:t>S</a:t>
            </a:r>
            <a:r>
              <a:rPr kumimoji="1" lang="en-US" altLang="zh-CN" sz="1600" baseline="-25000" dirty="0" err="1">
                <a:latin typeface="Calibri" panose="020F0502020204030204" pitchFamily="34" charset="0"/>
                <a:ea typeface="黑体" pitchFamily="2" charset="-122"/>
              </a:rPr>
              <a:t>x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 + </a:t>
            </a:r>
            <a:r>
              <a:rPr kumimoji="1" lang="en-US" altLang="zh-CN" sz="1600" dirty="0" err="1">
                <a:latin typeface="Calibri" panose="020F0502020204030204" pitchFamily="34" charset="0"/>
                <a:ea typeface="黑体" pitchFamily="2" charset="-122"/>
              </a:rPr>
              <a:t>T</a:t>
            </a:r>
            <a:r>
              <a:rPr kumimoji="1" lang="en-US" altLang="zh-CN" sz="1600" baseline="-25000" dirty="0" err="1">
                <a:latin typeface="Calibri" panose="020F0502020204030204" pitchFamily="34" charset="0"/>
                <a:ea typeface="黑体" pitchFamily="2" charset="-122"/>
              </a:rPr>
              <a:t>x</a:t>
            </a:r>
            <a:endParaRPr kumimoji="1" lang="en-US" altLang="zh-CN" sz="1600" baseline="-25000" dirty="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7" name="Text Box 56"/>
          <p:cNvSpPr txBox="1">
            <a:spLocks noChangeArrowheads="1"/>
          </p:cNvSpPr>
          <p:nvPr/>
        </p:nvSpPr>
        <p:spPr bwMode="auto">
          <a:xfrm>
            <a:off x="1217839" y="5889966"/>
            <a:ext cx="1626483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规一化内积</a:t>
            </a:r>
            <a:endParaRPr kumimoji="1" lang="en-US" altLang="zh-CN" sz="1600" dirty="0">
              <a:latin typeface="Calibri" panose="020F0502020204030204" pitchFamily="34" charset="0"/>
              <a:ea typeface="黑体" pitchFamily="2" charset="-122"/>
            </a:endParaRPr>
          </a:p>
          <a:p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S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  <a:sym typeface="Symbol" pitchFamily="18" charset="2"/>
              </a:rPr>
              <a:t> 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  <a:sym typeface="Wingdings" pitchFamily="2" charset="2"/>
              </a:rPr>
              <a:t> </a:t>
            </a:r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  <a:sym typeface="Wingdings" pitchFamily="2" charset="2"/>
              </a:rPr>
              <a:t>（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 </a:t>
            </a:r>
            <a:r>
              <a:rPr kumimoji="1" lang="en-US" altLang="zh-CN" sz="1600" dirty="0" err="1">
                <a:latin typeface="Calibri" panose="020F0502020204030204" pitchFamily="34" charset="0"/>
                <a:ea typeface="黑体" pitchFamily="2" charset="-122"/>
              </a:rPr>
              <a:t>S</a:t>
            </a:r>
            <a:r>
              <a:rPr kumimoji="1" lang="en-US" altLang="zh-CN" sz="1600" baseline="-25000" dirty="0" err="1">
                <a:latin typeface="Calibri" panose="020F0502020204030204" pitchFamily="34" charset="0"/>
                <a:ea typeface="黑体" pitchFamily="2" charset="-122"/>
              </a:rPr>
              <a:t>x</a:t>
            </a:r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 + </a:t>
            </a:r>
            <a:r>
              <a:rPr kumimoji="1" lang="en-US" altLang="zh-CN" sz="1600" dirty="0" err="1">
                <a:latin typeface="Calibri" panose="020F0502020204030204" pitchFamily="34" charset="0"/>
                <a:ea typeface="黑体" pitchFamily="2" charset="-122"/>
              </a:rPr>
              <a:t>T</a:t>
            </a:r>
            <a:r>
              <a:rPr kumimoji="1" lang="en-US" altLang="zh-CN" sz="1600" baseline="-25000" dirty="0" err="1">
                <a:latin typeface="Calibri" panose="020F0502020204030204" pitchFamily="34" charset="0"/>
                <a:ea typeface="黑体" pitchFamily="2" charset="-122"/>
              </a:rPr>
              <a:t>x</a:t>
            </a:r>
            <a:r>
              <a:rPr kumimoji="1" lang="en-US" altLang="zh-CN" sz="1600" baseline="-25000" dirty="0">
                <a:latin typeface="Calibri" panose="020F0502020204030204" pitchFamily="34" charset="0"/>
                <a:ea typeface="黑体" pitchFamily="2" charset="-122"/>
              </a:rPr>
              <a:t> </a:t>
            </a:r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  <a:sym typeface="Wingdings" pitchFamily="2" charset="2"/>
              </a:rPr>
              <a:t>）</a:t>
            </a:r>
            <a:endParaRPr kumimoji="1" lang="en-US" altLang="zh-CN" sz="1600" baseline="-25000" dirty="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9" name="Line 58"/>
          <p:cNvSpPr>
            <a:spLocks noChangeShapeType="1"/>
          </p:cNvSpPr>
          <p:nvPr/>
        </p:nvSpPr>
        <p:spPr bwMode="auto">
          <a:xfrm flipV="1">
            <a:off x="3025619" y="6283513"/>
            <a:ext cx="5659834" cy="164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endParaRPr lang="zh-CN" altLang="en-US" sz="16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80" name="Text Box 59"/>
          <p:cNvSpPr txBox="1">
            <a:spLocks noChangeArrowheads="1"/>
          </p:cNvSpPr>
          <p:nvPr/>
        </p:nvSpPr>
        <p:spPr bwMode="auto">
          <a:xfrm>
            <a:off x="1685451" y="1950804"/>
            <a:ext cx="1415772" cy="3497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数据码元比特</a:t>
            </a:r>
          </a:p>
        </p:txBody>
      </p:sp>
      <p:sp>
        <p:nvSpPr>
          <p:cNvPr id="81" name="Text Box 60"/>
          <p:cNvSpPr txBox="1">
            <a:spLocks noChangeArrowheads="1"/>
          </p:cNvSpPr>
          <p:nvPr/>
        </p:nvSpPr>
        <p:spPr bwMode="auto">
          <a:xfrm>
            <a:off x="213826" y="3130223"/>
            <a:ext cx="389850" cy="858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发</a:t>
            </a:r>
          </a:p>
          <a:p>
            <a:pPr algn="l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送</a:t>
            </a:r>
          </a:p>
          <a:p>
            <a:pPr algn="l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端</a:t>
            </a:r>
          </a:p>
        </p:txBody>
      </p:sp>
      <p:sp>
        <p:nvSpPr>
          <p:cNvPr id="82" name="Text Box 61"/>
          <p:cNvSpPr txBox="1">
            <a:spLocks noChangeArrowheads="1"/>
          </p:cNvSpPr>
          <p:nvPr/>
        </p:nvSpPr>
        <p:spPr bwMode="auto">
          <a:xfrm>
            <a:off x="561474" y="5432513"/>
            <a:ext cx="36744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 algn="l" eaLnBrk="0" hangingPunct="0"/>
            <a:r>
              <a:rPr kumimoji="1" lang="en-US" altLang="zh-CN" sz="1600" dirty="0">
                <a:latin typeface="Calibri" panose="020F0502020204030204" pitchFamily="34" charset="0"/>
                <a:ea typeface="黑体" pitchFamily="2" charset="-122"/>
              </a:rPr>
              <a:t>S</a:t>
            </a:r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的接</a:t>
            </a:r>
          </a:p>
          <a:p>
            <a:pPr algn="l" eaLnBrk="0" hangingPunct="0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收</a:t>
            </a:r>
          </a:p>
          <a:p>
            <a:pPr algn="l" eaLnBrk="0" hangingPunct="0"/>
            <a:r>
              <a:rPr kumimoji="1" lang="zh-CN" altLang="en-US" sz="1600" dirty="0">
                <a:latin typeface="Calibri" panose="020F0502020204030204" pitchFamily="34" charset="0"/>
                <a:ea typeface="黑体" pitchFamily="2" charset="-122"/>
              </a:rPr>
              <a:t>端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749857" y="2108478"/>
            <a:ext cx="229120" cy="2904680"/>
          </a:xfrm>
          <a:prstGeom prst="leftBrace">
            <a:avLst>
              <a:gd name="adj1" fmla="val 37029"/>
              <a:gd name="adj2" fmla="val 50536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76525" y="3073011"/>
            <a:ext cx="269657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（</a:t>
            </a:r>
            <a:r>
              <a:rPr kumimoji="1" lang="en-US" altLang="zh-CN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-1 -1 -1 +1 +1 -1 +1+1 </a:t>
            </a: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）</a:t>
            </a:r>
            <a:endParaRPr kumimoji="1" lang="en-US" altLang="zh-CN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54012" y="4324486"/>
            <a:ext cx="2749471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（</a:t>
            </a:r>
            <a:r>
              <a:rPr kumimoji="1" lang="en-US" altLang="zh-CN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-1 -1 +1 -1 +1 +1 +1 -1</a:t>
            </a: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）</a:t>
            </a:r>
            <a:endParaRPr kumimoji="1" lang="en-US" altLang="zh-CN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2630353" y="5374660"/>
            <a:ext cx="2536272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（</a:t>
            </a:r>
            <a:r>
              <a:rPr kumimoji="1" lang="en-US" altLang="zh-CN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-2 -2  0  0  +2  0 +2 0</a:t>
            </a: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）</a:t>
            </a:r>
            <a:endParaRPr kumimoji="1" lang="en-US" altLang="zh-CN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黑体" pitchFamily="2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6282977" y="5399272"/>
            <a:ext cx="2518638" cy="3277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</a:pP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（</a:t>
            </a:r>
            <a:r>
              <a:rPr kumimoji="1" lang="en-US" altLang="zh-CN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+2 +2  0  0  -2  0 -2 0</a:t>
            </a:r>
            <a:r>
              <a:rPr kumimoji="1" lang="zh-CN" altLang="en-US" dirty="0">
                <a:solidFill>
                  <a:schemeClr val="bg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itchFamily="2" charset="-122"/>
              </a:rPr>
              <a:t>）</a:t>
            </a:r>
            <a:endParaRPr kumimoji="1" lang="en-US" altLang="zh-CN" dirty="0">
              <a:solidFill>
                <a:schemeClr val="bg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黑体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圆角矩形标注 162"/>
              <p:cNvSpPr/>
              <p:nvPr/>
            </p:nvSpPr>
            <p:spPr>
              <a:xfrm>
                <a:off x="36020" y="1374421"/>
                <a:ext cx="9143999" cy="2439778"/>
              </a:xfrm>
              <a:prstGeom prst="wedgeRoundRectCallout">
                <a:avLst>
                  <a:gd name="adj1" fmla="val -29698"/>
                  <a:gd name="adj2" fmla="val 135659"/>
                  <a:gd name="adj3" fmla="val 16667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S</a:t>
                </a:r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的接收端用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S</a:t>
                </a:r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的码片解码：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S</a:t>
                </a:r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∙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</a:t>
                </a:r>
                <a:r>
                  <a:rPr lang="en-US" altLang="zh-CN" dirty="0" err="1">
                    <a:latin typeface="Calibri" panose="020F0502020204030204" pitchFamily="34" charset="0"/>
                    <a:ea typeface="华文楷体" panose="02010600040101010101" pitchFamily="2" charset="-122"/>
                  </a:rPr>
                  <a:t>S</a:t>
                </a:r>
                <a:r>
                  <a:rPr lang="en-US" altLang="zh-CN" baseline="-25000" dirty="0" err="1">
                    <a:latin typeface="Calibri" panose="020F0502020204030204" pitchFamily="34" charset="0"/>
                    <a:ea typeface="华文楷体" panose="02010600040101010101" pitchFamily="2" charset="-122"/>
                  </a:rPr>
                  <a:t>x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+ </a:t>
                </a:r>
                <a:r>
                  <a:rPr lang="en-US" altLang="zh-CN" dirty="0" err="1">
                    <a:latin typeface="Calibri" panose="020F0502020204030204" pitchFamily="34" charset="0"/>
                    <a:ea typeface="华文楷体" panose="02010600040101010101" pitchFamily="2" charset="-122"/>
                  </a:rPr>
                  <a:t>T</a:t>
                </a:r>
                <a:r>
                  <a:rPr lang="en-US" altLang="zh-CN" baseline="-25000" dirty="0" err="1">
                    <a:latin typeface="Calibri" panose="020F0502020204030204" pitchFamily="34" charset="0"/>
                    <a:ea typeface="华文楷体" panose="02010600040101010101" pitchFamily="2" charset="-122"/>
                  </a:rPr>
                  <a:t>x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)</a:t>
                </a:r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：</a:t>
                </a:r>
                <a:endParaRPr lang="en-US" altLang="zh-CN" dirty="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  <a:p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     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(-1 -1 -1 +1 +1 -1 +1+1 )</a:t>
                </a:r>
                <a:r>
                  <a:rPr lang="zh-CN" altLang="en-US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∙</a:t>
                </a:r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(-2 -2  0  0  +2  0 +2 0)</a:t>
                </a:r>
              </a:p>
              <a:p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[(-1)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(-2) + (-1)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(-2) + (-1)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0 + (+1)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0 + (+1)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(+2) + (-1)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0 + (+1)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(+2) + (+1)</a:t>
                </a:r>
                <a:r>
                  <a:rPr lang="en-US" altLang="zh-CN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0]</a:t>
                </a:r>
              </a:p>
              <a:p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(2+2+0+0+2+0+2+0)</a:t>
                </a:r>
              </a:p>
              <a:p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    =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𝟖</m:t>
                        </m:r>
                      </m:den>
                    </m:f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endParaRPr lang="en-US" altLang="zh-CN" dirty="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  <a:p>
                <a:r>
                  <a:rPr lang="en-US" altLang="zh-CN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     =  1 </a:t>
                </a:r>
                <a:endParaRPr lang="zh-CN" altLang="en-US" dirty="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zh-CN" altLang="en-US" dirty="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7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20" y="1374421"/>
                <a:ext cx="9143999" cy="2439778"/>
              </a:xfrm>
              <a:prstGeom prst="wedgeRoundRectCallout">
                <a:avLst>
                  <a:gd name="adj1" fmla="val -29698"/>
                  <a:gd name="adj2" fmla="val 135659"/>
                  <a:gd name="adj3" fmla="val 16667"/>
                </a:avLst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154878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/>
      <p:bldP spid="86" grpId="0"/>
      <p:bldP spid="8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媒体共享技术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560858"/>
            <a:ext cx="8229600" cy="1639598"/>
          </a:xfrm>
        </p:spPr>
        <p:txBody>
          <a:bodyPr/>
          <a:lstStyle/>
          <a:p>
            <a:r>
              <a:rPr lang="zh-CN" altLang="en-US" sz="2800" dirty="0"/>
              <a:t>静态划分信道</a:t>
            </a:r>
            <a:endParaRPr lang="en-US" altLang="zh-CN" sz="2800" dirty="0"/>
          </a:p>
          <a:p>
            <a:r>
              <a:rPr lang="zh-CN" altLang="en-US" sz="2800" b="1" dirty="0">
                <a:solidFill>
                  <a:srgbClr val="FF0000"/>
                </a:solidFill>
              </a:rPr>
              <a:t>动态媒体接入控制，多点接入</a:t>
            </a:r>
            <a:r>
              <a:rPr lang="en-US" altLang="zh-CN" sz="2800" b="1" dirty="0">
                <a:solidFill>
                  <a:srgbClr val="FF0000"/>
                </a:solidFill>
              </a:rPr>
              <a:t>(multiple access)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8812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动态媒体接入控制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随机接入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结点按需随机接入，接入后以信道的全部速率进行发送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发生碰撞时，相关结点反复重发，直到无碰撞成功发送</a:t>
            </a:r>
            <a:endParaRPr lang="en-US" altLang="zh-CN" sz="1800" dirty="0"/>
          </a:p>
          <a:p>
            <a:pPr lvl="2">
              <a:spcBef>
                <a:spcPts val="600"/>
              </a:spcBef>
            </a:pPr>
            <a:r>
              <a:rPr lang="zh-CN" altLang="en-US" sz="1600" dirty="0"/>
              <a:t>冲突域</a:t>
            </a:r>
            <a:r>
              <a:rPr lang="en-US" altLang="zh-CN" sz="1600" dirty="0"/>
              <a:t>(collision domain)</a:t>
            </a:r>
            <a:r>
              <a:rPr lang="zh-CN" altLang="en-US" sz="1600" dirty="0"/>
              <a:t>、冲突</a:t>
            </a:r>
            <a:r>
              <a:rPr lang="en-US" altLang="zh-CN" sz="1600" dirty="0"/>
              <a:t>/</a:t>
            </a:r>
            <a:r>
              <a:rPr lang="zh-CN" altLang="en-US" sz="1600" dirty="0"/>
              <a:t>碰撞 </a:t>
            </a:r>
            <a:r>
              <a:rPr lang="en-US" altLang="zh-CN" sz="1600" dirty="0"/>
              <a:t>(collide)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各结点在重发前独立选择一个随机时延</a:t>
            </a:r>
            <a:endParaRPr lang="en-US" altLang="zh-CN" sz="18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典型方案</a:t>
            </a:r>
            <a:endParaRPr lang="en-US" altLang="zh-CN" sz="1800" dirty="0"/>
          </a:p>
          <a:p>
            <a:pPr lvl="2"/>
            <a:r>
              <a:rPr lang="zh-CN" altLang="en-US" dirty="0"/>
              <a:t>（一）</a:t>
            </a:r>
            <a:r>
              <a:rPr lang="en-US" altLang="zh-CN" dirty="0"/>
              <a:t>ALOHA</a:t>
            </a:r>
          </a:p>
          <a:p>
            <a:pPr lvl="2"/>
            <a:r>
              <a:rPr lang="zh-CN" altLang="en-US" dirty="0"/>
              <a:t>（二）时隙</a:t>
            </a:r>
            <a:r>
              <a:rPr lang="en-US" altLang="zh-CN" dirty="0"/>
              <a:t>ALOHA</a:t>
            </a:r>
          </a:p>
          <a:p>
            <a:pPr lvl="2"/>
            <a:r>
              <a:rPr lang="zh-CN" altLang="en-US" dirty="0"/>
              <a:t>（三）载波侦听多点接入 </a:t>
            </a:r>
            <a:r>
              <a:rPr lang="en-US" altLang="zh-CN" dirty="0"/>
              <a:t>(Carrier Sense Multiple Access, CSMA)</a:t>
            </a:r>
          </a:p>
          <a:p>
            <a:pPr lvl="2"/>
            <a:r>
              <a:rPr lang="zh-CN" altLang="en-US" dirty="0"/>
              <a:t>（四）带碰撞检测</a:t>
            </a:r>
            <a:r>
              <a:rPr lang="en-US" altLang="zh-CN" dirty="0"/>
              <a:t>(Collision Detection)</a:t>
            </a:r>
            <a:r>
              <a:rPr lang="zh-CN" altLang="en-US" dirty="0"/>
              <a:t>的</a:t>
            </a:r>
            <a:r>
              <a:rPr lang="en-US" altLang="zh-CN" dirty="0"/>
              <a:t>CSMA  (CSMA/CD)</a:t>
            </a:r>
          </a:p>
          <a:p>
            <a:pPr lvl="2"/>
            <a:r>
              <a:rPr lang="zh-CN" altLang="en-US" dirty="0"/>
              <a:t>（五）带碰撞避免</a:t>
            </a:r>
            <a:r>
              <a:rPr lang="en-US" altLang="zh-CN" dirty="0"/>
              <a:t>(Collision Avoidance)</a:t>
            </a:r>
            <a:r>
              <a:rPr lang="zh-CN" altLang="en-US" dirty="0"/>
              <a:t>的</a:t>
            </a:r>
            <a:r>
              <a:rPr lang="en-US" altLang="zh-CN" dirty="0"/>
              <a:t>CSMA  (CSMA/CA)</a:t>
            </a:r>
            <a:endParaRPr lang="zh-CN" altLang="en-US" dirty="0"/>
          </a:p>
          <a:p>
            <a:r>
              <a:rPr lang="zh-CN" altLang="en-US" dirty="0"/>
              <a:t>受控接入：用户接入服从一定控制，如令牌环网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64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（一）</a:t>
            </a:r>
            <a:r>
              <a:rPr lang="en-US" altLang="zh-CN" dirty="0">
                <a:latin typeface="Calibri" panose="020F0502020204030204" pitchFamily="34" charset="0"/>
              </a:rPr>
              <a:t>ALOHA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20</a:t>
            </a:fld>
            <a:endParaRPr lang="zh-CN" altLang="en-US" dirty="0"/>
          </a:p>
        </p:txBody>
      </p:sp>
      <p:pic>
        <p:nvPicPr>
          <p:cNvPr id="7" name="内容占位符 6" descr="图片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379378" y="1375706"/>
            <a:ext cx="8229600" cy="5017753"/>
          </a:xfrm>
        </p:spPr>
      </p:pic>
    </p:spTree>
    <p:extLst>
      <p:ext uri="{BB962C8B-B14F-4D97-AF65-F5344CB8AC3E}">
        <p14:creationId xmlns:p14="http://schemas.microsoft.com/office/powerpoint/2010/main" val="1278512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（一） </a:t>
            </a:r>
            <a:r>
              <a:rPr lang="en-US" altLang="zh-CN" dirty="0">
                <a:latin typeface="Calibri" panose="020F0502020204030204" pitchFamily="34" charset="0"/>
              </a:rPr>
              <a:t>ALOHA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21</a:t>
            </a:fld>
            <a:endParaRPr lang="zh-CN" altLang="en-US" dirty="0"/>
          </a:p>
        </p:txBody>
      </p:sp>
      <p:grpSp>
        <p:nvGrpSpPr>
          <p:cNvPr id="25" name="组合 24"/>
          <p:cNvGrpSpPr/>
          <p:nvPr/>
        </p:nvGrpSpPr>
        <p:grpSpPr>
          <a:xfrm>
            <a:off x="1377695" y="4292103"/>
            <a:ext cx="6388609" cy="2527592"/>
            <a:chOff x="1377695" y="4170183"/>
            <a:chExt cx="6388609" cy="2527592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77695" y="4170183"/>
              <a:ext cx="6388609" cy="2526182"/>
            </a:xfrm>
            <a:prstGeom prst="rect">
              <a:avLst/>
            </a:prstGeom>
          </p:spPr>
        </p:pic>
        <p:sp>
          <p:nvSpPr>
            <p:cNvPr id="5" name="Line 81"/>
            <p:cNvSpPr>
              <a:spLocks noChangeShapeType="1"/>
            </p:cNvSpPr>
            <p:nvPr/>
          </p:nvSpPr>
          <p:spPr bwMode="auto">
            <a:xfrm>
              <a:off x="2154364" y="6339523"/>
              <a:ext cx="5197412" cy="0"/>
            </a:xfrm>
            <a:prstGeom prst="line">
              <a:avLst/>
            </a:prstGeom>
            <a:noFill/>
            <a:ln w="28575">
              <a:solidFill>
                <a:schemeClr val="tx1">
                  <a:lumMod val="85000"/>
                  <a:lumOff val="15000"/>
                </a:schemeClr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 dirty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cxnSp>
          <p:nvCxnSpPr>
            <p:cNvPr id="7" name="直接连接符 6"/>
            <p:cNvCxnSpPr/>
            <p:nvPr/>
          </p:nvCxnSpPr>
          <p:spPr>
            <a:xfrm>
              <a:off x="4206240" y="4986528"/>
              <a:ext cx="0" cy="1352995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/>
            <p:cNvCxnSpPr/>
            <p:nvPr/>
          </p:nvCxnSpPr>
          <p:spPr>
            <a:xfrm>
              <a:off x="2639568" y="4986528"/>
              <a:ext cx="0" cy="137128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803392" y="4986528"/>
              <a:ext cx="0" cy="1371283"/>
            </a:xfrm>
            <a:prstGeom prst="line">
              <a:avLst/>
            </a:prstGeom>
            <a:ln w="19050">
              <a:solidFill>
                <a:schemeClr val="tx1">
                  <a:lumMod val="50000"/>
                  <a:lumOff val="50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2420112" y="6359221"/>
                  <a:ext cx="9265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0112" y="6359221"/>
                  <a:ext cx="926592" cy="338554"/>
                </a:xfrm>
                <a:prstGeom prst="rect">
                  <a:avLst/>
                </a:prstGeom>
                <a:blipFill rotWithShape="0">
                  <a:blip r:embed="rId5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3968496" y="6359221"/>
                  <a:ext cx="463296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8496" y="6359221"/>
                  <a:ext cx="463296" cy="338554"/>
                </a:xfrm>
                <a:prstGeom prst="rect">
                  <a:avLst/>
                </a:prstGeom>
                <a:blipFill rotWithShape="0">
                  <a:blip r:embed="rId6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3"/>
                <p:cNvSpPr txBox="1"/>
                <p:nvPr/>
              </p:nvSpPr>
              <p:spPr>
                <a:xfrm>
                  <a:off x="5059680" y="6357811"/>
                  <a:ext cx="9265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16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59680" y="6357811"/>
                  <a:ext cx="926592" cy="338554"/>
                </a:xfrm>
                <a:prstGeom prst="rect">
                  <a:avLst/>
                </a:prstGeom>
                <a:blipFill rotWithShape="0">
                  <a:blip r:embed="rId7" cstate="print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4200144" y="5507194"/>
                  <a:ext cx="1603248" cy="33855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solidFill>
                        <a:schemeClr val="bg1"/>
                      </a:solidFill>
                      <a:ea typeface="华文楷体" panose="02010600040101010101" pitchFamily="2" charset="-122"/>
                    </a:rPr>
                    <a:t>结点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600" dirty="0">
                      <a:solidFill>
                        <a:schemeClr val="bg1"/>
                      </a:solidFill>
                      <a:ea typeface="华文楷体" panose="02010600040101010101" pitchFamily="2" charset="-122"/>
                    </a:rPr>
                    <a:t>的帧</a:t>
                  </a:r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0144" y="5507194"/>
                  <a:ext cx="1603248" cy="338554"/>
                </a:xfrm>
                <a:prstGeom prst="rect">
                  <a:avLst/>
                </a:prstGeom>
                <a:blipFill rotWithShape="0">
                  <a:blip r:embed="rId8" cstate="print"/>
                  <a:stretch>
                    <a:fillRect t="-3571" b="-232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文本框 17"/>
            <p:cNvSpPr txBox="1"/>
            <p:nvPr/>
          </p:nvSpPr>
          <p:spPr>
            <a:xfrm>
              <a:off x="2996187" y="5089079"/>
              <a:ext cx="1575813" cy="338554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5410197" y="5909371"/>
              <a:ext cx="1575813" cy="338554"/>
            </a:xfrm>
            <a:prstGeom prst="rect">
              <a:avLst/>
            </a:prstGeom>
            <a:solidFill>
              <a:schemeClr val="tx1">
                <a:lumMod val="75000"/>
                <a:lumOff val="25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solidFill>
                  <a:schemeClr val="bg1"/>
                </a:solidFill>
                <a:ea typeface="华文楷体" panose="02010600040101010101" pitchFamily="2" charset="-122"/>
              </a:endParaRPr>
            </a:p>
          </p:txBody>
        </p:sp>
        <p:sp>
          <p:nvSpPr>
            <p:cNvPr id="20" name="AutoShape 34"/>
            <p:cNvSpPr>
              <a:spLocks/>
            </p:cNvSpPr>
            <p:nvPr/>
          </p:nvSpPr>
          <p:spPr bwMode="auto">
            <a:xfrm rot="5400000">
              <a:off x="3259768" y="3986299"/>
              <a:ext cx="297914" cy="1582839"/>
            </a:xfrm>
            <a:prstGeom prst="leftBrace">
              <a:avLst>
                <a:gd name="adj1" fmla="val 38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None/>
              </a:pPr>
              <a:endParaRPr lang="zh-CN" altLang="en-US" sz="3600" b="1">
                <a:solidFill>
                  <a:srgbClr val="2B028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2639568" y="4170183"/>
                  <a:ext cx="1603248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zh-CN" altLang="en-US" sz="1600" dirty="0">
                      <a:ea typeface="华文楷体" panose="02010600040101010101" pitchFamily="2" charset="-122"/>
                    </a:rPr>
                    <a:t>将与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ea typeface="华文楷体" panose="02010600040101010101" pitchFamily="2" charset="-122"/>
                    </a:rPr>
                    <a:t>的帧</a:t>
                  </a:r>
                  <a:endParaRPr lang="en-US" altLang="zh-CN" sz="1600" dirty="0">
                    <a:solidFill>
                      <a:schemeClr val="tx1"/>
                    </a:solidFill>
                    <a:ea typeface="华文楷体" panose="02010600040101010101" pitchFamily="2" charset="-122"/>
                  </a:endParaRPr>
                </a:p>
                <a:p>
                  <a:pPr algn="ctr">
                    <a:lnSpc>
                      <a:spcPts val="1800"/>
                    </a:lnSpc>
                  </a:pPr>
                  <a:r>
                    <a:rPr lang="zh-CN" altLang="en-US" sz="1600" dirty="0">
                      <a:solidFill>
                        <a:schemeClr val="tx1"/>
                      </a:solidFill>
                      <a:ea typeface="华文楷体" panose="02010600040101010101" pitchFamily="2" charset="-122"/>
                    </a:rPr>
                    <a:t>开始部分重叠</a:t>
                  </a:r>
                </a:p>
              </p:txBody>
            </p:sp>
          </mc:Choice>
          <mc:Fallback xmlns=""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9568" y="4170183"/>
                  <a:ext cx="1603248" cy="553998"/>
                </a:xfrm>
                <a:prstGeom prst="rect">
                  <a:avLst/>
                </a:prstGeom>
                <a:blipFill rotWithShape="0">
                  <a:blip r:embed="rId9" cstate="print"/>
                  <a:stretch>
                    <a:fillRect t="-4396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" name="AutoShape 34"/>
            <p:cNvSpPr>
              <a:spLocks/>
            </p:cNvSpPr>
            <p:nvPr/>
          </p:nvSpPr>
          <p:spPr bwMode="auto">
            <a:xfrm rot="5400000">
              <a:off x="4850824" y="3992395"/>
              <a:ext cx="297914" cy="1582839"/>
            </a:xfrm>
            <a:prstGeom prst="leftBrace">
              <a:avLst>
                <a:gd name="adj1" fmla="val 38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None/>
              </a:pPr>
              <a:endParaRPr lang="zh-CN" altLang="en-US" sz="3600" b="1">
                <a:solidFill>
                  <a:srgbClr val="2B0286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/>
                <p:cNvSpPr txBox="1"/>
                <p:nvPr/>
              </p:nvSpPr>
              <p:spPr>
                <a:xfrm>
                  <a:off x="4230624" y="4176279"/>
                  <a:ext cx="1603248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zh-CN" altLang="en-US" sz="1600" dirty="0">
                      <a:ea typeface="华文楷体" panose="02010600040101010101" pitchFamily="2" charset="-122"/>
                    </a:rPr>
                    <a:t>将与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</m:oMath>
                  </a14:m>
                  <a:r>
                    <a:rPr lang="zh-CN" altLang="en-US" sz="1600" dirty="0">
                      <a:solidFill>
                        <a:schemeClr val="tx1"/>
                      </a:solidFill>
                      <a:ea typeface="华文楷体" panose="02010600040101010101" pitchFamily="2" charset="-122"/>
                    </a:rPr>
                    <a:t>的帧</a:t>
                  </a:r>
                  <a:endParaRPr lang="en-US" altLang="zh-CN" sz="1600" dirty="0">
                    <a:solidFill>
                      <a:schemeClr val="tx1"/>
                    </a:solidFill>
                    <a:ea typeface="华文楷体" panose="02010600040101010101" pitchFamily="2" charset="-122"/>
                  </a:endParaRPr>
                </a:p>
                <a:p>
                  <a:pPr algn="ctr">
                    <a:lnSpc>
                      <a:spcPts val="1800"/>
                    </a:lnSpc>
                  </a:pPr>
                  <a:r>
                    <a:rPr lang="zh-CN" altLang="en-US" sz="1600" dirty="0">
                      <a:ea typeface="华文楷体" panose="02010600040101010101" pitchFamily="2" charset="-122"/>
                    </a:rPr>
                    <a:t>结束</a:t>
                  </a:r>
                  <a:r>
                    <a:rPr lang="zh-CN" altLang="en-US" sz="1600" dirty="0">
                      <a:solidFill>
                        <a:schemeClr val="tx1"/>
                      </a:solidFill>
                      <a:ea typeface="华文楷体" panose="02010600040101010101" pitchFamily="2" charset="-122"/>
                    </a:rPr>
                    <a:t>部分重叠</a:t>
                  </a:r>
                </a:p>
              </p:txBody>
            </p:sp>
          </mc:Choice>
          <mc:Fallback xmlns="">
            <p:sp>
              <p:nvSpPr>
                <p:cNvPr id="24" name="文本框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0624" y="4176279"/>
                  <a:ext cx="1603248" cy="553998"/>
                </a:xfrm>
                <a:prstGeom prst="rect">
                  <a:avLst/>
                </a:prstGeom>
                <a:blipFill rotWithShape="0">
                  <a:blip r:embed="rId10" cstate="print"/>
                  <a:stretch>
                    <a:fillRect t="-4396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8" name="图片 27" descr="图片3.jpg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239624" y="1233887"/>
            <a:ext cx="8625840" cy="28651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485161" y="1844299"/>
            <a:ext cx="1932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（一个单位时间）</a:t>
            </a:r>
          </a:p>
        </p:txBody>
      </p:sp>
    </p:spTree>
    <p:extLst>
      <p:ext uri="{BB962C8B-B14F-4D97-AF65-F5344CB8AC3E}">
        <p14:creationId xmlns:p14="http://schemas.microsoft.com/office/powerpoint/2010/main" val="3497517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（二）</a:t>
            </a:r>
            <a:r>
              <a:rPr lang="zh-CN" altLang="en-US" dirty="0"/>
              <a:t>时隙</a:t>
            </a:r>
            <a:r>
              <a:rPr lang="en-US" altLang="zh-CN" dirty="0">
                <a:latin typeface="Calibri" panose="020F0502020204030204" pitchFamily="34" charset="0"/>
              </a:rPr>
              <a:t>ALOHA</a:t>
            </a:r>
            <a:endParaRPr lang="zh-CN" altLang="en-US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22</a:t>
            </a:fld>
            <a:endParaRPr lang="zh-CN" altLang="en-US" dirty="0"/>
          </a:p>
        </p:txBody>
      </p:sp>
      <p:pic>
        <p:nvPicPr>
          <p:cNvPr id="7" name="图片 6" descr="图片4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71726" y="1222110"/>
            <a:ext cx="8278368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629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811560"/>
          </a:xfrm>
        </p:spPr>
        <p:txBody>
          <a:bodyPr/>
          <a:lstStyle/>
          <a:p>
            <a:r>
              <a:rPr lang="zh-CN" altLang="en-US" sz="3200" dirty="0">
                <a:latin typeface="Calibri" panose="020F0502020204030204" pitchFamily="34" charset="0"/>
              </a:rPr>
              <a:t>（三）载波侦听多点接入</a:t>
            </a:r>
            <a:r>
              <a:rPr lang="en-US" altLang="zh-CN" sz="2000" dirty="0">
                <a:solidFill>
                  <a:srgbClr val="FF0000"/>
                </a:solidFill>
                <a:latin typeface="Calibri" panose="020F0502020204030204" pitchFamily="34" charset="0"/>
              </a:rPr>
              <a:t>(Carrier Sense Multiple Access, CSMA)</a:t>
            </a:r>
            <a:endParaRPr lang="zh-CN" altLang="en-US" sz="3200" dirty="0">
              <a:solidFill>
                <a:srgbClr val="FF0000"/>
              </a:solidFill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zh-CN" altLang="en-US" dirty="0"/>
              <a:t>多点接入</a:t>
            </a:r>
            <a:endParaRPr lang="en-US" altLang="zh-CN" dirty="0"/>
          </a:p>
          <a:p>
            <a:pPr lvl="1"/>
            <a:r>
              <a:rPr lang="zh-CN" altLang="en-US" sz="1800" dirty="0"/>
              <a:t>广播链路，多个结点以多点接入的方式连接在一链路，同一冲突域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载波侦听</a:t>
            </a:r>
            <a:endParaRPr lang="en-US" altLang="zh-CN" dirty="0"/>
          </a:p>
          <a:p>
            <a:pPr lvl="1">
              <a:lnSpc>
                <a:spcPts val="3000"/>
              </a:lnSpc>
            </a:pPr>
            <a:r>
              <a:rPr lang="zh-CN" altLang="en-US" sz="1800" dirty="0"/>
              <a:t>结点在发送前先检测信道，是否有其它结点也在发送，若有，则暂时不要发送数据，以免发生碰撞</a:t>
            </a:r>
            <a:endParaRPr lang="en-US" altLang="zh-CN" sz="1800" dirty="0"/>
          </a:p>
          <a:p>
            <a:pPr lvl="2">
              <a:lnSpc>
                <a:spcPts val="3000"/>
              </a:lnSpc>
            </a:pPr>
            <a:r>
              <a:rPr lang="zh-CN" altLang="en-US" sz="1600" dirty="0"/>
              <a:t>总线上并没有“载波”，只是一种形象</a:t>
            </a:r>
            <a:r>
              <a:rPr lang="zh-CN" altLang="en-US" sz="1600"/>
              <a:t>的比喻，结点可识别链路的忙闲状态</a:t>
            </a:r>
            <a:endParaRPr lang="en-US" altLang="zh-CN" sz="1600" dirty="0"/>
          </a:p>
          <a:p>
            <a:pPr lvl="1">
              <a:lnSpc>
                <a:spcPts val="3000"/>
              </a:lnSpc>
            </a:pPr>
            <a:r>
              <a:rPr lang="zh-CN" altLang="en-US" sz="1800" dirty="0"/>
              <a:t>若结点具备同时收发数据的能力，在发送数据的同时，也要监听信道，判断是否发生碰撞，若发生，立即停止发送，并按一定策略重发数据</a:t>
            </a:r>
            <a:endParaRPr lang="en-US" altLang="zh-CN" sz="1800" dirty="0"/>
          </a:p>
          <a:p>
            <a:pPr marL="457188" lvl="1" indent="0">
              <a:buNone/>
            </a:pP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585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（三）载波侦听多点接入</a:t>
            </a:r>
            <a:r>
              <a:rPr lang="en-US" altLang="zh-CN" sz="3200" dirty="0">
                <a:latin typeface="Calibri" panose="020F0502020204030204" pitchFamily="34" charset="0"/>
              </a:rPr>
              <a:t>(CSMA)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24</a:t>
            </a:fld>
            <a:endParaRPr lang="zh-CN" altLang="en-US" dirty="0"/>
          </a:p>
        </p:txBody>
      </p:sp>
      <p:pic>
        <p:nvPicPr>
          <p:cNvPr id="21" name="图片 20" descr="图片5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09333" y="1371681"/>
            <a:ext cx="8418576" cy="178612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772" y="3206485"/>
            <a:ext cx="7875865" cy="344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5470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0464" y="457200"/>
            <a:ext cx="8229600" cy="811560"/>
          </a:xfrm>
        </p:spPr>
        <p:txBody>
          <a:bodyPr/>
          <a:lstStyle/>
          <a:p>
            <a:r>
              <a:rPr lang="zh-CN" altLang="en-US" sz="2800" dirty="0">
                <a:latin typeface="Calibri" panose="020F0502020204030204" pitchFamily="34" charset="0"/>
              </a:rPr>
              <a:t>（三）载波侦听多点接入</a:t>
            </a:r>
            <a:r>
              <a:rPr lang="en-US" altLang="zh-CN" sz="2400" dirty="0">
                <a:latin typeface="Calibri" panose="020F0502020204030204" pitchFamily="34" charset="0"/>
              </a:rPr>
              <a:t>(CSMA)</a:t>
            </a:r>
            <a:endParaRPr lang="zh-CN" altLang="en-US" sz="24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25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99744" y="3194304"/>
            <a:ext cx="6912864" cy="2427428"/>
          </a:xfrm>
          <a:prstGeom prst="rect">
            <a:avLst/>
          </a:prstGeom>
        </p:spPr>
      </p:pic>
      <p:graphicFrame>
        <p:nvGraphicFramePr>
          <p:cNvPr id="13" name="表格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0688860"/>
              </p:ext>
            </p:extLst>
          </p:nvPr>
        </p:nvGraphicFramePr>
        <p:xfrm>
          <a:off x="3256843" y="4209151"/>
          <a:ext cx="4402596" cy="11483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2012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1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993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非持续</a:t>
                      </a:r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CSMA</a:t>
                      </a:r>
                    </a:p>
                    <a:p>
                      <a:pPr algn="ctr"/>
                      <a:r>
                        <a:rPr lang="zh-CN" altLang="en-US" sz="14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（等会再试，能发就发）</a:t>
                      </a:r>
                      <a:endParaRPr lang="zh-CN" altLang="en-US" sz="16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—</a:t>
                      </a:r>
                    </a:p>
                    <a:p>
                      <a:pPr algn="ctr"/>
                      <a:r>
                        <a:rPr lang="zh-CN" altLang="en-US" sz="14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（等会再试，概率发送）</a:t>
                      </a:r>
                      <a:endParaRPr lang="zh-CN" altLang="en-US" sz="16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323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1-</a:t>
                      </a:r>
                      <a:r>
                        <a:rPr lang="zh-CN" altLang="en-US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坚持</a:t>
                      </a:r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CSMA</a:t>
                      </a:r>
                    </a:p>
                    <a:p>
                      <a:pPr algn="ctr"/>
                      <a:r>
                        <a:rPr lang="zh-CN" altLang="en-US" sz="14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（一直在试，能发就发）</a:t>
                      </a:r>
                      <a:endParaRPr lang="zh-CN" altLang="en-US" sz="16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𝑝</a:t>
                      </a:r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-</a:t>
                      </a:r>
                      <a:r>
                        <a:rPr lang="zh-CN" altLang="en-US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坚持</a:t>
                      </a:r>
                      <a:r>
                        <a:rPr lang="en-US" altLang="zh-CN" sz="1600" b="0" baseline="0" dirty="0">
                          <a:solidFill>
                            <a:schemeClr val="accent5">
                              <a:lumMod val="50000"/>
                            </a:schemeClr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CSMA</a:t>
                      </a:r>
                    </a:p>
                    <a:p>
                      <a:pPr algn="ctr"/>
                      <a:r>
                        <a:rPr lang="zh-CN" altLang="en-US" sz="1400" b="0" baseline="0" dirty="0">
                          <a:solidFill>
                            <a:srgbClr val="FF0000"/>
                          </a:solidFill>
                          <a:latin typeface="Calibri" panose="020F0502020204030204" pitchFamily="34" charset="0"/>
                          <a:ea typeface="楷体" panose="02010609060101010101" pitchFamily="49" charset="-122"/>
                        </a:rPr>
                        <a:t>（一直在试，概率发送）</a:t>
                      </a:r>
                      <a:endParaRPr lang="zh-CN" altLang="en-US" sz="1600" b="0" baseline="0" dirty="0">
                        <a:solidFill>
                          <a:srgbClr val="FF0000"/>
                        </a:solidFill>
                        <a:latin typeface="Calibri" panose="020F0502020204030204" pitchFamily="34" charset="0"/>
                        <a:ea typeface="楷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7" name="组合 16"/>
          <p:cNvGrpSpPr/>
          <p:nvPr/>
        </p:nvGrpSpPr>
        <p:grpSpPr>
          <a:xfrm>
            <a:off x="1383998" y="4190289"/>
            <a:ext cx="1632708" cy="1065686"/>
            <a:chOff x="1349294" y="4617009"/>
            <a:chExt cx="1632708" cy="1065686"/>
          </a:xfrm>
        </p:grpSpPr>
        <p:sp>
          <p:nvSpPr>
            <p:cNvPr id="8" name="矩形 7"/>
            <p:cNvSpPr/>
            <p:nvPr/>
          </p:nvSpPr>
          <p:spPr>
            <a:xfrm>
              <a:off x="1349294" y="4742688"/>
              <a:ext cx="430887" cy="913070"/>
            </a:xfrm>
            <a:prstGeom prst="rect">
              <a:avLst/>
            </a:prstGeom>
          </p:spPr>
          <p:txBody>
            <a:bodyPr vert="eaVert" wrap="none">
              <a:spAutoFit/>
            </a:bodyPr>
            <a:lstStyle/>
            <a:p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侦听策略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/>
                <p:cNvSpPr/>
                <p:nvPr/>
              </p:nvSpPr>
              <p:spPr>
                <a:xfrm>
                  <a:off x="1859772" y="4617009"/>
                  <a:ext cx="1122230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𝑞</m:t>
                      </m:r>
                    </m:oMath>
                  </a14:m>
                  <a:r>
                    <a:rPr lang="zh-CN" altLang="en-US" sz="1600" dirty="0">
                      <a:solidFill>
                        <a:prstClr val="black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概率侦听</a:t>
                  </a:r>
                </a:p>
              </p:txBody>
            </p:sp>
          </mc:Choice>
          <mc:Fallback xmlns="">
            <p:sp>
              <p:nvSpPr>
                <p:cNvPr id="9" name="矩形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9772" y="4617009"/>
                  <a:ext cx="1122230" cy="338554"/>
                </a:xfrm>
                <a:prstGeom prst="rect">
                  <a:avLst/>
                </a:prstGeom>
                <a:blipFill rotWithShape="0">
                  <a:blip r:embed="rId7" cstate="print"/>
                  <a:stretch>
                    <a:fillRect t="-7143" r="-1630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矩形 9"/>
            <p:cNvSpPr/>
            <p:nvPr/>
          </p:nvSpPr>
          <p:spPr>
            <a:xfrm>
              <a:off x="1873947" y="5344141"/>
              <a:ext cx="1107996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概率侦听</a:t>
              </a:r>
            </a:p>
          </p:txBody>
        </p:sp>
        <p:sp>
          <p:nvSpPr>
            <p:cNvPr id="14" name="AutoShape 34"/>
            <p:cNvSpPr>
              <a:spLocks/>
            </p:cNvSpPr>
            <p:nvPr/>
          </p:nvSpPr>
          <p:spPr bwMode="auto">
            <a:xfrm>
              <a:off x="1736701" y="4742688"/>
              <a:ext cx="137247" cy="829578"/>
            </a:xfrm>
            <a:prstGeom prst="leftBrace">
              <a:avLst>
                <a:gd name="adj1" fmla="val 38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None/>
              </a:pPr>
              <a:endParaRPr lang="zh-CN" altLang="en-US" sz="3600" b="1">
                <a:solidFill>
                  <a:srgbClr val="2B0286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64704" y="3281002"/>
            <a:ext cx="4055553" cy="873591"/>
            <a:chOff x="3598816" y="3707722"/>
            <a:chExt cx="4055553" cy="873591"/>
          </a:xfrm>
        </p:grpSpPr>
        <p:sp>
          <p:nvSpPr>
            <p:cNvPr id="7" name="矩形 6"/>
            <p:cNvSpPr/>
            <p:nvPr/>
          </p:nvSpPr>
          <p:spPr>
            <a:xfrm>
              <a:off x="5042481" y="3707722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发送策略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3598816" y="4216483"/>
              <a:ext cx="1946367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可发送时</a:t>
              </a:r>
              <a:r>
                <a:rPr lang="en-US" altLang="zh-CN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1600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概率发送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/>
                <p:cNvSpPr/>
                <p:nvPr/>
              </p:nvSpPr>
              <p:spPr>
                <a:xfrm>
                  <a:off x="5696782" y="4242759"/>
                  <a:ext cx="1957587" cy="33855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zh-CN" altLang="en-US" sz="1600" dirty="0">
                      <a:solidFill>
                        <a:prstClr val="black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可发送时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</m:oMath>
                  </a14:m>
                  <a:r>
                    <a:rPr lang="zh-CN" altLang="en-US" sz="1600" dirty="0">
                      <a:solidFill>
                        <a:prstClr val="black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概率发送</a:t>
                  </a:r>
                </a:p>
              </p:txBody>
            </p:sp>
          </mc:Choice>
          <mc:Fallback xmlns=""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96782" y="4242759"/>
                  <a:ext cx="1957587" cy="338554"/>
                </a:xfrm>
                <a:prstGeom prst="rect">
                  <a:avLst/>
                </a:prstGeom>
                <a:blipFill rotWithShape="0">
                  <a:blip r:embed="rId8" cstate="print"/>
                  <a:stretch>
                    <a:fillRect l="-1869" t="-7143" b="-196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AutoShape 34"/>
            <p:cNvSpPr>
              <a:spLocks/>
            </p:cNvSpPr>
            <p:nvPr/>
          </p:nvSpPr>
          <p:spPr bwMode="auto">
            <a:xfrm rot="5400000">
              <a:off x="5478625" y="2967017"/>
              <a:ext cx="222813" cy="2328672"/>
            </a:xfrm>
            <a:prstGeom prst="leftBrace">
              <a:avLst>
                <a:gd name="adj1" fmla="val 38736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lnSpc>
                  <a:spcPct val="150000"/>
                </a:lnSpc>
                <a:spcBef>
                  <a:spcPct val="20000"/>
                </a:spcBef>
                <a:spcAft>
                  <a:spcPct val="0"/>
                </a:spcAft>
                <a:buFont typeface="Wingdings" panose="05000000000000000000" pitchFamily="2" charset="2"/>
                <a:buNone/>
              </a:pPr>
              <a:endParaRPr lang="zh-CN" altLang="en-US" sz="3600" b="1">
                <a:solidFill>
                  <a:srgbClr val="2B0286"/>
                </a:solidFill>
              </a:endParaRPr>
            </a:p>
          </p:txBody>
        </p:sp>
      </p:grpSp>
      <p:sp>
        <p:nvSpPr>
          <p:cNvPr id="19" name="内容占位符 2"/>
          <p:cNvSpPr txBox="1">
            <a:spLocks/>
          </p:cNvSpPr>
          <p:nvPr/>
        </p:nvSpPr>
        <p:spPr bwMode="auto">
          <a:xfrm>
            <a:off x="457198" y="5626124"/>
            <a:ext cx="8370711" cy="10794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1" fontAlgn="base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24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  <a:cs typeface="+mn-cs"/>
              </a:defRPr>
            </a:lvl1pPr>
            <a:lvl2pPr marL="742932" indent="-28574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0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 marL="1142971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18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3pPr>
            <a:lvl4pPr marL="1600160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4pPr>
            <a:lvl5pPr marL="2057349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5pPr>
            <a:lvl6pPr marL="2514537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kern="0" dirty="0"/>
              <a:t>无法彻底解决碰撞问题，为什么？</a:t>
            </a:r>
            <a:endParaRPr lang="en-US" altLang="zh-CN" kern="0" dirty="0"/>
          </a:p>
          <a:p>
            <a:pPr lvl="1"/>
            <a:r>
              <a:rPr lang="zh-CN" altLang="en-US" sz="1800" kern="0" dirty="0"/>
              <a:t>信号传播时延导致</a:t>
            </a:r>
            <a:r>
              <a:rPr lang="zh-CN" altLang="en-US" sz="1800" kern="0" dirty="0">
                <a:solidFill>
                  <a:srgbClr val="FF0000"/>
                </a:solidFill>
              </a:rPr>
              <a:t>（发送前无碰撞，不能保证发送中不碰撞）</a:t>
            </a:r>
          </a:p>
        </p:txBody>
      </p:sp>
      <p:pic>
        <p:nvPicPr>
          <p:cNvPr id="21" name="图片 20" descr="图片5.jpg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409333" y="1440316"/>
            <a:ext cx="8418576" cy="1786128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A71D209-8341-4F8D-8072-6B3DE8CB35E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62670" y="34565"/>
            <a:ext cx="3636780" cy="158951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8659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（三）载波侦听多点接入</a:t>
            </a:r>
            <a:r>
              <a:rPr lang="en-US" altLang="zh-CN" sz="3200" dirty="0">
                <a:latin typeface="Calibri" panose="020F0502020204030204" pitchFamily="34" charset="0"/>
              </a:rPr>
              <a:t>(CSMA)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676429"/>
          </a:xfrm>
        </p:spPr>
        <p:txBody>
          <a:bodyPr/>
          <a:lstStyle/>
          <a:p>
            <a:r>
              <a:rPr lang="zh-CN" altLang="en-US" dirty="0"/>
              <a:t>信号传播时延对载波侦听的影响</a:t>
            </a:r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26</a:t>
            </a:fld>
            <a:endParaRPr lang="zh-CN" altLang="en-US" dirty="0"/>
          </a:p>
        </p:txBody>
      </p:sp>
      <p:sp>
        <p:nvSpPr>
          <p:cNvPr id="59" name="Line 5"/>
          <p:cNvSpPr>
            <a:spLocks noChangeShapeType="1"/>
          </p:cNvSpPr>
          <p:nvPr/>
        </p:nvSpPr>
        <p:spPr bwMode="auto">
          <a:xfrm>
            <a:off x="1873682" y="3229414"/>
            <a:ext cx="0" cy="3022568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0" name="Line 6"/>
          <p:cNvSpPr>
            <a:spLocks noChangeShapeType="1"/>
          </p:cNvSpPr>
          <p:nvPr/>
        </p:nvSpPr>
        <p:spPr bwMode="auto">
          <a:xfrm>
            <a:off x="1880642" y="3337558"/>
            <a:ext cx="4610074" cy="1923413"/>
          </a:xfrm>
          <a:prstGeom prst="line">
            <a:avLst/>
          </a:prstGeom>
          <a:noFill/>
          <a:ln w="76200">
            <a:solidFill>
              <a:schemeClr val="accent5">
                <a:lumMod val="50000"/>
              </a:schemeClr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1" name="Rectangle 7"/>
          <p:cNvSpPr>
            <a:spLocks noChangeArrowheads="1"/>
          </p:cNvSpPr>
          <p:nvPr/>
        </p:nvSpPr>
        <p:spPr bwMode="auto">
          <a:xfrm>
            <a:off x="1081340" y="2921001"/>
            <a:ext cx="8447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</a:t>
            </a:r>
            <a:r>
              <a:rPr kumimoji="1"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62" name="Rectangle 8"/>
          <p:cNvSpPr>
            <a:spLocks noChangeArrowheads="1"/>
          </p:cNvSpPr>
          <p:nvPr/>
        </p:nvSpPr>
        <p:spPr bwMode="auto">
          <a:xfrm>
            <a:off x="6405080" y="2894309"/>
            <a:ext cx="83516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</a:t>
            </a:r>
            <a:r>
              <a:rPr kumimoji="1"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10"/>
              <p:cNvSpPr>
                <a:spLocks noChangeArrowheads="1"/>
              </p:cNvSpPr>
              <p:nvPr/>
            </p:nvSpPr>
            <p:spPr bwMode="auto">
              <a:xfrm>
                <a:off x="1590478" y="5278129"/>
                <a:ext cx="332656" cy="366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𝑡</m:t>
                      </m:r>
                    </m:oMath>
                  </m:oMathPara>
                </a14:m>
                <a:endParaRPr kumimoji="1" lang="en-US" altLang="zh-CN" i="1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4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90478" y="5278129"/>
                <a:ext cx="332656" cy="366767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oup 23"/>
          <p:cNvGrpSpPr>
            <a:grpSpLocks/>
          </p:cNvGrpSpPr>
          <p:nvPr/>
        </p:nvGrpSpPr>
        <p:grpSpPr bwMode="auto">
          <a:xfrm>
            <a:off x="6490715" y="3821374"/>
            <a:ext cx="1382713" cy="369888"/>
            <a:chOff x="4167" y="721"/>
            <a:chExt cx="871" cy="233"/>
          </a:xfrm>
        </p:grpSpPr>
        <p:sp>
          <p:nvSpPr>
            <p:cNvPr id="81" name="Line 24"/>
            <p:cNvSpPr>
              <a:spLocks noChangeShapeType="1"/>
            </p:cNvSpPr>
            <p:nvPr/>
          </p:nvSpPr>
          <p:spPr bwMode="auto">
            <a:xfrm flipH="1">
              <a:off x="4167" y="847"/>
              <a:ext cx="261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54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Text Box 25"/>
            <p:cNvSpPr txBox="1">
              <a:spLocks noChangeArrowheads="1"/>
            </p:cNvSpPr>
            <p:nvPr/>
          </p:nvSpPr>
          <p:spPr bwMode="auto">
            <a:xfrm>
              <a:off x="4363" y="721"/>
              <a:ext cx="67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254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i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t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= 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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 </a:t>
              </a:r>
              <a:r>
                <a:rPr kumimoji="1" lang="en-US" altLang="zh-CN" baseline="30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6512993" y="5140208"/>
            <a:ext cx="1074737" cy="369888"/>
            <a:chOff x="5300668" y="4919214"/>
            <a:chExt cx="1074737" cy="369888"/>
          </a:xfrm>
        </p:grpSpPr>
        <p:sp>
          <p:nvSpPr>
            <p:cNvPr id="85" name="Line 33"/>
            <p:cNvSpPr>
              <a:spLocks noChangeShapeType="1"/>
            </p:cNvSpPr>
            <p:nvPr/>
          </p:nvSpPr>
          <p:spPr bwMode="auto">
            <a:xfrm flipH="1">
              <a:off x="5300668" y="5076377"/>
              <a:ext cx="4143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6" name="Text Box 34"/>
            <p:cNvSpPr txBox="1">
              <a:spLocks noChangeArrowheads="1"/>
            </p:cNvSpPr>
            <p:nvPr/>
          </p:nvSpPr>
          <p:spPr bwMode="auto">
            <a:xfrm>
              <a:off x="5686430" y="4919214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i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t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= 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</a:t>
              </a:r>
            </a:p>
          </p:txBody>
        </p:sp>
      </p:grpSp>
      <p:grpSp>
        <p:nvGrpSpPr>
          <p:cNvPr id="97" name="组合 96"/>
          <p:cNvGrpSpPr/>
          <p:nvPr/>
        </p:nvGrpSpPr>
        <p:grpSpPr>
          <a:xfrm>
            <a:off x="714198" y="3093082"/>
            <a:ext cx="1082675" cy="369332"/>
            <a:chOff x="714198" y="2629786"/>
            <a:chExt cx="1082675" cy="369332"/>
          </a:xfrm>
        </p:grpSpPr>
        <p:sp>
          <p:nvSpPr>
            <p:cNvPr id="89" name="Text Box 35"/>
            <p:cNvSpPr txBox="1">
              <a:spLocks noChangeArrowheads="1"/>
            </p:cNvSpPr>
            <p:nvPr/>
          </p:nvSpPr>
          <p:spPr bwMode="auto">
            <a:xfrm>
              <a:off x="714198" y="2629786"/>
              <a:ext cx="5998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i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= 0</a:t>
              </a:r>
              <a:endParaRPr kumimoji="1" lang="en-US" altLang="zh-CN" baseline="30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Line 36"/>
            <p:cNvSpPr>
              <a:spLocks noChangeShapeType="1"/>
            </p:cNvSpPr>
            <p:nvPr/>
          </p:nvSpPr>
          <p:spPr bwMode="auto">
            <a:xfrm>
              <a:off x="1384123" y="2834574"/>
              <a:ext cx="41275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91" name="Text Box 37"/>
          <p:cNvSpPr txBox="1">
            <a:spLocks noChangeArrowheads="1"/>
          </p:cNvSpPr>
          <p:nvPr/>
        </p:nvSpPr>
        <p:spPr bwMode="auto">
          <a:xfrm>
            <a:off x="6587489" y="5684150"/>
            <a:ext cx="18934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单程端到端</a:t>
            </a:r>
          </a:p>
          <a:p>
            <a:pPr algn="ctr"/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传播时延记为</a:t>
            </a:r>
            <a:r>
              <a:rPr lang="zh-CN" altLang="en-US" sz="2000" i="1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1866724" y="3213733"/>
            <a:ext cx="4635499" cy="103187"/>
          </a:xfrm>
          <a:prstGeom prst="rect">
            <a:avLst/>
          </a:prstGeom>
          <a:gradFill flip="none" rotWithShape="1">
            <a:gsLst>
              <a:gs pos="51000">
                <a:srgbClr val="FFFFFF"/>
              </a:gs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1"/>
            <a:tileRect/>
          </a:gra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92" name="Line 5"/>
          <p:cNvSpPr>
            <a:spLocks noChangeShapeType="1"/>
          </p:cNvSpPr>
          <p:nvPr/>
        </p:nvSpPr>
        <p:spPr bwMode="auto">
          <a:xfrm>
            <a:off x="6501854" y="3229414"/>
            <a:ext cx="0" cy="3022568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圆角矩形标注 162"/>
              <p:cNvSpPr/>
              <p:nvPr/>
            </p:nvSpPr>
            <p:spPr>
              <a:xfrm>
                <a:off x="3098740" y="2008700"/>
                <a:ext cx="2088725" cy="634340"/>
              </a:xfrm>
              <a:prstGeom prst="wedgeRoundRectCallout">
                <a:avLst>
                  <a:gd name="adj1" fmla="val -110215"/>
                  <a:gd name="adj2" fmla="val 154485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6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740" y="2008700"/>
                <a:ext cx="2088725" cy="634340"/>
              </a:xfrm>
              <a:prstGeom prst="wedgeRoundRectCallout">
                <a:avLst>
                  <a:gd name="adj1" fmla="val -110215"/>
                  <a:gd name="adj2" fmla="val 154485"/>
                  <a:gd name="adj3" fmla="val 16667"/>
                </a:avLst>
              </a:prstGeom>
              <a:blipFill rotWithShape="0">
                <a:blip r:embed="rId7" cstate="print"/>
                <a:stretch>
                  <a:fillRect t="-2326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圆角矩形标注 162"/>
              <p:cNvSpPr/>
              <p:nvPr/>
            </p:nvSpPr>
            <p:spPr>
              <a:xfrm>
                <a:off x="4368839" y="5684150"/>
                <a:ext cx="1797224" cy="427778"/>
              </a:xfrm>
              <a:prstGeom prst="wedgeRoundRectCallout">
                <a:avLst>
                  <a:gd name="adj1" fmla="val 63859"/>
                  <a:gd name="adj2" fmla="val -144149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到达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8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8839" y="5684150"/>
                <a:ext cx="1797224" cy="427778"/>
              </a:xfrm>
              <a:prstGeom prst="wedgeRoundRectCallout">
                <a:avLst>
                  <a:gd name="adj1" fmla="val 63859"/>
                  <a:gd name="adj2" fmla="val -144149"/>
                  <a:gd name="adj3" fmla="val 16667"/>
                </a:avLst>
              </a:prstGeom>
              <a:blipFill rotWithShape="0">
                <a:blip r:embed="rId8" cstate="print"/>
                <a:stretch>
                  <a:fillRect b="-5714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Line 6"/>
          <p:cNvSpPr>
            <a:spLocks noChangeShapeType="1"/>
          </p:cNvSpPr>
          <p:nvPr/>
        </p:nvSpPr>
        <p:spPr bwMode="auto">
          <a:xfrm flipH="1">
            <a:off x="1866724" y="3995995"/>
            <a:ext cx="4623991" cy="2020704"/>
          </a:xfrm>
          <a:prstGeom prst="line">
            <a:avLst/>
          </a:prstGeom>
          <a:noFill/>
          <a:ln w="76200">
            <a:solidFill>
              <a:srgbClr val="CC99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圆角矩形标注 162"/>
              <p:cNvSpPr/>
              <p:nvPr/>
            </p:nvSpPr>
            <p:spPr>
              <a:xfrm>
                <a:off x="6749563" y="1972905"/>
                <a:ext cx="2088725" cy="634340"/>
              </a:xfrm>
              <a:prstGeom prst="wedgeRoundRectCallout">
                <a:avLst>
                  <a:gd name="adj1" fmla="val -12152"/>
                  <a:gd name="adj2" fmla="val 256351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2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563" y="1972905"/>
                <a:ext cx="2088725" cy="634340"/>
              </a:xfrm>
              <a:prstGeom prst="wedgeRoundRectCallout">
                <a:avLst>
                  <a:gd name="adj1" fmla="val -12152"/>
                  <a:gd name="adj2" fmla="val 256351"/>
                  <a:gd name="adj3" fmla="val 16667"/>
                </a:avLst>
              </a:prstGeom>
              <a:blipFill rotWithShape="0">
                <a:blip r:embed="rId9" cstate="print"/>
                <a:stretch>
                  <a:fillRect t="-1558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utoShape 15"/>
          <p:cNvSpPr>
            <a:spLocks noChangeArrowheads="1"/>
          </p:cNvSpPr>
          <p:nvPr/>
        </p:nvSpPr>
        <p:spPr bwMode="auto">
          <a:xfrm>
            <a:off x="4457400" y="4246249"/>
            <a:ext cx="965200" cy="720725"/>
          </a:xfrm>
          <a:prstGeom prst="irregularSeal1">
            <a:avLst/>
          </a:prstGeom>
          <a:solidFill>
            <a:srgbClr val="FF0000"/>
          </a:solidFill>
          <a:ln w="12700">
            <a:solidFill>
              <a:srgbClr val="FFCC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b="1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碰撞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6993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animBg="1"/>
      <p:bldP spid="61" grpId="0"/>
      <p:bldP spid="62" grpId="0"/>
      <p:bldP spid="64" grpId="0" animBg="1"/>
      <p:bldP spid="91" grpId="0"/>
      <p:bldP spid="6" grpId="0" animBg="1"/>
      <p:bldP spid="92" grpId="0" animBg="1"/>
      <p:bldP spid="96" grpId="0" animBg="1"/>
      <p:bldP spid="98" grpId="0" animBg="1"/>
      <p:bldP spid="100" grpId="0" animBg="1"/>
      <p:bldP spid="102" grpId="0" animBg="1"/>
      <p:bldP spid="6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370711" cy="5260620"/>
          </a:xfrm>
        </p:spPr>
        <p:txBody>
          <a:bodyPr/>
          <a:lstStyle/>
          <a:p>
            <a:pPr marL="342891" lvl="1" indent="-342891">
              <a:lnSpc>
                <a:spcPct val="150000"/>
              </a:lnSpc>
              <a:spcBef>
                <a:spcPts val="3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>
                <a:cs typeface="+mn-cs"/>
              </a:rPr>
              <a:t>核心思想</a:t>
            </a:r>
            <a:endParaRPr lang="en-US" altLang="zh-CN" sz="2400" dirty="0">
              <a:cs typeface="+mn-cs"/>
            </a:endParaRPr>
          </a:p>
          <a:p>
            <a:pPr lvl="1">
              <a:spcBef>
                <a:spcPts val="600"/>
              </a:spcBef>
            </a:pPr>
            <a:r>
              <a:rPr lang="en-US" altLang="zh-CN" sz="1800" dirty="0"/>
              <a:t>1-</a:t>
            </a:r>
            <a:r>
              <a:rPr lang="zh-CN" altLang="en-US" sz="1800" dirty="0"/>
              <a:t>坚持</a:t>
            </a:r>
            <a:r>
              <a:rPr lang="en-US" altLang="zh-CN" sz="1800" dirty="0"/>
              <a:t>CSMA + </a:t>
            </a:r>
            <a:r>
              <a:rPr lang="zh-CN" altLang="en-US" sz="1800" dirty="0"/>
              <a:t>碰撞检测</a:t>
            </a:r>
            <a:endParaRPr lang="en-US" altLang="zh-CN" sz="1800" dirty="0"/>
          </a:p>
          <a:p>
            <a:pPr>
              <a:spcBef>
                <a:spcPts val="3000"/>
              </a:spcBef>
            </a:pPr>
            <a:r>
              <a:rPr lang="zh-CN" altLang="en-US" dirty="0"/>
              <a:t>碰撞检测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结点边发送数据边检测信道上的信号电压大小</a:t>
            </a:r>
          </a:p>
          <a:p>
            <a:pPr lvl="2"/>
            <a:r>
              <a:rPr lang="zh-CN" altLang="en-US" sz="1600" dirty="0"/>
              <a:t>几个结点同时发送数据时，总线上的信号电压摆动值将会增大</a:t>
            </a:r>
            <a:r>
              <a:rPr lang="en-US" altLang="zh-CN" sz="1600" dirty="0"/>
              <a:t>(</a:t>
            </a:r>
            <a:r>
              <a:rPr lang="zh-CN" altLang="en-US" sz="1600" dirty="0"/>
              <a:t>互相叠加</a:t>
            </a:r>
            <a:r>
              <a:rPr lang="en-US" altLang="zh-CN" sz="1600" dirty="0"/>
              <a:t>)</a:t>
            </a:r>
            <a:endParaRPr lang="zh-CN" altLang="en-US" sz="16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当结点检测到的信号电压摆动值超过一定的门限值时，认为总线上至少有两个结点同时在发送数据，表明产生了碰撞</a:t>
            </a:r>
            <a:endParaRPr lang="en-US" altLang="zh-CN" sz="1800" dirty="0"/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发生碰撞时，总线上传输的信号产生严重失真，无法从中恢复出有用信息</a:t>
            </a:r>
          </a:p>
          <a:p>
            <a:pPr lvl="1">
              <a:spcBef>
                <a:spcPts val="1200"/>
              </a:spcBef>
            </a:pPr>
            <a:r>
              <a:rPr lang="zh-CN" altLang="en-US" sz="1800" dirty="0"/>
              <a:t>因此，每个正在发送数据的结点一旦发现出现了碰撞，需立即停止发送，免得继续浪费网络资源，然后等待一段随机时间后再次发送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27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2D2C6E-1061-4B19-A901-68FE102EEA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8478" y="1268760"/>
            <a:ext cx="4435522" cy="193862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07478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28</a:t>
            </a:fld>
            <a:endParaRPr lang="zh-CN" altLang="en-US" dirty="0"/>
          </a:p>
        </p:txBody>
      </p:sp>
      <p:pic>
        <p:nvPicPr>
          <p:cNvPr id="6" name="图片 5" descr="图片6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" y="1241565"/>
            <a:ext cx="8625840" cy="542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13774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57199" y="1444979"/>
                <a:ext cx="8579555" cy="5138701"/>
              </a:xfrm>
            </p:spPr>
            <p:txBody>
              <a:bodyPr/>
              <a:lstStyle/>
              <a:p>
                <a:pPr marL="342891" lvl="1" indent="-342891">
                  <a:buClr>
                    <a:schemeClr val="bg2"/>
                  </a:buClr>
                  <a:buSzPct val="75000"/>
                  <a:buFont typeface="Wingdings" panose="05000000000000000000" pitchFamily="2" charset="2"/>
                  <a:buChar char="n"/>
                </a:pPr>
                <a:r>
                  <a:rPr lang="zh-CN" altLang="en-US" sz="2400" dirty="0"/>
                  <a:t>碰撞窗口</a:t>
                </a:r>
                <a:r>
                  <a:rPr lang="en-US" altLang="zh-CN" sz="2400" dirty="0"/>
                  <a:t>/</a:t>
                </a:r>
                <a:r>
                  <a:rPr lang="zh-CN" altLang="en-US" sz="2400" dirty="0"/>
                  <a:t>争用期</a:t>
                </a:r>
                <a:endParaRPr lang="en-US" altLang="zh-CN" sz="2400" dirty="0"/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每个结点发送数据之后的一小段时间内，存在着遭遇碰撞的可能性</a:t>
                </a:r>
                <a:endParaRPr lang="en-US" altLang="zh-CN" sz="1800" dirty="0"/>
              </a:p>
              <a:p>
                <a:pPr lvl="2">
                  <a:spcBef>
                    <a:spcPts val="600"/>
                  </a:spcBef>
                </a:pPr>
                <a:r>
                  <a:rPr lang="zh-CN" altLang="en-US" sz="1600" dirty="0"/>
                  <a:t>时间取决于另一数据发送结点与该结点的距离</a:t>
                </a:r>
              </a:p>
              <a:p>
                <a:pPr lvl="1">
                  <a:spcBef>
                    <a:spcPts val="600"/>
                  </a:spcBef>
                </a:pPr>
                <a:r>
                  <a:rPr lang="zh-CN" altLang="en-US" sz="1800" dirty="0"/>
                  <a:t>以太网的</a:t>
                </a:r>
                <a:r>
                  <a:rPr lang="zh-CN" altLang="en-US" sz="1800" dirty="0">
                    <a:solidFill>
                      <a:schemeClr val="accent5">
                        <a:lumMod val="50000"/>
                      </a:schemeClr>
                    </a:solidFill>
                  </a:rPr>
                  <a:t>端到端往返时延</a:t>
                </a:r>
                <a14:m>
                  <m:oMath xmlns:m="http://schemas.openxmlformats.org/officeDocument/2006/math">
                    <m:r>
                      <a:rPr lang="en-US" altLang="zh-CN" sz="1800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1800" b="0" i="1" dirty="0" smtClean="0">
                        <a:solidFill>
                          <a:schemeClr val="accent5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zh-CN" altLang="en-US" sz="1800" dirty="0"/>
                  <a:t>称为碰撞窗口</a:t>
                </a:r>
                <a:r>
                  <a:rPr lang="en-US" altLang="zh-CN" sz="1800" dirty="0"/>
                  <a:t>/</a:t>
                </a:r>
                <a:r>
                  <a:rPr lang="zh-CN" altLang="en-US" sz="1800" dirty="0"/>
                  <a:t>争用期</a:t>
                </a:r>
                <a:endParaRPr lang="en-US" altLang="zh-CN" sz="1800" dirty="0"/>
              </a:p>
              <a:p>
                <a:pPr lvl="2">
                  <a:spcBef>
                    <a:spcPts val="600"/>
                  </a:spcBef>
                </a:pPr>
                <a:r>
                  <a:rPr lang="zh-CN" altLang="en-US" sz="1600" dirty="0"/>
                  <a:t>结点发送数据帧后，至多经过时间 </a:t>
                </a:r>
                <a:r>
                  <a:rPr lang="en-US" altLang="zh-CN" sz="1600" dirty="0"/>
                  <a:t>2</a:t>
                </a:r>
                <a:r>
                  <a:rPr lang="en-US" altLang="zh-CN" sz="1600" i="1" dirty="0">
                    <a:sym typeface="Symbol" panose="05050102010706020507" pitchFamily="18" charset="2"/>
                  </a:rPr>
                  <a:t>  </a:t>
                </a:r>
                <a:r>
                  <a:rPr lang="en-US" altLang="zh-CN" sz="1600" dirty="0">
                    <a:sym typeface="Symbol" panose="05050102010706020507" pitchFamily="18" charset="2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16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𝜎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→0</m:t>
                    </m:r>
                  </m:oMath>
                </a14:m>
                <a:r>
                  <a:rPr lang="en-US" altLang="zh-CN" sz="1600" dirty="0">
                    <a:sym typeface="Symbol" panose="05050102010706020507" pitchFamily="18" charset="2"/>
                  </a:rPr>
                  <a:t>)</a:t>
                </a:r>
                <a:r>
                  <a:rPr lang="zh-CN" altLang="en-US" sz="1600" dirty="0">
                    <a:sym typeface="Symbol" panose="05050102010706020507" pitchFamily="18" charset="2"/>
                  </a:rPr>
                  <a:t>，</a:t>
                </a:r>
                <a:r>
                  <a:rPr lang="zh-CN" altLang="en-US" sz="1600" dirty="0"/>
                  <a:t>可知是否遭受了碰撞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199" y="1444979"/>
                <a:ext cx="8579555" cy="5138701"/>
              </a:xfrm>
              <a:blipFill>
                <a:blip r:embed="rId4"/>
                <a:stretch>
                  <a:fillRect l="-426" t="-14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29</a:t>
            </a:fld>
            <a:endParaRPr lang="zh-CN" altLang="en-US" dirty="0"/>
          </a:p>
        </p:txBody>
      </p:sp>
      <p:sp>
        <p:nvSpPr>
          <p:cNvPr id="38" name="Line 5"/>
          <p:cNvSpPr>
            <a:spLocks noChangeShapeType="1"/>
          </p:cNvSpPr>
          <p:nvPr/>
        </p:nvSpPr>
        <p:spPr bwMode="auto">
          <a:xfrm>
            <a:off x="1616683" y="4225729"/>
            <a:ext cx="0" cy="2540831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>
            <a:off x="1623643" y="4333873"/>
            <a:ext cx="4661940" cy="1120455"/>
          </a:xfrm>
          <a:prstGeom prst="line">
            <a:avLst/>
          </a:prstGeom>
          <a:noFill/>
          <a:ln w="76200">
            <a:solidFill>
              <a:schemeClr val="accent5">
                <a:lumMod val="50000"/>
              </a:schemeClr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40" name="Rectangle 7"/>
          <p:cNvSpPr>
            <a:spLocks noChangeArrowheads="1"/>
          </p:cNvSpPr>
          <p:nvPr/>
        </p:nvSpPr>
        <p:spPr bwMode="auto">
          <a:xfrm>
            <a:off x="824341" y="3917316"/>
            <a:ext cx="844784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</a:t>
            </a:r>
            <a:r>
              <a:rPr kumimoji="1"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41" name="Rectangle 8"/>
          <p:cNvSpPr>
            <a:spLocks noChangeArrowheads="1"/>
          </p:cNvSpPr>
          <p:nvPr/>
        </p:nvSpPr>
        <p:spPr bwMode="auto">
          <a:xfrm>
            <a:off x="6148081" y="3890624"/>
            <a:ext cx="835166" cy="397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结点</a:t>
            </a:r>
            <a:r>
              <a:rPr kumimoji="1"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10"/>
              <p:cNvSpPr>
                <a:spLocks noChangeArrowheads="1"/>
              </p:cNvSpPr>
              <p:nvPr/>
            </p:nvSpPr>
            <p:spPr bwMode="auto">
              <a:xfrm>
                <a:off x="1311577" y="6485353"/>
                <a:ext cx="332656" cy="366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𝑡</m:t>
                      </m:r>
                    </m:oMath>
                  </m:oMathPara>
                </a14:m>
                <a:endParaRPr kumimoji="1" lang="en-US" altLang="zh-CN" i="1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2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11577" y="6485353"/>
                <a:ext cx="332656" cy="366767"/>
              </a:xfrm>
              <a:prstGeom prst="rect">
                <a:avLst/>
              </a:prstGeom>
              <a:blipFill rotWithShape="0">
                <a:blip r:embed="rId7" cstate="print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23"/>
          <p:cNvGrpSpPr>
            <a:grpSpLocks/>
          </p:cNvGrpSpPr>
          <p:nvPr/>
        </p:nvGrpSpPr>
        <p:grpSpPr bwMode="auto">
          <a:xfrm>
            <a:off x="6236407" y="4878283"/>
            <a:ext cx="1408114" cy="369888"/>
            <a:chOff x="4167" y="721"/>
            <a:chExt cx="887" cy="233"/>
          </a:xfrm>
        </p:grpSpPr>
        <p:sp>
          <p:nvSpPr>
            <p:cNvPr id="44" name="Line 24"/>
            <p:cNvSpPr>
              <a:spLocks noChangeShapeType="1"/>
            </p:cNvSpPr>
            <p:nvPr/>
          </p:nvSpPr>
          <p:spPr bwMode="auto">
            <a:xfrm flipH="1">
              <a:off x="4167" y="847"/>
              <a:ext cx="261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254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4363" y="721"/>
                  <a:ext cx="691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254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en-US" altLang="zh-CN" i="1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 t</a:t>
                  </a:r>
                  <a:r>
                    <a:rPr kumimoji="1" lang="en-US" altLang="zh-CN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= </a:t>
                  </a:r>
                  <a:r>
                    <a:rPr kumimoji="1" lang="en-US" altLang="zh-CN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  <a:sym typeface="Symbol" panose="05050102010706020507" pitchFamily="18" charset="2"/>
                    </a:rPr>
                    <a:t></a:t>
                  </a:r>
                  <a:r>
                    <a:rPr kumimoji="1" lang="en-US" altLang="zh-CN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</a:t>
                  </a:r>
                  <a:r>
                    <a:rPr kumimoji="1" lang="en-US" altLang="zh-CN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  <a:sym typeface="Symbol" panose="05050102010706020507" pitchFamily="18" charset="2"/>
                    </a:rPr>
                    <a:t> </a:t>
                  </a:r>
                  <a14:m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𝜎</m:t>
                      </m:r>
                    </m:oMath>
                  </a14:m>
                  <a:r>
                    <a:rPr kumimoji="1" lang="en-US" altLang="zh-CN" baseline="30000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363" y="721"/>
                  <a:ext cx="691" cy="233"/>
                </a:xfrm>
                <a:prstGeom prst="rect">
                  <a:avLst/>
                </a:prstGeom>
                <a:blipFill>
                  <a:blip r:embed="rId8"/>
                  <a:stretch>
                    <a:fillRect t="-11475" b="-245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54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组合 45"/>
          <p:cNvGrpSpPr/>
          <p:nvPr/>
        </p:nvGrpSpPr>
        <p:grpSpPr>
          <a:xfrm>
            <a:off x="6242317" y="5320946"/>
            <a:ext cx="1074737" cy="369888"/>
            <a:chOff x="5300668" y="4919214"/>
            <a:chExt cx="1074737" cy="369888"/>
          </a:xfrm>
        </p:grpSpPr>
        <p:sp>
          <p:nvSpPr>
            <p:cNvPr id="47" name="Line 33"/>
            <p:cNvSpPr>
              <a:spLocks noChangeShapeType="1"/>
            </p:cNvSpPr>
            <p:nvPr/>
          </p:nvSpPr>
          <p:spPr bwMode="auto">
            <a:xfrm flipH="1">
              <a:off x="5300668" y="5076377"/>
              <a:ext cx="414338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Text Box 34"/>
            <p:cNvSpPr txBox="1">
              <a:spLocks noChangeArrowheads="1"/>
            </p:cNvSpPr>
            <p:nvPr/>
          </p:nvSpPr>
          <p:spPr bwMode="auto">
            <a:xfrm>
              <a:off x="5686430" y="4919214"/>
              <a:ext cx="688975" cy="3698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i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 t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= 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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57199" y="4089397"/>
            <a:ext cx="1082675" cy="369332"/>
            <a:chOff x="714198" y="2629786"/>
            <a:chExt cx="1082675" cy="369332"/>
          </a:xfrm>
        </p:grpSpPr>
        <p:sp>
          <p:nvSpPr>
            <p:cNvPr id="50" name="Text Box 35"/>
            <p:cNvSpPr txBox="1">
              <a:spLocks noChangeArrowheads="1"/>
            </p:cNvSpPr>
            <p:nvPr/>
          </p:nvSpPr>
          <p:spPr bwMode="auto">
            <a:xfrm>
              <a:off x="714198" y="2629786"/>
              <a:ext cx="599844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i="1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t</a:t>
              </a:r>
              <a:r>
                <a:rPr kumimoji="1" lang="en-US" altLang="zh-CN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= 0</a:t>
              </a:r>
              <a:endParaRPr kumimoji="1" lang="en-US" altLang="zh-CN" baseline="30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Line 36"/>
            <p:cNvSpPr>
              <a:spLocks noChangeShapeType="1"/>
            </p:cNvSpPr>
            <p:nvPr/>
          </p:nvSpPr>
          <p:spPr bwMode="auto">
            <a:xfrm>
              <a:off x="1384123" y="2834574"/>
              <a:ext cx="412750" cy="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52" name="Text Box 37"/>
          <p:cNvSpPr txBox="1">
            <a:spLocks noChangeArrowheads="1"/>
          </p:cNvSpPr>
          <p:nvPr/>
        </p:nvSpPr>
        <p:spPr bwMode="auto">
          <a:xfrm>
            <a:off x="4418358" y="5740254"/>
            <a:ext cx="1893467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单程端到端</a:t>
            </a:r>
          </a:p>
          <a:p>
            <a:pPr algn="ctr"/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传播时延记为</a:t>
            </a:r>
            <a:r>
              <a:rPr lang="zh-CN" altLang="en-US" sz="2000" i="1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  <a:sym typeface="Symbol" panose="05050102010706020507" pitchFamily="18" charset="2"/>
              </a:rPr>
              <a:t></a:t>
            </a:r>
            <a:r>
              <a:rPr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53" name="矩形 52"/>
          <p:cNvSpPr/>
          <p:nvPr/>
        </p:nvSpPr>
        <p:spPr>
          <a:xfrm>
            <a:off x="1609725" y="4210048"/>
            <a:ext cx="4635499" cy="103187"/>
          </a:xfrm>
          <a:prstGeom prst="rect">
            <a:avLst/>
          </a:prstGeom>
          <a:gradFill flip="none" rotWithShape="1">
            <a:gsLst>
              <a:gs pos="51000">
                <a:srgbClr val="FFFFFF"/>
              </a:gs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1"/>
            <a:tileRect/>
          </a:gra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4" name="Line 5"/>
          <p:cNvSpPr>
            <a:spLocks noChangeShapeType="1"/>
          </p:cNvSpPr>
          <p:nvPr/>
        </p:nvSpPr>
        <p:spPr bwMode="auto">
          <a:xfrm>
            <a:off x="6244855" y="4225729"/>
            <a:ext cx="0" cy="2415482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圆角矩形标注 162"/>
              <p:cNvSpPr/>
              <p:nvPr/>
            </p:nvSpPr>
            <p:spPr>
              <a:xfrm>
                <a:off x="2929907" y="3247702"/>
                <a:ext cx="2088725" cy="634340"/>
              </a:xfrm>
              <a:prstGeom prst="wedgeRoundRectCallout">
                <a:avLst>
                  <a:gd name="adj1" fmla="val -113134"/>
                  <a:gd name="adj2" fmla="val 127577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7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907" y="3247702"/>
                <a:ext cx="2088725" cy="634340"/>
              </a:xfrm>
              <a:prstGeom prst="wedgeRoundRectCallout">
                <a:avLst>
                  <a:gd name="adj1" fmla="val -113134"/>
                  <a:gd name="adj2" fmla="val 127577"/>
                  <a:gd name="adj3" fmla="val 16667"/>
                </a:avLst>
              </a:prstGeom>
              <a:blipFill rotWithShape="0">
                <a:blip r:embed="rId9" cstate="print"/>
                <a:stretch>
                  <a:fillRect t="-2674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圆角矩形标注 162"/>
              <p:cNvSpPr/>
              <p:nvPr/>
            </p:nvSpPr>
            <p:spPr>
              <a:xfrm>
                <a:off x="6408598" y="5777464"/>
                <a:ext cx="2655449" cy="603773"/>
              </a:xfrm>
              <a:prstGeom prst="wedgeRoundRectCallout">
                <a:avLst>
                  <a:gd name="adj1" fmla="val -54925"/>
                  <a:gd name="adj2" fmla="val -101155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zh-CN" alt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到达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B,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检测到碰撞，停止发送</a:t>
                </a:r>
              </a:p>
            </p:txBody>
          </p:sp>
        </mc:Choice>
        <mc:Fallback xmlns="">
          <p:sp>
            <p:nvSpPr>
              <p:cNvPr id="58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08598" y="5777464"/>
                <a:ext cx="2655449" cy="603773"/>
              </a:xfrm>
              <a:prstGeom prst="wedgeRoundRectCallout">
                <a:avLst>
                  <a:gd name="adj1" fmla="val -54925"/>
                  <a:gd name="adj2" fmla="val -101155"/>
                  <a:gd name="adj3" fmla="val 16667"/>
                </a:avLst>
              </a:prstGeom>
              <a:blipFill rotWithShape="0">
                <a:blip r:embed="rId10" cstate="print"/>
                <a:stretch>
                  <a:fillRect r="-652" b="-12500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Line 6"/>
          <p:cNvSpPr>
            <a:spLocks noChangeShapeType="1"/>
          </p:cNvSpPr>
          <p:nvPr/>
        </p:nvSpPr>
        <p:spPr bwMode="auto">
          <a:xfrm flipH="1">
            <a:off x="1607085" y="5113344"/>
            <a:ext cx="4629318" cy="1267894"/>
          </a:xfrm>
          <a:prstGeom prst="line">
            <a:avLst/>
          </a:prstGeom>
          <a:noFill/>
          <a:ln w="76200">
            <a:solidFill>
              <a:srgbClr val="CC9900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圆角矩形标注 162"/>
              <p:cNvSpPr/>
              <p:nvPr/>
            </p:nvSpPr>
            <p:spPr>
              <a:xfrm>
                <a:off x="6691959" y="3530139"/>
                <a:ext cx="2088725" cy="634340"/>
              </a:xfrm>
              <a:prstGeom prst="wedgeRoundRectCallout">
                <a:avLst>
                  <a:gd name="adj1" fmla="val -71106"/>
                  <a:gd name="adj2" fmla="val 189081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0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1959" y="3530139"/>
                <a:ext cx="2088725" cy="634340"/>
              </a:xfrm>
              <a:prstGeom prst="wedgeRoundRectCallout">
                <a:avLst>
                  <a:gd name="adj1" fmla="val -71106"/>
                  <a:gd name="adj2" fmla="val 189081"/>
                  <a:gd name="adj3" fmla="val 16667"/>
                </a:avLst>
              </a:prstGeom>
              <a:blipFill rotWithShape="0">
                <a:blip r:embed="rId11" cstate="print"/>
                <a:stretch>
                  <a:fillRect t="-1992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AutoShape 15"/>
          <p:cNvSpPr>
            <a:spLocks noChangeArrowheads="1"/>
          </p:cNvSpPr>
          <p:nvPr/>
        </p:nvSpPr>
        <p:spPr bwMode="auto">
          <a:xfrm>
            <a:off x="4968304" y="4824420"/>
            <a:ext cx="965200" cy="720725"/>
          </a:xfrm>
          <a:prstGeom prst="irregularSeal1">
            <a:avLst/>
          </a:prstGeom>
          <a:solidFill>
            <a:srgbClr val="FF0000"/>
          </a:solidFill>
          <a:ln w="12700">
            <a:solidFill>
              <a:srgbClr val="FFCC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b="1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碰撞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圆角矩形标注 162"/>
              <p:cNvSpPr/>
              <p:nvPr/>
            </p:nvSpPr>
            <p:spPr>
              <a:xfrm>
                <a:off x="457199" y="5223635"/>
                <a:ext cx="2791405" cy="603773"/>
              </a:xfrm>
              <a:prstGeom prst="wedgeRoundRectCallout">
                <a:avLst>
                  <a:gd name="adj1" fmla="val -5798"/>
                  <a:gd name="adj2" fmla="val 127026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zh-CN" altLang="en-US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到达</m:t>
                    </m:r>
                  </m:oMath>
                </a14:m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A,</a:t>
                </a:r>
              </a:p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检测到碰撞，停止发送</a:t>
                </a:r>
              </a:p>
            </p:txBody>
          </p:sp>
        </mc:Choice>
        <mc:Fallback xmlns="">
          <p:sp>
            <p:nvSpPr>
              <p:cNvPr id="65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99" y="5223635"/>
                <a:ext cx="2791405" cy="603773"/>
              </a:xfrm>
              <a:prstGeom prst="wedgeRoundRectCallout">
                <a:avLst>
                  <a:gd name="adj1" fmla="val -5798"/>
                  <a:gd name="adj2" fmla="val 127026"/>
                  <a:gd name="adj3" fmla="val 16667"/>
                </a:avLst>
              </a:prstGeom>
              <a:blipFill rotWithShape="0">
                <a:blip r:embed="rId12" cstate="print"/>
                <a:stretch>
                  <a:fillRect t="-4494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6" name="组合 65"/>
          <p:cNvGrpSpPr/>
          <p:nvPr/>
        </p:nvGrpSpPr>
        <p:grpSpPr>
          <a:xfrm>
            <a:off x="154290" y="6177588"/>
            <a:ext cx="1452795" cy="369332"/>
            <a:chOff x="154290" y="5494836"/>
            <a:chExt cx="1452795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 Box 21"/>
                <p:cNvSpPr txBox="1">
                  <a:spLocks noChangeArrowheads="1"/>
                </p:cNvSpPr>
                <p:nvPr/>
              </p:nvSpPr>
              <p:spPr bwMode="auto">
                <a:xfrm>
                  <a:off x="154290" y="5494836"/>
                  <a:ext cx="1071960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254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defPPr>
                    <a:defRPr lang="zh-CN"/>
                  </a:defPPr>
                  <a:lvl1pPr defTabSz="762000" eaLnBrk="0" hangingPunct="0">
                    <a:defRPr kumimoji="1" i="1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defRPr>
                  </a:lvl1pPr>
                  <a:lvl2pPr marL="571500" defTabSz="762000"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dirty="0"/>
                    <a:t>t = 2</a:t>
                  </a:r>
                  <a:r>
                    <a:rPr lang="en-US" altLang="zh-CN" dirty="0">
                      <a:sym typeface="Symbol" panose="05050102010706020507" pitchFamily="18" charset="2"/>
                    </a:rPr>
                    <a:t></a:t>
                  </a:r>
                  <a:r>
                    <a:rPr lang="en-US" altLang="zh-CN" dirty="0"/>
                    <a:t> </a:t>
                  </a:r>
                  <a:r>
                    <a:rPr lang="en-US" altLang="zh-CN" dirty="0">
                      <a:sym typeface="Symbol" panose="05050102010706020507" pitchFamily="18" charset="2"/>
                    </a:rPr>
                    <a:t></a:t>
                  </a:r>
                  <a14:m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>
                          <a:latin typeface="Cambria Math" panose="02040503050406030204" pitchFamily="18" charset="0"/>
                          <a:sym typeface="Symbol" panose="05050102010706020507" pitchFamily="18" charset="2"/>
                        </a:rPr>
                        <m:t>𝜎</m:t>
                      </m:r>
                    </m:oMath>
                  </a14:m>
                  <a:endParaRPr lang="en-US" altLang="zh-CN" dirty="0">
                    <a:sym typeface="Symbol" panose="05050102010706020507" pitchFamily="18" charset="2"/>
                  </a:endParaRPr>
                </a:p>
              </p:txBody>
            </p:sp>
          </mc:Choice>
          <mc:Fallback xmlns="">
            <p:sp>
              <p:nvSpPr>
                <p:cNvPr id="67" name="Text 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4290" y="5494836"/>
                  <a:ext cx="1071960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4545" t="-11475" b="-24590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254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Line 22"/>
            <p:cNvSpPr>
              <a:spLocks noChangeShapeType="1"/>
            </p:cNvSpPr>
            <p:nvPr/>
          </p:nvSpPr>
          <p:spPr bwMode="auto">
            <a:xfrm>
              <a:off x="1194335" y="5682544"/>
              <a:ext cx="412750" cy="0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4736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/>
      <p:bldP spid="41" grpId="0"/>
      <p:bldP spid="42" grpId="0" animBg="1"/>
      <p:bldP spid="52" grpId="0"/>
      <p:bldP spid="53" grpId="0" animBg="1"/>
      <p:bldP spid="54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30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77" y="1382186"/>
            <a:ext cx="8281959" cy="491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4675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圆角矩形标注 162"/>
          <p:cNvSpPr/>
          <p:nvPr/>
        </p:nvSpPr>
        <p:spPr>
          <a:xfrm>
            <a:off x="53278" y="3691534"/>
            <a:ext cx="993624" cy="720042"/>
          </a:xfrm>
          <a:prstGeom prst="wedgeRoundRectCallout">
            <a:avLst>
              <a:gd name="adj1" fmla="val 101516"/>
              <a:gd name="adj2" fmla="val 113163"/>
              <a:gd name="adj3" fmla="val 16667"/>
            </a:avLst>
          </a:prstGeom>
          <a:solidFill>
            <a:srgbClr val="FFFF99"/>
          </a:solidFill>
          <a:ln w="12700">
            <a:solidFill>
              <a:srgbClr val="9A9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  <a:r>
              <a:rPr lang="zh-CN" altLang="en-US" dirty="0">
                <a:solidFill>
                  <a:schemeClr val="tx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检测到碰撞</a:t>
            </a:r>
          </a:p>
        </p:txBody>
      </p:sp>
      <p:sp>
        <p:nvSpPr>
          <p:cNvPr id="62" name="矩形 61"/>
          <p:cNvSpPr/>
          <p:nvPr/>
        </p:nvSpPr>
        <p:spPr>
          <a:xfrm>
            <a:off x="1536700" y="3220591"/>
            <a:ext cx="6085682" cy="92936"/>
          </a:xfrm>
          <a:prstGeom prst="rect">
            <a:avLst/>
          </a:prstGeom>
          <a:gradFill flip="none" rotWithShape="1">
            <a:gsLst>
              <a:gs pos="51000">
                <a:srgbClr val="FFFFFF"/>
              </a:gs>
              <a:gs pos="100000">
                <a:schemeClr val="tx1">
                  <a:lumMod val="75000"/>
                  <a:lumOff val="25000"/>
                </a:schemeClr>
              </a:gs>
              <a:gs pos="0">
                <a:schemeClr val="tx1">
                  <a:lumMod val="65000"/>
                  <a:lumOff val="35000"/>
                </a:schemeClr>
              </a:gs>
            </a:gsLst>
            <a:lin ang="5400000" scaled="1"/>
            <a:tileRect/>
          </a:gradFill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579555" cy="1371373"/>
          </a:xfrm>
        </p:spPr>
        <p:txBody>
          <a:bodyPr/>
          <a:lstStyle/>
          <a:p>
            <a:pPr marL="342891" lvl="1" indent="-34289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sz="2400" dirty="0"/>
              <a:t>强化碰撞</a:t>
            </a:r>
            <a:endParaRPr lang="en-US" altLang="zh-CN" sz="2400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当发送数据的结点一旦发现发生了碰撞时，立即停止发送数据；并再继续发送若干比特的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人为干扰信号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(jamming signal)</a:t>
            </a:r>
            <a:r>
              <a:rPr lang="zh-CN" altLang="en-US" sz="1800" dirty="0"/>
              <a:t>，以便让所有结点知道现在已经发生了碰撞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31</a:t>
            </a:fld>
            <a:endParaRPr lang="zh-CN" alt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85863" y="5873369"/>
            <a:ext cx="292100" cy="30003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219200" y="5028819"/>
            <a:ext cx="211138" cy="2841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7661275" y="3260344"/>
            <a:ext cx="9429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7661275" y="4271582"/>
            <a:ext cx="401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29" name="Rectangle 27"/>
          <p:cNvSpPr>
            <a:spLocks noChangeArrowheads="1"/>
          </p:cNvSpPr>
          <p:nvPr/>
        </p:nvSpPr>
        <p:spPr bwMode="auto">
          <a:xfrm>
            <a:off x="1201738" y="2822194"/>
            <a:ext cx="30136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" name="Rectangle 28"/>
          <p:cNvSpPr>
            <a:spLocks noChangeArrowheads="1"/>
          </p:cNvSpPr>
          <p:nvPr/>
        </p:nvSpPr>
        <p:spPr bwMode="auto">
          <a:xfrm>
            <a:off x="7451725" y="2822194"/>
            <a:ext cx="29495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1125538" y="4843082"/>
            <a:ext cx="400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4" name="Line 32"/>
          <p:cNvSpPr>
            <a:spLocks noChangeShapeType="1"/>
          </p:cNvSpPr>
          <p:nvPr/>
        </p:nvSpPr>
        <p:spPr bwMode="auto">
          <a:xfrm>
            <a:off x="1101725" y="3260344"/>
            <a:ext cx="4000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095370" y="3260344"/>
            <a:ext cx="406387" cy="1570038"/>
            <a:chOff x="1095370" y="3260344"/>
            <a:chExt cx="406387" cy="1570038"/>
          </a:xfrm>
        </p:grpSpPr>
        <p:sp>
          <p:nvSpPr>
            <p:cNvPr id="35" name="Line 33"/>
            <p:cNvSpPr>
              <a:spLocks noChangeShapeType="1"/>
            </p:cNvSpPr>
            <p:nvPr/>
          </p:nvSpPr>
          <p:spPr bwMode="auto">
            <a:xfrm>
              <a:off x="1306513" y="3260344"/>
              <a:ext cx="0" cy="1570038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36" name="Group 34"/>
            <p:cNvGrpSpPr>
              <a:grpSpLocks/>
            </p:cNvGrpSpPr>
            <p:nvPr/>
          </p:nvGrpSpPr>
          <p:grpSpPr bwMode="auto">
            <a:xfrm>
              <a:off x="1095370" y="3784222"/>
              <a:ext cx="406387" cy="391442"/>
              <a:chOff x="4272" y="1968"/>
              <a:chExt cx="218" cy="223"/>
            </a:xfrm>
          </p:grpSpPr>
          <p:sp>
            <p:nvSpPr>
              <p:cNvPr id="37" name="Rectangle 35"/>
              <p:cNvSpPr>
                <a:spLocks noChangeArrowheads="1"/>
              </p:cNvSpPr>
              <p:nvPr/>
            </p:nvSpPr>
            <p:spPr bwMode="auto">
              <a:xfrm>
                <a:off x="4309" y="2009"/>
                <a:ext cx="181" cy="18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38" name="Text Box 36"/>
              <p:cNvSpPr txBox="1">
                <a:spLocks noChangeArrowheads="1"/>
              </p:cNvSpPr>
              <p:nvPr/>
            </p:nvSpPr>
            <p:spPr bwMode="auto">
              <a:xfrm>
                <a:off x="4272" y="1968"/>
                <a:ext cx="192" cy="19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i="1" dirty="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T</a:t>
                </a:r>
                <a:r>
                  <a:rPr kumimoji="1" lang="en-US" altLang="zh-CN" sz="1600" i="1" baseline="-25000" dirty="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endParaRPr kumimoji="1" lang="en-US" altLang="zh-CN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40" name="Line 38"/>
          <p:cNvSpPr>
            <a:spLocks noChangeShapeType="1"/>
          </p:cNvSpPr>
          <p:nvPr/>
        </p:nvSpPr>
        <p:spPr bwMode="auto">
          <a:xfrm>
            <a:off x="1574800" y="6557582"/>
            <a:ext cx="605155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 type="non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723188" y="3268282"/>
            <a:ext cx="272512" cy="1003300"/>
            <a:chOff x="7723188" y="3268282"/>
            <a:chExt cx="272512" cy="1003300"/>
          </a:xfrm>
        </p:grpSpPr>
        <p:sp>
          <p:nvSpPr>
            <p:cNvPr id="28" name="Line 26"/>
            <p:cNvSpPr>
              <a:spLocks noChangeShapeType="1"/>
            </p:cNvSpPr>
            <p:nvPr/>
          </p:nvSpPr>
          <p:spPr bwMode="auto">
            <a:xfrm>
              <a:off x="7848600" y="3268282"/>
              <a:ext cx="0" cy="1003300"/>
            </a:xfrm>
            <a:prstGeom prst="line">
              <a:avLst/>
            </a:prstGeom>
            <a:noFill/>
            <a:ln w="19050">
              <a:solidFill>
                <a:srgbClr val="333399"/>
              </a:solidFill>
              <a:round/>
              <a:headEnd type="triangle" w="med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Rectangle 39"/>
            <p:cNvSpPr>
              <a:spLocks noChangeArrowheads="1"/>
            </p:cNvSpPr>
            <p:nvPr/>
          </p:nvSpPr>
          <p:spPr bwMode="auto">
            <a:xfrm>
              <a:off x="7723188" y="3534982"/>
              <a:ext cx="272512" cy="3359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  <a:sym typeface="Symbol" panose="05050102010706020507" pitchFamily="18" charset="2"/>
                </a:rPr>
                <a:t></a:t>
              </a:r>
            </a:p>
          </p:txBody>
        </p:sp>
      </p:grpSp>
      <p:sp>
        <p:nvSpPr>
          <p:cNvPr id="54" name="Line 54"/>
          <p:cNvSpPr>
            <a:spLocks noChangeShapeType="1"/>
          </p:cNvSpPr>
          <p:nvPr/>
        </p:nvSpPr>
        <p:spPr bwMode="auto">
          <a:xfrm>
            <a:off x="7689850" y="6557582"/>
            <a:ext cx="914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081963" y="3238119"/>
            <a:ext cx="389850" cy="3306763"/>
            <a:chOff x="8081963" y="3238119"/>
            <a:chExt cx="389850" cy="3306763"/>
          </a:xfrm>
        </p:grpSpPr>
        <p:sp>
          <p:nvSpPr>
            <p:cNvPr id="55" name="Line 55"/>
            <p:cNvSpPr>
              <a:spLocks noChangeShapeType="1"/>
            </p:cNvSpPr>
            <p:nvPr/>
          </p:nvSpPr>
          <p:spPr bwMode="auto">
            <a:xfrm>
              <a:off x="8315325" y="3238119"/>
              <a:ext cx="0" cy="3306763"/>
            </a:xfrm>
            <a:prstGeom prst="line">
              <a:avLst/>
            </a:prstGeom>
            <a:noFill/>
            <a:ln w="28575">
              <a:solidFill>
                <a:srgbClr val="333399"/>
              </a:solidFill>
              <a:round/>
              <a:headEnd type="triangle" w="sm" len="med"/>
              <a:tailEnd type="triangle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Text Box 56"/>
            <p:cNvSpPr txBox="1">
              <a:spLocks noChangeArrowheads="1"/>
            </p:cNvSpPr>
            <p:nvPr/>
          </p:nvSpPr>
          <p:spPr bwMode="auto">
            <a:xfrm>
              <a:off x="8081963" y="3866769"/>
              <a:ext cx="389850" cy="15696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信</a:t>
              </a:r>
            </a:p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道</a:t>
              </a:r>
            </a:p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占</a:t>
              </a:r>
            </a:p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用</a:t>
              </a:r>
            </a:p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时</a:t>
              </a:r>
            </a:p>
            <a:p>
              <a:pPr eaLnBrk="0" hangingPunct="0"/>
              <a:r>
                <a:rPr kumimoji="1" lang="zh-CN" altLang="en-US" sz="16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间</a:t>
              </a:r>
            </a:p>
          </p:txBody>
        </p:sp>
      </p:grpSp>
      <p:sp>
        <p:nvSpPr>
          <p:cNvPr id="58" name="Line 5"/>
          <p:cNvSpPr>
            <a:spLocks noChangeShapeType="1"/>
          </p:cNvSpPr>
          <p:nvPr/>
        </p:nvSpPr>
        <p:spPr bwMode="auto">
          <a:xfrm>
            <a:off x="1557311" y="3268282"/>
            <a:ext cx="0" cy="3444644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59" name="Line 5"/>
          <p:cNvSpPr>
            <a:spLocks noChangeShapeType="1"/>
          </p:cNvSpPr>
          <p:nvPr/>
        </p:nvSpPr>
        <p:spPr bwMode="auto">
          <a:xfrm>
            <a:off x="7622382" y="3260955"/>
            <a:ext cx="0" cy="3444644"/>
          </a:xfrm>
          <a:prstGeom prst="line">
            <a:avLst/>
          </a:prstGeom>
          <a:noFill/>
          <a:ln w="19050">
            <a:solidFill>
              <a:schemeClr val="tx1">
                <a:lumMod val="65000"/>
                <a:lumOff val="35000"/>
              </a:schemeClr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10"/>
              <p:cNvSpPr>
                <a:spLocks noChangeArrowheads="1"/>
              </p:cNvSpPr>
              <p:nvPr/>
            </p:nvSpPr>
            <p:spPr bwMode="auto">
              <a:xfrm>
                <a:off x="1250692" y="6425820"/>
                <a:ext cx="332656" cy="36676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𝑡</m:t>
                      </m:r>
                    </m:oMath>
                  </m:oMathPara>
                </a14:m>
                <a:endParaRPr kumimoji="1" lang="en-US" altLang="zh-CN" i="1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0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0692" y="6425820"/>
                <a:ext cx="332656" cy="366767"/>
              </a:xfrm>
              <a:prstGeom prst="rect">
                <a:avLst/>
              </a:prstGeom>
              <a:blipFill rotWithShape="0">
                <a:blip r:embed="rId6" cstate="print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12700">
                    <a:solidFill>
                      <a:srgbClr val="333399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5" name="Group 4"/>
          <p:cNvGrpSpPr>
            <a:grpSpLocks/>
          </p:cNvGrpSpPr>
          <p:nvPr/>
        </p:nvGrpSpPr>
        <p:grpSpPr bwMode="auto">
          <a:xfrm>
            <a:off x="1135064" y="3308036"/>
            <a:ext cx="6478588" cy="3262246"/>
            <a:chOff x="715" y="1619"/>
            <a:chExt cx="4081" cy="2085"/>
          </a:xfrm>
        </p:grpSpPr>
        <p:grpSp>
          <p:nvGrpSpPr>
            <p:cNvPr id="66" name="Group 5"/>
            <p:cNvGrpSpPr>
              <a:grpSpLocks/>
            </p:cNvGrpSpPr>
            <p:nvPr/>
          </p:nvGrpSpPr>
          <p:grpSpPr bwMode="auto">
            <a:xfrm>
              <a:off x="992" y="1619"/>
              <a:ext cx="3804" cy="1645"/>
              <a:chOff x="992" y="1619"/>
              <a:chExt cx="3804" cy="1645"/>
            </a:xfrm>
          </p:grpSpPr>
          <p:sp>
            <p:nvSpPr>
              <p:cNvPr id="80" name="AutoShape 6"/>
              <p:cNvSpPr>
                <a:spLocks noChangeArrowheads="1"/>
              </p:cNvSpPr>
              <p:nvPr/>
            </p:nvSpPr>
            <p:spPr bwMode="auto">
              <a:xfrm rot="5400000">
                <a:off x="2071" y="540"/>
                <a:ext cx="1645" cy="3804"/>
              </a:xfrm>
              <a:prstGeom prst="parallelogram">
                <a:avLst>
                  <a:gd name="adj" fmla="val 37968"/>
                </a:avLst>
              </a:prstGeom>
              <a:solidFill>
                <a:schemeClr val="bg1">
                  <a:lumMod val="75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600"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81" name="AutoShape 7"/>
              <p:cNvSpPr>
                <a:spLocks noChangeArrowheads="1"/>
              </p:cNvSpPr>
              <p:nvPr/>
            </p:nvSpPr>
            <p:spPr bwMode="auto">
              <a:xfrm rot="601221">
                <a:off x="2228" y="2087"/>
                <a:ext cx="1066" cy="424"/>
              </a:xfrm>
              <a:prstGeom prst="rightArrow">
                <a:avLst>
                  <a:gd name="adj1" fmla="val 49370"/>
                  <a:gd name="adj2" fmla="val 80790"/>
                </a:avLst>
              </a:prstGeom>
              <a:solidFill>
                <a:schemeClr val="accent5">
                  <a:lumMod val="50000"/>
                </a:schemeClr>
              </a:solidFill>
              <a:ln w="222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600">
                    <a:solidFill>
                      <a:schemeClr val="bg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数据帧</a:t>
                </a:r>
              </a:p>
            </p:txBody>
          </p:sp>
        </p:grpSp>
        <p:grpSp>
          <p:nvGrpSpPr>
            <p:cNvPr id="67" name="Group 8"/>
            <p:cNvGrpSpPr>
              <a:grpSpLocks/>
            </p:cNvGrpSpPr>
            <p:nvPr/>
          </p:nvGrpSpPr>
          <p:grpSpPr bwMode="auto">
            <a:xfrm>
              <a:off x="715" y="2614"/>
              <a:ext cx="4081" cy="1090"/>
              <a:chOff x="715" y="2606"/>
              <a:chExt cx="4081" cy="1090"/>
            </a:xfrm>
          </p:grpSpPr>
          <p:grpSp>
            <p:nvGrpSpPr>
              <p:cNvPr id="68" name="Group 9"/>
              <p:cNvGrpSpPr>
                <a:grpSpLocks/>
              </p:cNvGrpSpPr>
              <p:nvPr/>
            </p:nvGrpSpPr>
            <p:grpSpPr bwMode="auto">
              <a:xfrm>
                <a:off x="992" y="2627"/>
                <a:ext cx="3804" cy="1061"/>
                <a:chOff x="992" y="2627"/>
                <a:chExt cx="3804" cy="1061"/>
              </a:xfrm>
            </p:grpSpPr>
            <p:grpSp>
              <p:nvGrpSpPr>
                <p:cNvPr id="76" name="Group 10"/>
                <p:cNvGrpSpPr>
                  <a:grpSpLocks/>
                </p:cNvGrpSpPr>
                <p:nvPr/>
              </p:nvGrpSpPr>
              <p:grpSpPr bwMode="auto">
                <a:xfrm>
                  <a:off x="992" y="2627"/>
                  <a:ext cx="3804" cy="1061"/>
                  <a:chOff x="992" y="2627"/>
                  <a:chExt cx="3804" cy="1061"/>
                </a:xfrm>
              </p:grpSpPr>
              <p:sp>
                <p:nvSpPr>
                  <p:cNvPr id="78" name="AutoShape 11"/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2363" y="1256"/>
                    <a:ext cx="1061" cy="3804"/>
                  </a:xfrm>
                  <a:prstGeom prst="parallelogram">
                    <a:avLst>
                      <a:gd name="adj" fmla="val 59685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79" name="AutoShape 12"/>
                  <p:cNvSpPr>
                    <a:spLocks noChangeArrowheads="1"/>
                  </p:cNvSpPr>
                  <p:nvPr/>
                </p:nvSpPr>
                <p:spPr bwMode="auto">
                  <a:xfrm rot="601221">
                    <a:off x="2272" y="2973"/>
                    <a:ext cx="1737" cy="469"/>
                  </a:xfrm>
                  <a:prstGeom prst="rightArrow">
                    <a:avLst>
                      <a:gd name="adj1" fmla="val 49370"/>
                      <a:gd name="adj2" fmla="val 119013"/>
                    </a:avLst>
                  </a:prstGeom>
                  <a:solidFill>
                    <a:srgbClr val="FF0000"/>
                  </a:solidFill>
                  <a:ln w="38100" cmpd="dbl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endParaRPr lang="zh-CN" altLang="en-US" sz="1600">
                      <a:solidFill>
                        <a:schemeClr val="bg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77" name="Text Box 13"/>
                <p:cNvSpPr txBox="1">
                  <a:spLocks noChangeArrowheads="1"/>
                </p:cNvSpPr>
                <p:nvPr/>
              </p:nvSpPr>
              <p:spPr bwMode="auto">
                <a:xfrm rot="595815">
                  <a:off x="2592" y="3051"/>
                  <a:ext cx="633" cy="21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zh-CN" altLang="en-US" sz="1600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干扰信号</a:t>
                  </a:r>
                </a:p>
              </p:txBody>
            </p:sp>
          </p:grpSp>
          <p:grpSp>
            <p:nvGrpSpPr>
              <p:cNvPr id="69" name="Group 14"/>
              <p:cNvGrpSpPr>
                <a:grpSpLocks/>
              </p:cNvGrpSpPr>
              <p:nvPr/>
            </p:nvGrpSpPr>
            <p:grpSpPr bwMode="auto">
              <a:xfrm>
                <a:off x="715" y="2606"/>
                <a:ext cx="277" cy="1090"/>
                <a:chOff x="715" y="2606"/>
                <a:chExt cx="277" cy="1090"/>
              </a:xfrm>
            </p:grpSpPr>
            <p:sp>
              <p:nvSpPr>
                <p:cNvPr id="70" name="Line 15"/>
                <p:cNvSpPr>
                  <a:spLocks noChangeShapeType="1"/>
                </p:cNvSpPr>
                <p:nvPr/>
              </p:nvSpPr>
              <p:spPr bwMode="auto">
                <a:xfrm>
                  <a:off x="823" y="3057"/>
                  <a:ext cx="0" cy="639"/>
                </a:xfrm>
                <a:prstGeom prst="line">
                  <a:avLst/>
                </a:prstGeom>
                <a:noFill/>
                <a:ln w="28575">
                  <a:solidFill>
                    <a:srgbClr val="333399"/>
                  </a:solidFill>
                  <a:round/>
                  <a:headEnd type="triangle" w="sm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1" name="Line 16"/>
                <p:cNvSpPr>
                  <a:spLocks noChangeShapeType="1"/>
                </p:cNvSpPr>
                <p:nvPr/>
              </p:nvSpPr>
              <p:spPr bwMode="auto">
                <a:xfrm>
                  <a:off x="814" y="2606"/>
                  <a:ext cx="9" cy="445"/>
                </a:xfrm>
                <a:prstGeom prst="line">
                  <a:avLst/>
                </a:prstGeom>
                <a:noFill/>
                <a:ln w="28575">
                  <a:solidFill>
                    <a:srgbClr val="333399"/>
                  </a:solidFill>
                  <a:round/>
                  <a:headEnd type="triangle" w="sm" len="med"/>
                  <a:tailEnd type="triangle" w="sm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2" name="Rectangle 17"/>
                <p:cNvSpPr>
                  <a:spLocks noChangeArrowheads="1"/>
                </p:cNvSpPr>
                <p:nvPr/>
              </p:nvSpPr>
              <p:spPr bwMode="auto">
                <a:xfrm>
                  <a:off x="728" y="3259"/>
                  <a:ext cx="172" cy="21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en-US" altLang="zh-CN" sz="1600" b="1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  <a:sym typeface="Symbol" panose="05050102010706020507" pitchFamily="18" charset="2"/>
                    </a:rPr>
                    <a:t></a:t>
                  </a:r>
                </a:p>
              </p:txBody>
            </p:sp>
            <p:sp>
              <p:nvSpPr>
                <p:cNvPr id="73" name="Line 18"/>
                <p:cNvSpPr>
                  <a:spLocks noChangeShapeType="1"/>
                </p:cNvSpPr>
                <p:nvPr/>
              </p:nvSpPr>
              <p:spPr bwMode="auto">
                <a:xfrm>
                  <a:off x="739" y="3051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4" name="Line 19"/>
                <p:cNvSpPr>
                  <a:spLocks noChangeShapeType="1"/>
                </p:cNvSpPr>
                <p:nvPr/>
              </p:nvSpPr>
              <p:spPr bwMode="auto">
                <a:xfrm>
                  <a:off x="739" y="3696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75" name="Text Box 20"/>
                <p:cNvSpPr txBox="1">
                  <a:spLocks noChangeArrowheads="1"/>
                </p:cNvSpPr>
                <p:nvPr/>
              </p:nvSpPr>
              <p:spPr bwMode="auto">
                <a:xfrm>
                  <a:off x="715" y="2722"/>
                  <a:ext cx="203" cy="213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en-US" altLang="zh-CN" sz="1600" i="1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T</a:t>
                  </a:r>
                  <a:r>
                    <a:rPr kumimoji="1" lang="en-US" altLang="zh-CN" sz="1600" i="1" baseline="-25000" dirty="0">
                      <a:solidFill>
                        <a:srgbClr val="333399"/>
                      </a:solidFill>
                      <a:latin typeface="Calibri" panose="020F0502020204030204" pitchFamily="34" charset="0"/>
                      <a:ea typeface="华文楷体" panose="02010600040101010101" pitchFamily="2" charset="-122"/>
                    </a:rPr>
                    <a:t>J</a:t>
                  </a:r>
                  <a:endPara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</p:grpSp>
      <p:sp>
        <p:nvSpPr>
          <p:cNvPr id="82" name="Line 61"/>
          <p:cNvSpPr>
            <a:spLocks noChangeShapeType="1"/>
          </p:cNvSpPr>
          <p:nvPr/>
        </p:nvSpPr>
        <p:spPr bwMode="auto">
          <a:xfrm flipH="1">
            <a:off x="1562100" y="3865419"/>
            <a:ext cx="6026150" cy="993538"/>
          </a:xfrm>
          <a:prstGeom prst="line">
            <a:avLst/>
          </a:prstGeom>
          <a:noFill/>
          <a:ln w="57150">
            <a:solidFill>
              <a:srgbClr val="333399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圆角矩形标注 162"/>
              <p:cNvSpPr/>
              <p:nvPr/>
            </p:nvSpPr>
            <p:spPr>
              <a:xfrm>
                <a:off x="5759875" y="2544216"/>
                <a:ext cx="2088725" cy="634340"/>
              </a:xfrm>
              <a:prstGeom prst="wedgeRoundRectCallout">
                <a:avLst>
                  <a:gd name="adj1" fmla="val 30958"/>
                  <a:gd name="adj2" fmla="val 157303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B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2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3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9875" y="2544216"/>
                <a:ext cx="2088725" cy="634340"/>
              </a:xfrm>
              <a:prstGeom prst="wedgeRoundRectCallout">
                <a:avLst>
                  <a:gd name="adj1" fmla="val 30958"/>
                  <a:gd name="adj2" fmla="val 157303"/>
                  <a:gd name="adj3" fmla="val 16667"/>
                </a:avLst>
              </a:prstGeom>
              <a:blipFill>
                <a:blip r:embed="rId7"/>
                <a:stretch>
                  <a:fillRect t="-2294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圆角矩形标注 162"/>
              <p:cNvSpPr/>
              <p:nvPr/>
            </p:nvSpPr>
            <p:spPr>
              <a:xfrm>
                <a:off x="2698654" y="2561119"/>
                <a:ext cx="2088725" cy="634340"/>
              </a:xfrm>
              <a:prstGeom prst="wedgeRoundRectCallout">
                <a:avLst>
                  <a:gd name="adj1" fmla="val -99961"/>
                  <a:gd name="adj2" fmla="val 64167"/>
                  <a:gd name="adj3" fmla="val 16667"/>
                </a:avLst>
              </a:prstGeom>
              <a:solidFill>
                <a:srgbClr val="FFFF99"/>
              </a:solidFill>
              <a:ln w="12700">
                <a:solidFill>
                  <a:srgbClr val="9A96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A</a:t>
                </a:r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检测到信道空闲</a:t>
                </a:r>
              </a:p>
              <a:p>
                <a:pPr algn="ctr"/>
                <a:r>
                  <a:rPr lang="zh-CN" altLang="en-US" dirty="0">
                    <a:solidFill>
                      <a:schemeClr val="tx1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发送数据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𝑓𝑟𝑎𝑚𝑒</m:t>
                        </m:r>
                      </m:e>
                      <m:sub>
                        <m:r>
                          <a:rPr lang="en-US" altLang="zh-CN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endParaRPr lang="zh-CN" altLang="en-US" dirty="0">
                  <a:solidFill>
                    <a:schemeClr val="tx1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84" name="圆角矩形标注 1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8654" y="2561119"/>
                <a:ext cx="2088725" cy="634340"/>
              </a:xfrm>
              <a:prstGeom prst="wedgeRoundRectCallout">
                <a:avLst>
                  <a:gd name="adj1" fmla="val -99961"/>
                  <a:gd name="adj2" fmla="val 64167"/>
                  <a:gd name="adj3" fmla="val 16667"/>
                </a:avLst>
              </a:prstGeom>
              <a:blipFill>
                <a:blip r:embed="rId8"/>
                <a:stretch>
                  <a:fillRect t="-4132" b="-1653"/>
                </a:stretch>
              </a:blipFill>
              <a:ln w="12700">
                <a:solidFill>
                  <a:srgbClr val="9A96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AutoShape 15"/>
          <p:cNvSpPr>
            <a:spLocks noChangeArrowheads="1"/>
          </p:cNvSpPr>
          <p:nvPr/>
        </p:nvSpPr>
        <p:spPr bwMode="auto">
          <a:xfrm>
            <a:off x="5867004" y="3690851"/>
            <a:ext cx="965200" cy="720725"/>
          </a:xfrm>
          <a:prstGeom prst="irregularSeal1">
            <a:avLst/>
          </a:prstGeom>
          <a:solidFill>
            <a:srgbClr val="FF0000"/>
          </a:solidFill>
          <a:ln w="12700">
            <a:solidFill>
              <a:srgbClr val="FFCCFF"/>
            </a:solidFill>
            <a:miter lim="800000"/>
            <a:headEnd/>
            <a:tailEnd/>
          </a:ln>
          <a:effectLst>
            <a:outerShdw dist="35921" dir="2700000" algn="ctr" rotWithShape="0">
              <a:schemeClr val="tx1"/>
            </a:outerShdw>
          </a:effectLst>
        </p:spPr>
        <p:txBody>
          <a:bodyPr wrap="none" anchor="ctr"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b="1">
                <a:solidFill>
                  <a:schemeClr val="bg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碰撞</a:t>
            </a:r>
          </a:p>
        </p:txBody>
      </p:sp>
      <p:sp>
        <p:nvSpPr>
          <p:cNvPr id="52" name="Text Box 63"/>
          <p:cNvSpPr txBox="1">
            <a:spLocks noChangeArrowheads="1"/>
          </p:cNvSpPr>
          <p:nvPr/>
        </p:nvSpPr>
        <p:spPr bwMode="auto">
          <a:xfrm>
            <a:off x="285021" y="5979620"/>
            <a:ext cx="8365553" cy="6463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>
            <a:defPPr>
              <a:defRPr lang="zh-CN"/>
            </a:defPPr>
            <a:lvl1pPr marL="285750" indent="-285750">
              <a:buFont typeface="Wingdings" panose="05000000000000000000" pitchFamily="2" charset="2"/>
              <a:buChar char="¥"/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648000" lvl="1" indent="-285750">
              <a:lnSpc>
                <a:spcPct val="150000"/>
              </a:lnSpc>
              <a:buFont typeface="Wingdings 3" panose="05040102010807070707" pitchFamily="18" charset="2"/>
              <a:buChar char="4"/>
              <a:defRPr>
                <a:solidFill>
                  <a:schemeClr val="lt1"/>
                </a:solidFill>
                <a:latin typeface="Calibri" panose="020F0502020204030204" pitchFamily="34" charset="0"/>
                <a:ea typeface="黑体" panose="02010609060101010101" pitchFamily="49" charset="-122"/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/>
              <a:t>B </a:t>
            </a:r>
            <a:r>
              <a:rPr lang="zh-CN" altLang="en-US" dirty="0"/>
              <a:t>检测到冲突后，也立即停发数据帧并发送干扰信号。为简单起见，未画出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3523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8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37" fill="hold" grpId="0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62" grpId="0" animBg="1"/>
      <p:bldP spid="26" grpId="0" animBg="1"/>
      <p:bldP spid="27" grpId="0" animBg="1"/>
      <p:bldP spid="29" grpId="0"/>
      <p:bldP spid="30" grpId="0"/>
      <p:bldP spid="33" grpId="0" animBg="1"/>
      <p:bldP spid="34" grpId="0" animBg="1"/>
      <p:bldP spid="40" grpId="0" animBg="1"/>
      <p:bldP spid="54" grpId="0" animBg="1"/>
      <p:bldP spid="58" grpId="0" animBg="1"/>
      <p:bldP spid="59" grpId="0" animBg="1"/>
      <p:bldP spid="60" grpId="0" animBg="1"/>
      <p:bldP spid="82" grpId="0" animBg="1"/>
      <p:bldP spid="83" grpId="0" animBg="1"/>
      <p:bldP spid="84" grpId="0" animBg="1"/>
      <p:bldP spid="85" grpId="0" animBg="1"/>
      <p:bldP spid="52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（四）带碰撞检测的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(CSMA/CD)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32</a:t>
            </a:fld>
            <a:endParaRPr lang="zh-CN" altLang="en-US" dirty="0"/>
          </a:p>
        </p:txBody>
      </p:sp>
      <p:pic>
        <p:nvPicPr>
          <p:cNvPr id="6" name="图片 5" descr="图片8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9080" y="1242540"/>
            <a:ext cx="8625840" cy="515112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538783A-F5B9-4350-87B5-CB510FF3E0B7}"/>
              </a:ext>
            </a:extLst>
          </p:cNvPr>
          <p:cNvSpPr txBox="1"/>
          <p:nvPr/>
        </p:nvSpPr>
        <p:spPr>
          <a:xfrm>
            <a:off x="2770496" y="2088105"/>
            <a:ext cx="6373504" cy="30777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1-</a:t>
            </a:r>
            <a:r>
              <a:rPr lang="zh-CN" altLang="en-US" sz="1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坚持”指启动发送以后的处理方式，退避时间属于启动发送之前的等待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1A8BBFF-A91C-415B-870E-CC516D71BC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4146" y="-14427"/>
            <a:ext cx="3548418" cy="15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62051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ACD1CF8E-5282-4C53-AC9E-E69419CA3A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4018" y="749850"/>
            <a:ext cx="3548418" cy="155089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412" y="429904"/>
            <a:ext cx="8229600" cy="811560"/>
          </a:xfrm>
        </p:spPr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（五）带碰撞避免的</a:t>
            </a:r>
            <a:r>
              <a:rPr lang="en-US" altLang="zh-CN" dirty="0"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latin typeface="Calibri" panose="020F0502020204030204" pitchFamily="34" charset="0"/>
              </a:rPr>
              <a:t>(CSMA/CA)</a:t>
            </a:r>
            <a:endParaRPr lang="zh-CN" altLang="en-US" sz="3200" dirty="0">
              <a:latin typeface="Calibri" panose="020F05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9"/>
            <a:ext cx="8579555" cy="5138701"/>
          </a:xfrm>
        </p:spPr>
        <p:txBody>
          <a:bodyPr/>
          <a:lstStyle/>
          <a:p>
            <a:pPr marL="342891" lvl="1" indent="-342891"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核心思想</a:t>
            </a:r>
            <a:endParaRPr lang="en-US" altLang="zh-CN" dirty="0"/>
          </a:p>
          <a:p>
            <a:pPr marL="643961" lvl="1">
              <a:spcBef>
                <a:spcPts val="600"/>
              </a:spcBef>
            </a:pPr>
            <a:r>
              <a:rPr lang="zh-CN" altLang="en-US" sz="1800" dirty="0"/>
              <a:t>非持续</a:t>
            </a:r>
            <a:r>
              <a:rPr lang="en-US" altLang="zh-CN" sz="1800" dirty="0"/>
              <a:t>CSMA + </a:t>
            </a:r>
            <a:r>
              <a:rPr lang="zh-CN" altLang="en-US" sz="1800" dirty="0"/>
              <a:t>碰撞避免</a:t>
            </a:r>
            <a:endParaRPr lang="en-US" altLang="zh-CN" sz="1800" dirty="0"/>
          </a:p>
          <a:p>
            <a:pPr marL="342891" lvl="1" indent="-342891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应用于</a:t>
            </a:r>
            <a:r>
              <a:rPr lang="en-US" altLang="zh-CN" dirty="0"/>
              <a:t>802.11</a:t>
            </a:r>
            <a:r>
              <a:rPr lang="zh-CN" altLang="en-US" dirty="0"/>
              <a:t>无线局域网</a:t>
            </a:r>
            <a:r>
              <a:rPr lang="en-US" altLang="zh-CN" dirty="0"/>
              <a:t>(Wireless LAN, WLAN)</a:t>
            </a:r>
          </a:p>
          <a:p>
            <a:pPr marL="342891" lvl="1" indent="-342891">
              <a:spcBef>
                <a:spcPts val="12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</a:pPr>
            <a:r>
              <a:rPr lang="zh-CN" altLang="en-US" dirty="0"/>
              <a:t>为什么冲突避免，而非冲突检测？</a:t>
            </a:r>
            <a:endParaRPr lang="en-US" altLang="zh-CN" dirty="0"/>
          </a:p>
          <a:p>
            <a:pPr marL="643961" lvl="1">
              <a:spcBef>
                <a:spcPts val="600"/>
              </a:spcBef>
            </a:pPr>
            <a:r>
              <a:rPr lang="zh-CN" altLang="en-US" sz="1800" dirty="0"/>
              <a:t>碰撞检测的能力要求结点同时具有发送</a:t>
            </a:r>
            <a:r>
              <a:rPr lang="en-US" altLang="zh-CN" sz="1800" dirty="0"/>
              <a:t>(</a:t>
            </a:r>
            <a:r>
              <a:rPr lang="zh-CN" altLang="en-US" sz="1800" dirty="0"/>
              <a:t>自己的信号</a:t>
            </a:r>
            <a:r>
              <a:rPr lang="en-US" altLang="zh-CN" sz="1800" dirty="0"/>
              <a:t>) </a:t>
            </a:r>
            <a:r>
              <a:rPr lang="zh-CN" altLang="en-US" sz="1800" dirty="0"/>
              <a:t>和接收</a:t>
            </a:r>
            <a:r>
              <a:rPr lang="en-US" altLang="zh-CN" sz="1800" dirty="0"/>
              <a:t>(</a:t>
            </a:r>
            <a:r>
              <a:rPr lang="zh-CN" altLang="en-US" sz="1800" dirty="0"/>
              <a:t>检测其它结点是否在发送</a:t>
            </a:r>
            <a:r>
              <a:rPr lang="en-US" altLang="zh-CN" sz="1800" dirty="0"/>
              <a:t>)</a:t>
            </a:r>
            <a:r>
              <a:rPr lang="zh-CN" altLang="en-US" sz="1800" dirty="0"/>
              <a:t>的能力</a:t>
            </a:r>
            <a:endParaRPr lang="en-US" altLang="zh-CN" sz="1800" dirty="0"/>
          </a:p>
          <a:p>
            <a:pPr marL="936000" lvl="2">
              <a:spcBef>
                <a:spcPts val="600"/>
              </a:spcBef>
            </a:pPr>
            <a:r>
              <a:rPr lang="zh-CN" altLang="en-US" sz="1600" dirty="0"/>
              <a:t>无线网络适配器上，接收信号强度远小于发送信号，制造具有碰撞检测能力的硬件代价过大</a:t>
            </a:r>
            <a:endParaRPr lang="en-US" altLang="zh-CN" sz="1600" dirty="0"/>
          </a:p>
          <a:p>
            <a:pPr marL="643961" lvl="1">
              <a:spcBef>
                <a:spcPts val="600"/>
              </a:spcBef>
            </a:pPr>
            <a:r>
              <a:rPr lang="zh-CN" altLang="en-US" sz="1800" dirty="0"/>
              <a:t>即使硬件支持，无线网络特有的</a:t>
            </a:r>
            <a:r>
              <a:rPr lang="zh-CN" altLang="en-US" sz="1800" dirty="0">
                <a:solidFill>
                  <a:schemeClr val="accent5">
                    <a:lumMod val="50000"/>
                  </a:schemeClr>
                </a:solidFill>
              </a:rPr>
              <a:t>隐藏终端</a:t>
            </a:r>
            <a:r>
              <a:rPr lang="zh-CN" altLang="en-US" sz="1800" dirty="0"/>
              <a:t>等问题也使得很多碰撞难以检测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33</a:t>
            </a:fld>
            <a:endParaRPr lang="zh-CN" altLang="en-US" dirty="0"/>
          </a:p>
        </p:txBody>
      </p:sp>
      <p:sp>
        <p:nvSpPr>
          <p:cNvPr id="9" name="Text Box 41"/>
          <p:cNvSpPr txBox="1">
            <a:spLocks noChangeArrowheads="1"/>
          </p:cNvSpPr>
          <p:nvPr/>
        </p:nvSpPr>
        <p:spPr bwMode="auto">
          <a:xfrm>
            <a:off x="512799" y="5125764"/>
            <a:ext cx="8237622" cy="116585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400" dirty="0">
                <a:latin typeface="Calibri" panose="020F0502020204030204" pitchFamily="34" charset="0"/>
              </a:rPr>
              <a:t>不使用碰撞检测，结点一旦开始发送数据帧，即使碰撞仍继续，因此需尽量避免碰撞发生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657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（五）</a:t>
            </a:r>
            <a:r>
              <a:rPr lang="zh-CN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带碰撞避免的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</a:rPr>
              <a:t>(CSMA/CA)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117432"/>
            <a:ext cx="8229600" cy="653986"/>
          </a:xfrm>
        </p:spPr>
        <p:txBody>
          <a:bodyPr/>
          <a:lstStyle/>
          <a:p>
            <a:r>
              <a:rPr lang="zh-CN" altLang="en-US" dirty="0"/>
              <a:t>隐藏终端问题</a:t>
            </a:r>
            <a:r>
              <a:rPr lang="en-US" altLang="zh-CN" dirty="0"/>
              <a:t>(hidden station problem)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34</a:t>
            </a:fld>
            <a:endParaRPr lang="zh-CN" altLang="en-US" dirty="0"/>
          </a:p>
        </p:txBody>
      </p:sp>
      <p:sp>
        <p:nvSpPr>
          <p:cNvPr id="7" name="Oval 4"/>
          <p:cNvSpPr>
            <a:spLocks noChangeArrowheads="1"/>
          </p:cNvSpPr>
          <p:nvPr/>
        </p:nvSpPr>
        <p:spPr bwMode="auto">
          <a:xfrm>
            <a:off x="1571625" y="1847719"/>
            <a:ext cx="3260725" cy="3130550"/>
          </a:xfrm>
          <a:prstGeom prst="ellipse">
            <a:avLst/>
          </a:prstGeom>
          <a:solidFill>
            <a:srgbClr val="FFFF99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8" name="Freeform 6"/>
          <p:cNvSpPr>
            <a:spLocks/>
          </p:cNvSpPr>
          <p:nvPr/>
        </p:nvSpPr>
        <p:spPr bwMode="auto">
          <a:xfrm>
            <a:off x="3108325" y="2470019"/>
            <a:ext cx="112713" cy="620713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9" name="Freeform 7"/>
          <p:cNvSpPr>
            <a:spLocks/>
          </p:cNvSpPr>
          <p:nvPr/>
        </p:nvSpPr>
        <p:spPr bwMode="auto">
          <a:xfrm rot="16200000">
            <a:off x="2458244" y="3167726"/>
            <a:ext cx="107950" cy="646112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0" name="Freeform 8"/>
          <p:cNvSpPr>
            <a:spLocks/>
          </p:cNvSpPr>
          <p:nvPr/>
        </p:nvSpPr>
        <p:spPr bwMode="auto">
          <a:xfrm rot="13652249">
            <a:off x="2602707" y="3726525"/>
            <a:ext cx="107950" cy="649287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1" name="Freeform 9"/>
          <p:cNvSpPr>
            <a:spLocks/>
          </p:cNvSpPr>
          <p:nvPr/>
        </p:nvSpPr>
        <p:spPr bwMode="auto">
          <a:xfrm rot="19320450">
            <a:off x="2528888" y="2595432"/>
            <a:ext cx="114300" cy="623887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2" name="Freeform 10"/>
          <p:cNvSpPr>
            <a:spLocks/>
          </p:cNvSpPr>
          <p:nvPr/>
        </p:nvSpPr>
        <p:spPr bwMode="auto">
          <a:xfrm rot="5400000">
            <a:off x="3807619" y="3167726"/>
            <a:ext cx="107950" cy="646112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3" name="Freeform 11"/>
          <p:cNvSpPr>
            <a:spLocks/>
          </p:cNvSpPr>
          <p:nvPr/>
        </p:nvSpPr>
        <p:spPr bwMode="auto">
          <a:xfrm flipH="1" flipV="1">
            <a:off x="3135313" y="3984494"/>
            <a:ext cx="111125" cy="6223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4" name="Freeform 12"/>
          <p:cNvSpPr>
            <a:spLocks/>
          </p:cNvSpPr>
          <p:nvPr/>
        </p:nvSpPr>
        <p:spPr bwMode="auto">
          <a:xfrm rot="7750291">
            <a:off x="3717925" y="3630482"/>
            <a:ext cx="111125" cy="6477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5" name="Freeform 13"/>
          <p:cNvSpPr>
            <a:spLocks/>
          </p:cNvSpPr>
          <p:nvPr/>
        </p:nvSpPr>
        <p:spPr bwMode="auto">
          <a:xfrm rot="3574206">
            <a:off x="3719513" y="2671632"/>
            <a:ext cx="107950" cy="6477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6" name="Freeform 14"/>
          <p:cNvSpPr>
            <a:spLocks/>
          </p:cNvSpPr>
          <p:nvPr/>
        </p:nvSpPr>
        <p:spPr bwMode="auto">
          <a:xfrm rot="19320450">
            <a:off x="5243513" y="2636707"/>
            <a:ext cx="114300" cy="6223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7" name="Freeform 15"/>
          <p:cNvSpPr>
            <a:spLocks/>
          </p:cNvSpPr>
          <p:nvPr/>
        </p:nvSpPr>
        <p:spPr bwMode="auto">
          <a:xfrm>
            <a:off x="5875338" y="2436682"/>
            <a:ext cx="111125" cy="6223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8" name="Freeform 16"/>
          <p:cNvSpPr>
            <a:spLocks/>
          </p:cNvSpPr>
          <p:nvPr/>
        </p:nvSpPr>
        <p:spPr bwMode="auto">
          <a:xfrm rot="3574206">
            <a:off x="6661151" y="2568444"/>
            <a:ext cx="107950" cy="650875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9" name="Freeform 17"/>
          <p:cNvSpPr>
            <a:spLocks/>
          </p:cNvSpPr>
          <p:nvPr/>
        </p:nvSpPr>
        <p:spPr bwMode="auto">
          <a:xfrm rot="5400000">
            <a:off x="6572250" y="3176457"/>
            <a:ext cx="111125" cy="6477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0" name="Freeform 18"/>
          <p:cNvSpPr>
            <a:spLocks/>
          </p:cNvSpPr>
          <p:nvPr/>
        </p:nvSpPr>
        <p:spPr bwMode="auto">
          <a:xfrm rot="16200000">
            <a:off x="5187950" y="3174869"/>
            <a:ext cx="111125" cy="650875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1" name="Freeform 19"/>
          <p:cNvSpPr>
            <a:spLocks/>
          </p:cNvSpPr>
          <p:nvPr/>
        </p:nvSpPr>
        <p:spPr bwMode="auto">
          <a:xfrm rot="13652249">
            <a:off x="5398294" y="3680488"/>
            <a:ext cx="109538" cy="647700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2" name="Oval 21"/>
          <p:cNvSpPr>
            <a:spLocks noChangeArrowheads="1"/>
          </p:cNvSpPr>
          <p:nvPr/>
        </p:nvSpPr>
        <p:spPr bwMode="auto">
          <a:xfrm>
            <a:off x="4322763" y="1847719"/>
            <a:ext cx="3260725" cy="3130550"/>
          </a:xfrm>
          <a:prstGeom prst="ellipse">
            <a:avLst/>
          </a:prstGeom>
          <a:solidFill>
            <a:srgbClr val="CCECFF">
              <a:alpha val="50000"/>
            </a:srgbClr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3" name="Text Box 22"/>
          <p:cNvSpPr txBox="1">
            <a:spLocks noChangeArrowheads="1"/>
          </p:cNvSpPr>
          <p:nvPr/>
        </p:nvSpPr>
        <p:spPr bwMode="auto">
          <a:xfrm>
            <a:off x="5144170" y="1994113"/>
            <a:ext cx="17055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C </a:t>
            </a:r>
            <a:r>
              <a:rPr kumimoji="1"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的作用范围</a:t>
            </a:r>
          </a:p>
        </p:txBody>
      </p:sp>
      <p:sp>
        <p:nvSpPr>
          <p:cNvPr id="24" name="Freeform 23"/>
          <p:cNvSpPr>
            <a:spLocks/>
          </p:cNvSpPr>
          <p:nvPr/>
        </p:nvSpPr>
        <p:spPr bwMode="auto">
          <a:xfrm flipH="1" flipV="1">
            <a:off x="5961063" y="3974969"/>
            <a:ext cx="114300" cy="623888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5" name="Freeform 24"/>
          <p:cNvSpPr>
            <a:spLocks/>
          </p:cNvSpPr>
          <p:nvPr/>
        </p:nvSpPr>
        <p:spPr bwMode="auto">
          <a:xfrm rot="7750291">
            <a:off x="6554788" y="3681281"/>
            <a:ext cx="109538" cy="646113"/>
          </a:xfrm>
          <a:custGeom>
            <a:avLst/>
            <a:gdLst>
              <a:gd name="T0" fmla="*/ 4 w 52"/>
              <a:gd name="T1" fmla="*/ 0 h 296"/>
              <a:gd name="T2" fmla="*/ 0 w 52"/>
              <a:gd name="T3" fmla="*/ 192 h 296"/>
              <a:gd name="T4" fmla="*/ 52 w 52"/>
              <a:gd name="T5" fmla="*/ 160 h 296"/>
              <a:gd name="T6" fmla="*/ 52 w 52"/>
              <a:gd name="T7" fmla="*/ 296 h 2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" h="296">
                <a:moveTo>
                  <a:pt x="4" y="0"/>
                </a:moveTo>
                <a:lnTo>
                  <a:pt x="0" y="192"/>
                </a:lnTo>
                <a:lnTo>
                  <a:pt x="52" y="160"/>
                </a:lnTo>
                <a:lnTo>
                  <a:pt x="52" y="296"/>
                </a:lnTo>
              </a:path>
            </a:pathLst>
          </a:custGeom>
          <a:noFill/>
          <a:ln w="19050" cmpd="sng">
            <a:solidFill>
              <a:schemeClr val="tx1"/>
            </a:solidFill>
            <a:round/>
            <a:headEnd type="triangle" w="sm" len="lg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2940050" y="3141532"/>
            <a:ext cx="449263" cy="492125"/>
            <a:chOff x="2352" y="2061"/>
            <a:chExt cx="246" cy="237"/>
          </a:xfrm>
        </p:grpSpPr>
        <p:pic>
          <p:nvPicPr>
            <p:cNvPr id="27" name="Picture 26" descr="note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9" t="32260" r="1389" b="4477"/>
            <a:stretch>
              <a:fillRect/>
            </a:stretch>
          </p:blipFill>
          <p:spPr bwMode="auto">
            <a:xfrm>
              <a:off x="2352" y="2127"/>
              <a:ext cx="246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2556" y="2061"/>
              <a:ext cx="0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29" name="Text Box 28"/>
          <p:cNvSpPr txBox="1">
            <a:spLocks noChangeArrowheads="1"/>
          </p:cNvSpPr>
          <p:nvPr/>
        </p:nvSpPr>
        <p:spPr bwMode="auto">
          <a:xfrm>
            <a:off x="3004994" y="3583435"/>
            <a:ext cx="30970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</a:t>
            </a:r>
          </a:p>
        </p:txBody>
      </p:sp>
      <p:sp>
        <p:nvSpPr>
          <p:cNvPr id="30" name="Text Box 29"/>
          <p:cNvSpPr txBox="1">
            <a:spLocks noChangeArrowheads="1"/>
          </p:cNvSpPr>
          <p:nvPr/>
        </p:nvSpPr>
        <p:spPr bwMode="auto">
          <a:xfrm>
            <a:off x="4398819" y="3596135"/>
            <a:ext cx="30008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B</a:t>
            </a:r>
          </a:p>
        </p:txBody>
      </p:sp>
      <p:grpSp>
        <p:nvGrpSpPr>
          <p:cNvPr id="31" name="Group 30"/>
          <p:cNvGrpSpPr>
            <a:grpSpLocks/>
          </p:cNvGrpSpPr>
          <p:nvPr/>
        </p:nvGrpSpPr>
        <p:grpSpPr bwMode="auto">
          <a:xfrm>
            <a:off x="7143750" y="3141532"/>
            <a:ext cx="452438" cy="492125"/>
            <a:chOff x="2352" y="2061"/>
            <a:chExt cx="246" cy="237"/>
          </a:xfrm>
        </p:grpSpPr>
        <p:pic>
          <p:nvPicPr>
            <p:cNvPr id="32" name="Picture 31" descr="note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9" t="32260" r="1389" b="4477"/>
            <a:stretch>
              <a:fillRect/>
            </a:stretch>
          </p:blipFill>
          <p:spPr bwMode="auto">
            <a:xfrm>
              <a:off x="2352" y="2127"/>
              <a:ext cx="246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Line 32"/>
            <p:cNvSpPr>
              <a:spLocks noChangeShapeType="1"/>
            </p:cNvSpPr>
            <p:nvPr/>
          </p:nvSpPr>
          <p:spPr bwMode="auto">
            <a:xfrm flipH="1">
              <a:off x="2556" y="2061"/>
              <a:ext cx="0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34" name="Group 33"/>
          <p:cNvGrpSpPr>
            <a:grpSpLocks/>
          </p:cNvGrpSpPr>
          <p:nvPr/>
        </p:nvGrpSpPr>
        <p:grpSpPr bwMode="auto">
          <a:xfrm>
            <a:off x="5737225" y="3141532"/>
            <a:ext cx="452438" cy="492125"/>
            <a:chOff x="2352" y="2061"/>
            <a:chExt cx="246" cy="237"/>
          </a:xfrm>
        </p:grpSpPr>
        <p:pic>
          <p:nvPicPr>
            <p:cNvPr id="35" name="Picture 34" descr="note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9" t="32260" r="1389" b="4477"/>
            <a:stretch>
              <a:fillRect/>
            </a:stretch>
          </p:blipFill>
          <p:spPr bwMode="auto">
            <a:xfrm>
              <a:off x="2352" y="2127"/>
              <a:ext cx="246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Line 35"/>
            <p:cNvSpPr>
              <a:spLocks noChangeShapeType="1"/>
            </p:cNvSpPr>
            <p:nvPr/>
          </p:nvSpPr>
          <p:spPr bwMode="auto">
            <a:xfrm flipH="1">
              <a:off x="2556" y="2061"/>
              <a:ext cx="0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grpSp>
        <p:nvGrpSpPr>
          <p:cNvPr id="37" name="Group 36"/>
          <p:cNvGrpSpPr>
            <a:grpSpLocks/>
          </p:cNvGrpSpPr>
          <p:nvPr/>
        </p:nvGrpSpPr>
        <p:grpSpPr bwMode="auto">
          <a:xfrm>
            <a:off x="4359275" y="3141532"/>
            <a:ext cx="449263" cy="492125"/>
            <a:chOff x="2352" y="2061"/>
            <a:chExt cx="246" cy="237"/>
          </a:xfrm>
        </p:grpSpPr>
        <p:pic>
          <p:nvPicPr>
            <p:cNvPr id="38" name="Picture 37" descr="notebook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9" t="32260" r="1389" b="4477"/>
            <a:stretch>
              <a:fillRect/>
            </a:stretch>
          </p:blipFill>
          <p:spPr bwMode="auto">
            <a:xfrm>
              <a:off x="2352" y="2127"/>
              <a:ext cx="246" cy="1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9" name="Line 38"/>
            <p:cNvSpPr>
              <a:spLocks noChangeShapeType="1"/>
            </p:cNvSpPr>
            <p:nvPr/>
          </p:nvSpPr>
          <p:spPr bwMode="auto">
            <a:xfrm flipH="1">
              <a:off x="2556" y="2061"/>
              <a:ext cx="0" cy="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/>
            </a:p>
          </p:txBody>
        </p:sp>
      </p:grpSp>
      <p:sp>
        <p:nvSpPr>
          <p:cNvPr id="40" name="Text Box 39"/>
          <p:cNvSpPr txBox="1">
            <a:spLocks noChangeArrowheads="1"/>
          </p:cNvSpPr>
          <p:nvPr/>
        </p:nvSpPr>
        <p:spPr bwMode="auto">
          <a:xfrm>
            <a:off x="5786294" y="3596135"/>
            <a:ext cx="29367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C</a:t>
            </a:r>
          </a:p>
        </p:txBody>
      </p:sp>
      <p:sp>
        <p:nvSpPr>
          <p:cNvPr id="41" name="Text Box 40"/>
          <p:cNvSpPr txBox="1">
            <a:spLocks noChangeArrowheads="1"/>
          </p:cNvSpPr>
          <p:nvPr/>
        </p:nvSpPr>
        <p:spPr bwMode="auto">
          <a:xfrm>
            <a:off x="7224569" y="3596135"/>
            <a:ext cx="31451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600" b="1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D</a:t>
            </a:r>
          </a:p>
        </p:txBody>
      </p:sp>
      <p:sp>
        <p:nvSpPr>
          <p:cNvPr id="42" name="Text Box 41"/>
          <p:cNvSpPr txBox="1">
            <a:spLocks noChangeArrowheads="1"/>
          </p:cNvSpPr>
          <p:nvPr/>
        </p:nvSpPr>
        <p:spPr bwMode="auto">
          <a:xfrm>
            <a:off x="409435" y="5117550"/>
            <a:ext cx="8316699" cy="75872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>
                <a:latin typeface="Calibri" panose="020F0502020204030204" pitchFamily="34" charset="0"/>
              </a:rPr>
              <a:t>结点 </a:t>
            </a:r>
            <a:r>
              <a:rPr lang="en-US" altLang="zh-CN" dirty="0">
                <a:latin typeface="Calibri" panose="020F0502020204030204" pitchFamily="34" charset="0"/>
              </a:rPr>
              <a:t>A </a:t>
            </a:r>
            <a:r>
              <a:rPr lang="zh-CN" altLang="en-US" dirty="0">
                <a:latin typeface="Calibri" panose="020F0502020204030204" pitchFamily="34" charset="0"/>
              </a:rPr>
              <a:t>和结点 </a:t>
            </a:r>
            <a:r>
              <a:rPr lang="en-US" altLang="zh-CN" dirty="0">
                <a:latin typeface="Calibri" panose="020F0502020204030204" pitchFamily="34" charset="0"/>
              </a:rPr>
              <a:t>C </a:t>
            </a:r>
            <a:r>
              <a:rPr lang="zh-CN" altLang="en-US" dirty="0">
                <a:latin typeface="Calibri" panose="020F0502020204030204" pitchFamily="34" charset="0"/>
              </a:rPr>
              <a:t>相互检测不到对方的信号，可能同时向 </a:t>
            </a:r>
            <a:r>
              <a:rPr lang="en-US" altLang="zh-CN" dirty="0">
                <a:latin typeface="Calibri" panose="020F0502020204030204" pitchFamily="34" charset="0"/>
              </a:rPr>
              <a:t>B </a:t>
            </a:r>
            <a:r>
              <a:rPr lang="zh-CN" altLang="en-US" dirty="0">
                <a:latin typeface="Calibri" panose="020F0502020204030204" pitchFamily="34" charset="0"/>
              </a:rPr>
              <a:t>发送数据，引发碰撞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332926" y="2001386"/>
            <a:ext cx="171825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0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A </a:t>
            </a:r>
            <a:r>
              <a:rPr kumimoji="1" lang="zh-CN" altLang="en-US" sz="2000" dirty="0">
                <a:solidFill>
                  <a:srgbClr val="0000FF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的作用范围</a:t>
            </a:r>
          </a:p>
        </p:txBody>
      </p:sp>
      <p:sp>
        <p:nvSpPr>
          <p:cNvPr id="43" name="Text Box 41">
            <a:extLst>
              <a:ext uri="{FF2B5EF4-FFF2-40B4-BE49-F238E27FC236}">
                <a16:creationId xmlns:a16="http://schemas.microsoft.com/office/drawing/2014/main" id="{C890A52D-BD37-48B0-B286-3091EE06F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707" y="6006928"/>
            <a:ext cx="8316699" cy="7587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>
                <a:solidFill>
                  <a:schemeClr val="lt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2800" dirty="0">
                <a:solidFill>
                  <a:srgbClr val="FF0000"/>
                </a:solidFill>
                <a:latin typeface="Calibri" panose="020F0502020204030204" pitchFamily="34" charset="0"/>
              </a:rPr>
              <a:t>思考：有线链路是否存在同样问题？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7984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（五）</a:t>
            </a:r>
            <a:r>
              <a:rPr lang="zh-CN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带碰撞避免的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</a:rPr>
              <a:t>(CSMA/CA)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413022"/>
          </a:xfrm>
        </p:spPr>
        <p:txBody>
          <a:bodyPr/>
          <a:lstStyle/>
          <a:p>
            <a:r>
              <a:rPr lang="zh-CN" altLang="en-US" dirty="0"/>
              <a:t>侦听</a:t>
            </a:r>
            <a:r>
              <a:rPr lang="en-US" altLang="zh-CN" dirty="0"/>
              <a:t>/</a:t>
            </a:r>
            <a:r>
              <a:rPr lang="zh-CN" altLang="en-US" dirty="0"/>
              <a:t>发送</a:t>
            </a:r>
            <a:endParaRPr lang="en-US" altLang="zh-CN" dirty="0"/>
          </a:p>
          <a:p>
            <a:pPr lvl="1"/>
            <a:r>
              <a:rPr lang="zh-CN" altLang="en-US" sz="1800" dirty="0"/>
              <a:t>发送数据时，先侦听信道是否空闲</a:t>
            </a:r>
            <a:endParaRPr lang="en-US" altLang="zh-CN" sz="1800" dirty="0"/>
          </a:p>
          <a:p>
            <a:pPr lvl="2"/>
            <a:r>
              <a:rPr lang="zh-CN" altLang="en-US" dirty="0"/>
              <a:t>若信道忙，等待，再次侦听（</a:t>
            </a:r>
            <a:r>
              <a:rPr lang="zh-CN" altLang="en-US" dirty="0">
                <a:solidFill>
                  <a:srgbClr val="FF0000"/>
                </a:solidFill>
              </a:rPr>
              <a:t>非持续体现在此处</a:t>
            </a:r>
            <a:r>
              <a:rPr lang="zh-CN" altLang="en-US" dirty="0"/>
              <a:t>）</a:t>
            </a:r>
          </a:p>
          <a:p>
            <a:pPr lvl="2"/>
            <a:r>
              <a:rPr lang="zh-CN" altLang="en-US" dirty="0"/>
              <a:t>若信道空闲</a:t>
            </a:r>
            <a:endParaRPr lang="en-US" altLang="zh-CN" dirty="0"/>
          </a:p>
          <a:p>
            <a:pPr lvl="3"/>
            <a:r>
              <a:rPr lang="zh-CN" altLang="en-US" dirty="0"/>
              <a:t>第一次尝试发送，在一段时间</a:t>
            </a:r>
            <a:r>
              <a:rPr lang="en-US" altLang="zh-CN" dirty="0"/>
              <a:t>(</a:t>
            </a:r>
            <a:r>
              <a:rPr lang="zh-CN" altLang="en-US" dirty="0"/>
              <a:t>分布式帧间间隔</a:t>
            </a:r>
            <a:r>
              <a:rPr lang="en-US" altLang="zh-CN" dirty="0"/>
              <a:t>, DIFS)</a:t>
            </a:r>
            <a:r>
              <a:rPr lang="zh-CN" altLang="en-US" dirty="0"/>
              <a:t>后，立即发送</a:t>
            </a:r>
            <a:endParaRPr lang="en-US" altLang="zh-CN" dirty="0"/>
          </a:p>
          <a:p>
            <a:pPr lvl="3"/>
            <a:r>
              <a:rPr lang="zh-CN" altLang="en-US" dirty="0"/>
              <a:t>非第一次尝试发送，执行碰撞避免操作，发送数据</a:t>
            </a:r>
            <a:endParaRPr lang="en-US" altLang="zh-CN" dirty="0"/>
          </a:p>
          <a:p>
            <a:pPr lvl="3"/>
            <a:endParaRPr lang="en-US" altLang="zh-CN" dirty="0"/>
          </a:p>
          <a:p>
            <a:pPr lvl="2"/>
            <a:r>
              <a:rPr lang="zh-CN" altLang="en-US" dirty="0"/>
              <a:t>成功发送后等待对端回复</a:t>
            </a:r>
            <a:r>
              <a:rPr lang="en-US" altLang="zh-CN" dirty="0"/>
              <a:t>ACK</a:t>
            </a:r>
            <a:r>
              <a:rPr lang="zh-CN" altLang="en-US" dirty="0"/>
              <a:t>，等待超时，重传该帧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35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ACFD1E-CC0F-4680-99C9-C28F8B5EB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382" y="4820921"/>
            <a:ext cx="3548418" cy="15508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01873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Calibri" panose="020F0502020204030204" pitchFamily="34" charset="0"/>
              </a:rPr>
              <a:t>（五）</a:t>
            </a:r>
            <a:r>
              <a:rPr lang="zh-CN" altLang="en-US" dirty="0">
                <a:solidFill>
                  <a:srgbClr val="000000"/>
                </a:solidFill>
                <a:latin typeface="Calibri" panose="020F0502020204030204" pitchFamily="34" charset="0"/>
              </a:rPr>
              <a:t>带碰撞避免的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</a:rPr>
              <a:t>CSMA </a:t>
            </a:r>
            <a:r>
              <a:rPr lang="en-US" altLang="zh-CN" sz="3200" dirty="0">
                <a:solidFill>
                  <a:srgbClr val="000000"/>
                </a:solidFill>
                <a:latin typeface="Calibri" panose="020F0502020204030204" pitchFamily="34" charset="0"/>
              </a:rPr>
              <a:t>(CSMA/CA)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2607" y="1376738"/>
            <a:ext cx="8370711" cy="3877650"/>
          </a:xfrm>
        </p:spPr>
        <p:txBody>
          <a:bodyPr/>
          <a:lstStyle/>
          <a:p>
            <a:r>
              <a:rPr lang="zh-CN" altLang="en-US" sz="3200" dirty="0"/>
              <a:t>碰撞避免</a:t>
            </a:r>
          </a:p>
          <a:p>
            <a:pPr lvl="1"/>
            <a:r>
              <a:rPr lang="en-US" altLang="zh-CN" sz="2400" dirty="0"/>
              <a:t>1. </a:t>
            </a:r>
            <a:r>
              <a:rPr lang="zh-CN" altLang="en-US" sz="2400" dirty="0"/>
              <a:t>信道空闲一段时间</a:t>
            </a:r>
            <a:r>
              <a:rPr lang="en-US" altLang="zh-CN" sz="2400" dirty="0"/>
              <a:t>(</a:t>
            </a:r>
            <a:r>
              <a:rPr lang="zh-CN" altLang="en-US" sz="2400" dirty="0"/>
              <a:t>分布式帧间间隔</a:t>
            </a:r>
            <a:r>
              <a:rPr lang="en-US" altLang="zh-CN" sz="2400" dirty="0"/>
              <a:t>, DIFS)</a:t>
            </a:r>
            <a:r>
              <a:rPr lang="zh-CN" altLang="en-US" sz="2400" dirty="0"/>
              <a:t>后，进入竞争窗口，延迟接入</a:t>
            </a:r>
            <a:endParaRPr lang="en-US" altLang="zh-CN" sz="2400" dirty="0"/>
          </a:p>
          <a:p>
            <a:pPr marL="1008000" lvl="2"/>
            <a:r>
              <a:rPr lang="zh-CN" altLang="en-US" sz="2000" dirty="0"/>
              <a:t>结点按照各自当前的状态</a:t>
            </a:r>
            <a:r>
              <a:rPr lang="en-US" altLang="zh-CN" sz="2000" dirty="0"/>
              <a:t>(</a:t>
            </a:r>
            <a:r>
              <a:rPr lang="zh-CN" altLang="en-US" sz="2000" dirty="0"/>
              <a:t>重传次数</a:t>
            </a:r>
            <a:r>
              <a:rPr lang="en-US" altLang="zh-CN" sz="2000" dirty="0"/>
              <a:t>)</a:t>
            </a:r>
            <a:r>
              <a:rPr lang="zh-CN" altLang="en-US" sz="2000" dirty="0"/>
              <a:t>，按照二进制指数退避算法选择随机退避时间，退避完成发送数据；若退避未完成时检测到信道忙，则冻结退避计时器，等到信道空闲持续</a:t>
            </a:r>
            <a:r>
              <a:rPr lang="en-US" altLang="zh-CN" sz="2000" dirty="0"/>
              <a:t>DIFS</a:t>
            </a:r>
            <a:r>
              <a:rPr lang="zh-CN" altLang="en-US" sz="2000" dirty="0"/>
              <a:t>时间后继续退避，直至退避完成后，继续发送数据</a:t>
            </a:r>
            <a:endParaRPr lang="en-US" altLang="zh-CN" sz="2000" dirty="0"/>
          </a:p>
          <a:p>
            <a:pPr lvl="1">
              <a:spcBef>
                <a:spcPts val="1200"/>
              </a:spcBef>
            </a:pPr>
            <a:r>
              <a:rPr lang="en-US" altLang="zh-CN" sz="2400" dirty="0"/>
              <a:t>2. </a:t>
            </a:r>
            <a:r>
              <a:rPr lang="zh-CN" altLang="en-US" sz="2400" dirty="0"/>
              <a:t>发送、接收结点通过</a:t>
            </a:r>
            <a:r>
              <a:rPr lang="en-US" altLang="zh-CN" sz="2400" dirty="0"/>
              <a:t>RTS/CTS</a:t>
            </a:r>
            <a:r>
              <a:rPr lang="zh-CN" altLang="en-US" sz="2400" dirty="0"/>
              <a:t>短帧预约信道，避免碰撞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36</a:t>
            </a:fld>
            <a:endParaRPr lang="zh-CN" altLang="en-US" dirty="0"/>
          </a:p>
        </p:txBody>
      </p:sp>
      <p:sp>
        <p:nvSpPr>
          <p:cNvPr id="5" name="圆角矩形标注 162"/>
          <p:cNvSpPr/>
          <p:nvPr/>
        </p:nvSpPr>
        <p:spPr>
          <a:xfrm>
            <a:off x="1593374" y="5878823"/>
            <a:ext cx="6317672" cy="771364"/>
          </a:xfrm>
          <a:prstGeom prst="wedgeRoundRectCallout">
            <a:avLst>
              <a:gd name="adj1" fmla="val -15815"/>
              <a:gd name="adj2" fmla="val -291585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CSMA/CD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中发送中发生碰撞，执行退避</a:t>
            </a:r>
            <a:endParaRPr lang="en-US" altLang="zh-CN" dirty="0">
              <a:latin typeface="Calibri" panose="020F0502020204030204" pitchFamily="34" charset="0"/>
              <a:ea typeface="华文楷体" panose="0201060004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CSMA/CA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中信道由忙变闲后，发送前执行退避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9978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两类媒体共享技术对比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graphicFrame>
        <p:nvGraphicFramePr>
          <p:cNvPr id="6" name="内容占位符 3"/>
          <p:cNvGraphicFramePr>
            <a:graphicFrameLocks/>
          </p:cNvGraphicFramePr>
          <p:nvPr/>
        </p:nvGraphicFramePr>
        <p:xfrm>
          <a:off x="1022055" y="1850064"/>
          <a:ext cx="6920466" cy="3708001"/>
        </p:xfrm>
        <a:graphic>
          <a:graphicData uri="http://schemas.openxmlformats.org/drawingml/2006/table">
            <a:tbl>
              <a:tblPr firstRow="1" bandRow="1"/>
              <a:tblGrid>
                <a:gridCol w="34602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02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4301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静态划分信道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动态媒体接入控制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54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FDM, TDM, WDM, CDM</a:t>
                      </a:r>
                      <a:endParaRPr lang="zh-CN" altLang="en-US" sz="1600" dirty="0"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ALOHA, CSMA/CD, CSMA/CA</a:t>
                      </a:r>
                      <a:endParaRPr lang="zh-CN" altLang="en-US" sz="1600" dirty="0"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54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/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使用控制器</a:t>
                      </a:r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/</a:t>
                      </a:r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仲裁器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不使用控制器</a:t>
                      </a:r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/</a:t>
                      </a:r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仲裁器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54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使用已分配的固定带宽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使用的带宽是变动的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543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强调公平性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强调自组织和带宽利用率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4764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2G(GPRS,</a:t>
                      </a:r>
                      <a:r>
                        <a:rPr lang="en-US" altLang="zh-CN" sz="1600" baseline="0" dirty="0">
                          <a:ea typeface="黑体" panose="02010609060101010101" pitchFamily="49" charset="-122"/>
                        </a:rPr>
                        <a:t> Edge), 3G(CDMA2000, WCDMA), 4G+</a:t>
                      </a:r>
                      <a:endParaRPr lang="zh-CN" altLang="en-US" sz="1600" dirty="0"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en-GB" altLang="zh-CN" sz="1600" dirty="0">
                          <a:ea typeface="黑体" panose="02010609060101010101" pitchFamily="49" charset="-122"/>
                        </a:rPr>
                        <a:t>Ethernet, WiFi</a:t>
                      </a:r>
                      <a:endParaRPr lang="zh-CN" altLang="en-US" sz="1600" dirty="0"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4764"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多用于传统语音、视频系统，以及移动蜂窝网络（物理层）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18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377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566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754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5943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131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320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509" algn="l" defTabSz="914377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用于互联网数据传输（</a:t>
                      </a:r>
                      <a:r>
                        <a:rPr lang="en-US" altLang="zh-CN" sz="1600" dirty="0">
                          <a:ea typeface="黑体" panose="02010609060101010101" pitchFamily="49" charset="-122"/>
                        </a:rPr>
                        <a:t>MAC</a:t>
                      </a:r>
                      <a:r>
                        <a:rPr lang="zh-CN" altLang="en-US" sz="1600" dirty="0">
                          <a:ea typeface="黑体" panose="02010609060101010101" pitchFamily="49" charset="-122"/>
                        </a:rPr>
                        <a:t>层）</a:t>
                      </a:r>
                    </a:p>
                  </a:txBody>
                  <a:tcPr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7045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18442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/>
              <a:t>2.1  </a:t>
            </a:r>
            <a:r>
              <a:rPr lang="zh-CN" altLang="en-US" dirty="0"/>
              <a:t>数据通信的基本概念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2.2  </a:t>
            </a:r>
            <a:r>
              <a:rPr lang="zh-CN" altLang="en-US" dirty="0"/>
              <a:t>网络构件</a:t>
            </a:r>
            <a:endParaRPr lang="en-US" altLang="zh-CN" dirty="0"/>
          </a:p>
          <a:p>
            <a:r>
              <a:rPr lang="en-US" altLang="zh-CN"/>
              <a:t>2.3  </a:t>
            </a:r>
            <a:r>
              <a:rPr lang="zh-CN" altLang="en-US" dirty="0"/>
              <a:t>组帧</a:t>
            </a:r>
          </a:p>
          <a:p>
            <a:r>
              <a:rPr lang="en-US" altLang="zh-CN"/>
              <a:t>2.4  </a:t>
            </a:r>
            <a:r>
              <a:rPr lang="zh-CN" altLang="en-US" dirty="0"/>
              <a:t>差错检测</a:t>
            </a:r>
          </a:p>
          <a:p>
            <a:r>
              <a:rPr lang="en-US" altLang="zh-CN"/>
              <a:t>2.5  </a:t>
            </a:r>
            <a:r>
              <a:rPr lang="zh-CN" altLang="en-US" dirty="0"/>
              <a:t>可靠传输</a:t>
            </a:r>
          </a:p>
          <a:p>
            <a:r>
              <a:rPr lang="en-US" altLang="zh-CN"/>
              <a:t>2.6  </a:t>
            </a:r>
            <a:r>
              <a:rPr lang="zh-CN" altLang="en-US" dirty="0"/>
              <a:t>媒体共享</a:t>
            </a:r>
            <a:r>
              <a:rPr lang="en-US" altLang="zh-CN" dirty="0"/>
              <a:t> </a:t>
            </a:r>
          </a:p>
          <a:p>
            <a:r>
              <a:rPr lang="en-US" altLang="zh-CN"/>
              <a:t>2.7  </a:t>
            </a:r>
            <a:r>
              <a:rPr lang="zh-CN" altLang="en-US" dirty="0"/>
              <a:t>以太网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1569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5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1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23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mph" presetSubtype="2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CC3399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两种链路类型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点对点链路</a:t>
            </a:r>
            <a:endParaRPr lang="en-US" altLang="zh-CN" dirty="0"/>
          </a:p>
          <a:p>
            <a:pPr lvl="1"/>
            <a:r>
              <a:rPr lang="zh-CN" altLang="en-US" dirty="0"/>
              <a:t>高级数据链路控制协议 </a:t>
            </a:r>
            <a:r>
              <a:rPr lang="en-US" altLang="zh-CN" dirty="0"/>
              <a:t>(High-level Data </a:t>
            </a:r>
            <a:r>
              <a:rPr lang="en-US" altLang="zh-CN"/>
              <a:t>Link Control, HDLC)</a:t>
            </a:r>
          </a:p>
          <a:p>
            <a:pPr lvl="1"/>
            <a:r>
              <a:rPr lang="zh-CN" altLang="en-US" dirty="0"/>
              <a:t>点对点协议</a:t>
            </a:r>
            <a:r>
              <a:rPr lang="en-US" altLang="zh-CN" dirty="0"/>
              <a:t>(Point-to-Point Protocol, PPP)     </a:t>
            </a:r>
          </a:p>
          <a:p>
            <a:pPr>
              <a:spcBef>
                <a:spcPts val="1800"/>
              </a:spcBef>
            </a:pPr>
            <a:r>
              <a:rPr lang="zh-CN" altLang="en-US" dirty="0"/>
              <a:t>广播链路</a:t>
            </a:r>
            <a:endParaRPr lang="en-US" altLang="zh-CN" dirty="0"/>
          </a:p>
          <a:p>
            <a:pPr lvl="1"/>
            <a:r>
              <a:rPr lang="zh-CN" altLang="en-US" dirty="0"/>
              <a:t>以太网</a:t>
            </a:r>
            <a:r>
              <a:rPr lang="en-US" altLang="zh-CN" dirty="0"/>
              <a:t>(Ethernet), IEEE 802.3</a:t>
            </a:r>
          </a:p>
          <a:p>
            <a:pPr lvl="1"/>
            <a:r>
              <a:rPr lang="zh-CN" altLang="en-US" dirty="0"/>
              <a:t>无线局域网</a:t>
            </a:r>
            <a:r>
              <a:rPr lang="en-US" altLang="zh-CN" dirty="0"/>
              <a:t>(Wireless </a:t>
            </a:r>
            <a:r>
              <a:rPr lang="en-US" altLang="zh-CN" dirty="0" err="1"/>
              <a:t>Lan</a:t>
            </a:r>
            <a:r>
              <a:rPr lang="en-US" altLang="zh-CN" dirty="0"/>
              <a:t>, WLAN), IEEE 802.11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39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013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3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5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9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1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2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44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5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网络分类</a:t>
            </a:r>
            <a:r>
              <a:rPr lang="en-US" altLang="zh-CN" dirty="0"/>
              <a:t>(</a:t>
            </a:r>
            <a:r>
              <a:rPr lang="zh-CN" altLang="en-US" dirty="0"/>
              <a:t>不同作用范围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广域网 </a:t>
            </a:r>
            <a:r>
              <a:rPr lang="en-US" altLang="zh-CN" dirty="0"/>
              <a:t>WAN (Wide Area Network)</a:t>
            </a:r>
          </a:p>
          <a:p>
            <a:r>
              <a:rPr lang="zh-CN" altLang="en-US" dirty="0"/>
              <a:t>城域网 </a:t>
            </a:r>
            <a:r>
              <a:rPr lang="en-US" altLang="zh-CN" dirty="0"/>
              <a:t>MAN (Metropolitan Area Network)</a:t>
            </a:r>
          </a:p>
          <a:p>
            <a:r>
              <a:rPr lang="zh-CN" altLang="en-US" dirty="0"/>
              <a:t>局域网 </a:t>
            </a:r>
            <a:r>
              <a:rPr lang="en-US" altLang="zh-CN" dirty="0"/>
              <a:t>LAN (Local Area Network) </a:t>
            </a:r>
          </a:p>
          <a:p>
            <a:r>
              <a:rPr lang="zh-CN" altLang="en-US" dirty="0"/>
              <a:t>个域网 </a:t>
            </a:r>
            <a:r>
              <a:rPr lang="en-US" altLang="zh-CN" dirty="0"/>
              <a:t>PAN (Personal Area Network)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615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幻灯片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" y="819942"/>
            <a:ext cx="7848600" cy="5517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局域网</a:t>
            </a:r>
            <a:r>
              <a:rPr lang="en-US" altLang="zh-CN" dirty="0"/>
              <a:t>(LAN)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73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局域网</a:t>
            </a:r>
            <a:r>
              <a:rPr lang="en-US" altLang="zh-CN" dirty="0"/>
              <a:t>(LAN)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局域网特点</a:t>
            </a:r>
            <a:endParaRPr lang="en-US" altLang="zh-CN" dirty="0"/>
          </a:p>
          <a:p>
            <a:pPr lvl="1"/>
            <a:r>
              <a:rPr lang="zh-CN" altLang="en-US" dirty="0"/>
              <a:t>覆盖范围小：房间、建筑物、园区，距离≤</a:t>
            </a:r>
            <a:r>
              <a:rPr lang="en-US" altLang="zh-CN" dirty="0"/>
              <a:t>25km</a:t>
            </a:r>
          </a:p>
          <a:p>
            <a:pPr lvl="1"/>
            <a:r>
              <a:rPr lang="zh-CN" altLang="en-US" dirty="0"/>
              <a:t>高传输速率：</a:t>
            </a:r>
            <a:r>
              <a:rPr lang="en-US" altLang="zh-CN" dirty="0"/>
              <a:t>10Mbps</a:t>
            </a:r>
            <a:r>
              <a:rPr lang="zh-CN" altLang="en-US" dirty="0"/>
              <a:t>～</a:t>
            </a:r>
            <a:r>
              <a:rPr lang="en-US" altLang="zh-CN" dirty="0"/>
              <a:t>1000Mbps</a:t>
            </a:r>
          </a:p>
          <a:p>
            <a:pPr lvl="1"/>
            <a:r>
              <a:rPr lang="zh-CN" altLang="en-US" dirty="0"/>
              <a:t>低误码率：</a:t>
            </a:r>
            <a:r>
              <a:rPr lang="en-US" altLang="zh-CN" dirty="0"/>
              <a:t>10</a:t>
            </a:r>
            <a:r>
              <a:rPr lang="en-US" altLang="zh-CN" baseline="30000" dirty="0"/>
              <a:t>-8</a:t>
            </a:r>
            <a:r>
              <a:rPr lang="en-US" altLang="zh-CN" dirty="0"/>
              <a:t> </a:t>
            </a:r>
            <a:r>
              <a:rPr lang="zh-CN" altLang="en-US" dirty="0"/>
              <a:t>～ </a:t>
            </a:r>
            <a:r>
              <a:rPr lang="en-US" altLang="zh-CN" dirty="0"/>
              <a:t>10</a:t>
            </a:r>
            <a:r>
              <a:rPr lang="en-US" altLang="zh-CN" baseline="30000" dirty="0"/>
              <a:t>-10</a:t>
            </a:r>
            <a:r>
              <a:rPr lang="en-US" altLang="zh-CN" dirty="0"/>
              <a:t> </a:t>
            </a:r>
          </a:p>
          <a:p>
            <a:pPr lvl="1"/>
            <a:r>
              <a:rPr lang="zh-CN" altLang="en-US" dirty="0"/>
              <a:t>拓扑：总线、星形、环形、树形</a:t>
            </a:r>
          </a:p>
          <a:p>
            <a:pPr lvl="1"/>
            <a:r>
              <a:rPr lang="zh-CN" altLang="en-US" dirty="0"/>
              <a:t>传输媒体：双绞线、同轴电缆、光纤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典型技术</a:t>
            </a:r>
            <a:endParaRPr lang="en-US" altLang="zh-CN" dirty="0"/>
          </a:p>
          <a:p>
            <a:pPr lvl="1"/>
            <a:r>
              <a:rPr lang="zh-CN" altLang="en-US" dirty="0"/>
              <a:t>以太网</a:t>
            </a:r>
            <a:r>
              <a:rPr lang="en-US" altLang="zh-CN" dirty="0"/>
              <a:t>(Ethernet)</a:t>
            </a:r>
          </a:p>
          <a:p>
            <a:pPr lvl="1"/>
            <a:r>
              <a:rPr lang="zh-CN" altLang="en-US" dirty="0"/>
              <a:t>令牌环网 </a:t>
            </a:r>
            <a:r>
              <a:rPr lang="en-US" altLang="zh-CN" dirty="0"/>
              <a:t>(Token Ring)</a:t>
            </a:r>
          </a:p>
          <a:p>
            <a:pPr lvl="1"/>
            <a:r>
              <a:rPr lang="en-US" altLang="zh-CN" dirty="0"/>
              <a:t>FDDI(Fiber Distributed Data Interface)</a:t>
            </a:r>
            <a:endParaRPr lang="zh-CN" altLang="en-US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42</a:t>
            </a:fld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83317" y="4223146"/>
            <a:ext cx="3549015" cy="22566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5477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局域网</a:t>
            </a:r>
            <a:r>
              <a:rPr lang="en-US" altLang="zh-CN" dirty="0"/>
              <a:t>(LAN)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674888"/>
          </a:xfrm>
        </p:spPr>
        <p:txBody>
          <a:bodyPr/>
          <a:lstStyle/>
          <a:p>
            <a:r>
              <a:rPr lang="en-US" altLang="zh-CN" dirty="0"/>
              <a:t>IEEE 802</a:t>
            </a:r>
            <a:r>
              <a:rPr lang="zh-CN" altLang="en-US" dirty="0"/>
              <a:t>标准体系（局域网、城域网标准）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43</a:t>
            </a:fld>
            <a:endParaRPr lang="zh-CN" altLang="en-US" dirty="0"/>
          </a:p>
        </p:txBody>
      </p:sp>
      <p:grpSp>
        <p:nvGrpSpPr>
          <p:cNvPr id="91" name="组合 90"/>
          <p:cNvGrpSpPr/>
          <p:nvPr/>
        </p:nvGrpSpPr>
        <p:grpSpPr>
          <a:xfrm>
            <a:off x="874643" y="2050915"/>
            <a:ext cx="6996180" cy="4714321"/>
            <a:chOff x="874643" y="2143679"/>
            <a:chExt cx="6996180" cy="4714321"/>
          </a:xfrm>
        </p:grpSpPr>
        <p:sp>
          <p:nvSpPr>
            <p:cNvPr id="84" name="Rectangle 11"/>
            <p:cNvSpPr>
              <a:spLocks noChangeArrowheads="1"/>
            </p:cNvSpPr>
            <p:nvPr/>
          </p:nvSpPr>
          <p:spPr bwMode="auto">
            <a:xfrm>
              <a:off x="874643" y="2143679"/>
              <a:ext cx="6996180" cy="4714321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sp>
          <p:nvSpPr>
            <p:cNvPr id="44" name="Line 2"/>
            <p:cNvSpPr>
              <a:spLocks noChangeShapeType="1"/>
            </p:cNvSpPr>
            <p:nvPr/>
          </p:nvSpPr>
          <p:spPr bwMode="auto">
            <a:xfrm flipH="1">
              <a:off x="1414463" y="3626404"/>
              <a:ext cx="62642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6" name="Rectangle 4"/>
            <p:cNvSpPr>
              <a:spLocks noChangeArrowheads="1"/>
            </p:cNvSpPr>
            <p:nvPr/>
          </p:nvSpPr>
          <p:spPr bwMode="auto">
            <a:xfrm>
              <a:off x="1066800" y="2302566"/>
              <a:ext cx="3200400" cy="6096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802.10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可操作的局域网的安全机制</a:t>
              </a:r>
            </a:p>
          </p:txBody>
        </p:sp>
        <p:sp>
          <p:nvSpPr>
            <p:cNvPr id="47" name="Line 5"/>
            <p:cNvSpPr>
              <a:spLocks noChangeShapeType="1"/>
            </p:cNvSpPr>
            <p:nvPr/>
          </p:nvSpPr>
          <p:spPr bwMode="auto">
            <a:xfrm>
              <a:off x="1084263" y="3086930"/>
              <a:ext cx="65944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8" name="Line 6"/>
            <p:cNvSpPr>
              <a:spLocks noChangeShapeType="1"/>
            </p:cNvSpPr>
            <p:nvPr/>
          </p:nvSpPr>
          <p:spPr bwMode="auto">
            <a:xfrm>
              <a:off x="7678738" y="3086930"/>
              <a:ext cx="0" cy="54264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9" name="Line 7"/>
            <p:cNvSpPr>
              <a:spLocks noChangeShapeType="1"/>
            </p:cNvSpPr>
            <p:nvPr/>
          </p:nvSpPr>
          <p:spPr bwMode="auto">
            <a:xfrm>
              <a:off x="1066800" y="3086930"/>
              <a:ext cx="0" cy="236220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0" name="Line 8"/>
            <p:cNvSpPr>
              <a:spLocks noChangeShapeType="1"/>
            </p:cNvSpPr>
            <p:nvPr/>
          </p:nvSpPr>
          <p:spPr bwMode="auto">
            <a:xfrm>
              <a:off x="1414463" y="3626404"/>
              <a:ext cx="0" cy="18227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51" name="Text Box 9"/>
            <p:cNvSpPr txBox="1">
              <a:spLocks noChangeArrowheads="1"/>
            </p:cNvSpPr>
            <p:nvPr/>
          </p:nvSpPr>
          <p:spPr bwMode="auto">
            <a:xfrm>
              <a:off x="2961481" y="3218417"/>
              <a:ext cx="2611438" cy="426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802.1       </a:t>
              </a:r>
              <a:r>
                <a:rPr lang="zh-CN" altLang="en-US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体系结构、网络互连</a:t>
              </a:r>
            </a:p>
          </p:txBody>
        </p:sp>
        <p:sp>
          <p:nvSpPr>
            <p:cNvPr id="52" name="Text Box 10"/>
            <p:cNvSpPr txBox="1">
              <a:spLocks noChangeArrowheads="1"/>
            </p:cNvSpPr>
            <p:nvPr/>
          </p:nvSpPr>
          <p:spPr bwMode="auto">
            <a:xfrm>
              <a:off x="3248025" y="3844169"/>
              <a:ext cx="2690812" cy="2793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802.2      </a:t>
              </a:r>
              <a:r>
                <a:rPr lang="zh-CN" altLang="en-US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逻辑链路控制（</a:t>
              </a:r>
              <a:r>
                <a:rPr lang="en-US" altLang="zh-CN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LLC</a:t>
              </a:r>
              <a:r>
                <a:rPr lang="zh-CN" altLang="en-US" sz="1400" dirty="0">
                  <a:solidFill>
                    <a:schemeClr val="hlink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）</a:t>
              </a:r>
            </a:p>
          </p:txBody>
        </p:sp>
        <p:sp>
          <p:nvSpPr>
            <p:cNvPr id="53" name="Rectangle 11"/>
            <p:cNvSpPr>
              <a:spLocks noChangeArrowheads="1"/>
            </p:cNvSpPr>
            <p:nvPr/>
          </p:nvSpPr>
          <p:spPr bwMode="auto">
            <a:xfrm>
              <a:off x="1589088" y="3737808"/>
              <a:ext cx="6089650" cy="444499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0" name="Rectangle 18"/>
            <p:cNvSpPr>
              <a:spLocks noChangeArrowheads="1"/>
            </p:cNvSpPr>
            <p:nvPr/>
          </p:nvSpPr>
          <p:spPr bwMode="auto">
            <a:xfrm>
              <a:off x="2207250" y="6290508"/>
              <a:ext cx="1569623" cy="38100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 anchorCtr="1"/>
            <a:lstStyle/>
            <a:p>
              <a:pPr lvl="0" algn="just" eaLnBrk="0" hangingPunct="0"/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802.7     </a:t>
              </a: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宽带技术</a:t>
              </a:r>
              <a:endParaRPr lang="zh-CN" altLang="en-US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1" name="Rectangle 19"/>
            <p:cNvSpPr>
              <a:spLocks noChangeArrowheads="1"/>
            </p:cNvSpPr>
            <p:nvPr/>
          </p:nvSpPr>
          <p:spPr bwMode="auto">
            <a:xfrm>
              <a:off x="5178011" y="6290507"/>
              <a:ext cx="1567346" cy="381001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tIns="0" bIns="0" anchor="ctr" anchorCtr="1"/>
            <a:lstStyle/>
            <a:p>
              <a:pPr algn="just" eaLnBrk="0" hangingPunct="0"/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802.8     </a:t>
              </a: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光纤技术</a:t>
              </a:r>
            </a:p>
          </p:txBody>
        </p:sp>
        <p:sp>
          <p:nvSpPr>
            <p:cNvPr id="62" name="Line 20"/>
            <p:cNvSpPr>
              <a:spLocks noChangeShapeType="1"/>
            </p:cNvSpPr>
            <p:nvPr/>
          </p:nvSpPr>
          <p:spPr bwMode="auto">
            <a:xfrm>
              <a:off x="1084263" y="5433257"/>
              <a:ext cx="3476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3" name="Rectangle 21"/>
            <p:cNvSpPr>
              <a:spLocks noChangeArrowheads="1"/>
            </p:cNvSpPr>
            <p:nvPr/>
          </p:nvSpPr>
          <p:spPr bwMode="auto">
            <a:xfrm>
              <a:off x="1606549" y="4285495"/>
              <a:ext cx="990603" cy="1120775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802.3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CSMA/CD MAC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64" name="Rectangle 22"/>
            <p:cNvSpPr>
              <a:spLocks noChangeArrowheads="1"/>
            </p:cNvSpPr>
            <p:nvPr/>
          </p:nvSpPr>
          <p:spPr bwMode="auto">
            <a:xfrm>
              <a:off x="2676041" y="4285978"/>
              <a:ext cx="933451" cy="1122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802.4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令牌总线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MAC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物理层</a:t>
              </a:r>
            </a:p>
            <a:p>
              <a:endParaRPr lang="zh-CN" altLang="en-US" dirty="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5" name="Rectangle 23"/>
            <p:cNvSpPr>
              <a:spLocks noChangeArrowheads="1"/>
            </p:cNvSpPr>
            <p:nvPr/>
          </p:nvSpPr>
          <p:spPr bwMode="auto">
            <a:xfrm>
              <a:off x="3694112" y="4285978"/>
              <a:ext cx="959953" cy="1122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802.5</a:t>
              </a:r>
            </a:p>
            <a:p>
              <a:pPr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令牌环网</a:t>
              </a:r>
            </a:p>
            <a:p>
              <a:pPr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MAC</a:t>
              </a:r>
            </a:p>
            <a:p>
              <a:pPr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物理层</a:t>
              </a:r>
            </a:p>
            <a:p>
              <a:pPr algn="just" eaLnBrk="0" hangingPunct="0">
                <a:lnSpc>
                  <a:spcPct val="96000"/>
                </a:lnSpc>
              </a:pPr>
              <a:endParaRPr lang="zh-CN" altLang="en-US" sz="1400" dirty="0">
                <a:solidFill>
                  <a:srgbClr val="666699"/>
                </a:solidFill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66" name="Rectangle 24"/>
            <p:cNvSpPr>
              <a:spLocks noChangeArrowheads="1"/>
            </p:cNvSpPr>
            <p:nvPr/>
          </p:nvSpPr>
          <p:spPr bwMode="auto">
            <a:xfrm>
              <a:off x="4738688" y="4285978"/>
              <a:ext cx="984872" cy="1122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72000" rIns="0"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802.6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城域网</a:t>
              </a: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MAN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MAC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物理层</a:t>
              </a:r>
            </a:p>
          </p:txBody>
        </p:sp>
        <p:sp>
          <p:nvSpPr>
            <p:cNvPr id="67" name="Rectangle 25"/>
            <p:cNvSpPr>
              <a:spLocks noChangeArrowheads="1"/>
            </p:cNvSpPr>
            <p:nvPr/>
          </p:nvSpPr>
          <p:spPr bwMode="auto">
            <a:xfrm>
              <a:off x="5834683" y="4285978"/>
              <a:ext cx="869950" cy="1122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802.9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语音数据综合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局域网</a:t>
              </a:r>
            </a:p>
          </p:txBody>
        </p:sp>
        <p:sp>
          <p:nvSpPr>
            <p:cNvPr id="68" name="Rectangle 26"/>
            <p:cNvSpPr>
              <a:spLocks noChangeArrowheads="1"/>
            </p:cNvSpPr>
            <p:nvPr/>
          </p:nvSpPr>
          <p:spPr bwMode="auto">
            <a:xfrm>
              <a:off x="6812998" y="4285978"/>
              <a:ext cx="869950" cy="1122363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 lvl="0" algn="just" eaLnBrk="0" hangingPunct="0">
                <a:lnSpc>
                  <a:spcPct val="96000"/>
                </a:lnSpc>
              </a:pPr>
              <a:r>
                <a:rPr lang="en-US" altLang="zh-CN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802.11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无线</a:t>
              </a:r>
            </a:p>
            <a:p>
              <a:pPr lvl="0" algn="just" eaLnBrk="0" hangingPunct="0">
                <a:lnSpc>
                  <a:spcPct val="96000"/>
                </a:lnSpc>
              </a:pPr>
              <a:r>
                <a:rPr lang="zh-CN" altLang="en-US" sz="1400" dirty="0">
                  <a:solidFill>
                    <a:srgbClr val="6666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局域网</a:t>
              </a:r>
            </a:p>
          </p:txBody>
        </p:sp>
        <p:sp>
          <p:nvSpPr>
            <p:cNvPr id="69" name="Line 27"/>
            <p:cNvSpPr>
              <a:spLocks noChangeShapeType="1"/>
            </p:cNvSpPr>
            <p:nvPr/>
          </p:nvSpPr>
          <p:spPr bwMode="auto">
            <a:xfrm>
              <a:off x="1936750" y="5434845"/>
              <a:ext cx="0" cy="2809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0" name="Line 28"/>
            <p:cNvSpPr>
              <a:spLocks noChangeShapeType="1"/>
            </p:cNvSpPr>
            <p:nvPr/>
          </p:nvSpPr>
          <p:spPr bwMode="auto">
            <a:xfrm>
              <a:off x="3154363" y="5411032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1" name="Line 29"/>
            <p:cNvSpPr>
              <a:spLocks noChangeShapeType="1"/>
            </p:cNvSpPr>
            <p:nvPr/>
          </p:nvSpPr>
          <p:spPr bwMode="auto">
            <a:xfrm>
              <a:off x="4198938" y="5411032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2" name="Line 30"/>
            <p:cNvSpPr>
              <a:spLocks noChangeShapeType="1"/>
            </p:cNvSpPr>
            <p:nvPr/>
          </p:nvSpPr>
          <p:spPr bwMode="auto">
            <a:xfrm>
              <a:off x="5174904" y="5411032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3" name="Line 31"/>
            <p:cNvSpPr>
              <a:spLocks noChangeShapeType="1"/>
            </p:cNvSpPr>
            <p:nvPr/>
          </p:nvSpPr>
          <p:spPr bwMode="auto">
            <a:xfrm>
              <a:off x="6286500" y="5411032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4" name="Line 32"/>
            <p:cNvSpPr>
              <a:spLocks noChangeShapeType="1"/>
            </p:cNvSpPr>
            <p:nvPr/>
          </p:nvSpPr>
          <p:spPr bwMode="auto">
            <a:xfrm>
              <a:off x="7291319" y="5411032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5" name="Line 33"/>
            <p:cNvSpPr>
              <a:spLocks noChangeShapeType="1"/>
            </p:cNvSpPr>
            <p:nvPr/>
          </p:nvSpPr>
          <p:spPr bwMode="auto">
            <a:xfrm>
              <a:off x="1933575" y="5692020"/>
              <a:ext cx="5394325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6" name="Line 34"/>
            <p:cNvSpPr>
              <a:spLocks noChangeShapeType="1"/>
            </p:cNvSpPr>
            <p:nvPr/>
          </p:nvSpPr>
          <p:spPr bwMode="auto">
            <a:xfrm>
              <a:off x="4546600" y="5692020"/>
              <a:ext cx="0" cy="2809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7" name="Line 35"/>
            <p:cNvSpPr>
              <a:spLocks noChangeShapeType="1"/>
            </p:cNvSpPr>
            <p:nvPr/>
          </p:nvSpPr>
          <p:spPr bwMode="auto">
            <a:xfrm flipV="1">
              <a:off x="2981325" y="5969832"/>
              <a:ext cx="2957513" cy="0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8" name="Line 36"/>
            <p:cNvSpPr>
              <a:spLocks noChangeShapeType="1"/>
            </p:cNvSpPr>
            <p:nvPr/>
          </p:nvSpPr>
          <p:spPr bwMode="auto">
            <a:xfrm>
              <a:off x="2981325" y="5985707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79" name="Line 37"/>
            <p:cNvSpPr>
              <a:spLocks noChangeShapeType="1"/>
            </p:cNvSpPr>
            <p:nvPr/>
          </p:nvSpPr>
          <p:spPr bwMode="auto">
            <a:xfrm>
              <a:off x="5938838" y="5985707"/>
              <a:ext cx="0" cy="280988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92" name="圆角矩形标注 162"/>
          <p:cNvSpPr/>
          <p:nvPr/>
        </p:nvSpPr>
        <p:spPr>
          <a:xfrm>
            <a:off x="340782" y="1245266"/>
            <a:ext cx="8579554" cy="1605453"/>
          </a:xfrm>
          <a:prstGeom prst="wedgeRoundRectCallout">
            <a:avLst>
              <a:gd name="adj1" fmla="val 2167"/>
              <a:gd name="adj2" fmla="val 89952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88000"/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为使数据链路层更好地适应多种局域网标准，将其拆成两个子层：</a:t>
            </a:r>
          </a:p>
          <a:p>
            <a:pPr marL="285750" indent="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逻辑链路控制 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LLC (Logical Link Control)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子层</a:t>
            </a:r>
          </a:p>
          <a:p>
            <a:pPr marL="285750" indent="285750">
              <a:buFont typeface="Arial" panose="020B0604020202020204" pitchFamily="34" charset="0"/>
              <a:buChar char="•"/>
            </a:pP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媒体接入控制 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MAC (Medium Access Control)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子层</a:t>
            </a:r>
          </a:p>
          <a:p>
            <a:pPr indent="288000"/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与接入到传输媒体有关的内容都放在 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MAC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子层， 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LLC 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子层则与传输媒体无关，采用何种协议的局域网对 </a:t>
            </a:r>
            <a:r>
              <a:rPr lang="en-US" altLang="zh-CN" dirty="0">
                <a:latin typeface="Calibri" panose="020F0502020204030204" pitchFamily="34" charset="0"/>
                <a:ea typeface="华文楷体" panose="02010600040101010101" pitchFamily="2" charset="-122"/>
              </a:rPr>
              <a:t>LLC </a:t>
            </a:r>
            <a:r>
              <a:rPr lang="zh-CN" altLang="en-US" dirty="0">
                <a:latin typeface="Calibri" panose="020F0502020204030204" pitchFamily="34" charset="0"/>
                <a:ea typeface="华文楷体" panose="02010600040101010101" pitchFamily="2" charset="-122"/>
              </a:rPr>
              <a:t>子层都透明</a:t>
            </a:r>
          </a:p>
        </p:txBody>
      </p:sp>
      <p:sp>
        <p:nvSpPr>
          <p:cNvPr id="5" name="椭圆 4"/>
          <p:cNvSpPr/>
          <p:nvPr/>
        </p:nvSpPr>
        <p:spPr>
          <a:xfrm>
            <a:off x="1221661" y="4053249"/>
            <a:ext cx="1500875" cy="12200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6465277" y="4081665"/>
            <a:ext cx="1500875" cy="12200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010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0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以太网发展历史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579554" cy="5034843"/>
          </a:xfrm>
        </p:spPr>
        <p:txBody>
          <a:bodyPr/>
          <a:lstStyle/>
          <a:p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70</a:t>
            </a:r>
            <a:r>
              <a:rPr lang="zh-CN" altLang="en-US" dirty="0"/>
              <a:t>年代中期</a:t>
            </a:r>
            <a:endParaRPr lang="en-US" altLang="zh-CN" dirty="0"/>
          </a:p>
          <a:p>
            <a:pPr lvl="1"/>
            <a:r>
              <a:rPr lang="zh-CN" altLang="en-US" sz="1800" dirty="0"/>
              <a:t>诞生于美国施乐公司</a:t>
            </a:r>
            <a:r>
              <a:rPr lang="en-US" altLang="zh-CN" sz="1800" dirty="0"/>
              <a:t>(Xerox)</a:t>
            </a:r>
            <a:r>
              <a:rPr lang="zh-CN" altLang="en-US" sz="1800" dirty="0"/>
              <a:t>的帕洛阿尔托研究中心</a:t>
            </a:r>
            <a:r>
              <a:rPr lang="en-US" altLang="zh-CN" sz="1800" dirty="0"/>
              <a:t>(PARC)</a:t>
            </a:r>
          </a:p>
          <a:p>
            <a:pPr lvl="1"/>
            <a:r>
              <a:rPr lang="zh-CN" altLang="en-US" sz="1800" dirty="0"/>
              <a:t>总线拓扑、同轴电缆、广播局域网、半双工</a:t>
            </a:r>
            <a:endParaRPr lang="en-US" altLang="zh-CN" sz="1800" dirty="0"/>
          </a:p>
          <a:p>
            <a:r>
              <a:rPr lang="en-US" altLang="zh-CN" dirty="0"/>
              <a:t>20</a:t>
            </a:r>
            <a:r>
              <a:rPr lang="zh-CN" altLang="en-US" dirty="0"/>
              <a:t>世纪</a:t>
            </a:r>
            <a:r>
              <a:rPr lang="en-US" altLang="zh-CN" dirty="0"/>
              <a:t>90</a:t>
            </a:r>
            <a:r>
              <a:rPr lang="zh-CN" altLang="en-US" dirty="0"/>
              <a:t>年代后期</a:t>
            </a:r>
            <a:endParaRPr lang="en-US" altLang="zh-CN" dirty="0"/>
          </a:p>
          <a:p>
            <a:pPr lvl="1"/>
            <a:r>
              <a:rPr lang="zh-CN" altLang="en-US" sz="1800" dirty="0"/>
              <a:t>基于集线器的星形拓扑、双绞线、广播局域网、半双工</a:t>
            </a:r>
            <a:endParaRPr lang="en-US" altLang="zh-CN" sz="1800" dirty="0"/>
          </a:p>
          <a:p>
            <a:pPr lvl="1"/>
            <a:r>
              <a:rPr lang="zh-CN" altLang="en-US" sz="1800" dirty="0"/>
              <a:t>集线器</a:t>
            </a:r>
            <a:r>
              <a:rPr lang="en-US" altLang="zh-CN" sz="1800" dirty="0"/>
              <a:t>(Hub)</a:t>
            </a:r>
            <a:r>
              <a:rPr lang="zh-CN" altLang="en-US" sz="1800" dirty="0"/>
              <a:t>：物理层设备，作用于比特而不是帧</a:t>
            </a:r>
            <a:endParaRPr lang="en-US" altLang="zh-CN" sz="1800" dirty="0"/>
          </a:p>
          <a:p>
            <a:r>
              <a:rPr lang="zh-CN" altLang="en-US" dirty="0"/>
              <a:t>本世纪初</a:t>
            </a:r>
            <a:endParaRPr lang="en-US" altLang="zh-CN" dirty="0"/>
          </a:p>
          <a:p>
            <a:pPr lvl="1"/>
            <a:r>
              <a:rPr lang="zh-CN" altLang="en-US" sz="1800" dirty="0"/>
              <a:t>基于交换机的星形拓扑、双绞线、交换局域网、全双工</a:t>
            </a:r>
            <a:endParaRPr lang="en-US" altLang="zh-CN" sz="1800" dirty="0"/>
          </a:p>
          <a:p>
            <a:pPr lvl="1"/>
            <a:r>
              <a:rPr lang="zh-CN" altLang="en-US" sz="1800" dirty="0"/>
              <a:t>交换机</a:t>
            </a:r>
            <a:r>
              <a:rPr lang="en-US" altLang="zh-CN" sz="1800" dirty="0"/>
              <a:t>(Switch)</a:t>
            </a:r>
            <a:r>
              <a:rPr lang="zh-CN" altLang="en-US" sz="1800" dirty="0"/>
              <a:t>：二层设备</a:t>
            </a:r>
            <a:endParaRPr lang="en-US" altLang="zh-CN" sz="1800" dirty="0"/>
          </a:p>
          <a:p>
            <a:pPr lvl="1"/>
            <a:endParaRPr lang="en-US" altLang="zh-CN" sz="1800" dirty="0"/>
          </a:p>
          <a:p>
            <a:pPr lvl="1"/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1739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以太网基本组成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2816087" cy="5034843"/>
          </a:xfrm>
        </p:spPr>
        <p:txBody>
          <a:bodyPr/>
          <a:lstStyle/>
          <a:p>
            <a:r>
              <a:rPr lang="zh-CN" altLang="en-US" dirty="0"/>
              <a:t>传输介质</a:t>
            </a:r>
            <a:r>
              <a:rPr lang="en-US" altLang="zh-CN" dirty="0"/>
              <a:t>(</a:t>
            </a:r>
            <a:r>
              <a:rPr lang="zh-CN" altLang="en-US" dirty="0"/>
              <a:t>链路</a:t>
            </a:r>
            <a:r>
              <a:rPr lang="en-US" altLang="zh-CN" dirty="0"/>
              <a:t>)</a:t>
            </a:r>
          </a:p>
          <a:p>
            <a:pPr lvl="1">
              <a:lnSpc>
                <a:spcPct val="125000"/>
              </a:lnSpc>
            </a:pPr>
            <a:r>
              <a:rPr lang="zh-CN" altLang="en-US" sz="1800" dirty="0"/>
              <a:t>同轴电缆 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r>
              <a:rPr lang="zh-CN" altLang="en-US" sz="1800" dirty="0"/>
              <a:t>双绞线</a:t>
            </a:r>
            <a:endParaRPr lang="en-US" altLang="zh-CN" sz="1800" dirty="0"/>
          </a:p>
          <a:p>
            <a:pPr lvl="1">
              <a:lnSpc>
                <a:spcPct val="125000"/>
              </a:lnSpc>
            </a:pPr>
            <a:r>
              <a:rPr lang="zh-CN" altLang="en-US" sz="1800" dirty="0"/>
              <a:t>光纤</a:t>
            </a:r>
            <a:endParaRPr lang="en-US" altLang="zh-CN" sz="1800" dirty="0"/>
          </a:p>
          <a:p>
            <a:r>
              <a:rPr lang="zh-CN" altLang="en-US" dirty="0"/>
              <a:t>网络适配器</a:t>
            </a:r>
            <a:endParaRPr lang="en-US" altLang="zh-CN" sz="1800" dirty="0"/>
          </a:p>
          <a:p>
            <a:r>
              <a:rPr lang="zh-CN" altLang="en-US" dirty="0"/>
              <a:t>中继设备</a:t>
            </a:r>
            <a:endParaRPr lang="en-US" altLang="zh-CN" dirty="0"/>
          </a:p>
          <a:p>
            <a:pPr lvl="1"/>
            <a:r>
              <a:rPr lang="zh-CN" altLang="en-US" sz="1800" dirty="0"/>
              <a:t>中继器</a:t>
            </a:r>
            <a:r>
              <a:rPr lang="en-US" altLang="zh-CN" sz="1800" dirty="0"/>
              <a:t>(Repeater)</a:t>
            </a:r>
          </a:p>
          <a:p>
            <a:pPr lvl="1"/>
            <a:r>
              <a:rPr lang="zh-CN" altLang="en-US" sz="1800" dirty="0"/>
              <a:t>集线器</a:t>
            </a:r>
            <a:r>
              <a:rPr lang="en-US" altLang="zh-CN" sz="1800" dirty="0"/>
              <a:t>(Hub)</a:t>
            </a:r>
          </a:p>
          <a:p>
            <a:r>
              <a:rPr lang="zh-CN" altLang="en-US" dirty="0"/>
              <a:t>交换设备</a:t>
            </a:r>
            <a:endParaRPr lang="en-US" altLang="zh-CN" dirty="0"/>
          </a:p>
          <a:p>
            <a:pPr lvl="1"/>
            <a:r>
              <a:rPr lang="zh-CN" altLang="en-US" sz="1800" dirty="0"/>
              <a:t>网桥 </a:t>
            </a:r>
            <a:r>
              <a:rPr lang="en-US" altLang="zh-CN" sz="1800" dirty="0"/>
              <a:t>(Bridge)</a:t>
            </a:r>
          </a:p>
          <a:p>
            <a:pPr lvl="1"/>
            <a:r>
              <a:rPr lang="zh-CN" altLang="en-US" sz="1800" dirty="0"/>
              <a:t>交换机 </a:t>
            </a:r>
            <a:r>
              <a:rPr lang="en-US" altLang="zh-CN" sz="1800" dirty="0"/>
              <a:t>(Switch)</a:t>
            </a:r>
          </a:p>
          <a:p>
            <a:pPr lvl="1"/>
            <a:endParaRPr lang="zh-CN" altLang="en-US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45</a:t>
            </a:fld>
            <a:endParaRPr lang="zh-CN" altLang="en-US" dirty="0"/>
          </a:p>
        </p:txBody>
      </p:sp>
      <p:pic>
        <p:nvPicPr>
          <p:cNvPr id="5" name="Picture 2" descr="https://upload.wikimedia.org/wikipedia/commons/thumb/c/cb/UTP_cable.jpg/220px-UTP_cable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0727" y="1698678"/>
            <a:ext cx="1561465" cy="12704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 descr="图片搜索结果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2080" y="1698677"/>
            <a:ext cx="1732486" cy="127046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图片搜索结果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353" y="1698678"/>
            <a:ext cx="1325674" cy="127046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363" y="3260304"/>
            <a:ext cx="2230340" cy="13116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12" descr="图片搜索结果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3" t="11897" r="2521" b="14341"/>
          <a:stretch/>
        </p:blipFill>
        <p:spPr bwMode="auto">
          <a:xfrm>
            <a:off x="4220605" y="5251110"/>
            <a:ext cx="2319998" cy="101554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图片搜索结果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916" y="4794669"/>
            <a:ext cx="1974747" cy="15168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422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以太网规范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46</a:t>
            </a:fld>
            <a:endParaRPr lang="zh-CN" altLang="en-US" dirty="0"/>
          </a:p>
        </p:txBody>
      </p:sp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60947473-3A68-429C-8E3E-FFE5338547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6068428"/>
              </p:ext>
            </p:extLst>
          </p:nvPr>
        </p:nvGraphicFramePr>
        <p:xfrm>
          <a:off x="871372" y="1290910"/>
          <a:ext cx="7519595" cy="5181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Visio" r:id="rId5" imgW="5365724" imgH="3708308" progId="Visio.Drawing.15">
                  <p:embed/>
                </p:oleObj>
              </mc:Choice>
              <mc:Fallback>
                <p:oleObj name="Visio" r:id="rId5" imgW="5365724" imgH="3708308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1372" y="1290910"/>
                        <a:ext cx="7519595" cy="518194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944956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Calibri" panose="020F0502020204030204" pitchFamily="34" charset="0"/>
              </a:rPr>
              <a:t>IEEE 802.3 </a:t>
            </a:r>
            <a:r>
              <a:rPr lang="zh-CN" altLang="en-US" dirty="0">
                <a:latin typeface="Calibri" panose="020F0502020204030204" pitchFamily="34" charset="0"/>
              </a:rPr>
              <a:t>规范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传统以太网 </a:t>
            </a:r>
          </a:p>
          <a:p>
            <a:pPr lvl="1"/>
            <a:r>
              <a:rPr lang="en-US" altLang="zh-CN" dirty="0"/>
              <a:t>IEEE 802.3  —— </a:t>
            </a:r>
            <a:r>
              <a:rPr lang="zh-CN" altLang="en-US" dirty="0"/>
              <a:t>同轴电缆</a:t>
            </a:r>
            <a:r>
              <a:rPr lang="en-US" altLang="zh-CN" dirty="0"/>
              <a:t>Ethernet</a:t>
            </a:r>
          </a:p>
          <a:p>
            <a:pPr lvl="1"/>
            <a:r>
              <a:rPr lang="en-US" altLang="zh-CN" dirty="0"/>
              <a:t>IEEE 802.3a ——</a:t>
            </a:r>
            <a:r>
              <a:rPr lang="zh-CN" altLang="en-US" dirty="0"/>
              <a:t>细缆</a:t>
            </a:r>
            <a:r>
              <a:rPr lang="en-US" altLang="zh-CN" dirty="0"/>
              <a:t>Ethernet</a:t>
            </a:r>
          </a:p>
          <a:p>
            <a:pPr lvl="1"/>
            <a:r>
              <a:rPr lang="en-US" altLang="zh-CN" dirty="0"/>
              <a:t>IEEE 802.3i  —— </a:t>
            </a:r>
            <a:r>
              <a:rPr lang="zh-CN" altLang="en-US" dirty="0"/>
              <a:t>双绞线</a:t>
            </a:r>
          </a:p>
          <a:p>
            <a:pPr lvl="1"/>
            <a:r>
              <a:rPr lang="en-US" altLang="zh-CN" dirty="0"/>
              <a:t>IEEE 802.3j  —— </a:t>
            </a:r>
            <a:r>
              <a:rPr lang="zh-CN" altLang="en-US" dirty="0"/>
              <a:t>光纤</a:t>
            </a:r>
          </a:p>
          <a:p>
            <a:r>
              <a:rPr lang="zh-CN" altLang="en-US" dirty="0"/>
              <a:t> 快速以太网</a:t>
            </a:r>
            <a:r>
              <a:rPr lang="en-US" altLang="zh-CN" dirty="0"/>
              <a:t>FE</a:t>
            </a:r>
          </a:p>
          <a:p>
            <a:pPr lvl="1"/>
            <a:r>
              <a:rPr lang="en-US" altLang="zh-CN" dirty="0"/>
              <a:t>IEEE 802.3u ——</a:t>
            </a:r>
            <a:r>
              <a:rPr lang="zh-CN" altLang="en-US" dirty="0"/>
              <a:t>双绞线，光纤</a:t>
            </a:r>
          </a:p>
          <a:p>
            <a:r>
              <a:rPr lang="zh-CN" altLang="en-US" dirty="0"/>
              <a:t> 千兆以太网</a:t>
            </a:r>
            <a:r>
              <a:rPr lang="en-US" altLang="zh-CN" dirty="0"/>
              <a:t>GE</a:t>
            </a:r>
          </a:p>
          <a:p>
            <a:pPr lvl="1"/>
            <a:r>
              <a:rPr lang="en-US" altLang="zh-CN" dirty="0"/>
              <a:t>IEEE 802.3z —— </a:t>
            </a:r>
            <a:r>
              <a:rPr lang="zh-CN" altLang="en-US" dirty="0"/>
              <a:t>屏蔽短双绞线、光纤</a:t>
            </a:r>
          </a:p>
          <a:p>
            <a:pPr lvl="1"/>
            <a:r>
              <a:rPr lang="en-US" altLang="zh-CN" dirty="0"/>
              <a:t>IEEE 802.3ab —— </a:t>
            </a:r>
            <a:r>
              <a:rPr lang="zh-CN" altLang="en-US" dirty="0"/>
              <a:t>双绞线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654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以太网传输介质标准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710847"/>
          </a:xfrm>
        </p:spPr>
        <p:txBody>
          <a:bodyPr/>
          <a:lstStyle/>
          <a:p>
            <a:r>
              <a:rPr lang="en-US" altLang="zh-CN" dirty="0"/>
              <a:t>IEEE 802.3</a:t>
            </a:r>
            <a:r>
              <a:rPr lang="zh-CN" altLang="en-US" dirty="0"/>
              <a:t>文档规定，由</a:t>
            </a:r>
            <a:r>
              <a:rPr lang="en-US" altLang="zh-CN" dirty="0"/>
              <a:t>3</a:t>
            </a:r>
            <a:r>
              <a:rPr lang="zh-CN" altLang="en-US" dirty="0"/>
              <a:t>部分组成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48</a:t>
            </a:fld>
            <a:endParaRPr lang="zh-CN" altLang="en-US" dirty="0"/>
          </a:p>
        </p:txBody>
      </p:sp>
      <p:grpSp>
        <p:nvGrpSpPr>
          <p:cNvPr id="29" name="组合 28"/>
          <p:cNvGrpSpPr/>
          <p:nvPr/>
        </p:nvGrpSpPr>
        <p:grpSpPr>
          <a:xfrm>
            <a:off x="273050" y="2451651"/>
            <a:ext cx="4749525" cy="3034749"/>
            <a:chOff x="273050" y="2451651"/>
            <a:chExt cx="4749525" cy="3034749"/>
          </a:xfrm>
        </p:grpSpPr>
        <p:sp>
          <p:nvSpPr>
            <p:cNvPr id="27" name="Rectangle 11"/>
            <p:cNvSpPr>
              <a:spLocks noChangeArrowheads="1"/>
            </p:cNvSpPr>
            <p:nvPr/>
          </p:nvSpPr>
          <p:spPr bwMode="auto">
            <a:xfrm>
              <a:off x="273051" y="2451651"/>
              <a:ext cx="4749524" cy="3034749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/>
                <a:t>  </a:t>
              </a:r>
              <a:endParaRPr lang="zh-CN" altLang="en-US" dirty="0"/>
            </a:p>
          </p:txBody>
        </p:sp>
        <p:grpSp>
          <p:nvGrpSpPr>
            <p:cNvPr id="16" name="Group 4"/>
            <p:cNvGrpSpPr>
              <a:grpSpLocks/>
            </p:cNvGrpSpPr>
            <p:nvPr/>
          </p:nvGrpSpPr>
          <p:grpSpPr bwMode="auto">
            <a:xfrm>
              <a:off x="273050" y="2689224"/>
              <a:ext cx="4279900" cy="2546350"/>
              <a:chOff x="2584" y="1008"/>
              <a:chExt cx="2696" cy="1604"/>
            </a:xfrm>
            <a:noFill/>
          </p:grpSpPr>
          <p:sp>
            <p:nvSpPr>
              <p:cNvPr id="17" name="Rectangle 5"/>
              <p:cNvSpPr>
                <a:spLocks noChangeArrowheads="1"/>
              </p:cNvSpPr>
              <p:nvPr/>
            </p:nvSpPr>
            <p:spPr bwMode="auto">
              <a:xfrm>
                <a:off x="2584" y="1536"/>
                <a:ext cx="1145" cy="233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链路速率</a:t>
                </a:r>
                <a:r>
                  <a:rPr kumimoji="1" lang="en-US" altLang="zh-CN" kern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(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Mbps)</a:t>
                </a:r>
                <a:endParaRPr kumimoji="1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8" name="Rectangle 6"/>
              <p:cNvSpPr>
                <a:spLocks noChangeArrowheads="1"/>
              </p:cNvSpPr>
              <p:nvPr/>
            </p:nvSpPr>
            <p:spPr bwMode="auto">
              <a:xfrm>
                <a:off x="3743" y="1536"/>
                <a:ext cx="1517" cy="408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kern="0" noProof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信号制式</a:t>
                </a:r>
                <a:r>
                  <a:rPr kumimoji="1" lang="en-US" altLang="zh-CN" kern="0" noProof="0" dirty="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(</a:t>
                </a: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基带或宽带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)</a:t>
                </a:r>
                <a:endParaRPr kumimoji="1" lang="zh-CN" altLang="en-US" sz="180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  <a:p>
                <a:pPr marL="0" marR="0" lvl="0" indent="0" algn="ctr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Base</a:t>
                </a: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，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Broad</a:t>
                </a:r>
              </a:p>
            </p:txBody>
          </p:sp>
          <p:sp>
            <p:nvSpPr>
              <p:cNvPr id="19" name="Rectangle 7"/>
              <p:cNvSpPr>
                <a:spLocks noChangeArrowheads="1"/>
              </p:cNvSpPr>
              <p:nvPr/>
            </p:nvSpPr>
            <p:spPr bwMode="auto">
              <a:xfrm>
                <a:off x="3504" y="2208"/>
                <a:ext cx="1584" cy="404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段最大长度（百米）或</a:t>
                </a:r>
              </a:p>
              <a:p>
                <a:pPr marL="0" marR="0" lvl="0" indent="0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介质类型（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T</a:t>
                </a: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，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F</a:t>
                </a: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，</a:t>
                </a:r>
                <a:r>
                  <a:rPr kumimoji="1" lang="en-US" altLang="zh-CN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X</a:t>
                </a:r>
                <a:r>
                  <a:rPr kumimoji="1" lang="zh-CN" altLang="en-US" sz="180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）</a:t>
                </a:r>
              </a:p>
            </p:txBody>
          </p:sp>
          <p:sp>
            <p:nvSpPr>
              <p:cNvPr id="20" name="Rectangle 8"/>
              <p:cNvSpPr>
                <a:spLocks noChangeArrowheads="1"/>
              </p:cNvSpPr>
              <p:nvPr/>
            </p:nvSpPr>
            <p:spPr bwMode="auto">
              <a:xfrm>
                <a:off x="3648" y="1008"/>
                <a:ext cx="1296" cy="291"/>
              </a:xfrm>
              <a:prstGeom prst="rect">
                <a:avLst/>
              </a:prstGeom>
              <a:grpFill/>
              <a:ln w="25399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92075" tIns="46038" rIns="92075" bIns="460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76200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i="0" u="sng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10</a:t>
                </a:r>
                <a:r>
                  <a:rPr kumimoji="1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</a:t>
                </a:r>
                <a:r>
                  <a:rPr kumimoji="1" lang="en-US" altLang="zh-CN" sz="2400" i="0" u="sng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Base</a:t>
                </a:r>
                <a:r>
                  <a:rPr kumimoji="1" lang="en-US" altLang="zh-CN" sz="240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  </a:t>
                </a:r>
                <a:r>
                  <a:rPr kumimoji="1" lang="en-US" altLang="zh-CN" sz="2400" i="0" u="sng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华文楷体" panose="02010600040101010101" pitchFamily="2" charset="-122"/>
                  </a:rPr>
                  <a:t>5</a:t>
                </a:r>
              </a:p>
            </p:txBody>
          </p:sp>
          <p:sp>
            <p:nvSpPr>
              <p:cNvPr id="21" name="Line 9"/>
              <p:cNvSpPr>
                <a:spLocks noChangeShapeType="1"/>
              </p:cNvSpPr>
              <p:nvPr/>
            </p:nvSpPr>
            <p:spPr bwMode="auto">
              <a:xfrm flipH="1">
                <a:off x="3168" y="1200"/>
                <a:ext cx="0" cy="327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2" name="Line 10"/>
              <p:cNvSpPr>
                <a:spLocks noChangeShapeType="1"/>
              </p:cNvSpPr>
              <p:nvPr/>
            </p:nvSpPr>
            <p:spPr bwMode="auto">
              <a:xfrm flipH="1">
                <a:off x="4320" y="1248"/>
                <a:ext cx="0" cy="288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3" name="Line 11"/>
              <p:cNvSpPr>
                <a:spLocks noChangeShapeType="1"/>
              </p:cNvSpPr>
              <p:nvPr/>
            </p:nvSpPr>
            <p:spPr bwMode="auto">
              <a:xfrm flipH="1">
                <a:off x="5040" y="2400"/>
                <a:ext cx="240" cy="0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4" name="Line 12"/>
              <p:cNvSpPr>
                <a:spLocks noChangeShapeType="1"/>
              </p:cNvSpPr>
              <p:nvPr/>
            </p:nvSpPr>
            <p:spPr bwMode="auto">
              <a:xfrm flipH="1">
                <a:off x="5280" y="1152"/>
                <a:ext cx="0" cy="1248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5" name="Line 13"/>
              <p:cNvSpPr>
                <a:spLocks noChangeShapeType="1"/>
              </p:cNvSpPr>
              <p:nvPr/>
            </p:nvSpPr>
            <p:spPr bwMode="auto">
              <a:xfrm flipH="1">
                <a:off x="4848" y="1152"/>
                <a:ext cx="432" cy="0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26" name="Line 14"/>
              <p:cNvSpPr>
                <a:spLocks noChangeShapeType="1"/>
              </p:cNvSpPr>
              <p:nvPr/>
            </p:nvSpPr>
            <p:spPr bwMode="auto">
              <a:xfrm flipH="1">
                <a:off x="3168" y="1200"/>
                <a:ext cx="576" cy="0"/>
              </a:xfrm>
              <a:prstGeom prst="line">
                <a:avLst/>
              </a:prstGeom>
              <a:grpFill/>
              <a:ln w="25399">
                <a:solidFill>
                  <a:srgbClr val="FF9900"/>
                </a:solidFill>
                <a:round/>
                <a:headEnd type="none" w="sm" len="sm"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</p:grpSp>
      <p:graphicFrame>
        <p:nvGraphicFramePr>
          <p:cNvPr id="28" name="表格 27"/>
          <p:cNvGraphicFramePr>
            <a:graphicFrameLocks noGrp="1"/>
          </p:cNvGraphicFramePr>
          <p:nvPr/>
        </p:nvGraphicFramePr>
        <p:xfrm>
          <a:off x="5289413" y="2451650"/>
          <a:ext cx="3632199" cy="43361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9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0884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10Base5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粗同轴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10Base2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细同轴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10BaseT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楷体_GB2312" pitchFamily="49" charset="-122"/>
                          <a:ea typeface="楷体_GB2312" pitchFamily="49" charset="-122"/>
                        </a:rPr>
                        <a:t>双绞线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10BaseF 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楷体_GB2312" pitchFamily="49" charset="-122"/>
                          <a:ea typeface="楷体_GB2312" pitchFamily="49" charset="-122"/>
                        </a:rPr>
                        <a:t>多模光纤</a:t>
                      </a: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MMF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100BaseT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楷体_GB2312" pitchFamily="49" charset="-122"/>
                          <a:ea typeface="楷体_GB2312" pitchFamily="49" charset="-122"/>
                        </a:rPr>
                        <a:t>双绞线</a:t>
                      </a: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SMF</a:t>
                      </a:r>
                      <a:endParaRPr lang="zh-CN" altLang="en-US" sz="1800" b="1" dirty="0"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100BaseF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多模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/</a:t>
                      </a:r>
                      <a:r>
                        <a:rPr lang="zh-CN" altLang="en-US" sz="1800" b="1" dirty="0">
                          <a:solidFill>
                            <a:schemeClr val="tx1"/>
                          </a:solidFill>
                          <a:latin typeface="楷体_GB2312" pitchFamily="49" charset="-122"/>
                          <a:ea typeface="楷体_GB2312" pitchFamily="49" charset="-122"/>
                        </a:rPr>
                        <a:t>单模光纤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09679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1000BaseX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楷体_GB2312" pitchFamily="49" charset="-122"/>
                          <a:ea typeface="楷体_GB2312" pitchFamily="49" charset="-122"/>
                        </a:rPr>
                        <a:t>屏蔽短双绞线</a:t>
                      </a: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/MMF/SMF</a:t>
                      </a:r>
                      <a:endParaRPr lang="zh-CN" altLang="en-US" sz="1800" b="1" dirty="0">
                        <a:solidFill>
                          <a:schemeClr val="tx1"/>
                        </a:solidFill>
                        <a:latin typeface="楷体_GB2312" pitchFamily="49" charset="-122"/>
                        <a:ea typeface="楷体_GB2312" pitchFamily="49" charset="-122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100">
                <a:tc>
                  <a:txBody>
                    <a:bodyPr/>
                    <a:lstStyle/>
                    <a:p>
                      <a:pPr marL="285750" marR="0" indent="-28575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b="1" dirty="0">
                          <a:latin typeface="楷体_GB2312" pitchFamily="49" charset="-122"/>
                          <a:ea typeface="楷体_GB2312" pitchFamily="49" charset="-122"/>
                        </a:rPr>
                        <a:t>1000BaseT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1" dirty="0">
                          <a:latin typeface="楷体_GB2312" pitchFamily="49" charset="-122"/>
                          <a:ea typeface="楷体_GB2312" pitchFamily="49" charset="-122"/>
                        </a:rPr>
                        <a:t>双绞线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coolSlant"/>
                      <a:lightRig rig="flood" dir="t"/>
                    </a:cell3D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30668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组合 138"/>
          <p:cNvGrpSpPr/>
          <p:nvPr/>
        </p:nvGrpSpPr>
        <p:grpSpPr>
          <a:xfrm>
            <a:off x="359504" y="3500507"/>
            <a:ext cx="6044474" cy="2937011"/>
            <a:chOff x="359504" y="3500507"/>
            <a:chExt cx="6044474" cy="2937011"/>
          </a:xfrm>
        </p:grpSpPr>
        <p:sp>
          <p:nvSpPr>
            <p:cNvPr id="44" name="Rectangle 11"/>
            <p:cNvSpPr>
              <a:spLocks noChangeArrowheads="1"/>
            </p:cNvSpPr>
            <p:nvPr/>
          </p:nvSpPr>
          <p:spPr bwMode="auto">
            <a:xfrm>
              <a:off x="359504" y="3500507"/>
              <a:ext cx="6044474" cy="2937011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  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H="1" flipV="1">
              <a:off x="4257473" y="5052664"/>
              <a:ext cx="3175" cy="271462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Line 6"/>
            <p:cNvSpPr>
              <a:spLocks noChangeShapeType="1"/>
            </p:cNvSpPr>
            <p:nvPr/>
          </p:nvSpPr>
          <p:spPr bwMode="auto">
            <a:xfrm flipV="1">
              <a:off x="2193723" y="4746276"/>
              <a:ext cx="3175" cy="414338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7" name="Line 7"/>
            <p:cNvSpPr>
              <a:spLocks noChangeShapeType="1"/>
            </p:cNvSpPr>
            <p:nvPr/>
          </p:nvSpPr>
          <p:spPr bwMode="auto">
            <a:xfrm flipH="1">
              <a:off x="610985" y="4687539"/>
              <a:ext cx="4306888" cy="0"/>
            </a:xfrm>
            <a:prstGeom prst="line">
              <a:avLst/>
            </a:prstGeom>
            <a:noFill/>
            <a:ln w="761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071485" y="4600226"/>
              <a:ext cx="241300" cy="16033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3044623" y="4601814"/>
              <a:ext cx="241300" cy="160337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4903585" y="4614514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1" name="Rectangle 11"/>
            <p:cNvSpPr>
              <a:spLocks noChangeArrowheads="1"/>
            </p:cNvSpPr>
            <p:nvPr/>
          </p:nvSpPr>
          <p:spPr bwMode="auto">
            <a:xfrm>
              <a:off x="512560" y="4617689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4113010" y="4589114"/>
              <a:ext cx="241300" cy="160337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Line 13"/>
            <p:cNvSpPr>
              <a:spLocks noChangeShapeType="1"/>
            </p:cNvSpPr>
            <p:nvPr/>
          </p:nvSpPr>
          <p:spPr bwMode="auto">
            <a:xfrm>
              <a:off x="569710" y="4031901"/>
              <a:ext cx="0" cy="53340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1753228" y="4021961"/>
              <a:ext cx="1962076" cy="585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最大段长度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500</a:t>
              </a: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米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每段最多站点数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100</a:t>
              </a:r>
            </a:p>
          </p:txBody>
        </p:sp>
        <p:pic>
          <p:nvPicPr>
            <p:cNvPr id="15" name="Picture 1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73060" y="5052664"/>
              <a:ext cx="458788" cy="417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" name="Line 16"/>
            <p:cNvSpPr>
              <a:spLocks noChangeShapeType="1"/>
            </p:cNvSpPr>
            <p:nvPr/>
          </p:nvSpPr>
          <p:spPr bwMode="auto">
            <a:xfrm flipH="1" flipV="1">
              <a:off x="3157335" y="4712939"/>
              <a:ext cx="4763" cy="388937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17" name="Picture 1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54135" y="5063776"/>
              <a:ext cx="458788" cy="417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950710" y="5652739"/>
              <a:ext cx="3286125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两站点间最小距离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2.5</a:t>
              </a: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米</a:t>
              </a:r>
            </a:p>
          </p:txBody>
        </p:sp>
        <p:sp>
          <p:nvSpPr>
            <p:cNvPr id="19" name="Line 19"/>
            <p:cNvSpPr>
              <a:spLocks noChangeShapeType="1"/>
            </p:cNvSpPr>
            <p:nvPr/>
          </p:nvSpPr>
          <p:spPr bwMode="auto">
            <a:xfrm flipH="1" flipV="1">
              <a:off x="4244773" y="4738339"/>
              <a:ext cx="3175" cy="271462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20" name="Picture 20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9185" y="4917726"/>
              <a:ext cx="639763" cy="1508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3855835" y="5322539"/>
              <a:ext cx="2332038" cy="11112"/>
            </a:xfrm>
            <a:prstGeom prst="line">
              <a:avLst/>
            </a:prstGeom>
            <a:noFill/>
            <a:ln w="761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4141585" y="5273326"/>
              <a:ext cx="241300" cy="16033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3" name="Rectangle 23"/>
            <p:cNvSpPr>
              <a:spLocks noChangeArrowheads="1"/>
            </p:cNvSpPr>
            <p:nvPr/>
          </p:nvSpPr>
          <p:spPr bwMode="auto">
            <a:xfrm>
              <a:off x="6097385" y="5263801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4" name="Rectangle 24"/>
            <p:cNvSpPr>
              <a:spLocks noChangeArrowheads="1"/>
            </p:cNvSpPr>
            <p:nvPr/>
          </p:nvSpPr>
          <p:spPr bwMode="auto">
            <a:xfrm>
              <a:off x="3828848" y="5255864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Rectangle 25"/>
            <p:cNvSpPr>
              <a:spLocks noChangeArrowheads="1"/>
            </p:cNvSpPr>
            <p:nvPr/>
          </p:nvSpPr>
          <p:spPr bwMode="auto">
            <a:xfrm>
              <a:off x="5675110" y="5260626"/>
              <a:ext cx="241300" cy="16033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>
              <a:off x="645910" y="6132373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>
              <a:off x="6132310" y="6132373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2173085" y="5476526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" name="Line 29"/>
            <p:cNvSpPr>
              <a:spLocks noChangeShapeType="1"/>
            </p:cNvSpPr>
            <p:nvPr/>
          </p:nvSpPr>
          <p:spPr bwMode="auto">
            <a:xfrm>
              <a:off x="3143048" y="5489226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2193723" y="5598764"/>
              <a:ext cx="94615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V="1">
              <a:off x="569710" y="4359893"/>
              <a:ext cx="1183518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 flipV="1">
              <a:off x="1052310" y="4771676"/>
              <a:ext cx="3175" cy="414338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5" name="Rectangle 35"/>
            <p:cNvSpPr>
              <a:spLocks noChangeArrowheads="1"/>
            </p:cNvSpPr>
            <p:nvPr/>
          </p:nvSpPr>
          <p:spPr bwMode="auto">
            <a:xfrm>
              <a:off x="930073" y="4625626"/>
              <a:ext cx="241300" cy="160338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6" name="Picture 3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648" y="5078064"/>
              <a:ext cx="458787" cy="417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7" name="Line 37"/>
            <p:cNvSpPr>
              <a:spLocks noChangeShapeType="1"/>
            </p:cNvSpPr>
            <p:nvPr/>
          </p:nvSpPr>
          <p:spPr bwMode="auto">
            <a:xfrm flipH="1" flipV="1">
              <a:off x="5790998" y="5340001"/>
              <a:ext cx="4762" cy="317500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pic>
          <p:nvPicPr>
            <p:cNvPr id="38" name="Picture 3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0973" y="5635276"/>
              <a:ext cx="458787" cy="417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9" name="Line 39"/>
            <p:cNvSpPr>
              <a:spLocks noChangeShapeType="1"/>
            </p:cNvSpPr>
            <p:nvPr/>
          </p:nvSpPr>
          <p:spPr bwMode="auto">
            <a:xfrm>
              <a:off x="645910" y="6208573"/>
              <a:ext cx="137160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" name="Line 40"/>
            <p:cNvSpPr>
              <a:spLocks noChangeShapeType="1"/>
            </p:cNvSpPr>
            <p:nvPr/>
          </p:nvSpPr>
          <p:spPr bwMode="auto">
            <a:xfrm flipH="1">
              <a:off x="4532110" y="6208573"/>
              <a:ext cx="160020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1" name="Line 50"/>
            <p:cNvSpPr>
              <a:spLocks noChangeShapeType="1"/>
            </p:cNvSpPr>
            <p:nvPr/>
          </p:nvSpPr>
          <p:spPr bwMode="auto">
            <a:xfrm>
              <a:off x="4989310" y="4108101"/>
              <a:ext cx="0" cy="45720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2" name="Line 130"/>
            <p:cNvSpPr>
              <a:spLocks noChangeShapeType="1"/>
            </p:cNvSpPr>
            <p:nvPr/>
          </p:nvSpPr>
          <p:spPr bwMode="auto">
            <a:xfrm>
              <a:off x="3715304" y="4346641"/>
              <a:ext cx="12740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3" name="Rectangle 131"/>
            <p:cNvSpPr>
              <a:spLocks noChangeArrowheads="1"/>
            </p:cNvSpPr>
            <p:nvPr/>
          </p:nvSpPr>
          <p:spPr bwMode="auto">
            <a:xfrm>
              <a:off x="1440820" y="6056173"/>
              <a:ext cx="3699732" cy="339196"/>
            </a:xfrm>
            <a:prstGeom prst="rect">
              <a:avLst/>
            </a:prstGeom>
            <a:solidFill>
              <a:srgbClr val="F2F2F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可用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4</a:t>
              </a: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个中继器，网络最大跨度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2.5</a:t>
              </a: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公里 </a:t>
              </a:r>
            </a:p>
          </p:txBody>
        </p:sp>
        <p:sp>
          <p:nvSpPr>
            <p:cNvPr id="137" name="Line 26"/>
            <p:cNvSpPr>
              <a:spLocks noChangeShapeType="1"/>
            </p:cNvSpPr>
            <p:nvPr/>
          </p:nvSpPr>
          <p:spPr bwMode="auto">
            <a:xfrm flipH="1">
              <a:off x="641145" y="3878261"/>
              <a:ext cx="660403" cy="7905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8" name="Text Box 27"/>
            <p:cNvSpPr txBox="1">
              <a:spLocks noChangeArrowheads="1"/>
            </p:cNvSpPr>
            <p:nvPr/>
          </p:nvSpPr>
          <p:spPr bwMode="auto">
            <a:xfrm>
              <a:off x="1103116" y="3592204"/>
              <a:ext cx="475615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kumimoji="1" lang="zh-CN" altLang="en-US" sz="1600" dirty="0">
                  <a:solidFill>
                    <a:srgbClr val="333399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匹配电阻（用来吸收总线上传播的信号）</a:t>
              </a: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总线型以太网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5618924" cy="1926940"/>
          </a:xfrm>
        </p:spPr>
        <p:txBody>
          <a:bodyPr/>
          <a:lstStyle/>
          <a:p>
            <a:r>
              <a:rPr lang="en-US" altLang="zh-CN" dirty="0"/>
              <a:t>10Base5</a:t>
            </a:r>
            <a:r>
              <a:rPr lang="zh-CN" altLang="en-US" dirty="0"/>
              <a:t>，粗同轴电缆，</a:t>
            </a:r>
            <a:r>
              <a:rPr lang="en-US" altLang="zh-CN" dirty="0"/>
              <a:t> IEEE 802.3a </a:t>
            </a:r>
          </a:p>
          <a:p>
            <a:pPr lvl="1"/>
            <a:r>
              <a:rPr lang="zh-CN" altLang="en-US" sz="1800" dirty="0"/>
              <a:t>可靠性好，抗干扰能力强</a:t>
            </a:r>
          </a:p>
          <a:p>
            <a:pPr lvl="1"/>
            <a:r>
              <a:rPr lang="zh-CN" altLang="en-US" sz="1800" dirty="0"/>
              <a:t>插入式分接头，其触针插入到同轴电缆内芯</a:t>
            </a:r>
            <a:endParaRPr lang="en-US" altLang="zh-CN" sz="1800" dirty="0"/>
          </a:p>
          <a:p>
            <a:pPr marL="1008000" lvl="2"/>
            <a:r>
              <a:rPr lang="zh-CN" altLang="en-US" dirty="0"/>
              <a:t>收发器 </a:t>
            </a:r>
            <a:r>
              <a:rPr lang="en-US" altLang="zh-CN" dirty="0"/>
              <a:t>:  </a:t>
            </a:r>
            <a:r>
              <a:rPr lang="zh-CN" altLang="en-US" dirty="0"/>
              <a:t>发送</a:t>
            </a:r>
            <a:r>
              <a:rPr lang="en-US" altLang="zh-CN" dirty="0"/>
              <a:t>/</a:t>
            </a:r>
            <a:r>
              <a:rPr lang="zh-CN" altLang="en-US" dirty="0"/>
              <a:t>接收</a:t>
            </a:r>
          </a:p>
          <a:p>
            <a:pPr marL="1008000" lvl="2"/>
            <a:r>
              <a:rPr lang="en-US" altLang="zh-CN" dirty="0"/>
              <a:t>AUI : </a:t>
            </a:r>
            <a:r>
              <a:rPr lang="zh-CN" altLang="en-US" dirty="0"/>
              <a:t>连接件单元接口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49</a:t>
            </a:fld>
            <a:endParaRPr lang="zh-CN" altLang="en-US" dirty="0"/>
          </a:p>
        </p:txBody>
      </p:sp>
      <p:grpSp>
        <p:nvGrpSpPr>
          <p:cNvPr id="46" name="组合 45"/>
          <p:cNvGrpSpPr/>
          <p:nvPr/>
        </p:nvGrpSpPr>
        <p:grpSpPr>
          <a:xfrm>
            <a:off x="5939868" y="1483296"/>
            <a:ext cx="3249367" cy="5222303"/>
            <a:chOff x="5756342" y="1245172"/>
            <a:chExt cx="3158583" cy="5222303"/>
          </a:xfrm>
        </p:grpSpPr>
        <p:sp>
          <p:nvSpPr>
            <p:cNvPr id="47" name="AutoShape 3"/>
            <p:cNvSpPr>
              <a:spLocks noChangeArrowheads="1"/>
            </p:cNvSpPr>
            <p:nvPr/>
          </p:nvSpPr>
          <p:spPr bwMode="auto">
            <a:xfrm>
              <a:off x="6934200" y="1600200"/>
              <a:ext cx="1936750" cy="1113896"/>
            </a:xfrm>
            <a:prstGeom prst="wedgeRoundRectCallout">
              <a:avLst>
                <a:gd name="adj1" fmla="val -41671"/>
                <a:gd name="adj2" fmla="val 66667"/>
                <a:gd name="adj3" fmla="val 16667"/>
              </a:avLst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Rectangle 41"/>
            <p:cNvSpPr>
              <a:spLocks noChangeArrowheads="1"/>
            </p:cNvSpPr>
            <p:nvPr/>
          </p:nvSpPr>
          <p:spPr bwMode="auto">
            <a:xfrm>
              <a:off x="7099300" y="1893888"/>
              <a:ext cx="1566863" cy="519112"/>
            </a:xfrm>
            <a:prstGeom prst="rect">
              <a:avLst/>
            </a:prstGeom>
            <a:gradFill rotWithShape="0">
              <a:gsLst>
                <a:gs pos="0">
                  <a:srgbClr val="FFFF00">
                    <a:gamma/>
                    <a:shade val="69804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9" name="Rectangle 42"/>
            <p:cNvSpPr>
              <a:spLocks noChangeArrowheads="1"/>
            </p:cNvSpPr>
            <p:nvPr/>
          </p:nvSpPr>
          <p:spPr bwMode="auto">
            <a:xfrm>
              <a:off x="7324725" y="1695450"/>
              <a:ext cx="1123950" cy="153988"/>
            </a:xfrm>
            <a:prstGeom prst="rect">
              <a:avLst/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0" name="Rectangle 43"/>
            <p:cNvSpPr>
              <a:spLocks noChangeArrowheads="1"/>
            </p:cNvSpPr>
            <p:nvPr/>
          </p:nvSpPr>
          <p:spPr bwMode="auto">
            <a:xfrm>
              <a:off x="7108825" y="2092325"/>
              <a:ext cx="1552575" cy="127000"/>
            </a:xfrm>
            <a:prstGeom prst="rect">
              <a:avLst/>
            </a:prstGeom>
            <a:solidFill>
              <a:schemeClr val="accent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AutoShape 44"/>
            <p:cNvSpPr>
              <a:spLocks noChangeArrowheads="1"/>
            </p:cNvSpPr>
            <p:nvPr/>
          </p:nvSpPr>
          <p:spPr bwMode="auto">
            <a:xfrm rot="16200000">
              <a:off x="7768431" y="2289969"/>
              <a:ext cx="276225" cy="115888"/>
            </a:xfrm>
            <a:prstGeom prst="homePlate">
              <a:avLst>
                <a:gd name="adj" fmla="val 79452"/>
              </a:avLst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7518400" y="2305050"/>
              <a:ext cx="0" cy="174625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8321675" y="2298700"/>
              <a:ext cx="0" cy="17780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4" name="Rectangle 47"/>
            <p:cNvSpPr>
              <a:spLocks noChangeArrowheads="1"/>
            </p:cNvSpPr>
            <p:nvPr/>
          </p:nvSpPr>
          <p:spPr bwMode="auto">
            <a:xfrm>
              <a:off x="7324725" y="2439988"/>
              <a:ext cx="1123950" cy="153987"/>
            </a:xfrm>
            <a:prstGeom prst="rect">
              <a:avLst/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5" name="Line 48"/>
            <p:cNvSpPr>
              <a:spLocks noChangeShapeType="1"/>
            </p:cNvSpPr>
            <p:nvPr/>
          </p:nvSpPr>
          <p:spPr bwMode="auto">
            <a:xfrm>
              <a:off x="7327900" y="1882775"/>
              <a:ext cx="0" cy="496888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49"/>
            <p:cNvSpPr>
              <a:spLocks noChangeShapeType="1"/>
            </p:cNvSpPr>
            <p:nvPr/>
          </p:nvSpPr>
          <p:spPr bwMode="auto">
            <a:xfrm>
              <a:off x="8459788" y="1906588"/>
              <a:ext cx="0" cy="496887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7" name="Rectangle 51"/>
            <p:cNvSpPr>
              <a:spLocks noChangeArrowheads="1"/>
            </p:cNvSpPr>
            <p:nvPr/>
          </p:nvSpPr>
          <p:spPr bwMode="auto">
            <a:xfrm flipH="1">
              <a:off x="5756342" y="2799179"/>
              <a:ext cx="642805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 </a:t>
              </a:r>
              <a:r>
                <a:rPr kumimoji="1" lang="zh-CN" alt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粗缆</a:t>
              </a:r>
            </a:p>
          </p:txBody>
        </p:sp>
        <p:sp>
          <p:nvSpPr>
            <p:cNvPr id="58" name="Rectangle 52"/>
            <p:cNvSpPr>
              <a:spLocks noChangeArrowheads="1"/>
            </p:cNvSpPr>
            <p:nvPr/>
          </p:nvSpPr>
          <p:spPr bwMode="auto">
            <a:xfrm>
              <a:off x="6037263" y="3109913"/>
              <a:ext cx="2087562" cy="207962"/>
            </a:xfrm>
            <a:prstGeom prst="rect">
              <a:avLst/>
            </a:prstGeom>
            <a:gradFill rotWithShape="0">
              <a:gsLst>
                <a:gs pos="0">
                  <a:srgbClr val="FFFF00">
                    <a:gamma/>
                    <a:shade val="69804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Rectangle 53"/>
            <p:cNvSpPr>
              <a:spLocks noChangeArrowheads="1"/>
            </p:cNvSpPr>
            <p:nvPr/>
          </p:nvSpPr>
          <p:spPr bwMode="auto">
            <a:xfrm>
              <a:off x="6554788" y="3030538"/>
              <a:ext cx="1039812" cy="390525"/>
            </a:xfrm>
            <a:prstGeom prst="rect">
              <a:avLst/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60" name="Group 54"/>
            <p:cNvGrpSpPr>
              <a:grpSpLocks/>
            </p:cNvGrpSpPr>
            <p:nvPr/>
          </p:nvGrpSpPr>
          <p:grpSpPr bwMode="auto">
            <a:xfrm>
              <a:off x="6956425" y="3438525"/>
              <a:ext cx="206375" cy="252413"/>
              <a:chOff x="4366" y="2129"/>
              <a:chExt cx="130" cy="159"/>
            </a:xfrm>
          </p:grpSpPr>
          <p:sp>
            <p:nvSpPr>
              <p:cNvPr id="134" name="Rectangle 55"/>
              <p:cNvSpPr>
                <a:spLocks noChangeArrowheads="1"/>
              </p:cNvSpPr>
              <p:nvPr/>
            </p:nvSpPr>
            <p:spPr bwMode="auto">
              <a:xfrm>
                <a:off x="4376" y="2141"/>
                <a:ext cx="108" cy="115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5" name="Rectangle 56"/>
              <p:cNvSpPr>
                <a:spLocks noChangeArrowheads="1"/>
              </p:cNvSpPr>
              <p:nvPr/>
            </p:nvSpPr>
            <p:spPr bwMode="auto">
              <a:xfrm>
                <a:off x="4366" y="2129"/>
                <a:ext cx="127" cy="40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6" name="Rectangle 57"/>
              <p:cNvSpPr>
                <a:spLocks noChangeArrowheads="1"/>
              </p:cNvSpPr>
              <p:nvPr/>
            </p:nvSpPr>
            <p:spPr bwMode="auto">
              <a:xfrm>
                <a:off x="4369" y="2249"/>
                <a:ext cx="127" cy="39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1" name="Rectangle 58"/>
            <p:cNvSpPr>
              <a:spLocks noChangeArrowheads="1"/>
            </p:cNvSpPr>
            <p:nvPr/>
          </p:nvSpPr>
          <p:spPr bwMode="auto">
            <a:xfrm>
              <a:off x="6665913" y="3716338"/>
              <a:ext cx="862012" cy="439737"/>
            </a:xfrm>
            <a:prstGeom prst="rect">
              <a:avLst/>
            </a:prstGeom>
            <a:solidFill>
              <a:srgbClr val="FFCC00"/>
            </a:solidFill>
            <a:ln w="253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62" name="Group 59"/>
            <p:cNvGrpSpPr>
              <a:grpSpLocks/>
            </p:cNvGrpSpPr>
            <p:nvPr/>
          </p:nvGrpSpPr>
          <p:grpSpPr bwMode="auto">
            <a:xfrm>
              <a:off x="7070725" y="4292600"/>
              <a:ext cx="900113" cy="263525"/>
              <a:chOff x="4438" y="2667"/>
              <a:chExt cx="567" cy="166"/>
            </a:xfrm>
          </p:grpSpPr>
          <p:sp>
            <p:nvSpPr>
              <p:cNvPr id="132" name="Arc 60"/>
              <p:cNvSpPr>
                <a:spLocks/>
              </p:cNvSpPr>
              <p:nvPr/>
            </p:nvSpPr>
            <p:spPr bwMode="auto">
              <a:xfrm>
                <a:off x="4438" y="2667"/>
                <a:ext cx="298" cy="87"/>
              </a:xfrm>
              <a:custGeom>
                <a:avLst/>
                <a:gdLst>
                  <a:gd name="G0" fmla="+- 21600 0 0"/>
                  <a:gd name="G1" fmla="+- 0 0 0"/>
                  <a:gd name="G2" fmla="+- 21600 0 0"/>
                  <a:gd name="T0" fmla="*/ 21600 w 21600"/>
                  <a:gd name="T1" fmla="*/ 21600 h 21600"/>
                  <a:gd name="T2" fmla="*/ 0 w 21600"/>
                  <a:gd name="T3" fmla="*/ 0 h 21600"/>
                  <a:gd name="T4" fmla="*/ 21600 w 21600"/>
                  <a:gd name="T5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  <a:path w="21600" h="21600" stroke="0" extrusionOk="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  <a:lnTo>
                      <a:pt x="21600" y="0"/>
                    </a:lnTo>
                    <a:close/>
                  </a:path>
                </a:pathLst>
              </a:custGeom>
              <a:noFill/>
              <a:ln w="25399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133" name="Arc 61"/>
              <p:cNvSpPr>
                <a:spLocks/>
              </p:cNvSpPr>
              <p:nvPr/>
            </p:nvSpPr>
            <p:spPr bwMode="auto">
              <a:xfrm>
                <a:off x="4706" y="2746"/>
                <a:ext cx="299" cy="87"/>
              </a:xfrm>
              <a:custGeom>
                <a:avLst/>
                <a:gdLst>
                  <a:gd name="G0" fmla="+- 72 0 0"/>
                  <a:gd name="G1" fmla="+- 21600 0 0"/>
                  <a:gd name="G2" fmla="+- 21600 0 0"/>
                  <a:gd name="T0" fmla="*/ 0 w 21672"/>
                  <a:gd name="T1" fmla="*/ 0 h 21600"/>
                  <a:gd name="T2" fmla="*/ 21672 w 21672"/>
                  <a:gd name="T3" fmla="*/ 21600 h 21600"/>
                  <a:gd name="T4" fmla="*/ 72 w 21672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72" h="21600" fill="none" extrusionOk="0">
                    <a:moveTo>
                      <a:pt x="0" y="0"/>
                    </a:moveTo>
                    <a:cubicBezTo>
                      <a:pt x="24" y="0"/>
                      <a:pt x="48" y="-1"/>
                      <a:pt x="72" y="0"/>
                    </a:cubicBezTo>
                    <a:cubicBezTo>
                      <a:pt x="12001" y="0"/>
                      <a:pt x="21672" y="9670"/>
                      <a:pt x="21672" y="21600"/>
                    </a:cubicBezTo>
                  </a:path>
                  <a:path w="21672" h="21600" stroke="0" extrusionOk="0">
                    <a:moveTo>
                      <a:pt x="0" y="0"/>
                    </a:moveTo>
                    <a:cubicBezTo>
                      <a:pt x="24" y="0"/>
                      <a:pt x="48" y="-1"/>
                      <a:pt x="72" y="0"/>
                    </a:cubicBezTo>
                    <a:cubicBezTo>
                      <a:pt x="12001" y="0"/>
                      <a:pt x="21672" y="9670"/>
                      <a:pt x="21672" y="21600"/>
                    </a:cubicBezTo>
                    <a:lnTo>
                      <a:pt x="72" y="21600"/>
                    </a:lnTo>
                    <a:close/>
                  </a:path>
                </a:pathLst>
              </a:custGeom>
              <a:noFill/>
              <a:ln w="25399" cap="rnd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63" name="AutoShape 62"/>
            <p:cNvSpPr>
              <a:spLocks noChangeArrowheads="1"/>
            </p:cNvSpPr>
            <p:nvPr/>
          </p:nvSpPr>
          <p:spPr bwMode="auto">
            <a:xfrm rot="-10800000" flipH="1" flipV="1">
              <a:off x="6915150" y="4173538"/>
              <a:ext cx="338138" cy="112712"/>
            </a:xfrm>
            <a:custGeom>
              <a:avLst/>
              <a:gdLst>
                <a:gd name="G0" fmla="+- 5399 0 0"/>
                <a:gd name="G1" fmla="+- 21600 0 5399"/>
                <a:gd name="G2" fmla="*/ 5399 1 2"/>
                <a:gd name="G3" fmla="+- 21600 0 G2"/>
                <a:gd name="G4" fmla="+/ 5399 21600 2"/>
                <a:gd name="G5" fmla="+/ G1 0 2"/>
                <a:gd name="G6" fmla="*/ 21600 21600 5399"/>
                <a:gd name="G7" fmla="*/ G6 1 2"/>
                <a:gd name="G8" fmla="+- 21600 0 G7"/>
                <a:gd name="G9" fmla="*/ 21600 1 2"/>
                <a:gd name="G10" fmla="+- 5399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64" name="Group 63"/>
            <p:cNvGrpSpPr>
              <a:grpSpLocks/>
            </p:cNvGrpSpPr>
            <p:nvPr/>
          </p:nvGrpSpPr>
          <p:grpSpPr bwMode="auto">
            <a:xfrm>
              <a:off x="7712075" y="4695825"/>
              <a:ext cx="523875" cy="782638"/>
              <a:chOff x="4842" y="2921"/>
              <a:chExt cx="330" cy="493"/>
            </a:xfrm>
          </p:grpSpPr>
          <p:sp>
            <p:nvSpPr>
              <p:cNvPr id="72" name="Freeform 64"/>
              <p:cNvSpPr>
                <a:spLocks/>
              </p:cNvSpPr>
              <p:nvPr/>
            </p:nvSpPr>
            <p:spPr bwMode="auto">
              <a:xfrm>
                <a:off x="5114" y="3043"/>
                <a:ext cx="40" cy="258"/>
              </a:xfrm>
              <a:custGeom>
                <a:avLst/>
                <a:gdLst>
                  <a:gd name="T0" fmla="*/ 0 w 40"/>
                  <a:gd name="T1" fmla="*/ 257 h 258"/>
                  <a:gd name="T2" fmla="*/ 0 w 40"/>
                  <a:gd name="T3" fmla="*/ 0 h 258"/>
                  <a:gd name="T4" fmla="*/ 39 w 40"/>
                  <a:gd name="T5" fmla="*/ 0 h 258"/>
                  <a:gd name="T6" fmla="*/ 39 w 40"/>
                  <a:gd name="T7" fmla="*/ 257 h 258"/>
                  <a:gd name="T8" fmla="*/ 0 w 40"/>
                  <a:gd name="T9" fmla="*/ 257 h 2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0" h="258">
                    <a:moveTo>
                      <a:pt x="0" y="257"/>
                    </a:moveTo>
                    <a:lnTo>
                      <a:pt x="0" y="0"/>
                    </a:lnTo>
                    <a:lnTo>
                      <a:pt x="39" y="0"/>
                    </a:lnTo>
                    <a:lnTo>
                      <a:pt x="39" y="257"/>
                    </a:lnTo>
                    <a:lnTo>
                      <a:pt x="0" y="257"/>
                    </a:lnTo>
                  </a:path>
                </a:pathLst>
              </a:custGeom>
              <a:solidFill>
                <a:srgbClr val="FF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73" name="Group 65"/>
              <p:cNvGrpSpPr>
                <a:grpSpLocks/>
              </p:cNvGrpSpPr>
              <p:nvPr/>
            </p:nvGrpSpPr>
            <p:grpSpPr bwMode="auto">
              <a:xfrm>
                <a:off x="5119" y="3065"/>
                <a:ext cx="28" cy="226"/>
                <a:chOff x="5119" y="3065"/>
                <a:chExt cx="28" cy="226"/>
              </a:xfrm>
            </p:grpSpPr>
            <p:sp>
              <p:nvSpPr>
                <p:cNvPr id="116" name="Line 66"/>
                <p:cNvSpPr>
                  <a:spLocks noChangeShapeType="1"/>
                </p:cNvSpPr>
                <p:nvPr/>
              </p:nvSpPr>
              <p:spPr bwMode="auto">
                <a:xfrm>
                  <a:off x="5119" y="3291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7" name="Line 67"/>
                <p:cNvSpPr>
                  <a:spLocks noChangeShapeType="1"/>
                </p:cNvSpPr>
                <p:nvPr/>
              </p:nvSpPr>
              <p:spPr bwMode="auto">
                <a:xfrm>
                  <a:off x="5119" y="3276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8" name="Line 68"/>
                <p:cNvSpPr>
                  <a:spLocks noChangeShapeType="1"/>
                </p:cNvSpPr>
                <p:nvPr/>
              </p:nvSpPr>
              <p:spPr bwMode="auto">
                <a:xfrm>
                  <a:off x="5119" y="3261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9" name="Line 69"/>
                <p:cNvSpPr>
                  <a:spLocks noChangeShapeType="1"/>
                </p:cNvSpPr>
                <p:nvPr/>
              </p:nvSpPr>
              <p:spPr bwMode="auto">
                <a:xfrm>
                  <a:off x="5119" y="324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0" name="Line 70"/>
                <p:cNvSpPr>
                  <a:spLocks noChangeShapeType="1"/>
                </p:cNvSpPr>
                <p:nvPr/>
              </p:nvSpPr>
              <p:spPr bwMode="auto">
                <a:xfrm>
                  <a:off x="5119" y="3230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1" name="Line 71"/>
                <p:cNvSpPr>
                  <a:spLocks noChangeShapeType="1"/>
                </p:cNvSpPr>
                <p:nvPr/>
              </p:nvSpPr>
              <p:spPr bwMode="auto">
                <a:xfrm>
                  <a:off x="5119" y="321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2" name="Line 72"/>
                <p:cNvSpPr>
                  <a:spLocks noChangeShapeType="1"/>
                </p:cNvSpPr>
                <p:nvPr/>
              </p:nvSpPr>
              <p:spPr bwMode="auto">
                <a:xfrm>
                  <a:off x="5119" y="3201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3" name="Line 73"/>
                <p:cNvSpPr>
                  <a:spLocks noChangeShapeType="1"/>
                </p:cNvSpPr>
                <p:nvPr/>
              </p:nvSpPr>
              <p:spPr bwMode="auto">
                <a:xfrm>
                  <a:off x="5119" y="3186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4" name="Line 74"/>
                <p:cNvSpPr>
                  <a:spLocks noChangeShapeType="1"/>
                </p:cNvSpPr>
                <p:nvPr/>
              </p:nvSpPr>
              <p:spPr bwMode="auto">
                <a:xfrm>
                  <a:off x="5119" y="3171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5" name="Line 75"/>
                <p:cNvSpPr>
                  <a:spLocks noChangeShapeType="1"/>
                </p:cNvSpPr>
                <p:nvPr/>
              </p:nvSpPr>
              <p:spPr bwMode="auto">
                <a:xfrm>
                  <a:off x="5119" y="315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6" name="Line 76"/>
                <p:cNvSpPr>
                  <a:spLocks noChangeShapeType="1"/>
                </p:cNvSpPr>
                <p:nvPr/>
              </p:nvSpPr>
              <p:spPr bwMode="auto">
                <a:xfrm>
                  <a:off x="5119" y="3139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7" name="Line 77"/>
                <p:cNvSpPr>
                  <a:spLocks noChangeShapeType="1"/>
                </p:cNvSpPr>
                <p:nvPr/>
              </p:nvSpPr>
              <p:spPr bwMode="auto">
                <a:xfrm>
                  <a:off x="5119" y="312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8" name="Line 78"/>
                <p:cNvSpPr>
                  <a:spLocks noChangeShapeType="1"/>
                </p:cNvSpPr>
                <p:nvPr/>
              </p:nvSpPr>
              <p:spPr bwMode="auto">
                <a:xfrm>
                  <a:off x="5119" y="3110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29" name="Line 79"/>
                <p:cNvSpPr>
                  <a:spLocks noChangeShapeType="1"/>
                </p:cNvSpPr>
                <p:nvPr/>
              </p:nvSpPr>
              <p:spPr bwMode="auto">
                <a:xfrm>
                  <a:off x="5119" y="309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0" name="Line 80"/>
                <p:cNvSpPr>
                  <a:spLocks noChangeShapeType="1"/>
                </p:cNvSpPr>
                <p:nvPr/>
              </p:nvSpPr>
              <p:spPr bwMode="auto">
                <a:xfrm>
                  <a:off x="5119" y="3079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31" name="Line 81"/>
                <p:cNvSpPr>
                  <a:spLocks noChangeShapeType="1"/>
                </p:cNvSpPr>
                <p:nvPr/>
              </p:nvSpPr>
              <p:spPr bwMode="auto">
                <a:xfrm>
                  <a:off x="5119" y="3065"/>
                  <a:ext cx="28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sp>
            <p:nvSpPr>
              <p:cNvPr id="74" name="Rectangle 82"/>
              <p:cNvSpPr>
                <a:spLocks noChangeArrowheads="1"/>
              </p:cNvSpPr>
              <p:nvPr/>
            </p:nvSpPr>
            <p:spPr bwMode="auto">
              <a:xfrm>
                <a:off x="4842" y="2972"/>
                <a:ext cx="274" cy="442"/>
              </a:xfrm>
              <a:prstGeom prst="rect">
                <a:avLst/>
              </a:prstGeom>
              <a:solidFill>
                <a:srgbClr val="ADD6A5"/>
              </a:solidFill>
              <a:ln w="12699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5" name="Rectangle 83"/>
              <p:cNvSpPr>
                <a:spLocks noChangeArrowheads="1"/>
              </p:cNvSpPr>
              <p:nvPr/>
            </p:nvSpPr>
            <p:spPr bwMode="auto">
              <a:xfrm>
                <a:off x="4925" y="2941"/>
                <a:ext cx="101" cy="18"/>
              </a:xfrm>
              <a:prstGeom prst="rect">
                <a:avLst/>
              </a:prstGeom>
              <a:solidFill>
                <a:srgbClr val="322D26"/>
              </a:solidFill>
              <a:ln w="12699">
                <a:solidFill>
                  <a:srgbClr val="716759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sp>
            <p:nvSpPr>
              <p:cNvPr id="76" name="Freeform 84"/>
              <p:cNvSpPr>
                <a:spLocks/>
              </p:cNvSpPr>
              <p:nvPr/>
            </p:nvSpPr>
            <p:spPr bwMode="auto">
              <a:xfrm>
                <a:off x="4851" y="2934"/>
                <a:ext cx="321" cy="30"/>
              </a:xfrm>
              <a:custGeom>
                <a:avLst/>
                <a:gdLst>
                  <a:gd name="T0" fmla="*/ 0 w 321"/>
                  <a:gd name="T1" fmla="*/ 0 h 30"/>
                  <a:gd name="T2" fmla="*/ 0 w 321"/>
                  <a:gd name="T3" fmla="*/ 29 h 30"/>
                  <a:gd name="T4" fmla="*/ 320 w 321"/>
                  <a:gd name="T5" fmla="*/ 29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21" h="30">
                    <a:moveTo>
                      <a:pt x="0" y="0"/>
                    </a:moveTo>
                    <a:lnTo>
                      <a:pt x="0" y="29"/>
                    </a:lnTo>
                    <a:lnTo>
                      <a:pt x="320" y="29"/>
                    </a:lnTo>
                  </a:path>
                </a:pathLst>
              </a:custGeom>
              <a:noFill/>
              <a:ln w="25399" cap="rnd" cmpd="sng">
                <a:solidFill>
                  <a:srgbClr val="E9E7D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  <p:grpSp>
            <p:nvGrpSpPr>
              <p:cNvPr id="77" name="Group 85"/>
              <p:cNvGrpSpPr>
                <a:grpSpLocks/>
              </p:cNvGrpSpPr>
              <p:nvPr/>
            </p:nvGrpSpPr>
            <p:grpSpPr bwMode="auto">
              <a:xfrm>
                <a:off x="5066" y="2921"/>
                <a:ext cx="35" cy="37"/>
                <a:chOff x="5066" y="2921"/>
                <a:chExt cx="35" cy="37"/>
              </a:xfrm>
            </p:grpSpPr>
            <p:sp>
              <p:nvSpPr>
                <p:cNvPr id="114" name="Freeform 86"/>
                <p:cNvSpPr>
                  <a:spLocks/>
                </p:cNvSpPr>
                <p:nvPr/>
              </p:nvSpPr>
              <p:spPr bwMode="auto">
                <a:xfrm>
                  <a:off x="5074" y="2921"/>
                  <a:ext cx="24" cy="27"/>
                </a:xfrm>
                <a:custGeom>
                  <a:avLst/>
                  <a:gdLst>
                    <a:gd name="T0" fmla="*/ 0 w 24"/>
                    <a:gd name="T1" fmla="*/ 26 h 27"/>
                    <a:gd name="T2" fmla="*/ 0 w 24"/>
                    <a:gd name="T3" fmla="*/ 0 h 27"/>
                    <a:gd name="T4" fmla="*/ 23 w 24"/>
                    <a:gd name="T5" fmla="*/ 0 h 27"/>
                    <a:gd name="T6" fmla="*/ 23 w 24"/>
                    <a:gd name="T7" fmla="*/ 26 h 27"/>
                    <a:gd name="T8" fmla="*/ 0 w 24"/>
                    <a:gd name="T9" fmla="*/ 2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27">
                      <a:moveTo>
                        <a:pt x="0" y="26"/>
                      </a:moveTo>
                      <a:lnTo>
                        <a:pt x="0" y="0"/>
                      </a:lnTo>
                      <a:lnTo>
                        <a:pt x="23" y="0"/>
                      </a:lnTo>
                      <a:lnTo>
                        <a:pt x="23" y="26"/>
                      </a:lnTo>
                      <a:lnTo>
                        <a:pt x="0" y="26"/>
                      </a:lnTo>
                    </a:path>
                  </a:pathLst>
                </a:custGeom>
                <a:solidFill>
                  <a:srgbClr val="E9E7D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5" name="Freeform 87"/>
                <p:cNvSpPr>
                  <a:spLocks/>
                </p:cNvSpPr>
                <p:nvPr/>
              </p:nvSpPr>
              <p:spPr bwMode="auto">
                <a:xfrm>
                  <a:off x="5066" y="2939"/>
                  <a:ext cx="35" cy="19"/>
                </a:xfrm>
                <a:custGeom>
                  <a:avLst/>
                  <a:gdLst>
                    <a:gd name="T0" fmla="*/ 0 w 35"/>
                    <a:gd name="T1" fmla="*/ 18 h 19"/>
                    <a:gd name="T2" fmla="*/ 0 w 35"/>
                    <a:gd name="T3" fmla="*/ 0 h 19"/>
                    <a:gd name="T4" fmla="*/ 34 w 35"/>
                    <a:gd name="T5" fmla="*/ 0 h 19"/>
                    <a:gd name="T6" fmla="*/ 34 w 35"/>
                    <a:gd name="T7" fmla="*/ 18 h 19"/>
                    <a:gd name="T8" fmla="*/ 0 w 35"/>
                    <a:gd name="T9" fmla="*/ 18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19">
                      <a:moveTo>
                        <a:pt x="0" y="18"/>
                      </a:moveTo>
                      <a:lnTo>
                        <a:pt x="0" y="0"/>
                      </a:lnTo>
                      <a:lnTo>
                        <a:pt x="34" y="0"/>
                      </a:lnTo>
                      <a:lnTo>
                        <a:pt x="34" y="18"/>
                      </a:lnTo>
                      <a:lnTo>
                        <a:pt x="0" y="18"/>
                      </a:lnTo>
                    </a:path>
                  </a:pathLst>
                </a:custGeom>
                <a:solidFill>
                  <a:srgbClr val="52493E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8" name="Group 88"/>
              <p:cNvGrpSpPr>
                <a:grpSpLocks/>
              </p:cNvGrpSpPr>
              <p:nvPr/>
            </p:nvGrpSpPr>
            <p:grpSpPr bwMode="auto">
              <a:xfrm>
                <a:off x="4921" y="3215"/>
                <a:ext cx="83" cy="74"/>
                <a:chOff x="4921" y="3215"/>
                <a:chExt cx="83" cy="74"/>
              </a:xfrm>
            </p:grpSpPr>
            <p:sp>
              <p:nvSpPr>
                <p:cNvPr id="112" name="Freeform 89"/>
                <p:cNvSpPr>
                  <a:spLocks/>
                </p:cNvSpPr>
                <p:nvPr/>
              </p:nvSpPr>
              <p:spPr bwMode="auto">
                <a:xfrm>
                  <a:off x="4927" y="3215"/>
                  <a:ext cx="77" cy="72"/>
                </a:xfrm>
                <a:custGeom>
                  <a:avLst/>
                  <a:gdLst>
                    <a:gd name="T0" fmla="*/ 0 w 77"/>
                    <a:gd name="T1" fmla="*/ 71 h 72"/>
                    <a:gd name="T2" fmla="*/ 0 w 77"/>
                    <a:gd name="T3" fmla="*/ 0 h 72"/>
                    <a:gd name="T4" fmla="*/ 76 w 77"/>
                    <a:gd name="T5" fmla="*/ 0 h 72"/>
                    <a:gd name="T6" fmla="*/ 76 w 77"/>
                    <a:gd name="T7" fmla="*/ 71 h 72"/>
                    <a:gd name="T8" fmla="*/ 0 w 77"/>
                    <a:gd name="T9" fmla="*/ 7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7" h="72">
                      <a:moveTo>
                        <a:pt x="0" y="71"/>
                      </a:moveTo>
                      <a:lnTo>
                        <a:pt x="0" y="0"/>
                      </a:lnTo>
                      <a:lnTo>
                        <a:pt x="76" y="0"/>
                      </a:lnTo>
                      <a:lnTo>
                        <a:pt x="76" y="71"/>
                      </a:lnTo>
                      <a:lnTo>
                        <a:pt x="0" y="7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3" name="Freeform 90"/>
                <p:cNvSpPr>
                  <a:spLocks/>
                </p:cNvSpPr>
                <p:nvPr/>
              </p:nvSpPr>
              <p:spPr bwMode="auto">
                <a:xfrm>
                  <a:off x="4921" y="3218"/>
                  <a:ext cx="78" cy="71"/>
                </a:xfrm>
                <a:custGeom>
                  <a:avLst/>
                  <a:gdLst>
                    <a:gd name="T0" fmla="*/ 0 w 78"/>
                    <a:gd name="T1" fmla="*/ 70 h 71"/>
                    <a:gd name="T2" fmla="*/ 0 w 78"/>
                    <a:gd name="T3" fmla="*/ 0 h 71"/>
                    <a:gd name="T4" fmla="*/ 77 w 78"/>
                    <a:gd name="T5" fmla="*/ 0 h 71"/>
                    <a:gd name="T6" fmla="*/ 77 w 78"/>
                    <a:gd name="T7" fmla="*/ 70 h 71"/>
                    <a:gd name="T8" fmla="*/ 0 w 78"/>
                    <a:gd name="T9" fmla="*/ 70 h 7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78" h="71">
                      <a:moveTo>
                        <a:pt x="0" y="70"/>
                      </a:moveTo>
                      <a:lnTo>
                        <a:pt x="0" y="0"/>
                      </a:lnTo>
                      <a:lnTo>
                        <a:pt x="77" y="0"/>
                      </a:lnTo>
                      <a:lnTo>
                        <a:pt x="77" y="70"/>
                      </a:lnTo>
                      <a:lnTo>
                        <a:pt x="0" y="7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79" name="Group 91"/>
              <p:cNvGrpSpPr>
                <a:grpSpLocks/>
              </p:cNvGrpSpPr>
              <p:nvPr/>
            </p:nvGrpSpPr>
            <p:grpSpPr bwMode="auto">
              <a:xfrm>
                <a:off x="4998" y="3086"/>
                <a:ext cx="107" cy="93"/>
                <a:chOff x="4998" y="3086"/>
                <a:chExt cx="107" cy="93"/>
              </a:xfrm>
            </p:grpSpPr>
            <p:sp>
              <p:nvSpPr>
                <p:cNvPr id="110" name="Freeform 92"/>
                <p:cNvSpPr>
                  <a:spLocks/>
                </p:cNvSpPr>
                <p:nvPr/>
              </p:nvSpPr>
              <p:spPr bwMode="auto">
                <a:xfrm>
                  <a:off x="5002" y="3086"/>
                  <a:ext cx="103" cy="90"/>
                </a:xfrm>
                <a:custGeom>
                  <a:avLst/>
                  <a:gdLst>
                    <a:gd name="T0" fmla="*/ 0 w 103"/>
                    <a:gd name="T1" fmla="*/ 89 h 90"/>
                    <a:gd name="T2" fmla="*/ 0 w 103"/>
                    <a:gd name="T3" fmla="*/ 0 h 90"/>
                    <a:gd name="T4" fmla="*/ 102 w 103"/>
                    <a:gd name="T5" fmla="*/ 0 h 90"/>
                    <a:gd name="T6" fmla="*/ 102 w 103"/>
                    <a:gd name="T7" fmla="*/ 89 h 90"/>
                    <a:gd name="T8" fmla="*/ 0 w 103"/>
                    <a:gd name="T9" fmla="*/ 89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90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102" y="0"/>
                      </a:lnTo>
                      <a:lnTo>
                        <a:pt x="102" y="89"/>
                      </a:lnTo>
                      <a:lnTo>
                        <a:pt x="0" y="8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11" name="Freeform 93"/>
                <p:cNvSpPr>
                  <a:spLocks/>
                </p:cNvSpPr>
                <p:nvPr/>
              </p:nvSpPr>
              <p:spPr bwMode="auto">
                <a:xfrm>
                  <a:off x="4998" y="3089"/>
                  <a:ext cx="104" cy="90"/>
                </a:xfrm>
                <a:custGeom>
                  <a:avLst/>
                  <a:gdLst>
                    <a:gd name="T0" fmla="*/ 0 w 104"/>
                    <a:gd name="T1" fmla="*/ 89 h 90"/>
                    <a:gd name="T2" fmla="*/ 0 w 104"/>
                    <a:gd name="T3" fmla="*/ 0 h 90"/>
                    <a:gd name="T4" fmla="*/ 103 w 104"/>
                    <a:gd name="T5" fmla="*/ 0 h 90"/>
                    <a:gd name="T6" fmla="*/ 103 w 104"/>
                    <a:gd name="T7" fmla="*/ 89 h 90"/>
                    <a:gd name="T8" fmla="*/ 0 w 104"/>
                    <a:gd name="T9" fmla="*/ 89 h 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90">
                      <a:moveTo>
                        <a:pt x="0" y="89"/>
                      </a:moveTo>
                      <a:lnTo>
                        <a:pt x="0" y="0"/>
                      </a:lnTo>
                      <a:lnTo>
                        <a:pt x="103" y="0"/>
                      </a:lnTo>
                      <a:lnTo>
                        <a:pt x="103" y="89"/>
                      </a:lnTo>
                      <a:lnTo>
                        <a:pt x="0" y="89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0" name="Group 94"/>
              <p:cNvGrpSpPr>
                <a:grpSpLocks/>
              </p:cNvGrpSpPr>
              <p:nvPr/>
            </p:nvGrpSpPr>
            <p:grpSpPr bwMode="auto">
              <a:xfrm>
                <a:off x="4921" y="3381"/>
                <a:ext cx="128" cy="23"/>
                <a:chOff x="4921" y="3381"/>
                <a:chExt cx="128" cy="23"/>
              </a:xfrm>
            </p:grpSpPr>
            <p:sp>
              <p:nvSpPr>
                <p:cNvPr id="108" name="Freeform 95"/>
                <p:cNvSpPr>
                  <a:spLocks/>
                </p:cNvSpPr>
                <p:nvPr/>
              </p:nvSpPr>
              <p:spPr bwMode="auto">
                <a:xfrm>
                  <a:off x="4927" y="3381"/>
                  <a:ext cx="122" cy="20"/>
                </a:xfrm>
                <a:custGeom>
                  <a:avLst/>
                  <a:gdLst>
                    <a:gd name="T0" fmla="*/ 0 w 122"/>
                    <a:gd name="T1" fmla="*/ 19 h 20"/>
                    <a:gd name="T2" fmla="*/ 0 w 122"/>
                    <a:gd name="T3" fmla="*/ 0 h 20"/>
                    <a:gd name="T4" fmla="*/ 121 w 122"/>
                    <a:gd name="T5" fmla="*/ 0 h 20"/>
                    <a:gd name="T6" fmla="*/ 121 w 122"/>
                    <a:gd name="T7" fmla="*/ 19 h 20"/>
                    <a:gd name="T8" fmla="*/ 0 w 122"/>
                    <a:gd name="T9" fmla="*/ 19 h 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20">
                      <a:moveTo>
                        <a:pt x="0" y="19"/>
                      </a:moveTo>
                      <a:lnTo>
                        <a:pt x="0" y="0"/>
                      </a:lnTo>
                      <a:lnTo>
                        <a:pt x="121" y="0"/>
                      </a:lnTo>
                      <a:lnTo>
                        <a:pt x="121" y="19"/>
                      </a:lnTo>
                      <a:lnTo>
                        <a:pt x="0" y="19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9" name="Freeform 96"/>
                <p:cNvSpPr>
                  <a:spLocks/>
                </p:cNvSpPr>
                <p:nvPr/>
              </p:nvSpPr>
              <p:spPr bwMode="auto">
                <a:xfrm>
                  <a:off x="4921" y="3383"/>
                  <a:ext cx="123" cy="21"/>
                </a:xfrm>
                <a:custGeom>
                  <a:avLst/>
                  <a:gdLst>
                    <a:gd name="T0" fmla="*/ 0 w 123"/>
                    <a:gd name="T1" fmla="*/ 20 h 21"/>
                    <a:gd name="T2" fmla="*/ 0 w 123"/>
                    <a:gd name="T3" fmla="*/ 0 h 21"/>
                    <a:gd name="T4" fmla="*/ 122 w 123"/>
                    <a:gd name="T5" fmla="*/ 0 h 21"/>
                    <a:gd name="T6" fmla="*/ 122 w 123"/>
                    <a:gd name="T7" fmla="*/ 20 h 21"/>
                    <a:gd name="T8" fmla="*/ 0 w 123"/>
                    <a:gd name="T9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3" h="21">
                      <a:moveTo>
                        <a:pt x="0" y="20"/>
                      </a:moveTo>
                      <a:lnTo>
                        <a:pt x="0" y="0"/>
                      </a:lnTo>
                      <a:lnTo>
                        <a:pt x="122" y="0"/>
                      </a:lnTo>
                      <a:lnTo>
                        <a:pt x="122" y="2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1" name="Group 97"/>
              <p:cNvGrpSpPr>
                <a:grpSpLocks/>
              </p:cNvGrpSpPr>
              <p:nvPr/>
            </p:nvGrpSpPr>
            <p:grpSpPr bwMode="auto">
              <a:xfrm>
                <a:off x="5059" y="3359"/>
                <a:ext cx="31" cy="34"/>
                <a:chOff x="5059" y="3359"/>
                <a:chExt cx="31" cy="34"/>
              </a:xfrm>
            </p:grpSpPr>
            <p:sp>
              <p:nvSpPr>
                <p:cNvPr id="106" name="Freeform 98"/>
                <p:cNvSpPr>
                  <a:spLocks/>
                </p:cNvSpPr>
                <p:nvPr/>
              </p:nvSpPr>
              <p:spPr bwMode="auto">
                <a:xfrm>
                  <a:off x="5064" y="3359"/>
                  <a:ext cx="26" cy="31"/>
                </a:xfrm>
                <a:custGeom>
                  <a:avLst/>
                  <a:gdLst>
                    <a:gd name="T0" fmla="*/ 0 w 26"/>
                    <a:gd name="T1" fmla="*/ 30 h 31"/>
                    <a:gd name="T2" fmla="*/ 0 w 26"/>
                    <a:gd name="T3" fmla="*/ 0 h 31"/>
                    <a:gd name="T4" fmla="*/ 25 w 26"/>
                    <a:gd name="T5" fmla="*/ 0 h 31"/>
                    <a:gd name="T6" fmla="*/ 25 w 26"/>
                    <a:gd name="T7" fmla="*/ 30 h 31"/>
                    <a:gd name="T8" fmla="*/ 0 w 26"/>
                    <a:gd name="T9" fmla="*/ 3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6" h="31">
                      <a:moveTo>
                        <a:pt x="0" y="30"/>
                      </a:moveTo>
                      <a:lnTo>
                        <a:pt x="0" y="0"/>
                      </a:lnTo>
                      <a:lnTo>
                        <a:pt x="25" y="0"/>
                      </a:lnTo>
                      <a:lnTo>
                        <a:pt x="25" y="3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7" name="Freeform 99"/>
                <p:cNvSpPr>
                  <a:spLocks/>
                </p:cNvSpPr>
                <p:nvPr/>
              </p:nvSpPr>
              <p:spPr bwMode="auto">
                <a:xfrm>
                  <a:off x="5059" y="3362"/>
                  <a:ext cx="27" cy="31"/>
                </a:xfrm>
                <a:custGeom>
                  <a:avLst/>
                  <a:gdLst>
                    <a:gd name="T0" fmla="*/ 0 w 27"/>
                    <a:gd name="T1" fmla="*/ 30 h 31"/>
                    <a:gd name="T2" fmla="*/ 0 w 27"/>
                    <a:gd name="T3" fmla="*/ 0 h 31"/>
                    <a:gd name="T4" fmla="*/ 26 w 27"/>
                    <a:gd name="T5" fmla="*/ 0 h 31"/>
                    <a:gd name="T6" fmla="*/ 26 w 27"/>
                    <a:gd name="T7" fmla="*/ 30 h 31"/>
                    <a:gd name="T8" fmla="*/ 0 w 27"/>
                    <a:gd name="T9" fmla="*/ 3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31">
                      <a:moveTo>
                        <a:pt x="0" y="30"/>
                      </a:moveTo>
                      <a:lnTo>
                        <a:pt x="0" y="0"/>
                      </a:lnTo>
                      <a:lnTo>
                        <a:pt x="26" y="0"/>
                      </a:lnTo>
                      <a:lnTo>
                        <a:pt x="26" y="30"/>
                      </a:lnTo>
                      <a:lnTo>
                        <a:pt x="0" y="3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2" name="Group 100"/>
              <p:cNvGrpSpPr>
                <a:grpSpLocks/>
              </p:cNvGrpSpPr>
              <p:nvPr/>
            </p:nvGrpSpPr>
            <p:grpSpPr bwMode="auto">
              <a:xfrm>
                <a:off x="4924" y="3309"/>
                <a:ext cx="57" cy="24"/>
                <a:chOff x="4924" y="3309"/>
                <a:chExt cx="57" cy="24"/>
              </a:xfrm>
            </p:grpSpPr>
            <p:sp>
              <p:nvSpPr>
                <p:cNvPr id="104" name="Freeform 101"/>
                <p:cNvSpPr>
                  <a:spLocks/>
                </p:cNvSpPr>
                <p:nvPr/>
              </p:nvSpPr>
              <p:spPr bwMode="auto">
                <a:xfrm>
                  <a:off x="4928" y="3309"/>
                  <a:ext cx="53" cy="22"/>
                </a:xfrm>
                <a:custGeom>
                  <a:avLst/>
                  <a:gdLst>
                    <a:gd name="T0" fmla="*/ 0 w 53"/>
                    <a:gd name="T1" fmla="*/ 21 h 22"/>
                    <a:gd name="T2" fmla="*/ 0 w 53"/>
                    <a:gd name="T3" fmla="*/ 0 h 22"/>
                    <a:gd name="T4" fmla="*/ 52 w 53"/>
                    <a:gd name="T5" fmla="*/ 0 h 22"/>
                    <a:gd name="T6" fmla="*/ 52 w 53"/>
                    <a:gd name="T7" fmla="*/ 21 h 22"/>
                    <a:gd name="T8" fmla="*/ 0 w 53"/>
                    <a:gd name="T9" fmla="*/ 2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22">
                      <a:moveTo>
                        <a:pt x="0" y="21"/>
                      </a:moveTo>
                      <a:lnTo>
                        <a:pt x="0" y="0"/>
                      </a:lnTo>
                      <a:lnTo>
                        <a:pt x="52" y="0"/>
                      </a:lnTo>
                      <a:lnTo>
                        <a:pt x="52" y="21"/>
                      </a:lnTo>
                      <a:lnTo>
                        <a:pt x="0" y="2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5" name="Freeform 102"/>
                <p:cNvSpPr>
                  <a:spLocks/>
                </p:cNvSpPr>
                <p:nvPr/>
              </p:nvSpPr>
              <p:spPr bwMode="auto">
                <a:xfrm>
                  <a:off x="4924" y="3312"/>
                  <a:ext cx="53" cy="21"/>
                </a:xfrm>
                <a:custGeom>
                  <a:avLst/>
                  <a:gdLst>
                    <a:gd name="T0" fmla="*/ 0 w 53"/>
                    <a:gd name="T1" fmla="*/ 20 h 21"/>
                    <a:gd name="T2" fmla="*/ 0 w 53"/>
                    <a:gd name="T3" fmla="*/ 0 h 21"/>
                    <a:gd name="T4" fmla="*/ 52 w 53"/>
                    <a:gd name="T5" fmla="*/ 0 h 21"/>
                    <a:gd name="T6" fmla="*/ 52 w 53"/>
                    <a:gd name="T7" fmla="*/ 20 h 21"/>
                    <a:gd name="T8" fmla="*/ 0 w 53"/>
                    <a:gd name="T9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3" h="21">
                      <a:moveTo>
                        <a:pt x="0" y="20"/>
                      </a:moveTo>
                      <a:lnTo>
                        <a:pt x="0" y="0"/>
                      </a:lnTo>
                      <a:lnTo>
                        <a:pt x="52" y="0"/>
                      </a:lnTo>
                      <a:lnTo>
                        <a:pt x="52" y="2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3" name="Group 103"/>
              <p:cNvGrpSpPr>
                <a:grpSpLocks/>
              </p:cNvGrpSpPr>
              <p:nvPr/>
            </p:nvGrpSpPr>
            <p:grpSpPr bwMode="auto">
              <a:xfrm>
                <a:off x="4980" y="3307"/>
                <a:ext cx="56" cy="25"/>
                <a:chOff x="4980" y="3307"/>
                <a:chExt cx="56" cy="25"/>
              </a:xfrm>
            </p:grpSpPr>
            <p:sp>
              <p:nvSpPr>
                <p:cNvPr id="102" name="Freeform 104"/>
                <p:cNvSpPr>
                  <a:spLocks/>
                </p:cNvSpPr>
                <p:nvPr/>
              </p:nvSpPr>
              <p:spPr bwMode="auto">
                <a:xfrm>
                  <a:off x="4984" y="3307"/>
                  <a:ext cx="52" cy="21"/>
                </a:xfrm>
                <a:custGeom>
                  <a:avLst/>
                  <a:gdLst>
                    <a:gd name="T0" fmla="*/ 0 w 52"/>
                    <a:gd name="T1" fmla="*/ 20 h 21"/>
                    <a:gd name="T2" fmla="*/ 0 w 52"/>
                    <a:gd name="T3" fmla="*/ 0 h 21"/>
                    <a:gd name="T4" fmla="*/ 51 w 52"/>
                    <a:gd name="T5" fmla="*/ 0 h 21"/>
                    <a:gd name="T6" fmla="*/ 51 w 52"/>
                    <a:gd name="T7" fmla="*/ 20 h 21"/>
                    <a:gd name="T8" fmla="*/ 0 w 52"/>
                    <a:gd name="T9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" h="21">
                      <a:moveTo>
                        <a:pt x="0" y="20"/>
                      </a:moveTo>
                      <a:lnTo>
                        <a:pt x="0" y="0"/>
                      </a:lnTo>
                      <a:lnTo>
                        <a:pt x="51" y="0"/>
                      </a:lnTo>
                      <a:lnTo>
                        <a:pt x="51" y="2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3" name="Freeform 105"/>
                <p:cNvSpPr>
                  <a:spLocks/>
                </p:cNvSpPr>
                <p:nvPr/>
              </p:nvSpPr>
              <p:spPr bwMode="auto">
                <a:xfrm>
                  <a:off x="4980" y="3310"/>
                  <a:ext cx="54" cy="22"/>
                </a:xfrm>
                <a:custGeom>
                  <a:avLst/>
                  <a:gdLst>
                    <a:gd name="T0" fmla="*/ 0 w 54"/>
                    <a:gd name="T1" fmla="*/ 21 h 22"/>
                    <a:gd name="T2" fmla="*/ 0 w 54"/>
                    <a:gd name="T3" fmla="*/ 0 h 22"/>
                    <a:gd name="T4" fmla="*/ 53 w 54"/>
                    <a:gd name="T5" fmla="*/ 0 h 22"/>
                    <a:gd name="T6" fmla="*/ 53 w 54"/>
                    <a:gd name="T7" fmla="*/ 21 h 22"/>
                    <a:gd name="T8" fmla="*/ 0 w 54"/>
                    <a:gd name="T9" fmla="*/ 2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4" h="22">
                      <a:moveTo>
                        <a:pt x="0" y="21"/>
                      </a:moveTo>
                      <a:lnTo>
                        <a:pt x="0" y="0"/>
                      </a:lnTo>
                      <a:lnTo>
                        <a:pt x="53" y="0"/>
                      </a:lnTo>
                      <a:lnTo>
                        <a:pt x="53" y="21"/>
                      </a:lnTo>
                      <a:lnTo>
                        <a:pt x="0" y="21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4" name="Group 106"/>
              <p:cNvGrpSpPr>
                <a:grpSpLocks/>
              </p:cNvGrpSpPr>
              <p:nvPr/>
            </p:nvGrpSpPr>
            <p:grpSpPr bwMode="auto">
              <a:xfrm>
                <a:off x="4921" y="3188"/>
                <a:ext cx="47" cy="19"/>
                <a:chOff x="4921" y="3188"/>
                <a:chExt cx="47" cy="19"/>
              </a:xfrm>
            </p:grpSpPr>
            <p:sp>
              <p:nvSpPr>
                <p:cNvPr id="100" name="Freeform 107"/>
                <p:cNvSpPr>
                  <a:spLocks/>
                </p:cNvSpPr>
                <p:nvPr/>
              </p:nvSpPr>
              <p:spPr bwMode="auto">
                <a:xfrm>
                  <a:off x="4926" y="3188"/>
                  <a:ext cx="42" cy="17"/>
                </a:xfrm>
                <a:custGeom>
                  <a:avLst/>
                  <a:gdLst>
                    <a:gd name="T0" fmla="*/ 0 w 42"/>
                    <a:gd name="T1" fmla="*/ 16 h 17"/>
                    <a:gd name="T2" fmla="*/ 0 w 42"/>
                    <a:gd name="T3" fmla="*/ 0 h 17"/>
                    <a:gd name="T4" fmla="*/ 41 w 42"/>
                    <a:gd name="T5" fmla="*/ 0 h 17"/>
                    <a:gd name="T6" fmla="*/ 41 w 42"/>
                    <a:gd name="T7" fmla="*/ 16 h 17"/>
                    <a:gd name="T8" fmla="*/ 0 w 42"/>
                    <a:gd name="T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41" y="0"/>
                      </a:lnTo>
                      <a:lnTo>
                        <a:pt x="41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101" name="Freeform 108"/>
                <p:cNvSpPr>
                  <a:spLocks/>
                </p:cNvSpPr>
                <p:nvPr/>
              </p:nvSpPr>
              <p:spPr bwMode="auto">
                <a:xfrm>
                  <a:off x="4921" y="3190"/>
                  <a:ext cx="44" cy="17"/>
                </a:xfrm>
                <a:custGeom>
                  <a:avLst/>
                  <a:gdLst>
                    <a:gd name="T0" fmla="*/ 0 w 44"/>
                    <a:gd name="T1" fmla="*/ 16 h 17"/>
                    <a:gd name="T2" fmla="*/ 0 w 44"/>
                    <a:gd name="T3" fmla="*/ 0 h 17"/>
                    <a:gd name="T4" fmla="*/ 43 w 44"/>
                    <a:gd name="T5" fmla="*/ 0 h 17"/>
                    <a:gd name="T6" fmla="*/ 43 w 44"/>
                    <a:gd name="T7" fmla="*/ 16 h 17"/>
                    <a:gd name="T8" fmla="*/ 0 w 44"/>
                    <a:gd name="T9" fmla="*/ 16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4" h="17">
                      <a:moveTo>
                        <a:pt x="0" y="16"/>
                      </a:moveTo>
                      <a:lnTo>
                        <a:pt x="0" y="0"/>
                      </a:lnTo>
                      <a:lnTo>
                        <a:pt x="43" y="0"/>
                      </a:lnTo>
                      <a:lnTo>
                        <a:pt x="43" y="16"/>
                      </a:lnTo>
                      <a:lnTo>
                        <a:pt x="0" y="16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5" name="Group 109"/>
              <p:cNvGrpSpPr>
                <a:grpSpLocks/>
              </p:cNvGrpSpPr>
              <p:nvPr/>
            </p:nvGrpSpPr>
            <p:grpSpPr bwMode="auto">
              <a:xfrm>
                <a:off x="4921" y="3350"/>
                <a:ext cx="128" cy="24"/>
                <a:chOff x="4921" y="3350"/>
                <a:chExt cx="128" cy="24"/>
              </a:xfrm>
            </p:grpSpPr>
            <p:sp>
              <p:nvSpPr>
                <p:cNvPr id="98" name="Freeform 110"/>
                <p:cNvSpPr>
                  <a:spLocks/>
                </p:cNvSpPr>
                <p:nvPr/>
              </p:nvSpPr>
              <p:spPr bwMode="auto">
                <a:xfrm>
                  <a:off x="4927" y="3350"/>
                  <a:ext cx="122" cy="22"/>
                </a:xfrm>
                <a:custGeom>
                  <a:avLst/>
                  <a:gdLst>
                    <a:gd name="T0" fmla="*/ 0 w 122"/>
                    <a:gd name="T1" fmla="*/ 21 h 22"/>
                    <a:gd name="T2" fmla="*/ 0 w 122"/>
                    <a:gd name="T3" fmla="*/ 0 h 22"/>
                    <a:gd name="T4" fmla="*/ 121 w 122"/>
                    <a:gd name="T5" fmla="*/ 0 h 22"/>
                    <a:gd name="T6" fmla="*/ 121 w 122"/>
                    <a:gd name="T7" fmla="*/ 21 h 22"/>
                    <a:gd name="T8" fmla="*/ 0 w 122"/>
                    <a:gd name="T9" fmla="*/ 2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22">
                      <a:moveTo>
                        <a:pt x="0" y="21"/>
                      </a:moveTo>
                      <a:lnTo>
                        <a:pt x="0" y="0"/>
                      </a:lnTo>
                      <a:lnTo>
                        <a:pt x="121" y="0"/>
                      </a:lnTo>
                      <a:lnTo>
                        <a:pt x="121" y="21"/>
                      </a:lnTo>
                      <a:lnTo>
                        <a:pt x="0" y="2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9" name="Freeform 111"/>
                <p:cNvSpPr>
                  <a:spLocks/>
                </p:cNvSpPr>
                <p:nvPr/>
              </p:nvSpPr>
              <p:spPr bwMode="auto">
                <a:xfrm>
                  <a:off x="4921" y="3353"/>
                  <a:ext cx="123" cy="21"/>
                </a:xfrm>
                <a:custGeom>
                  <a:avLst/>
                  <a:gdLst>
                    <a:gd name="T0" fmla="*/ 0 w 123"/>
                    <a:gd name="T1" fmla="*/ 20 h 21"/>
                    <a:gd name="T2" fmla="*/ 0 w 123"/>
                    <a:gd name="T3" fmla="*/ 0 h 21"/>
                    <a:gd name="T4" fmla="*/ 122 w 123"/>
                    <a:gd name="T5" fmla="*/ 0 h 21"/>
                    <a:gd name="T6" fmla="*/ 122 w 123"/>
                    <a:gd name="T7" fmla="*/ 20 h 21"/>
                    <a:gd name="T8" fmla="*/ 0 w 123"/>
                    <a:gd name="T9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3" h="21">
                      <a:moveTo>
                        <a:pt x="0" y="20"/>
                      </a:moveTo>
                      <a:lnTo>
                        <a:pt x="0" y="0"/>
                      </a:lnTo>
                      <a:lnTo>
                        <a:pt x="122" y="0"/>
                      </a:lnTo>
                      <a:lnTo>
                        <a:pt x="122" y="20"/>
                      </a:lnTo>
                      <a:lnTo>
                        <a:pt x="0" y="2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6" name="Group 112"/>
              <p:cNvGrpSpPr>
                <a:grpSpLocks/>
              </p:cNvGrpSpPr>
              <p:nvPr/>
            </p:nvGrpSpPr>
            <p:grpSpPr bwMode="auto">
              <a:xfrm>
                <a:off x="4869" y="3260"/>
                <a:ext cx="33" cy="25"/>
                <a:chOff x="4869" y="3260"/>
                <a:chExt cx="33" cy="25"/>
              </a:xfrm>
            </p:grpSpPr>
            <p:sp>
              <p:nvSpPr>
                <p:cNvPr id="96" name="Freeform 113"/>
                <p:cNvSpPr>
                  <a:spLocks/>
                </p:cNvSpPr>
                <p:nvPr/>
              </p:nvSpPr>
              <p:spPr bwMode="auto">
                <a:xfrm>
                  <a:off x="4875" y="3260"/>
                  <a:ext cx="27" cy="23"/>
                </a:xfrm>
                <a:custGeom>
                  <a:avLst/>
                  <a:gdLst>
                    <a:gd name="T0" fmla="*/ 0 w 27"/>
                    <a:gd name="T1" fmla="*/ 22 h 23"/>
                    <a:gd name="T2" fmla="*/ 0 w 27"/>
                    <a:gd name="T3" fmla="*/ 0 h 23"/>
                    <a:gd name="T4" fmla="*/ 26 w 27"/>
                    <a:gd name="T5" fmla="*/ 0 h 23"/>
                    <a:gd name="T6" fmla="*/ 26 w 27"/>
                    <a:gd name="T7" fmla="*/ 22 h 23"/>
                    <a:gd name="T8" fmla="*/ 0 w 27"/>
                    <a:gd name="T9" fmla="*/ 22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23">
                      <a:moveTo>
                        <a:pt x="0" y="22"/>
                      </a:moveTo>
                      <a:lnTo>
                        <a:pt x="0" y="0"/>
                      </a:lnTo>
                      <a:lnTo>
                        <a:pt x="26" y="0"/>
                      </a:lnTo>
                      <a:lnTo>
                        <a:pt x="26" y="22"/>
                      </a:lnTo>
                      <a:lnTo>
                        <a:pt x="0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7" name="Freeform 114"/>
                <p:cNvSpPr>
                  <a:spLocks/>
                </p:cNvSpPr>
                <p:nvPr/>
              </p:nvSpPr>
              <p:spPr bwMode="auto">
                <a:xfrm>
                  <a:off x="4869" y="3262"/>
                  <a:ext cx="30" cy="23"/>
                </a:xfrm>
                <a:custGeom>
                  <a:avLst/>
                  <a:gdLst>
                    <a:gd name="T0" fmla="*/ 0 w 30"/>
                    <a:gd name="T1" fmla="*/ 22 h 23"/>
                    <a:gd name="T2" fmla="*/ 0 w 30"/>
                    <a:gd name="T3" fmla="*/ 0 h 23"/>
                    <a:gd name="T4" fmla="*/ 29 w 30"/>
                    <a:gd name="T5" fmla="*/ 0 h 23"/>
                    <a:gd name="T6" fmla="*/ 29 w 30"/>
                    <a:gd name="T7" fmla="*/ 22 h 23"/>
                    <a:gd name="T8" fmla="*/ 0 w 30"/>
                    <a:gd name="T9" fmla="*/ 22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0" h="23">
                      <a:moveTo>
                        <a:pt x="0" y="22"/>
                      </a:moveTo>
                      <a:lnTo>
                        <a:pt x="0" y="0"/>
                      </a:lnTo>
                      <a:lnTo>
                        <a:pt x="29" y="0"/>
                      </a:lnTo>
                      <a:lnTo>
                        <a:pt x="29" y="22"/>
                      </a:lnTo>
                      <a:lnTo>
                        <a:pt x="0" y="22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7" name="Group 115"/>
              <p:cNvGrpSpPr>
                <a:grpSpLocks/>
              </p:cNvGrpSpPr>
              <p:nvPr/>
            </p:nvGrpSpPr>
            <p:grpSpPr bwMode="auto">
              <a:xfrm>
                <a:off x="4896" y="3043"/>
                <a:ext cx="32" cy="30"/>
                <a:chOff x="4896" y="3043"/>
                <a:chExt cx="32" cy="30"/>
              </a:xfrm>
            </p:grpSpPr>
            <p:sp>
              <p:nvSpPr>
                <p:cNvPr id="94" name="Freeform 116"/>
                <p:cNvSpPr>
                  <a:spLocks/>
                </p:cNvSpPr>
                <p:nvPr/>
              </p:nvSpPr>
              <p:spPr bwMode="auto">
                <a:xfrm>
                  <a:off x="4900" y="3043"/>
                  <a:ext cx="28" cy="25"/>
                </a:xfrm>
                <a:custGeom>
                  <a:avLst/>
                  <a:gdLst>
                    <a:gd name="T0" fmla="*/ 0 w 28"/>
                    <a:gd name="T1" fmla="*/ 24 h 25"/>
                    <a:gd name="T2" fmla="*/ 0 w 28"/>
                    <a:gd name="T3" fmla="*/ 0 h 25"/>
                    <a:gd name="T4" fmla="*/ 27 w 28"/>
                    <a:gd name="T5" fmla="*/ 0 h 25"/>
                    <a:gd name="T6" fmla="*/ 27 w 28"/>
                    <a:gd name="T7" fmla="*/ 24 h 25"/>
                    <a:gd name="T8" fmla="*/ 0 w 28"/>
                    <a:gd name="T9" fmla="*/ 24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25">
                      <a:moveTo>
                        <a:pt x="0" y="24"/>
                      </a:moveTo>
                      <a:lnTo>
                        <a:pt x="0" y="0"/>
                      </a:lnTo>
                      <a:lnTo>
                        <a:pt x="27" y="0"/>
                      </a:lnTo>
                      <a:lnTo>
                        <a:pt x="27" y="24"/>
                      </a:lnTo>
                      <a:lnTo>
                        <a:pt x="0" y="2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5" name="Freeform 117"/>
                <p:cNvSpPr>
                  <a:spLocks/>
                </p:cNvSpPr>
                <p:nvPr/>
              </p:nvSpPr>
              <p:spPr bwMode="auto">
                <a:xfrm>
                  <a:off x="4896" y="3046"/>
                  <a:ext cx="27" cy="27"/>
                </a:xfrm>
                <a:custGeom>
                  <a:avLst/>
                  <a:gdLst>
                    <a:gd name="T0" fmla="*/ 0 w 27"/>
                    <a:gd name="T1" fmla="*/ 26 h 27"/>
                    <a:gd name="T2" fmla="*/ 0 w 27"/>
                    <a:gd name="T3" fmla="*/ 0 h 27"/>
                    <a:gd name="T4" fmla="*/ 26 w 27"/>
                    <a:gd name="T5" fmla="*/ 0 h 27"/>
                    <a:gd name="T6" fmla="*/ 26 w 27"/>
                    <a:gd name="T7" fmla="*/ 26 h 27"/>
                    <a:gd name="T8" fmla="*/ 0 w 27"/>
                    <a:gd name="T9" fmla="*/ 2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7" h="27">
                      <a:moveTo>
                        <a:pt x="0" y="26"/>
                      </a:moveTo>
                      <a:lnTo>
                        <a:pt x="0" y="0"/>
                      </a:lnTo>
                      <a:lnTo>
                        <a:pt x="26" y="0"/>
                      </a:lnTo>
                      <a:lnTo>
                        <a:pt x="26" y="26"/>
                      </a:lnTo>
                      <a:lnTo>
                        <a:pt x="0" y="26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8" name="Group 118"/>
              <p:cNvGrpSpPr>
                <a:grpSpLocks/>
              </p:cNvGrpSpPr>
              <p:nvPr/>
            </p:nvGrpSpPr>
            <p:grpSpPr bwMode="auto">
              <a:xfrm>
                <a:off x="4982" y="2984"/>
                <a:ext cx="25" cy="40"/>
                <a:chOff x="4982" y="2984"/>
                <a:chExt cx="25" cy="40"/>
              </a:xfrm>
            </p:grpSpPr>
            <p:sp>
              <p:nvSpPr>
                <p:cNvPr id="92" name="Freeform 119"/>
                <p:cNvSpPr>
                  <a:spLocks/>
                </p:cNvSpPr>
                <p:nvPr/>
              </p:nvSpPr>
              <p:spPr bwMode="auto">
                <a:xfrm>
                  <a:off x="4987" y="2984"/>
                  <a:ext cx="20" cy="36"/>
                </a:xfrm>
                <a:custGeom>
                  <a:avLst/>
                  <a:gdLst>
                    <a:gd name="T0" fmla="*/ 0 w 20"/>
                    <a:gd name="T1" fmla="*/ 35 h 36"/>
                    <a:gd name="T2" fmla="*/ 0 w 20"/>
                    <a:gd name="T3" fmla="*/ 0 h 36"/>
                    <a:gd name="T4" fmla="*/ 19 w 20"/>
                    <a:gd name="T5" fmla="*/ 0 h 36"/>
                    <a:gd name="T6" fmla="*/ 19 w 20"/>
                    <a:gd name="T7" fmla="*/ 35 h 36"/>
                    <a:gd name="T8" fmla="*/ 0 w 20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9" y="3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3" name="Freeform 120"/>
                <p:cNvSpPr>
                  <a:spLocks/>
                </p:cNvSpPr>
                <p:nvPr/>
              </p:nvSpPr>
              <p:spPr bwMode="auto">
                <a:xfrm>
                  <a:off x="4982" y="2987"/>
                  <a:ext cx="21" cy="37"/>
                </a:xfrm>
                <a:custGeom>
                  <a:avLst/>
                  <a:gdLst>
                    <a:gd name="T0" fmla="*/ 0 w 21"/>
                    <a:gd name="T1" fmla="*/ 36 h 37"/>
                    <a:gd name="T2" fmla="*/ 0 w 21"/>
                    <a:gd name="T3" fmla="*/ 0 h 37"/>
                    <a:gd name="T4" fmla="*/ 20 w 21"/>
                    <a:gd name="T5" fmla="*/ 0 h 37"/>
                    <a:gd name="T6" fmla="*/ 20 w 21"/>
                    <a:gd name="T7" fmla="*/ 36 h 37"/>
                    <a:gd name="T8" fmla="*/ 0 w 21"/>
                    <a:gd name="T9" fmla="*/ 36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" h="37">
                      <a:moveTo>
                        <a:pt x="0" y="36"/>
                      </a:moveTo>
                      <a:lnTo>
                        <a:pt x="0" y="0"/>
                      </a:lnTo>
                      <a:lnTo>
                        <a:pt x="20" y="0"/>
                      </a:lnTo>
                      <a:lnTo>
                        <a:pt x="20" y="36"/>
                      </a:lnTo>
                      <a:lnTo>
                        <a:pt x="0" y="36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89" name="Group 121"/>
              <p:cNvGrpSpPr>
                <a:grpSpLocks/>
              </p:cNvGrpSpPr>
              <p:nvPr/>
            </p:nvGrpSpPr>
            <p:grpSpPr bwMode="auto">
              <a:xfrm>
                <a:off x="5019" y="2984"/>
                <a:ext cx="25" cy="40"/>
                <a:chOff x="5019" y="2984"/>
                <a:chExt cx="25" cy="40"/>
              </a:xfrm>
            </p:grpSpPr>
            <p:sp>
              <p:nvSpPr>
                <p:cNvPr id="90" name="Freeform 122"/>
                <p:cNvSpPr>
                  <a:spLocks/>
                </p:cNvSpPr>
                <p:nvPr/>
              </p:nvSpPr>
              <p:spPr bwMode="auto">
                <a:xfrm>
                  <a:off x="5024" y="2984"/>
                  <a:ext cx="20" cy="36"/>
                </a:xfrm>
                <a:custGeom>
                  <a:avLst/>
                  <a:gdLst>
                    <a:gd name="T0" fmla="*/ 0 w 20"/>
                    <a:gd name="T1" fmla="*/ 35 h 36"/>
                    <a:gd name="T2" fmla="*/ 0 w 20"/>
                    <a:gd name="T3" fmla="*/ 0 h 36"/>
                    <a:gd name="T4" fmla="*/ 19 w 20"/>
                    <a:gd name="T5" fmla="*/ 0 h 36"/>
                    <a:gd name="T6" fmla="*/ 19 w 20"/>
                    <a:gd name="T7" fmla="*/ 35 h 36"/>
                    <a:gd name="T8" fmla="*/ 0 w 20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36">
                      <a:moveTo>
                        <a:pt x="0" y="35"/>
                      </a:move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9" y="35"/>
                      </a:lnTo>
                      <a:lnTo>
                        <a:pt x="0" y="3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91" name="Freeform 123"/>
                <p:cNvSpPr>
                  <a:spLocks/>
                </p:cNvSpPr>
                <p:nvPr/>
              </p:nvSpPr>
              <p:spPr bwMode="auto">
                <a:xfrm>
                  <a:off x="5019" y="2987"/>
                  <a:ext cx="20" cy="37"/>
                </a:xfrm>
                <a:custGeom>
                  <a:avLst/>
                  <a:gdLst>
                    <a:gd name="T0" fmla="*/ 0 w 20"/>
                    <a:gd name="T1" fmla="*/ 36 h 37"/>
                    <a:gd name="T2" fmla="*/ 0 w 20"/>
                    <a:gd name="T3" fmla="*/ 0 h 37"/>
                    <a:gd name="T4" fmla="*/ 19 w 20"/>
                    <a:gd name="T5" fmla="*/ 0 h 37"/>
                    <a:gd name="T6" fmla="*/ 19 w 20"/>
                    <a:gd name="T7" fmla="*/ 36 h 37"/>
                    <a:gd name="T8" fmla="*/ 0 w 20"/>
                    <a:gd name="T9" fmla="*/ 36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0" h="37">
                      <a:moveTo>
                        <a:pt x="0" y="36"/>
                      </a:moveTo>
                      <a:lnTo>
                        <a:pt x="0" y="0"/>
                      </a:lnTo>
                      <a:lnTo>
                        <a:pt x="19" y="0"/>
                      </a:lnTo>
                      <a:lnTo>
                        <a:pt x="19" y="36"/>
                      </a:lnTo>
                      <a:lnTo>
                        <a:pt x="0" y="36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1600">
                    <a:solidFill>
                      <a:srgbClr val="000000"/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</p:grpSp>
        </p:grpSp>
        <p:sp>
          <p:nvSpPr>
            <p:cNvPr id="65" name="AutoShape 124"/>
            <p:cNvSpPr>
              <a:spLocks noChangeArrowheads="1"/>
            </p:cNvSpPr>
            <p:nvPr/>
          </p:nvSpPr>
          <p:spPr bwMode="auto">
            <a:xfrm flipV="1">
              <a:off x="7815263" y="4556125"/>
              <a:ext cx="271462" cy="101600"/>
            </a:xfrm>
            <a:custGeom>
              <a:avLst/>
              <a:gdLst>
                <a:gd name="G0" fmla="+- 5399 0 0"/>
                <a:gd name="G1" fmla="+- 21600 0 5399"/>
                <a:gd name="G2" fmla="*/ 5399 1 2"/>
                <a:gd name="G3" fmla="+- 21600 0 G2"/>
                <a:gd name="G4" fmla="+/ 5399 21600 2"/>
                <a:gd name="G5" fmla="+/ G1 0 2"/>
                <a:gd name="G6" fmla="*/ 21600 21600 5399"/>
                <a:gd name="G7" fmla="*/ G6 1 2"/>
                <a:gd name="G8" fmla="+- 21600 0 G7"/>
                <a:gd name="G9" fmla="*/ 21600 1 2"/>
                <a:gd name="G10" fmla="+- 5399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6" name="Rectangle 125"/>
            <p:cNvSpPr>
              <a:spLocks noChangeArrowheads="1"/>
            </p:cNvSpPr>
            <p:nvPr/>
          </p:nvSpPr>
          <p:spPr bwMode="auto">
            <a:xfrm flipH="1">
              <a:off x="6554788" y="1245172"/>
              <a:ext cx="2360137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插入式分接头</a:t>
              </a:r>
              <a:r>
                <a:rPr kumimoji="1" lang="en-US" altLang="zh-CN" sz="16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Vampire tap</a:t>
              </a:r>
            </a:p>
          </p:txBody>
        </p:sp>
        <p:sp>
          <p:nvSpPr>
            <p:cNvPr id="67" name="Rectangle 126"/>
            <p:cNvSpPr>
              <a:spLocks noChangeArrowheads="1"/>
            </p:cNvSpPr>
            <p:nvPr/>
          </p:nvSpPr>
          <p:spPr bwMode="auto">
            <a:xfrm flipH="1">
              <a:off x="7277100" y="3360738"/>
              <a:ext cx="955390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BNC</a:t>
              </a:r>
              <a:r>
                <a:rPr kumimoji="1"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端子</a:t>
              </a:r>
            </a:p>
          </p:txBody>
        </p:sp>
        <p:sp>
          <p:nvSpPr>
            <p:cNvPr id="68" name="Rectangle 127"/>
            <p:cNvSpPr>
              <a:spLocks noChangeArrowheads="1"/>
            </p:cNvSpPr>
            <p:nvPr/>
          </p:nvSpPr>
          <p:spPr bwMode="auto">
            <a:xfrm flipH="1">
              <a:off x="7462837" y="3760536"/>
              <a:ext cx="976313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收发器</a:t>
              </a:r>
            </a:p>
          </p:txBody>
        </p:sp>
        <p:sp>
          <p:nvSpPr>
            <p:cNvPr id="69" name="Rectangle 128"/>
            <p:cNvSpPr>
              <a:spLocks noChangeArrowheads="1"/>
            </p:cNvSpPr>
            <p:nvPr/>
          </p:nvSpPr>
          <p:spPr bwMode="auto">
            <a:xfrm flipH="1">
              <a:off x="7543800" y="4114800"/>
              <a:ext cx="953466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AUI </a:t>
              </a:r>
              <a:r>
                <a:rPr kumimoji="1" lang="zh-CN" altLang="en-US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电缆</a:t>
              </a:r>
            </a:p>
          </p:txBody>
        </p:sp>
        <p:sp>
          <p:nvSpPr>
            <p:cNvPr id="70" name="Rectangle 129"/>
            <p:cNvSpPr>
              <a:spLocks noChangeArrowheads="1"/>
            </p:cNvSpPr>
            <p:nvPr/>
          </p:nvSpPr>
          <p:spPr bwMode="auto">
            <a:xfrm flipH="1">
              <a:off x="7086600" y="4953000"/>
              <a:ext cx="484107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>
                  <a:solidFill>
                    <a:srgbClr val="000000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NIC</a:t>
              </a:r>
            </a:p>
          </p:txBody>
        </p:sp>
        <p:sp>
          <p:nvSpPr>
            <p:cNvPr id="71" name="laptop"/>
            <p:cNvSpPr>
              <a:spLocks noEditPoints="1" noChangeArrowheads="1"/>
            </p:cNvSpPr>
            <p:nvPr/>
          </p:nvSpPr>
          <p:spPr bwMode="auto">
            <a:xfrm>
              <a:off x="7010400" y="5105400"/>
              <a:ext cx="1809750" cy="1362075"/>
            </a:xfrm>
            <a:custGeom>
              <a:avLst/>
              <a:gdLst>
                <a:gd name="T0" fmla="*/ 3362 w 21600"/>
                <a:gd name="T1" fmla="*/ 0 h 21600"/>
                <a:gd name="T2" fmla="*/ 3362 w 21600"/>
                <a:gd name="T3" fmla="*/ 7173 h 21600"/>
                <a:gd name="T4" fmla="*/ 18327 w 21600"/>
                <a:gd name="T5" fmla="*/ 0 h 21600"/>
                <a:gd name="T6" fmla="*/ 18327 w 21600"/>
                <a:gd name="T7" fmla="*/ 7173 h 21600"/>
                <a:gd name="T8" fmla="*/ 10800 w 21600"/>
                <a:gd name="T9" fmla="*/ 0 h 21600"/>
                <a:gd name="T10" fmla="*/ 10800 w 21600"/>
                <a:gd name="T11" fmla="*/ 21600 h 21600"/>
                <a:gd name="T12" fmla="*/ 0 w 21600"/>
                <a:gd name="T13" fmla="*/ 21600 h 21600"/>
                <a:gd name="T14" fmla="*/ 21600 w 21600"/>
                <a:gd name="T15" fmla="*/ 21600 h 21600"/>
                <a:gd name="T16" fmla="*/ 4445 w 21600"/>
                <a:gd name="T17" fmla="*/ 1858 h 21600"/>
                <a:gd name="T18" fmla="*/ 17311 w 21600"/>
                <a:gd name="T19" fmla="*/ 12323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T16" t="T17" r="T18" b="T19"/>
              <a:pathLst>
                <a:path w="21600" h="21600" extrusionOk="0">
                  <a:moveTo>
                    <a:pt x="3362" y="0"/>
                  </a:moveTo>
                  <a:lnTo>
                    <a:pt x="18327" y="0"/>
                  </a:lnTo>
                  <a:lnTo>
                    <a:pt x="18327" y="14347"/>
                  </a:lnTo>
                  <a:lnTo>
                    <a:pt x="3362" y="14347"/>
                  </a:lnTo>
                  <a:lnTo>
                    <a:pt x="3362" y="0"/>
                  </a:lnTo>
                  <a:close/>
                </a:path>
                <a:path w="21600" h="21600" extrusionOk="0">
                  <a:moveTo>
                    <a:pt x="3340" y="15068"/>
                  </a:moveTo>
                  <a:lnTo>
                    <a:pt x="0" y="19877"/>
                  </a:lnTo>
                  <a:lnTo>
                    <a:pt x="21600" y="19877"/>
                  </a:lnTo>
                  <a:lnTo>
                    <a:pt x="18327" y="15068"/>
                  </a:lnTo>
                  <a:lnTo>
                    <a:pt x="3340" y="15068"/>
                  </a:lnTo>
                  <a:close/>
                </a:path>
                <a:path w="21600" h="21600" extrusionOk="0">
                  <a:moveTo>
                    <a:pt x="0" y="19877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19877"/>
                  </a:lnTo>
                  <a:lnTo>
                    <a:pt x="0" y="19877"/>
                  </a:lnTo>
                  <a:close/>
                </a:path>
                <a:path w="21600" h="21600" extrusionOk="0">
                  <a:moveTo>
                    <a:pt x="4186" y="1523"/>
                  </a:moveTo>
                  <a:lnTo>
                    <a:pt x="17547" y="1523"/>
                  </a:lnTo>
                  <a:lnTo>
                    <a:pt x="17547" y="12744"/>
                  </a:lnTo>
                  <a:lnTo>
                    <a:pt x="4186" y="12744"/>
                  </a:lnTo>
                  <a:lnTo>
                    <a:pt x="4186" y="1523"/>
                  </a:lnTo>
                  <a:close/>
                </a:path>
                <a:path w="21600" h="21600" extrusionOk="0">
                  <a:moveTo>
                    <a:pt x="3318" y="15549"/>
                  </a:moveTo>
                  <a:lnTo>
                    <a:pt x="2917" y="16110"/>
                  </a:lnTo>
                  <a:lnTo>
                    <a:pt x="18727" y="16110"/>
                  </a:lnTo>
                  <a:lnTo>
                    <a:pt x="18327" y="15549"/>
                  </a:lnTo>
                  <a:lnTo>
                    <a:pt x="3318" y="15549"/>
                  </a:lnTo>
                  <a:close/>
                </a:path>
                <a:path w="21600" h="21600" extrusionOk="0">
                  <a:moveTo>
                    <a:pt x="6213" y="18314"/>
                  </a:moveTo>
                  <a:lnTo>
                    <a:pt x="5946" y="18875"/>
                  </a:lnTo>
                  <a:lnTo>
                    <a:pt x="15766" y="18875"/>
                  </a:lnTo>
                  <a:lnTo>
                    <a:pt x="15499" y="18314"/>
                  </a:lnTo>
                  <a:lnTo>
                    <a:pt x="6213" y="18314"/>
                  </a:lnTo>
                  <a:close/>
                </a:path>
                <a:path w="21600" h="21600" extrusionOk="0">
                  <a:moveTo>
                    <a:pt x="2828" y="16471"/>
                  </a:moveTo>
                  <a:lnTo>
                    <a:pt x="2405" y="17072"/>
                  </a:lnTo>
                  <a:lnTo>
                    <a:pt x="19284" y="17072"/>
                  </a:lnTo>
                  <a:lnTo>
                    <a:pt x="18839" y="16471"/>
                  </a:lnTo>
                  <a:lnTo>
                    <a:pt x="2828" y="16471"/>
                  </a:lnTo>
                  <a:close/>
                </a:path>
                <a:path w="21600" h="21600" extrusionOk="0">
                  <a:moveTo>
                    <a:pt x="2316" y="17352"/>
                  </a:moveTo>
                  <a:lnTo>
                    <a:pt x="1871" y="17953"/>
                  </a:lnTo>
                  <a:lnTo>
                    <a:pt x="19863" y="17953"/>
                  </a:lnTo>
                  <a:lnTo>
                    <a:pt x="19395" y="17352"/>
                  </a:lnTo>
                  <a:lnTo>
                    <a:pt x="2316" y="17352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C0C0C0"/>
                  </a:solidFill>
                </a14:hiddenFill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sp>
        <p:nvSpPr>
          <p:cNvPr id="140" name="椭圆 139"/>
          <p:cNvSpPr/>
          <p:nvPr/>
        </p:nvSpPr>
        <p:spPr>
          <a:xfrm>
            <a:off x="3512851" y="4314137"/>
            <a:ext cx="1500875" cy="12200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5158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总线型以太网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5448300" cy="1744794"/>
          </a:xfrm>
        </p:spPr>
        <p:txBody>
          <a:bodyPr/>
          <a:lstStyle/>
          <a:p>
            <a:r>
              <a:rPr lang="en-US" altLang="zh-CN" dirty="0"/>
              <a:t>10Base2</a:t>
            </a:r>
            <a:r>
              <a:rPr lang="zh-CN" altLang="en-US" dirty="0"/>
              <a:t>，细同轴电缆，</a:t>
            </a:r>
            <a:r>
              <a:rPr lang="en-US" altLang="zh-CN" dirty="0"/>
              <a:t>IEEE 802.3a </a:t>
            </a:r>
          </a:p>
          <a:p>
            <a:pPr lvl="1"/>
            <a:r>
              <a:rPr lang="zh-CN" altLang="en-US" sz="1800" dirty="0"/>
              <a:t>可靠性稍差 </a:t>
            </a:r>
          </a:p>
          <a:p>
            <a:pPr lvl="1"/>
            <a:r>
              <a:rPr lang="zh-CN" altLang="en-US" sz="1800" dirty="0"/>
              <a:t>接头处采用工业标准的</a:t>
            </a:r>
            <a:r>
              <a:rPr lang="en-US" altLang="zh-CN" sz="1800" dirty="0"/>
              <a:t>BNC</a:t>
            </a:r>
            <a:r>
              <a:rPr lang="zh-CN" altLang="en-US" sz="1800" dirty="0"/>
              <a:t>连接器组成</a:t>
            </a:r>
            <a:r>
              <a:rPr lang="en-US" altLang="zh-CN" sz="1800" dirty="0"/>
              <a:t>T</a:t>
            </a:r>
            <a:r>
              <a:rPr lang="zh-CN" altLang="en-US" sz="1800" dirty="0"/>
              <a:t>型插座，使用灵活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50</a:t>
            </a:fld>
            <a:endParaRPr lang="zh-CN" altLang="en-US" dirty="0"/>
          </a:p>
        </p:txBody>
      </p:sp>
      <p:grpSp>
        <p:nvGrpSpPr>
          <p:cNvPr id="31" name="组合 30"/>
          <p:cNvGrpSpPr/>
          <p:nvPr/>
        </p:nvGrpSpPr>
        <p:grpSpPr>
          <a:xfrm>
            <a:off x="457200" y="3485321"/>
            <a:ext cx="6367670" cy="2809461"/>
            <a:chOff x="457200" y="3485321"/>
            <a:chExt cx="6367670" cy="2809461"/>
          </a:xfrm>
        </p:grpSpPr>
        <p:sp>
          <p:nvSpPr>
            <p:cNvPr id="140" name="Rectangle 11"/>
            <p:cNvSpPr>
              <a:spLocks noChangeArrowheads="1"/>
            </p:cNvSpPr>
            <p:nvPr/>
          </p:nvSpPr>
          <p:spPr bwMode="auto">
            <a:xfrm>
              <a:off x="457200" y="3485321"/>
              <a:ext cx="6367670" cy="2809461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  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41" name="Line 81"/>
            <p:cNvSpPr>
              <a:spLocks noChangeShapeType="1"/>
            </p:cNvSpPr>
            <p:nvPr/>
          </p:nvSpPr>
          <p:spPr bwMode="auto">
            <a:xfrm flipH="1">
              <a:off x="727075" y="4237038"/>
              <a:ext cx="4306888" cy="0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2" name="Rectangle 82"/>
            <p:cNvSpPr>
              <a:spLocks noChangeArrowheads="1"/>
            </p:cNvSpPr>
            <p:nvPr/>
          </p:nvSpPr>
          <p:spPr bwMode="auto">
            <a:xfrm>
              <a:off x="5019675" y="4164013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3" name="Rectangle 83"/>
            <p:cNvSpPr>
              <a:spLocks noChangeArrowheads="1"/>
            </p:cNvSpPr>
            <p:nvPr/>
          </p:nvSpPr>
          <p:spPr bwMode="auto">
            <a:xfrm>
              <a:off x="628650" y="4167188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4" name="Line 84"/>
            <p:cNvSpPr>
              <a:spLocks noChangeShapeType="1"/>
            </p:cNvSpPr>
            <p:nvPr/>
          </p:nvSpPr>
          <p:spPr bwMode="auto">
            <a:xfrm flipH="1">
              <a:off x="685800" y="3710608"/>
              <a:ext cx="0" cy="404191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5" name="Line 85"/>
            <p:cNvSpPr>
              <a:spLocks noChangeShapeType="1"/>
            </p:cNvSpPr>
            <p:nvPr/>
          </p:nvSpPr>
          <p:spPr bwMode="auto">
            <a:xfrm>
              <a:off x="5105400" y="3710608"/>
              <a:ext cx="0" cy="404192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6" name="Rectangle 86"/>
            <p:cNvSpPr>
              <a:spLocks noChangeArrowheads="1"/>
            </p:cNvSpPr>
            <p:nvPr/>
          </p:nvSpPr>
          <p:spPr bwMode="auto">
            <a:xfrm>
              <a:off x="1896376" y="3584712"/>
              <a:ext cx="1947648" cy="5854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每段最大长度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200m</a:t>
              </a:r>
            </a:p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每段最多站点数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30</a:t>
              </a:r>
            </a:p>
          </p:txBody>
        </p:sp>
        <p:sp>
          <p:nvSpPr>
            <p:cNvPr id="147" name="Rectangle 87"/>
            <p:cNvSpPr>
              <a:spLocks noChangeArrowheads="1"/>
            </p:cNvSpPr>
            <p:nvPr/>
          </p:nvSpPr>
          <p:spPr bwMode="auto">
            <a:xfrm>
              <a:off x="648601" y="5116777"/>
              <a:ext cx="2495550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两站点间最短距离 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0.5 m</a:t>
              </a:r>
            </a:p>
          </p:txBody>
        </p:sp>
        <p:sp>
          <p:nvSpPr>
            <p:cNvPr id="148" name="Line 88"/>
            <p:cNvSpPr>
              <a:spLocks noChangeShapeType="1"/>
            </p:cNvSpPr>
            <p:nvPr/>
          </p:nvSpPr>
          <p:spPr bwMode="auto">
            <a:xfrm flipH="1">
              <a:off x="4030663" y="4733925"/>
              <a:ext cx="2562225" cy="0"/>
            </a:xfrm>
            <a:prstGeom prst="line">
              <a:avLst/>
            </a:prstGeom>
            <a:noFill/>
            <a:ln w="761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49" name="Rectangle 89"/>
            <p:cNvSpPr>
              <a:spLocks noChangeArrowheads="1"/>
            </p:cNvSpPr>
            <p:nvPr/>
          </p:nvSpPr>
          <p:spPr bwMode="auto">
            <a:xfrm>
              <a:off x="6570663" y="4664075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0" name="Rectangle 90"/>
            <p:cNvSpPr>
              <a:spLocks noChangeArrowheads="1"/>
            </p:cNvSpPr>
            <p:nvPr/>
          </p:nvSpPr>
          <p:spPr bwMode="auto">
            <a:xfrm>
              <a:off x="4003675" y="4668838"/>
              <a:ext cx="117475" cy="123825"/>
            </a:xfrm>
            <a:prstGeom prst="rect">
              <a:avLst/>
            </a:pr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1" name="Rectangle 91"/>
            <p:cNvSpPr>
              <a:spLocks noChangeArrowheads="1"/>
            </p:cNvSpPr>
            <p:nvPr/>
          </p:nvSpPr>
          <p:spPr bwMode="auto">
            <a:xfrm>
              <a:off x="5838825" y="4649788"/>
              <a:ext cx="241300" cy="160337"/>
            </a:xfrm>
            <a:prstGeom prst="rect">
              <a:avLst/>
            </a:prstGeom>
            <a:solidFill>
              <a:schemeClr val="bg1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2" name="Line 92"/>
            <p:cNvSpPr>
              <a:spLocks noChangeShapeType="1"/>
            </p:cNvSpPr>
            <p:nvPr/>
          </p:nvSpPr>
          <p:spPr bwMode="auto">
            <a:xfrm>
              <a:off x="685800" y="5838825"/>
              <a:ext cx="0" cy="257175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3" name="Line 93"/>
            <p:cNvSpPr>
              <a:spLocks noChangeShapeType="1"/>
            </p:cNvSpPr>
            <p:nvPr/>
          </p:nvSpPr>
          <p:spPr bwMode="auto">
            <a:xfrm>
              <a:off x="6629400" y="5791200"/>
              <a:ext cx="0" cy="30480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4" name="Line 94"/>
            <p:cNvSpPr>
              <a:spLocks noChangeShapeType="1"/>
            </p:cNvSpPr>
            <p:nvPr/>
          </p:nvSpPr>
          <p:spPr bwMode="auto">
            <a:xfrm>
              <a:off x="1146175" y="4910138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5" name="Line 95"/>
            <p:cNvSpPr>
              <a:spLocks noChangeShapeType="1"/>
            </p:cNvSpPr>
            <p:nvPr/>
          </p:nvSpPr>
          <p:spPr bwMode="auto">
            <a:xfrm>
              <a:off x="2286000" y="4913313"/>
              <a:ext cx="0" cy="19685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6" name="Line 96"/>
            <p:cNvSpPr>
              <a:spLocks noChangeShapeType="1"/>
            </p:cNvSpPr>
            <p:nvPr/>
          </p:nvSpPr>
          <p:spPr bwMode="auto">
            <a:xfrm>
              <a:off x="1143000" y="5029200"/>
              <a:ext cx="114300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59" name="Line 99"/>
            <p:cNvSpPr>
              <a:spLocks noChangeShapeType="1"/>
            </p:cNvSpPr>
            <p:nvPr/>
          </p:nvSpPr>
          <p:spPr bwMode="auto">
            <a:xfrm flipV="1">
              <a:off x="685799" y="3922644"/>
              <a:ext cx="1210577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0" name="Line 100"/>
            <p:cNvSpPr>
              <a:spLocks noChangeShapeType="1"/>
            </p:cNvSpPr>
            <p:nvPr/>
          </p:nvSpPr>
          <p:spPr bwMode="auto">
            <a:xfrm flipH="1">
              <a:off x="3844024" y="3922644"/>
              <a:ext cx="1261376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1" name="Rectangle 101"/>
            <p:cNvSpPr>
              <a:spLocks noChangeArrowheads="1"/>
            </p:cNvSpPr>
            <p:nvPr/>
          </p:nvSpPr>
          <p:spPr bwMode="auto">
            <a:xfrm>
              <a:off x="2359581" y="5735638"/>
              <a:ext cx="2183290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网络最大跨度  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1000 m </a:t>
              </a:r>
            </a:p>
          </p:txBody>
        </p:sp>
        <p:sp>
          <p:nvSpPr>
            <p:cNvPr id="162" name="Line 102"/>
            <p:cNvSpPr>
              <a:spLocks noChangeShapeType="1"/>
            </p:cNvSpPr>
            <p:nvPr/>
          </p:nvSpPr>
          <p:spPr bwMode="auto">
            <a:xfrm flipV="1">
              <a:off x="5969000" y="4724400"/>
              <a:ext cx="0" cy="304800"/>
            </a:xfrm>
            <a:prstGeom prst="line">
              <a:avLst/>
            </a:prstGeom>
            <a:noFill/>
            <a:ln w="507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63" name="Picture 10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41988" y="5046663"/>
              <a:ext cx="458787" cy="417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4" name="Line 104"/>
            <p:cNvSpPr>
              <a:spLocks noChangeShapeType="1"/>
            </p:cNvSpPr>
            <p:nvPr/>
          </p:nvSpPr>
          <p:spPr bwMode="auto">
            <a:xfrm>
              <a:off x="685800" y="5943600"/>
              <a:ext cx="152400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5" name="Line 105"/>
            <p:cNvSpPr>
              <a:spLocks noChangeShapeType="1"/>
            </p:cNvSpPr>
            <p:nvPr/>
          </p:nvSpPr>
          <p:spPr bwMode="auto">
            <a:xfrm flipH="1">
              <a:off x="4724400" y="5943600"/>
              <a:ext cx="190500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stealth" w="med" len="med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6" name="Freeform 106"/>
            <p:cNvSpPr>
              <a:spLocks/>
            </p:cNvSpPr>
            <p:nvPr/>
          </p:nvSpPr>
          <p:spPr bwMode="auto">
            <a:xfrm>
              <a:off x="1065213" y="4183063"/>
              <a:ext cx="220662" cy="160337"/>
            </a:xfrm>
            <a:custGeom>
              <a:avLst/>
              <a:gdLst>
                <a:gd name="T0" fmla="*/ 0 w 139"/>
                <a:gd name="T1" fmla="*/ 0 h 101"/>
                <a:gd name="T2" fmla="*/ 138 w 139"/>
                <a:gd name="T3" fmla="*/ 0 h 101"/>
                <a:gd name="T4" fmla="*/ 138 w 139"/>
                <a:gd name="T5" fmla="*/ 62 h 101"/>
                <a:gd name="T6" fmla="*/ 97 w 139"/>
                <a:gd name="T7" fmla="*/ 63 h 101"/>
                <a:gd name="T8" fmla="*/ 97 w 139"/>
                <a:gd name="T9" fmla="*/ 99 h 101"/>
                <a:gd name="T10" fmla="*/ 40 w 139"/>
                <a:gd name="T11" fmla="*/ 100 h 101"/>
                <a:gd name="T12" fmla="*/ 40 w 139"/>
                <a:gd name="T13" fmla="*/ 65 h 101"/>
                <a:gd name="T14" fmla="*/ 0 w 139"/>
                <a:gd name="T15" fmla="*/ 63 h 101"/>
                <a:gd name="T16" fmla="*/ 0 w 139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01">
                  <a:moveTo>
                    <a:pt x="0" y="0"/>
                  </a:moveTo>
                  <a:lnTo>
                    <a:pt x="138" y="0"/>
                  </a:lnTo>
                  <a:lnTo>
                    <a:pt x="138" y="62"/>
                  </a:lnTo>
                  <a:lnTo>
                    <a:pt x="97" y="63"/>
                  </a:lnTo>
                  <a:lnTo>
                    <a:pt x="97" y="99"/>
                  </a:lnTo>
                  <a:lnTo>
                    <a:pt x="40" y="100"/>
                  </a:lnTo>
                  <a:lnTo>
                    <a:pt x="40" y="65"/>
                  </a:lnTo>
                  <a:lnTo>
                    <a:pt x="0" y="63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2699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67" name="Picture 107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9963" y="4338638"/>
              <a:ext cx="458787" cy="417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68" name="Freeform 108"/>
            <p:cNvSpPr>
              <a:spLocks/>
            </p:cNvSpPr>
            <p:nvPr/>
          </p:nvSpPr>
          <p:spPr bwMode="auto">
            <a:xfrm>
              <a:off x="2187575" y="4186238"/>
              <a:ext cx="220663" cy="160337"/>
            </a:xfrm>
            <a:custGeom>
              <a:avLst/>
              <a:gdLst>
                <a:gd name="T0" fmla="*/ 0 w 139"/>
                <a:gd name="T1" fmla="*/ 0 h 101"/>
                <a:gd name="T2" fmla="*/ 138 w 139"/>
                <a:gd name="T3" fmla="*/ 0 h 101"/>
                <a:gd name="T4" fmla="*/ 138 w 139"/>
                <a:gd name="T5" fmla="*/ 62 h 101"/>
                <a:gd name="T6" fmla="*/ 97 w 139"/>
                <a:gd name="T7" fmla="*/ 63 h 101"/>
                <a:gd name="T8" fmla="*/ 97 w 139"/>
                <a:gd name="T9" fmla="*/ 99 h 101"/>
                <a:gd name="T10" fmla="*/ 40 w 139"/>
                <a:gd name="T11" fmla="*/ 100 h 101"/>
                <a:gd name="T12" fmla="*/ 40 w 139"/>
                <a:gd name="T13" fmla="*/ 65 h 101"/>
                <a:gd name="T14" fmla="*/ 0 w 139"/>
                <a:gd name="T15" fmla="*/ 63 h 101"/>
                <a:gd name="T16" fmla="*/ 0 w 139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01">
                  <a:moveTo>
                    <a:pt x="0" y="0"/>
                  </a:moveTo>
                  <a:lnTo>
                    <a:pt x="138" y="0"/>
                  </a:lnTo>
                  <a:lnTo>
                    <a:pt x="138" y="62"/>
                  </a:lnTo>
                  <a:lnTo>
                    <a:pt x="97" y="63"/>
                  </a:lnTo>
                  <a:lnTo>
                    <a:pt x="97" y="99"/>
                  </a:lnTo>
                  <a:lnTo>
                    <a:pt x="40" y="100"/>
                  </a:lnTo>
                  <a:lnTo>
                    <a:pt x="40" y="65"/>
                  </a:lnTo>
                  <a:lnTo>
                    <a:pt x="0" y="63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2699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69" name="Picture 109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92325" y="4341813"/>
              <a:ext cx="458788" cy="417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0" name="Freeform 110"/>
            <p:cNvSpPr>
              <a:spLocks/>
            </p:cNvSpPr>
            <p:nvPr/>
          </p:nvSpPr>
          <p:spPr bwMode="auto">
            <a:xfrm>
              <a:off x="3155950" y="4184650"/>
              <a:ext cx="220663" cy="160338"/>
            </a:xfrm>
            <a:custGeom>
              <a:avLst/>
              <a:gdLst>
                <a:gd name="T0" fmla="*/ 0 w 139"/>
                <a:gd name="T1" fmla="*/ 0 h 101"/>
                <a:gd name="T2" fmla="*/ 138 w 139"/>
                <a:gd name="T3" fmla="*/ 0 h 101"/>
                <a:gd name="T4" fmla="*/ 138 w 139"/>
                <a:gd name="T5" fmla="*/ 62 h 101"/>
                <a:gd name="T6" fmla="*/ 97 w 139"/>
                <a:gd name="T7" fmla="*/ 63 h 101"/>
                <a:gd name="T8" fmla="*/ 97 w 139"/>
                <a:gd name="T9" fmla="*/ 99 h 101"/>
                <a:gd name="T10" fmla="*/ 40 w 139"/>
                <a:gd name="T11" fmla="*/ 100 h 101"/>
                <a:gd name="T12" fmla="*/ 40 w 139"/>
                <a:gd name="T13" fmla="*/ 65 h 101"/>
                <a:gd name="T14" fmla="*/ 0 w 139"/>
                <a:gd name="T15" fmla="*/ 63 h 101"/>
                <a:gd name="T16" fmla="*/ 0 w 139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01">
                  <a:moveTo>
                    <a:pt x="0" y="0"/>
                  </a:moveTo>
                  <a:lnTo>
                    <a:pt x="138" y="0"/>
                  </a:lnTo>
                  <a:lnTo>
                    <a:pt x="138" y="62"/>
                  </a:lnTo>
                  <a:lnTo>
                    <a:pt x="97" y="63"/>
                  </a:lnTo>
                  <a:lnTo>
                    <a:pt x="97" y="99"/>
                  </a:lnTo>
                  <a:lnTo>
                    <a:pt x="40" y="100"/>
                  </a:lnTo>
                  <a:lnTo>
                    <a:pt x="40" y="65"/>
                  </a:lnTo>
                  <a:lnTo>
                    <a:pt x="0" y="63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2699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71" name="Picture 111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60700" y="4340225"/>
              <a:ext cx="458788" cy="4175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2" name="Freeform 112"/>
            <p:cNvSpPr>
              <a:spLocks/>
            </p:cNvSpPr>
            <p:nvPr/>
          </p:nvSpPr>
          <p:spPr bwMode="auto">
            <a:xfrm>
              <a:off x="4313238" y="4198938"/>
              <a:ext cx="220662" cy="160337"/>
            </a:xfrm>
            <a:custGeom>
              <a:avLst/>
              <a:gdLst>
                <a:gd name="T0" fmla="*/ 0 w 139"/>
                <a:gd name="T1" fmla="*/ 0 h 101"/>
                <a:gd name="T2" fmla="*/ 138 w 139"/>
                <a:gd name="T3" fmla="*/ 0 h 101"/>
                <a:gd name="T4" fmla="*/ 138 w 139"/>
                <a:gd name="T5" fmla="*/ 62 h 101"/>
                <a:gd name="T6" fmla="*/ 97 w 139"/>
                <a:gd name="T7" fmla="*/ 63 h 101"/>
                <a:gd name="T8" fmla="*/ 97 w 139"/>
                <a:gd name="T9" fmla="*/ 99 h 101"/>
                <a:gd name="T10" fmla="*/ 40 w 139"/>
                <a:gd name="T11" fmla="*/ 100 h 101"/>
                <a:gd name="T12" fmla="*/ 40 w 139"/>
                <a:gd name="T13" fmla="*/ 65 h 101"/>
                <a:gd name="T14" fmla="*/ 0 w 139"/>
                <a:gd name="T15" fmla="*/ 63 h 101"/>
                <a:gd name="T16" fmla="*/ 0 w 139"/>
                <a:gd name="T17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01">
                  <a:moveTo>
                    <a:pt x="0" y="0"/>
                  </a:moveTo>
                  <a:lnTo>
                    <a:pt x="138" y="0"/>
                  </a:lnTo>
                  <a:lnTo>
                    <a:pt x="138" y="62"/>
                  </a:lnTo>
                  <a:lnTo>
                    <a:pt x="97" y="63"/>
                  </a:lnTo>
                  <a:lnTo>
                    <a:pt x="97" y="99"/>
                  </a:lnTo>
                  <a:lnTo>
                    <a:pt x="40" y="100"/>
                  </a:lnTo>
                  <a:lnTo>
                    <a:pt x="40" y="65"/>
                  </a:lnTo>
                  <a:lnTo>
                    <a:pt x="0" y="63"/>
                  </a:lnTo>
                  <a:lnTo>
                    <a:pt x="0" y="0"/>
                  </a:lnTo>
                </a:path>
              </a:pathLst>
            </a:custGeom>
            <a:solidFill>
              <a:schemeClr val="bg1"/>
            </a:solidFill>
            <a:ln w="12699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3" name="Freeform 113"/>
            <p:cNvSpPr>
              <a:spLocks/>
            </p:cNvSpPr>
            <p:nvPr/>
          </p:nvSpPr>
          <p:spPr bwMode="auto">
            <a:xfrm>
              <a:off x="4351338" y="4567238"/>
              <a:ext cx="220662" cy="258762"/>
            </a:xfrm>
            <a:custGeom>
              <a:avLst/>
              <a:gdLst>
                <a:gd name="T0" fmla="*/ 0 w 139"/>
                <a:gd name="T1" fmla="*/ 100 h 101"/>
                <a:gd name="T2" fmla="*/ 138 w 139"/>
                <a:gd name="T3" fmla="*/ 100 h 101"/>
                <a:gd name="T4" fmla="*/ 138 w 139"/>
                <a:gd name="T5" fmla="*/ 38 h 101"/>
                <a:gd name="T6" fmla="*/ 97 w 139"/>
                <a:gd name="T7" fmla="*/ 37 h 101"/>
                <a:gd name="T8" fmla="*/ 97 w 139"/>
                <a:gd name="T9" fmla="*/ 1 h 101"/>
                <a:gd name="T10" fmla="*/ 40 w 139"/>
                <a:gd name="T11" fmla="*/ 0 h 101"/>
                <a:gd name="T12" fmla="*/ 40 w 139"/>
                <a:gd name="T13" fmla="*/ 35 h 101"/>
                <a:gd name="T14" fmla="*/ 0 w 139"/>
                <a:gd name="T15" fmla="*/ 37 h 101"/>
                <a:gd name="T16" fmla="*/ 0 w 139"/>
                <a:gd name="T17" fmla="*/ 10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9" h="101">
                  <a:moveTo>
                    <a:pt x="0" y="100"/>
                  </a:moveTo>
                  <a:lnTo>
                    <a:pt x="138" y="100"/>
                  </a:lnTo>
                  <a:lnTo>
                    <a:pt x="138" y="38"/>
                  </a:lnTo>
                  <a:lnTo>
                    <a:pt x="97" y="37"/>
                  </a:lnTo>
                  <a:lnTo>
                    <a:pt x="97" y="1"/>
                  </a:lnTo>
                  <a:lnTo>
                    <a:pt x="40" y="0"/>
                  </a:lnTo>
                  <a:lnTo>
                    <a:pt x="40" y="35"/>
                  </a:lnTo>
                  <a:lnTo>
                    <a:pt x="0" y="37"/>
                  </a:lnTo>
                  <a:lnTo>
                    <a:pt x="0" y="100"/>
                  </a:lnTo>
                </a:path>
              </a:pathLst>
            </a:custGeom>
            <a:solidFill>
              <a:schemeClr val="bg1"/>
            </a:solidFill>
            <a:ln w="12699" cap="rnd" cmpd="sng">
              <a:solidFill>
                <a:schemeClr val="tx1"/>
              </a:solidFill>
              <a:prstDash val="solid"/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174" name="Picture 114"/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9238" y="4375150"/>
              <a:ext cx="936625" cy="2206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75" name="Oval 115"/>
            <p:cNvSpPr>
              <a:spLocks noChangeArrowheads="1"/>
            </p:cNvSpPr>
            <p:nvPr/>
          </p:nvSpPr>
          <p:spPr bwMode="auto">
            <a:xfrm>
              <a:off x="5537200" y="4495800"/>
              <a:ext cx="762000" cy="685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6" name="Rectangle 116"/>
            <p:cNvSpPr>
              <a:spLocks noChangeArrowheads="1"/>
            </p:cNvSpPr>
            <p:nvPr/>
          </p:nvSpPr>
          <p:spPr bwMode="auto">
            <a:xfrm>
              <a:off x="4103211" y="5320242"/>
              <a:ext cx="1362552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最多</a:t>
              </a:r>
              <a:r>
                <a:rPr kumimoji="1" lang="en-US" altLang="zh-CN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5</a:t>
              </a:r>
              <a:r>
                <a:rPr kumimoji="1" lang="zh-CN" altLang="en-US" sz="1600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个网段 </a:t>
              </a:r>
            </a:p>
          </p:txBody>
        </p:sp>
        <p:sp>
          <p:nvSpPr>
            <p:cNvPr id="177" name="Line 117"/>
            <p:cNvSpPr>
              <a:spLocks noChangeShapeType="1"/>
            </p:cNvSpPr>
            <p:nvPr/>
          </p:nvSpPr>
          <p:spPr bwMode="auto">
            <a:xfrm flipV="1">
              <a:off x="4995863" y="4863480"/>
              <a:ext cx="223838" cy="45676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60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5969000" y="851159"/>
            <a:ext cx="3114341" cy="2892782"/>
            <a:chOff x="5015814" y="866086"/>
            <a:chExt cx="3114341" cy="2892782"/>
          </a:xfrm>
        </p:grpSpPr>
        <p:sp>
          <p:nvSpPr>
            <p:cNvPr id="409" name="AutoShape 2"/>
            <p:cNvSpPr>
              <a:spLocks noChangeArrowheads="1"/>
            </p:cNvSpPr>
            <p:nvPr/>
          </p:nvSpPr>
          <p:spPr bwMode="auto">
            <a:xfrm>
              <a:off x="5015814" y="866086"/>
              <a:ext cx="3114341" cy="2892782"/>
            </a:xfrm>
            <a:prstGeom prst="wedgeEllipseCallout">
              <a:avLst>
                <a:gd name="adj1" fmla="val -50160"/>
                <a:gd name="adj2" fmla="val 72604"/>
              </a:avLst>
            </a:prstGeom>
            <a:solidFill>
              <a:srgbClr val="0066FF"/>
            </a:solidFill>
            <a:ln w="9525">
              <a:solidFill>
                <a:srgbClr val="FF99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kumimoji="1" lang="zh-CN" altLang="zh-CN" sz="1400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410" name="Rectangle 5"/>
            <p:cNvSpPr>
              <a:spLocks noChangeArrowheads="1"/>
            </p:cNvSpPr>
            <p:nvPr/>
          </p:nvSpPr>
          <p:spPr bwMode="auto">
            <a:xfrm>
              <a:off x="5825500" y="1150939"/>
              <a:ext cx="596317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600" dirty="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细缆</a:t>
              </a:r>
            </a:p>
          </p:txBody>
        </p:sp>
        <p:sp>
          <p:nvSpPr>
            <p:cNvPr id="411" name="Rectangle 6"/>
            <p:cNvSpPr>
              <a:spLocks noChangeArrowheads="1"/>
            </p:cNvSpPr>
            <p:nvPr/>
          </p:nvSpPr>
          <p:spPr bwMode="auto">
            <a:xfrm>
              <a:off x="7086600" y="2032000"/>
              <a:ext cx="1043555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BNC  </a:t>
              </a:r>
              <a:r>
                <a:rPr kumimoji="1" lang="zh-CN" altLang="en-US" sz="160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接头</a:t>
              </a:r>
            </a:p>
          </p:txBody>
        </p:sp>
        <p:sp>
          <p:nvSpPr>
            <p:cNvPr id="412" name="Rectangle 7"/>
            <p:cNvSpPr>
              <a:spLocks noChangeArrowheads="1"/>
            </p:cNvSpPr>
            <p:nvPr/>
          </p:nvSpPr>
          <p:spPr bwMode="auto">
            <a:xfrm>
              <a:off x="7491413" y="2605088"/>
              <a:ext cx="479298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FF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600">
                  <a:solidFill>
                    <a:schemeClr val="bg1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NIC</a:t>
              </a:r>
            </a:p>
          </p:txBody>
        </p:sp>
        <p:sp>
          <p:nvSpPr>
            <p:cNvPr id="413" name="Line 8"/>
            <p:cNvSpPr>
              <a:spLocks noChangeShapeType="1"/>
            </p:cNvSpPr>
            <p:nvPr/>
          </p:nvSpPr>
          <p:spPr bwMode="auto">
            <a:xfrm flipH="1">
              <a:off x="5520700" y="1355943"/>
              <a:ext cx="347662" cy="151295"/>
            </a:xfrm>
            <a:prstGeom prst="line">
              <a:avLst/>
            </a:prstGeom>
            <a:noFill/>
            <a:ln w="12699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4" name="Line 9"/>
            <p:cNvSpPr>
              <a:spLocks noChangeShapeType="1"/>
            </p:cNvSpPr>
            <p:nvPr/>
          </p:nvSpPr>
          <p:spPr bwMode="auto">
            <a:xfrm flipH="1" flipV="1">
              <a:off x="6946900" y="1897063"/>
              <a:ext cx="519113" cy="184150"/>
            </a:xfrm>
            <a:prstGeom prst="line">
              <a:avLst/>
            </a:prstGeom>
            <a:noFill/>
            <a:ln w="12699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5" name="Line 10"/>
            <p:cNvSpPr>
              <a:spLocks noChangeShapeType="1"/>
            </p:cNvSpPr>
            <p:nvPr/>
          </p:nvSpPr>
          <p:spPr bwMode="auto">
            <a:xfrm flipH="1">
              <a:off x="6980238" y="2803525"/>
              <a:ext cx="474662" cy="314325"/>
            </a:xfrm>
            <a:prstGeom prst="line">
              <a:avLst/>
            </a:prstGeom>
            <a:noFill/>
            <a:ln w="12699">
              <a:solidFill>
                <a:srgbClr val="FFFFFF"/>
              </a:solidFill>
              <a:round/>
              <a:headEnd type="none" w="sm" len="sm"/>
              <a:tailEnd type="stealth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6" name="Rectangle 11"/>
            <p:cNvSpPr>
              <a:spLocks noChangeArrowheads="1"/>
            </p:cNvSpPr>
            <p:nvPr/>
          </p:nvSpPr>
          <p:spPr bwMode="auto">
            <a:xfrm>
              <a:off x="5372100" y="1598613"/>
              <a:ext cx="2554288" cy="158750"/>
            </a:xfrm>
            <a:prstGeom prst="rect">
              <a:avLst/>
            </a:prstGeom>
            <a:gradFill rotWithShape="0">
              <a:gsLst>
                <a:gs pos="0">
                  <a:srgbClr val="808080">
                    <a:gamma/>
                    <a:shade val="69804"/>
                    <a:invGamma/>
                  </a:srgbClr>
                </a:gs>
                <a:gs pos="50000">
                  <a:srgbClr val="808080"/>
                </a:gs>
                <a:gs pos="100000">
                  <a:srgbClr val="808080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12699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grpSp>
          <p:nvGrpSpPr>
            <p:cNvPr id="417" name="Group 12"/>
            <p:cNvGrpSpPr>
              <a:grpSpLocks/>
            </p:cNvGrpSpPr>
            <p:nvPr/>
          </p:nvGrpSpPr>
          <p:grpSpPr bwMode="auto">
            <a:xfrm>
              <a:off x="6038850" y="2033588"/>
              <a:ext cx="877888" cy="1323975"/>
              <a:chOff x="3532" y="1642"/>
              <a:chExt cx="391" cy="667"/>
            </a:xfrm>
          </p:grpSpPr>
          <p:sp>
            <p:nvSpPr>
              <p:cNvPr id="418" name="Freeform 13"/>
              <p:cNvSpPr>
                <a:spLocks/>
              </p:cNvSpPr>
              <p:nvPr/>
            </p:nvSpPr>
            <p:spPr bwMode="auto">
              <a:xfrm>
                <a:off x="3553" y="1808"/>
                <a:ext cx="48" cy="347"/>
              </a:xfrm>
              <a:custGeom>
                <a:avLst/>
                <a:gdLst>
                  <a:gd name="T0" fmla="*/ 47 w 48"/>
                  <a:gd name="T1" fmla="*/ 346 h 347"/>
                  <a:gd name="T2" fmla="*/ 47 w 48"/>
                  <a:gd name="T3" fmla="*/ 0 h 347"/>
                  <a:gd name="T4" fmla="*/ 0 w 48"/>
                  <a:gd name="T5" fmla="*/ 0 h 347"/>
                  <a:gd name="T6" fmla="*/ 0 w 48"/>
                  <a:gd name="T7" fmla="*/ 346 h 347"/>
                  <a:gd name="T8" fmla="*/ 47 w 48"/>
                  <a:gd name="T9" fmla="*/ 346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347">
                    <a:moveTo>
                      <a:pt x="47" y="346"/>
                    </a:moveTo>
                    <a:lnTo>
                      <a:pt x="47" y="0"/>
                    </a:lnTo>
                    <a:lnTo>
                      <a:pt x="0" y="0"/>
                    </a:lnTo>
                    <a:lnTo>
                      <a:pt x="0" y="346"/>
                    </a:lnTo>
                    <a:lnTo>
                      <a:pt x="47" y="346"/>
                    </a:lnTo>
                  </a:path>
                </a:pathLst>
              </a:custGeom>
              <a:solidFill>
                <a:srgbClr val="FF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 cap="rnd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419" name="Group 14"/>
              <p:cNvGrpSpPr>
                <a:grpSpLocks/>
              </p:cNvGrpSpPr>
              <p:nvPr/>
            </p:nvGrpSpPr>
            <p:grpSpPr bwMode="auto">
              <a:xfrm>
                <a:off x="3560" y="1837"/>
                <a:ext cx="34" cy="305"/>
                <a:chOff x="3560" y="1837"/>
                <a:chExt cx="34" cy="305"/>
              </a:xfrm>
            </p:grpSpPr>
            <p:sp>
              <p:nvSpPr>
                <p:cNvPr id="461" name="Line 15"/>
                <p:cNvSpPr>
                  <a:spLocks noChangeShapeType="1"/>
                </p:cNvSpPr>
                <p:nvPr/>
              </p:nvSpPr>
              <p:spPr bwMode="auto">
                <a:xfrm flipH="1">
                  <a:off x="3560" y="2142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2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560" y="2121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3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3560" y="2101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4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3560" y="208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5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3560" y="206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6" name="Line 20"/>
                <p:cNvSpPr>
                  <a:spLocks noChangeShapeType="1"/>
                </p:cNvSpPr>
                <p:nvPr/>
              </p:nvSpPr>
              <p:spPr bwMode="auto">
                <a:xfrm flipH="1">
                  <a:off x="3560" y="204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7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3560" y="202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8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3560" y="200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9" name="Line 23"/>
                <p:cNvSpPr>
                  <a:spLocks noChangeShapeType="1"/>
                </p:cNvSpPr>
                <p:nvPr/>
              </p:nvSpPr>
              <p:spPr bwMode="auto">
                <a:xfrm flipH="1">
                  <a:off x="3560" y="198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0" name="Line 24"/>
                <p:cNvSpPr>
                  <a:spLocks noChangeShapeType="1"/>
                </p:cNvSpPr>
                <p:nvPr/>
              </p:nvSpPr>
              <p:spPr bwMode="auto">
                <a:xfrm flipH="1">
                  <a:off x="3560" y="1959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1" name="Line 25"/>
                <p:cNvSpPr>
                  <a:spLocks noChangeShapeType="1"/>
                </p:cNvSpPr>
                <p:nvPr/>
              </p:nvSpPr>
              <p:spPr bwMode="auto">
                <a:xfrm flipH="1">
                  <a:off x="3560" y="1937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2" name="Line 26"/>
                <p:cNvSpPr>
                  <a:spLocks noChangeShapeType="1"/>
                </p:cNvSpPr>
                <p:nvPr/>
              </p:nvSpPr>
              <p:spPr bwMode="auto">
                <a:xfrm flipH="1">
                  <a:off x="3560" y="191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3" name="Line 27"/>
                <p:cNvSpPr>
                  <a:spLocks noChangeShapeType="1"/>
                </p:cNvSpPr>
                <p:nvPr/>
              </p:nvSpPr>
              <p:spPr bwMode="auto">
                <a:xfrm flipH="1">
                  <a:off x="3560" y="189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4" name="Line 28"/>
                <p:cNvSpPr>
                  <a:spLocks noChangeShapeType="1"/>
                </p:cNvSpPr>
                <p:nvPr/>
              </p:nvSpPr>
              <p:spPr bwMode="auto">
                <a:xfrm flipH="1">
                  <a:off x="3560" y="187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5" name="Line 29"/>
                <p:cNvSpPr>
                  <a:spLocks noChangeShapeType="1"/>
                </p:cNvSpPr>
                <p:nvPr/>
              </p:nvSpPr>
              <p:spPr bwMode="auto">
                <a:xfrm flipH="1">
                  <a:off x="3560" y="1856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76" name="Line 30"/>
                <p:cNvSpPr>
                  <a:spLocks noChangeShapeType="1"/>
                </p:cNvSpPr>
                <p:nvPr/>
              </p:nvSpPr>
              <p:spPr bwMode="auto">
                <a:xfrm flipH="1">
                  <a:off x="3560" y="1837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rgbClr val="CC9933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sp>
            <p:nvSpPr>
              <p:cNvPr id="420" name="Rectangle 31"/>
              <p:cNvSpPr>
                <a:spLocks noChangeArrowheads="1"/>
              </p:cNvSpPr>
              <p:nvPr/>
            </p:nvSpPr>
            <p:spPr bwMode="auto">
              <a:xfrm>
                <a:off x="3597" y="1710"/>
                <a:ext cx="326" cy="599"/>
              </a:xfrm>
              <a:prstGeom prst="rect">
                <a:avLst/>
              </a:prstGeom>
              <a:solidFill>
                <a:srgbClr val="ADD6A5"/>
              </a:solidFill>
              <a:ln w="12699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421" name="Freeform 32"/>
              <p:cNvSpPr>
                <a:spLocks/>
              </p:cNvSpPr>
              <p:nvPr/>
            </p:nvSpPr>
            <p:spPr bwMode="auto">
              <a:xfrm>
                <a:off x="3532" y="1660"/>
                <a:ext cx="381" cy="40"/>
              </a:xfrm>
              <a:custGeom>
                <a:avLst/>
                <a:gdLst>
                  <a:gd name="T0" fmla="*/ 380 w 381"/>
                  <a:gd name="T1" fmla="*/ 0 h 40"/>
                  <a:gd name="T2" fmla="*/ 380 w 381"/>
                  <a:gd name="T3" fmla="*/ 39 h 40"/>
                  <a:gd name="T4" fmla="*/ 0 w 381"/>
                  <a:gd name="T5" fmla="*/ 39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1" h="40">
                    <a:moveTo>
                      <a:pt x="380" y="0"/>
                    </a:moveTo>
                    <a:lnTo>
                      <a:pt x="380" y="39"/>
                    </a:lnTo>
                    <a:lnTo>
                      <a:pt x="0" y="39"/>
                    </a:lnTo>
                  </a:path>
                </a:pathLst>
              </a:custGeom>
              <a:noFill/>
              <a:ln w="25399" cap="rnd" cmpd="sng">
                <a:solidFill>
                  <a:srgbClr val="E9E7D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endParaRPr>
              </a:p>
            </p:txBody>
          </p:sp>
          <p:grpSp>
            <p:nvGrpSpPr>
              <p:cNvPr id="422" name="Group 33"/>
              <p:cNvGrpSpPr>
                <a:grpSpLocks/>
              </p:cNvGrpSpPr>
              <p:nvPr/>
            </p:nvGrpSpPr>
            <p:grpSpPr bwMode="auto">
              <a:xfrm>
                <a:off x="3798" y="1642"/>
                <a:ext cx="42" cy="49"/>
                <a:chOff x="3798" y="1642"/>
                <a:chExt cx="42" cy="49"/>
              </a:xfrm>
            </p:grpSpPr>
            <p:sp>
              <p:nvSpPr>
                <p:cNvPr id="459" name="Freeform 34"/>
                <p:cNvSpPr>
                  <a:spLocks/>
                </p:cNvSpPr>
                <p:nvPr/>
              </p:nvSpPr>
              <p:spPr bwMode="auto">
                <a:xfrm>
                  <a:off x="3802" y="1642"/>
                  <a:ext cx="28" cy="36"/>
                </a:xfrm>
                <a:custGeom>
                  <a:avLst/>
                  <a:gdLst>
                    <a:gd name="T0" fmla="*/ 27 w 28"/>
                    <a:gd name="T1" fmla="*/ 35 h 36"/>
                    <a:gd name="T2" fmla="*/ 27 w 28"/>
                    <a:gd name="T3" fmla="*/ 0 h 36"/>
                    <a:gd name="T4" fmla="*/ 0 w 28"/>
                    <a:gd name="T5" fmla="*/ 0 h 36"/>
                    <a:gd name="T6" fmla="*/ 0 w 28"/>
                    <a:gd name="T7" fmla="*/ 35 h 36"/>
                    <a:gd name="T8" fmla="*/ 27 w 28"/>
                    <a:gd name="T9" fmla="*/ 35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36">
                      <a:moveTo>
                        <a:pt x="27" y="35"/>
                      </a:moveTo>
                      <a:lnTo>
                        <a:pt x="27" y="0"/>
                      </a:lnTo>
                      <a:lnTo>
                        <a:pt x="0" y="0"/>
                      </a:lnTo>
                      <a:lnTo>
                        <a:pt x="0" y="35"/>
                      </a:lnTo>
                      <a:lnTo>
                        <a:pt x="27" y="35"/>
                      </a:lnTo>
                    </a:path>
                  </a:pathLst>
                </a:custGeom>
                <a:solidFill>
                  <a:srgbClr val="E9E7D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60" name="Freeform 35"/>
                <p:cNvSpPr>
                  <a:spLocks/>
                </p:cNvSpPr>
                <p:nvPr/>
              </p:nvSpPr>
              <p:spPr bwMode="auto">
                <a:xfrm>
                  <a:off x="3798" y="1666"/>
                  <a:ext cx="42" cy="25"/>
                </a:xfrm>
                <a:custGeom>
                  <a:avLst/>
                  <a:gdLst>
                    <a:gd name="T0" fmla="*/ 41 w 42"/>
                    <a:gd name="T1" fmla="*/ 24 h 25"/>
                    <a:gd name="T2" fmla="*/ 41 w 42"/>
                    <a:gd name="T3" fmla="*/ 0 h 25"/>
                    <a:gd name="T4" fmla="*/ 0 w 42"/>
                    <a:gd name="T5" fmla="*/ 0 h 25"/>
                    <a:gd name="T6" fmla="*/ 0 w 42"/>
                    <a:gd name="T7" fmla="*/ 24 h 25"/>
                    <a:gd name="T8" fmla="*/ 41 w 42"/>
                    <a:gd name="T9" fmla="*/ 24 h 2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25">
                      <a:moveTo>
                        <a:pt x="41" y="24"/>
                      </a:moveTo>
                      <a:lnTo>
                        <a:pt x="41" y="0"/>
                      </a:lnTo>
                      <a:lnTo>
                        <a:pt x="0" y="0"/>
                      </a:lnTo>
                      <a:lnTo>
                        <a:pt x="0" y="24"/>
                      </a:lnTo>
                      <a:lnTo>
                        <a:pt x="41" y="24"/>
                      </a:lnTo>
                    </a:path>
                  </a:pathLst>
                </a:custGeom>
                <a:solidFill>
                  <a:srgbClr val="52493E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3" name="Group 36"/>
              <p:cNvGrpSpPr>
                <a:grpSpLocks/>
              </p:cNvGrpSpPr>
              <p:nvPr/>
            </p:nvGrpSpPr>
            <p:grpSpPr bwMode="auto">
              <a:xfrm>
                <a:off x="3731" y="2040"/>
                <a:ext cx="98" cy="99"/>
                <a:chOff x="3731" y="2040"/>
                <a:chExt cx="98" cy="99"/>
              </a:xfrm>
            </p:grpSpPr>
            <p:sp>
              <p:nvSpPr>
                <p:cNvPr id="457" name="Freeform 37"/>
                <p:cNvSpPr>
                  <a:spLocks/>
                </p:cNvSpPr>
                <p:nvPr/>
              </p:nvSpPr>
              <p:spPr bwMode="auto">
                <a:xfrm>
                  <a:off x="3731" y="2040"/>
                  <a:ext cx="92" cy="96"/>
                </a:xfrm>
                <a:custGeom>
                  <a:avLst/>
                  <a:gdLst>
                    <a:gd name="T0" fmla="*/ 91 w 92"/>
                    <a:gd name="T1" fmla="*/ 95 h 96"/>
                    <a:gd name="T2" fmla="*/ 91 w 92"/>
                    <a:gd name="T3" fmla="*/ 0 h 96"/>
                    <a:gd name="T4" fmla="*/ 0 w 92"/>
                    <a:gd name="T5" fmla="*/ 0 h 96"/>
                    <a:gd name="T6" fmla="*/ 0 w 92"/>
                    <a:gd name="T7" fmla="*/ 95 h 96"/>
                    <a:gd name="T8" fmla="*/ 91 w 92"/>
                    <a:gd name="T9" fmla="*/ 95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6">
                      <a:moveTo>
                        <a:pt x="91" y="95"/>
                      </a:moveTo>
                      <a:lnTo>
                        <a:pt x="91" y="0"/>
                      </a:lnTo>
                      <a:lnTo>
                        <a:pt x="0" y="0"/>
                      </a:lnTo>
                      <a:lnTo>
                        <a:pt x="0" y="95"/>
                      </a:lnTo>
                      <a:lnTo>
                        <a:pt x="91" y="95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8" name="Freeform 38"/>
                <p:cNvSpPr>
                  <a:spLocks/>
                </p:cNvSpPr>
                <p:nvPr/>
              </p:nvSpPr>
              <p:spPr bwMode="auto">
                <a:xfrm>
                  <a:off x="3737" y="2044"/>
                  <a:ext cx="92" cy="95"/>
                </a:xfrm>
                <a:custGeom>
                  <a:avLst/>
                  <a:gdLst>
                    <a:gd name="T0" fmla="*/ 91 w 92"/>
                    <a:gd name="T1" fmla="*/ 94 h 95"/>
                    <a:gd name="T2" fmla="*/ 91 w 92"/>
                    <a:gd name="T3" fmla="*/ 0 h 95"/>
                    <a:gd name="T4" fmla="*/ 0 w 92"/>
                    <a:gd name="T5" fmla="*/ 0 h 95"/>
                    <a:gd name="T6" fmla="*/ 0 w 92"/>
                    <a:gd name="T7" fmla="*/ 94 h 95"/>
                    <a:gd name="T8" fmla="*/ 91 w 92"/>
                    <a:gd name="T9" fmla="*/ 94 h 9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95">
                      <a:moveTo>
                        <a:pt x="91" y="94"/>
                      </a:moveTo>
                      <a:lnTo>
                        <a:pt x="91" y="0"/>
                      </a:lnTo>
                      <a:lnTo>
                        <a:pt x="0" y="0"/>
                      </a:lnTo>
                      <a:lnTo>
                        <a:pt x="0" y="94"/>
                      </a:lnTo>
                      <a:lnTo>
                        <a:pt x="91" y="94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4" name="Group 39"/>
              <p:cNvGrpSpPr>
                <a:grpSpLocks/>
              </p:cNvGrpSpPr>
              <p:nvPr/>
            </p:nvGrpSpPr>
            <p:grpSpPr bwMode="auto">
              <a:xfrm>
                <a:off x="3611" y="1865"/>
                <a:ext cx="127" cy="126"/>
                <a:chOff x="3611" y="1865"/>
                <a:chExt cx="127" cy="126"/>
              </a:xfrm>
            </p:grpSpPr>
            <p:sp>
              <p:nvSpPr>
                <p:cNvPr id="455" name="Freeform 40"/>
                <p:cNvSpPr>
                  <a:spLocks/>
                </p:cNvSpPr>
                <p:nvPr/>
              </p:nvSpPr>
              <p:spPr bwMode="auto">
                <a:xfrm>
                  <a:off x="3611" y="1865"/>
                  <a:ext cx="122" cy="122"/>
                </a:xfrm>
                <a:custGeom>
                  <a:avLst/>
                  <a:gdLst>
                    <a:gd name="T0" fmla="*/ 121 w 122"/>
                    <a:gd name="T1" fmla="*/ 121 h 122"/>
                    <a:gd name="T2" fmla="*/ 121 w 122"/>
                    <a:gd name="T3" fmla="*/ 0 h 122"/>
                    <a:gd name="T4" fmla="*/ 0 w 122"/>
                    <a:gd name="T5" fmla="*/ 0 h 122"/>
                    <a:gd name="T6" fmla="*/ 0 w 122"/>
                    <a:gd name="T7" fmla="*/ 121 h 122"/>
                    <a:gd name="T8" fmla="*/ 121 w 122"/>
                    <a:gd name="T9" fmla="*/ 121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122">
                      <a:moveTo>
                        <a:pt x="121" y="121"/>
                      </a:moveTo>
                      <a:lnTo>
                        <a:pt x="121" y="0"/>
                      </a:lnTo>
                      <a:lnTo>
                        <a:pt x="0" y="0"/>
                      </a:lnTo>
                      <a:lnTo>
                        <a:pt x="0" y="121"/>
                      </a:lnTo>
                      <a:lnTo>
                        <a:pt x="121" y="12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6" name="Freeform 41"/>
                <p:cNvSpPr>
                  <a:spLocks/>
                </p:cNvSpPr>
                <p:nvPr/>
              </p:nvSpPr>
              <p:spPr bwMode="auto">
                <a:xfrm>
                  <a:off x="3615" y="1869"/>
                  <a:ext cx="123" cy="122"/>
                </a:xfrm>
                <a:custGeom>
                  <a:avLst/>
                  <a:gdLst>
                    <a:gd name="T0" fmla="*/ 122 w 123"/>
                    <a:gd name="T1" fmla="*/ 121 h 122"/>
                    <a:gd name="T2" fmla="*/ 122 w 123"/>
                    <a:gd name="T3" fmla="*/ 0 h 122"/>
                    <a:gd name="T4" fmla="*/ 0 w 123"/>
                    <a:gd name="T5" fmla="*/ 0 h 122"/>
                    <a:gd name="T6" fmla="*/ 0 w 123"/>
                    <a:gd name="T7" fmla="*/ 121 h 122"/>
                    <a:gd name="T8" fmla="*/ 122 w 123"/>
                    <a:gd name="T9" fmla="*/ 121 h 1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3" h="122">
                      <a:moveTo>
                        <a:pt x="122" y="121"/>
                      </a:moveTo>
                      <a:lnTo>
                        <a:pt x="122" y="0"/>
                      </a:lnTo>
                      <a:lnTo>
                        <a:pt x="0" y="0"/>
                      </a:lnTo>
                      <a:lnTo>
                        <a:pt x="0" y="121"/>
                      </a:lnTo>
                      <a:lnTo>
                        <a:pt x="122" y="121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5" name="Group 42"/>
              <p:cNvGrpSpPr>
                <a:grpSpLocks/>
              </p:cNvGrpSpPr>
              <p:nvPr/>
            </p:nvGrpSpPr>
            <p:grpSpPr bwMode="auto">
              <a:xfrm>
                <a:off x="3678" y="2263"/>
                <a:ext cx="151" cy="31"/>
                <a:chOff x="3678" y="2263"/>
                <a:chExt cx="151" cy="31"/>
              </a:xfrm>
            </p:grpSpPr>
            <p:sp>
              <p:nvSpPr>
                <p:cNvPr id="453" name="Freeform 43"/>
                <p:cNvSpPr>
                  <a:spLocks/>
                </p:cNvSpPr>
                <p:nvPr/>
              </p:nvSpPr>
              <p:spPr bwMode="auto">
                <a:xfrm>
                  <a:off x="3678" y="2263"/>
                  <a:ext cx="145" cy="27"/>
                </a:xfrm>
                <a:custGeom>
                  <a:avLst/>
                  <a:gdLst>
                    <a:gd name="T0" fmla="*/ 144 w 145"/>
                    <a:gd name="T1" fmla="*/ 26 h 27"/>
                    <a:gd name="T2" fmla="*/ 144 w 145"/>
                    <a:gd name="T3" fmla="*/ 0 h 27"/>
                    <a:gd name="T4" fmla="*/ 0 w 145"/>
                    <a:gd name="T5" fmla="*/ 0 h 27"/>
                    <a:gd name="T6" fmla="*/ 0 w 145"/>
                    <a:gd name="T7" fmla="*/ 26 h 27"/>
                    <a:gd name="T8" fmla="*/ 144 w 145"/>
                    <a:gd name="T9" fmla="*/ 26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7">
                      <a:moveTo>
                        <a:pt x="144" y="26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144" y="26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4" name="Freeform 44"/>
                <p:cNvSpPr>
                  <a:spLocks/>
                </p:cNvSpPr>
                <p:nvPr/>
              </p:nvSpPr>
              <p:spPr bwMode="auto">
                <a:xfrm>
                  <a:off x="3684" y="2266"/>
                  <a:ext cx="145" cy="28"/>
                </a:xfrm>
                <a:custGeom>
                  <a:avLst/>
                  <a:gdLst>
                    <a:gd name="T0" fmla="*/ 144 w 145"/>
                    <a:gd name="T1" fmla="*/ 27 h 28"/>
                    <a:gd name="T2" fmla="*/ 144 w 145"/>
                    <a:gd name="T3" fmla="*/ 0 h 28"/>
                    <a:gd name="T4" fmla="*/ 0 w 145"/>
                    <a:gd name="T5" fmla="*/ 0 h 28"/>
                    <a:gd name="T6" fmla="*/ 0 w 145"/>
                    <a:gd name="T7" fmla="*/ 27 h 28"/>
                    <a:gd name="T8" fmla="*/ 144 w 145"/>
                    <a:gd name="T9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8">
                      <a:moveTo>
                        <a:pt x="144" y="27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144" y="27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6" name="Group 45"/>
              <p:cNvGrpSpPr>
                <a:grpSpLocks/>
              </p:cNvGrpSpPr>
              <p:nvPr/>
            </p:nvGrpSpPr>
            <p:grpSpPr bwMode="auto">
              <a:xfrm>
                <a:off x="3629" y="2234"/>
                <a:ext cx="37" cy="45"/>
                <a:chOff x="3629" y="2234"/>
                <a:chExt cx="37" cy="45"/>
              </a:xfrm>
            </p:grpSpPr>
            <p:sp>
              <p:nvSpPr>
                <p:cNvPr id="451" name="Freeform 46"/>
                <p:cNvSpPr>
                  <a:spLocks/>
                </p:cNvSpPr>
                <p:nvPr/>
              </p:nvSpPr>
              <p:spPr bwMode="auto">
                <a:xfrm>
                  <a:off x="3629" y="2234"/>
                  <a:ext cx="31" cy="41"/>
                </a:xfrm>
                <a:custGeom>
                  <a:avLst/>
                  <a:gdLst>
                    <a:gd name="T0" fmla="*/ 30 w 31"/>
                    <a:gd name="T1" fmla="*/ 40 h 41"/>
                    <a:gd name="T2" fmla="*/ 30 w 31"/>
                    <a:gd name="T3" fmla="*/ 0 h 41"/>
                    <a:gd name="T4" fmla="*/ 0 w 31"/>
                    <a:gd name="T5" fmla="*/ 0 h 41"/>
                    <a:gd name="T6" fmla="*/ 0 w 31"/>
                    <a:gd name="T7" fmla="*/ 40 h 41"/>
                    <a:gd name="T8" fmla="*/ 30 w 31"/>
                    <a:gd name="T9" fmla="*/ 40 h 4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41">
                      <a:moveTo>
                        <a:pt x="30" y="40"/>
                      </a:moveTo>
                      <a:lnTo>
                        <a:pt x="30" y="0"/>
                      </a:lnTo>
                      <a:lnTo>
                        <a:pt x="0" y="0"/>
                      </a:lnTo>
                      <a:lnTo>
                        <a:pt x="0" y="40"/>
                      </a:lnTo>
                      <a:lnTo>
                        <a:pt x="30" y="4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2" name="Freeform 47"/>
                <p:cNvSpPr>
                  <a:spLocks/>
                </p:cNvSpPr>
                <p:nvPr/>
              </p:nvSpPr>
              <p:spPr bwMode="auto">
                <a:xfrm>
                  <a:off x="3634" y="2237"/>
                  <a:ext cx="32" cy="42"/>
                </a:xfrm>
                <a:custGeom>
                  <a:avLst/>
                  <a:gdLst>
                    <a:gd name="T0" fmla="*/ 31 w 32"/>
                    <a:gd name="T1" fmla="*/ 41 h 42"/>
                    <a:gd name="T2" fmla="*/ 31 w 32"/>
                    <a:gd name="T3" fmla="*/ 0 h 42"/>
                    <a:gd name="T4" fmla="*/ 0 w 32"/>
                    <a:gd name="T5" fmla="*/ 0 h 42"/>
                    <a:gd name="T6" fmla="*/ 0 w 32"/>
                    <a:gd name="T7" fmla="*/ 41 h 42"/>
                    <a:gd name="T8" fmla="*/ 31 w 32"/>
                    <a:gd name="T9" fmla="*/ 41 h 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42">
                      <a:moveTo>
                        <a:pt x="31" y="41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41"/>
                      </a:lnTo>
                      <a:lnTo>
                        <a:pt x="31" y="41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7" name="Group 48"/>
              <p:cNvGrpSpPr>
                <a:grpSpLocks/>
              </p:cNvGrpSpPr>
              <p:nvPr/>
            </p:nvGrpSpPr>
            <p:grpSpPr bwMode="auto">
              <a:xfrm>
                <a:off x="3759" y="2166"/>
                <a:ext cx="67" cy="32"/>
                <a:chOff x="3759" y="2166"/>
                <a:chExt cx="67" cy="32"/>
              </a:xfrm>
            </p:grpSpPr>
            <p:sp>
              <p:nvSpPr>
                <p:cNvPr id="449" name="Freeform 49"/>
                <p:cNvSpPr>
                  <a:spLocks/>
                </p:cNvSpPr>
                <p:nvPr/>
              </p:nvSpPr>
              <p:spPr bwMode="auto">
                <a:xfrm>
                  <a:off x="3759" y="2166"/>
                  <a:ext cx="62" cy="29"/>
                </a:xfrm>
                <a:custGeom>
                  <a:avLst/>
                  <a:gdLst>
                    <a:gd name="T0" fmla="*/ 61 w 62"/>
                    <a:gd name="T1" fmla="*/ 28 h 29"/>
                    <a:gd name="T2" fmla="*/ 61 w 62"/>
                    <a:gd name="T3" fmla="*/ 0 h 29"/>
                    <a:gd name="T4" fmla="*/ 0 w 62"/>
                    <a:gd name="T5" fmla="*/ 0 h 29"/>
                    <a:gd name="T6" fmla="*/ 0 w 62"/>
                    <a:gd name="T7" fmla="*/ 28 h 29"/>
                    <a:gd name="T8" fmla="*/ 61 w 62"/>
                    <a:gd name="T9" fmla="*/ 2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29">
                      <a:moveTo>
                        <a:pt x="61" y="28"/>
                      </a:moveTo>
                      <a:lnTo>
                        <a:pt x="61" y="0"/>
                      </a:ln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61" y="28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50" name="Freeform 50"/>
                <p:cNvSpPr>
                  <a:spLocks/>
                </p:cNvSpPr>
                <p:nvPr/>
              </p:nvSpPr>
              <p:spPr bwMode="auto">
                <a:xfrm>
                  <a:off x="3763" y="2170"/>
                  <a:ext cx="63" cy="28"/>
                </a:xfrm>
                <a:custGeom>
                  <a:avLst/>
                  <a:gdLst>
                    <a:gd name="T0" fmla="*/ 62 w 63"/>
                    <a:gd name="T1" fmla="*/ 27 h 28"/>
                    <a:gd name="T2" fmla="*/ 62 w 63"/>
                    <a:gd name="T3" fmla="*/ 0 h 28"/>
                    <a:gd name="T4" fmla="*/ 0 w 63"/>
                    <a:gd name="T5" fmla="*/ 0 h 28"/>
                    <a:gd name="T6" fmla="*/ 0 w 63"/>
                    <a:gd name="T7" fmla="*/ 27 h 28"/>
                    <a:gd name="T8" fmla="*/ 62 w 63"/>
                    <a:gd name="T9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8">
                      <a:moveTo>
                        <a:pt x="62" y="27"/>
                      </a:moveTo>
                      <a:lnTo>
                        <a:pt x="62" y="0"/>
                      </a:ln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62" y="27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8" name="Group 51"/>
              <p:cNvGrpSpPr>
                <a:grpSpLocks/>
              </p:cNvGrpSpPr>
              <p:nvPr/>
            </p:nvGrpSpPr>
            <p:grpSpPr bwMode="auto">
              <a:xfrm>
                <a:off x="3692" y="2163"/>
                <a:ext cx="67" cy="34"/>
                <a:chOff x="3692" y="2163"/>
                <a:chExt cx="67" cy="34"/>
              </a:xfrm>
            </p:grpSpPr>
            <p:sp>
              <p:nvSpPr>
                <p:cNvPr id="447" name="Freeform 52"/>
                <p:cNvSpPr>
                  <a:spLocks/>
                </p:cNvSpPr>
                <p:nvPr/>
              </p:nvSpPr>
              <p:spPr bwMode="auto">
                <a:xfrm>
                  <a:off x="3692" y="2163"/>
                  <a:ext cx="62" cy="28"/>
                </a:xfrm>
                <a:custGeom>
                  <a:avLst/>
                  <a:gdLst>
                    <a:gd name="T0" fmla="*/ 61 w 62"/>
                    <a:gd name="T1" fmla="*/ 27 h 28"/>
                    <a:gd name="T2" fmla="*/ 61 w 62"/>
                    <a:gd name="T3" fmla="*/ 0 h 28"/>
                    <a:gd name="T4" fmla="*/ 0 w 62"/>
                    <a:gd name="T5" fmla="*/ 0 h 28"/>
                    <a:gd name="T6" fmla="*/ 0 w 62"/>
                    <a:gd name="T7" fmla="*/ 27 h 28"/>
                    <a:gd name="T8" fmla="*/ 61 w 62"/>
                    <a:gd name="T9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28">
                      <a:moveTo>
                        <a:pt x="61" y="27"/>
                      </a:moveTo>
                      <a:lnTo>
                        <a:pt x="61" y="0"/>
                      </a:ln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61" y="27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8" name="Freeform 53"/>
                <p:cNvSpPr>
                  <a:spLocks/>
                </p:cNvSpPr>
                <p:nvPr/>
              </p:nvSpPr>
              <p:spPr bwMode="auto">
                <a:xfrm>
                  <a:off x="3696" y="2168"/>
                  <a:ext cx="63" cy="29"/>
                </a:xfrm>
                <a:custGeom>
                  <a:avLst/>
                  <a:gdLst>
                    <a:gd name="T0" fmla="*/ 62 w 63"/>
                    <a:gd name="T1" fmla="*/ 28 h 29"/>
                    <a:gd name="T2" fmla="*/ 62 w 63"/>
                    <a:gd name="T3" fmla="*/ 0 h 29"/>
                    <a:gd name="T4" fmla="*/ 0 w 63"/>
                    <a:gd name="T5" fmla="*/ 0 h 29"/>
                    <a:gd name="T6" fmla="*/ 0 w 63"/>
                    <a:gd name="T7" fmla="*/ 28 h 29"/>
                    <a:gd name="T8" fmla="*/ 62 w 63"/>
                    <a:gd name="T9" fmla="*/ 2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9">
                      <a:moveTo>
                        <a:pt x="62" y="28"/>
                      </a:moveTo>
                      <a:lnTo>
                        <a:pt x="62" y="0"/>
                      </a:ln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62" y="28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29" name="Group 54"/>
              <p:cNvGrpSpPr>
                <a:grpSpLocks/>
              </p:cNvGrpSpPr>
              <p:nvPr/>
            </p:nvGrpSpPr>
            <p:grpSpPr bwMode="auto">
              <a:xfrm>
                <a:off x="3773" y="2003"/>
                <a:ext cx="56" cy="24"/>
                <a:chOff x="3773" y="2003"/>
                <a:chExt cx="56" cy="24"/>
              </a:xfrm>
            </p:grpSpPr>
            <p:sp>
              <p:nvSpPr>
                <p:cNvPr id="445" name="Freeform 55"/>
                <p:cNvSpPr>
                  <a:spLocks/>
                </p:cNvSpPr>
                <p:nvPr/>
              </p:nvSpPr>
              <p:spPr bwMode="auto">
                <a:xfrm>
                  <a:off x="3773" y="2003"/>
                  <a:ext cx="50" cy="22"/>
                </a:xfrm>
                <a:custGeom>
                  <a:avLst/>
                  <a:gdLst>
                    <a:gd name="T0" fmla="*/ 49 w 50"/>
                    <a:gd name="T1" fmla="*/ 21 h 22"/>
                    <a:gd name="T2" fmla="*/ 49 w 50"/>
                    <a:gd name="T3" fmla="*/ 0 h 22"/>
                    <a:gd name="T4" fmla="*/ 0 w 50"/>
                    <a:gd name="T5" fmla="*/ 0 h 22"/>
                    <a:gd name="T6" fmla="*/ 0 w 50"/>
                    <a:gd name="T7" fmla="*/ 21 h 22"/>
                    <a:gd name="T8" fmla="*/ 49 w 50"/>
                    <a:gd name="T9" fmla="*/ 21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22">
                      <a:moveTo>
                        <a:pt x="49" y="21"/>
                      </a:moveTo>
                      <a:lnTo>
                        <a:pt x="49" y="0"/>
                      </a:lnTo>
                      <a:lnTo>
                        <a:pt x="0" y="0"/>
                      </a:lnTo>
                      <a:lnTo>
                        <a:pt x="0" y="21"/>
                      </a:lnTo>
                      <a:lnTo>
                        <a:pt x="49" y="21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6" name="Freeform 56"/>
                <p:cNvSpPr>
                  <a:spLocks/>
                </p:cNvSpPr>
                <p:nvPr/>
              </p:nvSpPr>
              <p:spPr bwMode="auto">
                <a:xfrm>
                  <a:off x="3778" y="2006"/>
                  <a:ext cx="51" cy="21"/>
                </a:xfrm>
                <a:custGeom>
                  <a:avLst/>
                  <a:gdLst>
                    <a:gd name="T0" fmla="*/ 50 w 51"/>
                    <a:gd name="T1" fmla="*/ 20 h 21"/>
                    <a:gd name="T2" fmla="*/ 50 w 51"/>
                    <a:gd name="T3" fmla="*/ 0 h 21"/>
                    <a:gd name="T4" fmla="*/ 0 w 51"/>
                    <a:gd name="T5" fmla="*/ 0 h 21"/>
                    <a:gd name="T6" fmla="*/ 0 w 51"/>
                    <a:gd name="T7" fmla="*/ 20 h 21"/>
                    <a:gd name="T8" fmla="*/ 50 w 51"/>
                    <a:gd name="T9" fmla="*/ 2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" h="21">
                      <a:moveTo>
                        <a:pt x="50" y="20"/>
                      </a:moveTo>
                      <a:lnTo>
                        <a:pt x="50" y="0"/>
                      </a:ln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50" y="20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30" name="Group 57"/>
              <p:cNvGrpSpPr>
                <a:grpSpLocks/>
              </p:cNvGrpSpPr>
              <p:nvPr/>
            </p:nvGrpSpPr>
            <p:grpSpPr bwMode="auto">
              <a:xfrm>
                <a:off x="3678" y="2222"/>
                <a:ext cx="151" cy="31"/>
                <a:chOff x="3678" y="2222"/>
                <a:chExt cx="151" cy="31"/>
              </a:xfrm>
            </p:grpSpPr>
            <p:sp>
              <p:nvSpPr>
                <p:cNvPr id="443" name="Freeform 58"/>
                <p:cNvSpPr>
                  <a:spLocks/>
                </p:cNvSpPr>
                <p:nvPr/>
              </p:nvSpPr>
              <p:spPr bwMode="auto">
                <a:xfrm>
                  <a:off x="3678" y="2222"/>
                  <a:ext cx="145" cy="29"/>
                </a:xfrm>
                <a:custGeom>
                  <a:avLst/>
                  <a:gdLst>
                    <a:gd name="T0" fmla="*/ 144 w 145"/>
                    <a:gd name="T1" fmla="*/ 28 h 29"/>
                    <a:gd name="T2" fmla="*/ 144 w 145"/>
                    <a:gd name="T3" fmla="*/ 0 h 29"/>
                    <a:gd name="T4" fmla="*/ 0 w 145"/>
                    <a:gd name="T5" fmla="*/ 0 h 29"/>
                    <a:gd name="T6" fmla="*/ 0 w 145"/>
                    <a:gd name="T7" fmla="*/ 28 h 29"/>
                    <a:gd name="T8" fmla="*/ 144 w 145"/>
                    <a:gd name="T9" fmla="*/ 28 h 2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9">
                      <a:moveTo>
                        <a:pt x="144" y="28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28"/>
                      </a:lnTo>
                      <a:lnTo>
                        <a:pt x="144" y="28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4" name="Freeform 59"/>
                <p:cNvSpPr>
                  <a:spLocks/>
                </p:cNvSpPr>
                <p:nvPr/>
              </p:nvSpPr>
              <p:spPr bwMode="auto">
                <a:xfrm>
                  <a:off x="3684" y="2225"/>
                  <a:ext cx="145" cy="28"/>
                </a:xfrm>
                <a:custGeom>
                  <a:avLst/>
                  <a:gdLst>
                    <a:gd name="T0" fmla="*/ 144 w 145"/>
                    <a:gd name="T1" fmla="*/ 27 h 28"/>
                    <a:gd name="T2" fmla="*/ 144 w 145"/>
                    <a:gd name="T3" fmla="*/ 0 h 28"/>
                    <a:gd name="T4" fmla="*/ 0 w 145"/>
                    <a:gd name="T5" fmla="*/ 0 h 28"/>
                    <a:gd name="T6" fmla="*/ 0 w 145"/>
                    <a:gd name="T7" fmla="*/ 27 h 28"/>
                    <a:gd name="T8" fmla="*/ 144 w 145"/>
                    <a:gd name="T9" fmla="*/ 27 h 2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8">
                      <a:moveTo>
                        <a:pt x="144" y="27"/>
                      </a:moveTo>
                      <a:lnTo>
                        <a:pt x="144" y="0"/>
                      </a:lnTo>
                      <a:lnTo>
                        <a:pt x="0" y="0"/>
                      </a:lnTo>
                      <a:lnTo>
                        <a:pt x="0" y="27"/>
                      </a:lnTo>
                      <a:lnTo>
                        <a:pt x="144" y="27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31" name="Group 60"/>
              <p:cNvGrpSpPr>
                <a:grpSpLocks/>
              </p:cNvGrpSpPr>
              <p:nvPr/>
            </p:nvGrpSpPr>
            <p:grpSpPr bwMode="auto">
              <a:xfrm>
                <a:off x="3852" y="2100"/>
                <a:ext cx="39" cy="33"/>
                <a:chOff x="3852" y="2100"/>
                <a:chExt cx="39" cy="33"/>
              </a:xfrm>
            </p:grpSpPr>
            <p:sp>
              <p:nvSpPr>
                <p:cNvPr id="441" name="Freeform 61"/>
                <p:cNvSpPr>
                  <a:spLocks/>
                </p:cNvSpPr>
                <p:nvPr/>
              </p:nvSpPr>
              <p:spPr bwMode="auto">
                <a:xfrm>
                  <a:off x="3852" y="2100"/>
                  <a:ext cx="32" cy="31"/>
                </a:xfrm>
                <a:custGeom>
                  <a:avLst/>
                  <a:gdLst>
                    <a:gd name="T0" fmla="*/ 31 w 32"/>
                    <a:gd name="T1" fmla="*/ 30 h 31"/>
                    <a:gd name="T2" fmla="*/ 31 w 32"/>
                    <a:gd name="T3" fmla="*/ 0 h 31"/>
                    <a:gd name="T4" fmla="*/ 0 w 32"/>
                    <a:gd name="T5" fmla="*/ 0 h 31"/>
                    <a:gd name="T6" fmla="*/ 0 w 32"/>
                    <a:gd name="T7" fmla="*/ 30 h 31"/>
                    <a:gd name="T8" fmla="*/ 31 w 32"/>
                    <a:gd name="T9" fmla="*/ 3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31">
                      <a:moveTo>
                        <a:pt x="31" y="30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30"/>
                      </a:lnTo>
                      <a:lnTo>
                        <a:pt x="31" y="3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2" name="Freeform 62"/>
                <p:cNvSpPr>
                  <a:spLocks/>
                </p:cNvSpPr>
                <p:nvPr/>
              </p:nvSpPr>
              <p:spPr bwMode="auto">
                <a:xfrm>
                  <a:off x="3856" y="2103"/>
                  <a:ext cx="35" cy="30"/>
                </a:xfrm>
                <a:custGeom>
                  <a:avLst/>
                  <a:gdLst>
                    <a:gd name="T0" fmla="*/ 34 w 35"/>
                    <a:gd name="T1" fmla="*/ 29 h 30"/>
                    <a:gd name="T2" fmla="*/ 34 w 35"/>
                    <a:gd name="T3" fmla="*/ 0 h 30"/>
                    <a:gd name="T4" fmla="*/ 0 w 35"/>
                    <a:gd name="T5" fmla="*/ 0 h 30"/>
                    <a:gd name="T6" fmla="*/ 0 w 35"/>
                    <a:gd name="T7" fmla="*/ 29 h 30"/>
                    <a:gd name="T8" fmla="*/ 34 w 35"/>
                    <a:gd name="T9" fmla="*/ 29 h 3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30">
                      <a:moveTo>
                        <a:pt x="34" y="29"/>
                      </a:moveTo>
                      <a:lnTo>
                        <a:pt x="34" y="0"/>
                      </a:lnTo>
                      <a:lnTo>
                        <a:pt x="0" y="0"/>
                      </a:lnTo>
                      <a:lnTo>
                        <a:pt x="0" y="29"/>
                      </a:lnTo>
                      <a:lnTo>
                        <a:pt x="34" y="29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32" name="Group 63"/>
              <p:cNvGrpSpPr>
                <a:grpSpLocks/>
              </p:cNvGrpSpPr>
              <p:nvPr/>
            </p:nvGrpSpPr>
            <p:grpSpPr bwMode="auto">
              <a:xfrm>
                <a:off x="3821" y="1807"/>
                <a:ext cx="38" cy="40"/>
                <a:chOff x="3821" y="1807"/>
                <a:chExt cx="38" cy="40"/>
              </a:xfrm>
            </p:grpSpPr>
            <p:sp>
              <p:nvSpPr>
                <p:cNvPr id="439" name="Freeform 64"/>
                <p:cNvSpPr>
                  <a:spLocks/>
                </p:cNvSpPr>
                <p:nvPr/>
              </p:nvSpPr>
              <p:spPr bwMode="auto">
                <a:xfrm>
                  <a:off x="3821" y="1807"/>
                  <a:ext cx="34" cy="34"/>
                </a:xfrm>
                <a:custGeom>
                  <a:avLst/>
                  <a:gdLst>
                    <a:gd name="T0" fmla="*/ 33 w 34"/>
                    <a:gd name="T1" fmla="*/ 33 h 34"/>
                    <a:gd name="T2" fmla="*/ 33 w 34"/>
                    <a:gd name="T3" fmla="*/ 0 h 34"/>
                    <a:gd name="T4" fmla="*/ 0 w 34"/>
                    <a:gd name="T5" fmla="*/ 0 h 34"/>
                    <a:gd name="T6" fmla="*/ 0 w 34"/>
                    <a:gd name="T7" fmla="*/ 33 h 34"/>
                    <a:gd name="T8" fmla="*/ 33 w 34"/>
                    <a:gd name="T9" fmla="*/ 33 h 3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34">
                      <a:moveTo>
                        <a:pt x="33" y="33"/>
                      </a:moveTo>
                      <a:lnTo>
                        <a:pt x="33" y="0"/>
                      </a:lnTo>
                      <a:lnTo>
                        <a:pt x="0" y="0"/>
                      </a:lnTo>
                      <a:lnTo>
                        <a:pt x="0" y="33"/>
                      </a:lnTo>
                      <a:lnTo>
                        <a:pt x="33" y="3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40" name="Freeform 65"/>
                <p:cNvSpPr>
                  <a:spLocks/>
                </p:cNvSpPr>
                <p:nvPr/>
              </p:nvSpPr>
              <p:spPr bwMode="auto">
                <a:xfrm>
                  <a:off x="3827" y="1812"/>
                  <a:ext cx="32" cy="35"/>
                </a:xfrm>
                <a:custGeom>
                  <a:avLst/>
                  <a:gdLst>
                    <a:gd name="T0" fmla="*/ 31 w 32"/>
                    <a:gd name="T1" fmla="*/ 34 h 35"/>
                    <a:gd name="T2" fmla="*/ 31 w 32"/>
                    <a:gd name="T3" fmla="*/ 0 h 35"/>
                    <a:gd name="T4" fmla="*/ 0 w 32"/>
                    <a:gd name="T5" fmla="*/ 0 h 35"/>
                    <a:gd name="T6" fmla="*/ 0 w 32"/>
                    <a:gd name="T7" fmla="*/ 34 h 35"/>
                    <a:gd name="T8" fmla="*/ 31 w 32"/>
                    <a:gd name="T9" fmla="*/ 34 h 3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35">
                      <a:moveTo>
                        <a:pt x="31" y="34"/>
                      </a:moveTo>
                      <a:lnTo>
                        <a:pt x="31" y="0"/>
                      </a:lnTo>
                      <a:lnTo>
                        <a:pt x="0" y="0"/>
                      </a:lnTo>
                      <a:lnTo>
                        <a:pt x="0" y="34"/>
                      </a:lnTo>
                      <a:lnTo>
                        <a:pt x="31" y="34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33" name="Group 66"/>
              <p:cNvGrpSpPr>
                <a:grpSpLocks/>
              </p:cNvGrpSpPr>
              <p:nvPr/>
            </p:nvGrpSpPr>
            <p:grpSpPr bwMode="auto">
              <a:xfrm>
                <a:off x="3728" y="1728"/>
                <a:ext cx="29" cy="53"/>
                <a:chOff x="3728" y="1728"/>
                <a:chExt cx="29" cy="53"/>
              </a:xfrm>
            </p:grpSpPr>
            <p:sp>
              <p:nvSpPr>
                <p:cNvPr id="437" name="Freeform 67"/>
                <p:cNvSpPr>
                  <a:spLocks/>
                </p:cNvSpPr>
                <p:nvPr/>
              </p:nvSpPr>
              <p:spPr bwMode="auto">
                <a:xfrm>
                  <a:off x="3728" y="1728"/>
                  <a:ext cx="23" cy="48"/>
                </a:xfrm>
                <a:custGeom>
                  <a:avLst/>
                  <a:gdLst>
                    <a:gd name="T0" fmla="*/ 22 w 23"/>
                    <a:gd name="T1" fmla="*/ 47 h 48"/>
                    <a:gd name="T2" fmla="*/ 22 w 23"/>
                    <a:gd name="T3" fmla="*/ 0 h 48"/>
                    <a:gd name="T4" fmla="*/ 0 w 23"/>
                    <a:gd name="T5" fmla="*/ 0 h 48"/>
                    <a:gd name="T6" fmla="*/ 0 w 23"/>
                    <a:gd name="T7" fmla="*/ 47 h 48"/>
                    <a:gd name="T8" fmla="*/ 22 w 23"/>
                    <a:gd name="T9" fmla="*/ 47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48">
                      <a:moveTo>
                        <a:pt x="22" y="47"/>
                      </a:moveTo>
                      <a:lnTo>
                        <a:pt x="22" y="0"/>
                      </a:lnTo>
                      <a:lnTo>
                        <a:pt x="0" y="0"/>
                      </a:lnTo>
                      <a:lnTo>
                        <a:pt x="0" y="47"/>
                      </a:lnTo>
                      <a:lnTo>
                        <a:pt x="22" y="47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8" name="Freeform 68"/>
                <p:cNvSpPr>
                  <a:spLocks/>
                </p:cNvSpPr>
                <p:nvPr/>
              </p:nvSpPr>
              <p:spPr bwMode="auto">
                <a:xfrm>
                  <a:off x="3733" y="1732"/>
                  <a:ext cx="24" cy="49"/>
                </a:xfrm>
                <a:custGeom>
                  <a:avLst/>
                  <a:gdLst>
                    <a:gd name="T0" fmla="*/ 23 w 24"/>
                    <a:gd name="T1" fmla="*/ 48 h 49"/>
                    <a:gd name="T2" fmla="*/ 23 w 24"/>
                    <a:gd name="T3" fmla="*/ 0 h 49"/>
                    <a:gd name="T4" fmla="*/ 0 w 24"/>
                    <a:gd name="T5" fmla="*/ 0 h 49"/>
                    <a:gd name="T6" fmla="*/ 0 w 24"/>
                    <a:gd name="T7" fmla="*/ 48 h 49"/>
                    <a:gd name="T8" fmla="*/ 23 w 24"/>
                    <a:gd name="T9" fmla="*/ 48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49">
                      <a:moveTo>
                        <a:pt x="23" y="48"/>
                      </a:moveTo>
                      <a:lnTo>
                        <a:pt x="23" y="0"/>
                      </a:lnTo>
                      <a:lnTo>
                        <a:pt x="0" y="0"/>
                      </a:lnTo>
                      <a:lnTo>
                        <a:pt x="0" y="48"/>
                      </a:lnTo>
                      <a:lnTo>
                        <a:pt x="23" y="48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34" name="Group 69"/>
              <p:cNvGrpSpPr>
                <a:grpSpLocks/>
              </p:cNvGrpSpPr>
              <p:nvPr/>
            </p:nvGrpSpPr>
            <p:grpSpPr bwMode="auto">
              <a:xfrm>
                <a:off x="3684" y="1728"/>
                <a:ext cx="29" cy="53"/>
                <a:chOff x="3684" y="1728"/>
                <a:chExt cx="29" cy="53"/>
              </a:xfrm>
            </p:grpSpPr>
            <p:sp>
              <p:nvSpPr>
                <p:cNvPr id="435" name="Freeform 70"/>
                <p:cNvSpPr>
                  <a:spLocks/>
                </p:cNvSpPr>
                <p:nvPr/>
              </p:nvSpPr>
              <p:spPr bwMode="auto">
                <a:xfrm>
                  <a:off x="3684" y="1728"/>
                  <a:ext cx="23" cy="48"/>
                </a:xfrm>
                <a:custGeom>
                  <a:avLst/>
                  <a:gdLst>
                    <a:gd name="T0" fmla="*/ 22 w 23"/>
                    <a:gd name="T1" fmla="*/ 47 h 48"/>
                    <a:gd name="T2" fmla="*/ 22 w 23"/>
                    <a:gd name="T3" fmla="*/ 0 h 48"/>
                    <a:gd name="T4" fmla="*/ 0 w 23"/>
                    <a:gd name="T5" fmla="*/ 0 h 48"/>
                    <a:gd name="T6" fmla="*/ 0 w 23"/>
                    <a:gd name="T7" fmla="*/ 47 h 48"/>
                    <a:gd name="T8" fmla="*/ 22 w 23"/>
                    <a:gd name="T9" fmla="*/ 47 h 4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48">
                      <a:moveTo>
                        <a:pt x="22" y="47"/>
                      </a:moveTo>
                      <a:lnTo>
                        <a:pt x="22" y="0"/>
                      </a:lnTo>
                      <a:lnTo>
                        <a:pt x="0" y="0"/>
                      </a:lnTo>
                      <a:lnTo>
                        <a:pt x="0" y="47"/>
                      </a:lnTo>
                      <a:lnTo>
                        <a:pt x="22" y="47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36" name="Freeform 71"/>
                <p:cNvSpPr>
                  <a:spLocks/>
                </p:cNvSpPr>
                <p:nvPr/>
              </p:nvSpPr>
              <p:spPr bwMode="auto">
                <a:xfrm>
                  <a:off x="3690" y="1732"/>
                  <a:ext cx="23" cy="49"/>
                </a:xfrm>
                <a:custGeom>
                  <a:avLst/>
                  <a:gdLst>
                    <a:gd name="T0" fmla="*/ 22 w 23"/>
                    <a:gd name="T1" fmla="*/ 48 h 49"/>
                    <a:gd name="T2" fmla="*/ 22 w 23"/>
                    <a:gd name="T3" fmla="*/ 0 h 49"/>
                    <a:gd name="T4" fmla="*/ 0 w 23"/>
                    <a:gd name="T5" fmla="*/ 0 h 49"/>
                    <a:gd name="T6" fmla="*/ 0 w 23"/>
                    <a:gd name="T7" fmla="*/ 48 h 49"/>
                    <a:gd name="T8" fmla="*/ 22 w 23"/>
                    <a:gd name="T9" fmla="*/ 48 h 4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49">
                      <a:moveTo>
                        <a:pt x="22" y="48"/>
                      </a:moveTo>
                      <a:lnTo>
                        <a:pt x="22" y="0"/>
                      </a:lnTo>
                      <a:lnTo>
                        <a:pt x="0" y="0"/>
                      </a:lnTo>
                      <a:lnTo>
                        <a:pt x="0" y="48"/>
                      </a:lnTo>
                      <a:lnTo>
                        <a:pt x="22" y="48"/>
                      </a:lnTo>
                    </a:path>
                  </a:pathLst>
                </a:custGeom>
                <a:solidFill>
                  <a:srgbClr val="71675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 cap="rnd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  <p:grpSp>
          <p:nvGrpSpPr>
            <p:cNvPr id="477" name="Group 72"/>
            <p:cNvGrpSpPr>
              <a:grpSpLocks/>
            </p:cNvGrpSpPr>
            <p:nvPr/>
          </p:nvGrpSpPr>
          <p:grpSpPr bwMode="auto">
            <a:xfrm>
              <a:off x="6416675" y="1555750"/>
              <a:ext cx="465138" cy="430213"/>
              <a:chOff x="3691" y="1371"/>
              <a:chExt cx="239" cy="217"/>
            </a:xfrm>
          </p:grpSpPr>
          <p:grpSp>
            <p:nvGrpSpPr>
              <p:cNvPr id="478" name="Group 73"/>
              <p:cNvGrpSpPr>
                <a:grpSpLocks/>
              </p:cNvGrpSpPr>
              <p:nvPr/>
            </p:nvGrpSpPr>
            <p:grpSpPr bwMode="auto">
              <a:xfrm>
                <a:off x="3768" y="1461"/>
                <a:ext cx="100" cy="127"/>
                <a:chOff x="3768" y="1461"/>
                <a:chExt cx="100" cy="127"/>
              </a:xfrm>
            </p:grpSpPr>
            <p:sp>
              <p:nvSpPr>
                <p:cNvPr id="483" name="Rectangle 74"/>
                <p:cNvSpPr>
                  <a:spLocks noChangeArrowheads="1"/>
                </p:cNvSpPr>
                <p:nvPr/>
              </p:nvSpPr>
              <p:spPr bwMode="auto">
                <a:xfrm>
                  <a:off x="3777" y="1471"/>
                  <a:ext cx="84" cy="91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4" name="Rectangle 75"/>
                <p:cNvSpPr>
                  <a:spLocks noChangeArrowheads="1"/>
                </p:cNvSpPr>
                <p:nvPr/>
              </p:nvSpPr>
              <p:spPr bwMode="auto">
                <a:xfrm>
                  <a:off x="3770" y="1461"/>
                  <a:ext cx="98" cy="31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5" name="Rectangle 76"/>
                <p:cNvSpPr>
                  <a:spLocks noChangeArrowheads="1"/>
                </p:cNvSpPr>
                <p:nvPr/>
              </p:nvSpPr>
              <p:spPr bwMode="auto">
                <a:xfrm>
                  <a:off x="3768" y="1558"/>
                  <a:ext cx="98" cy="30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  <p:grpSp>
            <p:nvGrpSpPr>
              <p:cNvPr id="479" name="Group 77"/>
              <p:cNvGrpSpPr>
                <a:grpSpLocks/>
              </p:cNvGrpSpPr>
              <p:nvPr/>
            </p:nvGrpSpPr>
            <p:grpSpPr bwMode="auto">
              <a:xfrm>
                <a:off x="3691" y="1371"/>
                <a:ext cx="239" cy="127"/>
                <a:chOff x="3691" y="1371"/>
                <a:chExt cx="239" cy="127"/>
              </a:xfrm>
            </p:grpSpPr>
            <p:sp>
              <p:nvSpPr>
                <p:cNvPr id="480" name="Rectangle 78"/>
                <p:cNvSpPr>
                  <a:spLocks noChangeArrowheads="1"/>
                </p:cNvSpPr>
                <p:nvPr/>
              </p:nvSpPr>
              <p:spPr bwMode="auto">
                <a:xfrm>
                  <a:off x="3738" y="1382"/>
                  <a:ext cx="175" cy="106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1" name="Rectangle 79"/>
                <p:cNvSpPr>
                  <a:spLocks noChangeArrowheads="1"/>
                </p:cNvSpPr>
                <p:nvPr/>
              </p:nvSpPr>
              <p:spPr bwMode="auto">
                <a:xfrm>
                  <a:off x="3867" y="1373"/>
                  <a:ext cx="63" cy="125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  <p:sp>
              <p:nvSpPr>
                <p:cNvPr id="482" name="Rectangle 80"/>
                <p:cNvSpPr>
                  <a:spLocks noChangeArrowheads="1"/>
                </p:cNvSpPr>
                <p:nvPr/>
              </p:nvSpPr>
              <p:spPr bwMode="auto">
                <a:xfrm>
                  <a:off x="3691" y="1371"/>
                  <a:ext cx="61" cy="124"/>
                </a:xfrm>
                <a:prstGeom prst="rect">
                  <a:avLst/>
                </a:prstGeom>
                <a:solidFill>
                  <a:srgbClr val="0000CC"/>
                </a:solidFill>
                <a:ln w="12699">
                  <a:solidFill>
                    <a:srgbClr val="000000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defTabSz="91440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</a:endParaRPr>
                </a:p>
              </p:txBody>
            </p:sp>
          </p:grp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51075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总线型以太网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701874"/>
          </a:xfrm>
        </p:spPr>
        <p:txBody>
          <a:bodyPr/>
          <a:lstStyle/>
          <a:p>
            <a:r>
              <a:rPr lang="zh-CN" altLang="zh-CN" dirty="0"/>
              <a:t>体系结构与功能实现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51</a:t>
            </a:fld>
            <a:endParaRPr lang="zh-CN" altLang="en-US" dirty="0"/>
          </a:p>
        </p:txBody>
      </p:sp>
      <p:grpSp>
        <p:nvGrpSpPr>
          <p:cNvPr id="97" name="组合 96"/>
          <p:cNvGrpSpPr/>
          <p:nvPr/>
        </p:nvGrpSpPr>
        <p:grpSpPr>
          <a:xfrm>
            <a:off x="1211260" y="2481469"/>
            <a:ext cx="6959600" cy="3570850"/>
            <a:chOff x="1211263" y="2057400"/>
            <a:chExt cx="6959600" cy="357085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auto">
            <a:xfrm>
              <a:off x="1211263" y="2057400"/>
              <a:ext cx="1233487" cy="357085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r>
                <a:rPr kumimoji="1" lang="en-US" altLang="zh-CN" sz="1600" b="1" dirty="0">
                  <a:latin typeface="楷体_GB2312" pitchFamily="49" charset="-122"/>
                  <a:ea typeface="楷体_GB2312" pitchFamily="49" charset="-122"/>
                </a:rPr>
                <a:t>  </a:t>
              </a:r>
              <a:r>
                <a:rPr kumimoji="1" lang="zh-CN" altLang="en-US" sz="1600" b="1" dirty="0">
                  <a:latin typeface="楷体_GB2312" pitchFamily="49" charset="-122"/>
                  <a:ea typeface="楷体_GB2312" pitchFamily="49" charset="-122"/>
                </a:rPr>
                <a:t>物理层</a:t>
              </a:r>
            </a:p>
            <a:p>
              <a:pPr eaLnBrk="0" hangingPunct="0"/>
              <a:endParaRPr kumimoji="1" lang="zh-CN" altLang="en-US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zh-CN" altLang="en-US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zh-CN" altLang="en-US" sz="1600" b="1" dirty="0">
                <a:latin typeface="楷体_GB2312" pitchFamily="49" charset="-122"/>
                <a:ea typeface="楷体_GB2312" pitchFamily="49" charset="-122"/>
              </a:endParaRPr>
            </a:p>
            <a:p>
              <a:pPr eaLnBrk="0" hangingPunct="0"/>
              <a:endParaRPr kumimoji="1" lang="en-US" altLang="zh-CN" sz="16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7086600" y="4876800"/>
              <a:ext cx="647613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>
                  <a:latin typeface="Calibri" panose="020F0502020204030204" pitchFamily="34" charset="0"/>
                  <a:ea typeface="华文楷体" panose="02010600040101010101" pitchFamily="2" charset="-122"/>
                </a:rPr>
                <a:t>电缆</a:t>
              </a:r>
            </a:p>
          </p:txBody>
        </p:sp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5060950" y="4978400"/>
              <a:ext cx="2087563" cy="207963"/>
            </a:xfrm>
            <a:prstGeom prst="rect">
              <a:avLst/>
            </a:prstGeom>
            <a:gradFill rotWithShape="0">
              <a:gsLst>
                <a:gs pos="0">
                  <a:srgbClr val="FFFF00">
                    <a:gamma/>
                    <a:shade val="69804"/>
                    <a:invGamma/>
                  </a:srgbClr>
                </a:gs>
                <a:gs pos="50000">
                  <a:srgbClr val="FFFF00"/>
                </a:gs>
                <a:gs pos="100000">
                  <a:srgbClr val="FFFF00">
                    <a:gamma/>
                    <a:shade val="69804"/>
                    <a:invGamma/>
                  </a:srgbClr>
                </a:gs>
              </a:gsLst>
              <a:lin ang="5400000" scaled="1"/>
            </a:gra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5586413" y="4881563"/>
              <a:ext cx="981075" cy="390525"/>
            </a:xfrm>
            <a:prstGeom prst="rect">
              <a:avLst/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9" name="Group 7"/>
            <p:cNvGrpSpPr>
              <a:grpSpLocks/>
            </p:cNvGrpSpPr>
            <p:nvPr/>
          </p:nvGrpSpPr>
          <p:grpSpPr bwMode="auto">
            <a:xfrm>
              <a:off x="5964238" y="4613275"/>
              <a:ext cx="206375" cy="252413"/>
              <a:chOff x="3810" y="2721"/>
              <a:chExt cx="130" cy="159"/>
            </a:xfrm>
          </p:grpSpPr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3822" y="2733"/>
                <a:ext cx="108" cy="115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/>
            </p:nvSpPr>
            <p:spPr bwMode="auto">
              <a:xfrm>
                <a:off x="3813" y="2721"/>
                <a:ext cx="127" cy="40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/>
            </p:nvSpPr>
            <p:spPr bwMode="auto">
              <a:xfrm>
                <a:off x="3810" y="2841"/>
                <a:ext cx="127" cy="39"/>
              </a:xfrm>
              <a:prstGeom prst="rect">
                <a:avLst/>
              </a:prstGeom>
              <a:solidFill>
                <a:schemeClr val="hlink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" name="Rectangle 11"/>
            <p:cNvSpPr>
              <a:spLocks noChangeArrowheads="1"/>
            </p:cNvSpPr>
            <p:nvPr/>
          </p:nvSpPr>
          <p:spPr bwMode="auto">
            <a:xfrm>
              <a:off x="5638800" y="4038600"/>
              <a:ext cx="862013" cy="550863"/>
            </a:xfrm>
            <a:prstGeom prst="rect">
              <a:avLst/>
            </a:prstGeom>
            <a:solidFill>
              <a:srgbClr val="FFCC00"/>
            </a:solidFill>
            <a:ln w="253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4" name="Group 12"/>
            <p:cNvGrpSpPr>
              <a:grpSpLocks/>
            </p:cNvGrpSpPr>
            <p:nvPr/>
          </p:nvGrpSpPr>
          <p:grpSpPr bwMode="auto">
            <a:xfrm>
              <a:off x="5783263" y="2286000"/>
              <a:ext cx="622300" cy="793750"/>
              <a:chOff x="3696" y="1255"/>
              <a:chExt cx="392" cy="500"/>
            </a:xfrm>
          </p:grpSpPr>
          <p:sp>
            <p:nvSpPr>
              <p:cNvPr id="15" name="Freeform 13"/>
              <p:cNvSpPr>
                <a:spLocks/>
              </p:cNvSpPr>
              <p:nvPr/>
            </p:nvSpPr>
            <p:spPr bwMode="auto">
              <a:xfrm>
                <a:off x="4019" y="1370"/>
                <a:ext cx="48" cy="261"/>
              </a:xfrm>
              <a:custGeom>
                <a:avLst/>
                <a:gdLst>
                  <a:gd name="T0" fmla="*/ 0 w 48"/>
                  <a:gd name="T1" fmla="*/ 0 h 261"/>
                  <a:gd name="T2" fmla="*/ 0 w 48"/>
                  <a:gd name="T3" fmla="*/ 260 h 261"/>
                  <a:gd name="T4" fmla="*/ 47 w 48"/>
                  <a:gd name="T5" fmla="*/ 260 h 261"/>
                  <a:gd name="T6" fmla="*/ 47 w 48"/>
                  <a:gd name="T7" fmla="*/ 0 h 261"/>
                  <a:gd name="T8" fmla="*/ 0 w 48"/>
                  <a:gd name="T9" fmla="*/ 0 h 2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8" h="261">
                    <a:moveTo>
                      <a:pt x="0" y="0"/>
                    </a:moveTo>
                    <a:lnTo>
                      <a:pt x="0" y="260"/>
                    </a:lnTo>
                    <a:lnTo>
                      <a:pt x="47" y="260"/>
                    </a:lnTo>
                    <a:lnTo>
                      <a:pt x="47" y="0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FFCC33"/>
              </a:solidFill>
              <a:ln w="9525" cap="rnd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6" name="Group 14"/>
              <p:cNvGrpSpPr>
                <a:grpSpLocks/>
              </p:cNvGrpSpPr>
              <p:nvPr/>
            </p:nvGrpSpPr>
            <p:grpSpPr bwMode="auto">
              <a:xfrm>
                <a:off x="4025" y="1379"/>
                <a:ext cx="34" cy="229"/>
                <a:chOff x="4025" y="1379"/>
                <a:chExt cx="34" cy="229"/>
              </a:xfrm>
            </p:grpSpPr>
            <p:sp>
              <p:nvSpPr>
                <p:cNvPr id="59" name="Line 15"/>
                <p:cNvSpPr>
                  <a:spLocks noChangeShapeType="1"/>
                </p:cNvSpPr>
                <p:nvPr/>
              </p:nvSpPr>
              <p:spPr bwMode="auto">
                <a:xfrm>
                  <a:off x="4025" y="1379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Line 16"/>
                <p:cNvSpPr>
                  <a:spLocks noChangeShapeType="1"/>
                </p:cNvSpPr>
                <p:nvPr/>
              </p:nvSpPr>
              <p:spPr bwMode="auto">
                <a:xfrm>
                  <a:off x="4025" y="1395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Line 17"/>
                <p:cNvSpPr>
                  <a:spLocks noChangeShapeType="1"/>
                </p:cNvSpPr>
                <p:nvPr/>
              </p:nvSpPr>
              <p:spPr bwMode="auto">
                <a:xfrm>
                  <a:off x="4025" y="1410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Line 18"/>
                <p:cNvSpPr>
                  <a:spLocks noChangeShapeType="1"/>
                </p:cNvSpPr>
                <p:nvPr/>
              </p:nvSpPr>
              <p:spPr bwMode="auto">
                <a:xfrm>
                  <a:off x="4025" y="1426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Line 19"/>
                <p:cNvSpPr>
                  <a:spLocks noChangeShapeType="1"/>
                </p:cNvSpPr>
                <p:nvPr/>
              </p:nvSpPr>
              <p:spPr bwMode="auto">
                <a:xfrm>
                  <a:off x="4025" y="1441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Line 20"/>
                <p:cNvSpPr>
                  <a:spLocks noChangeShapeType="1"/>
                </p:cNvSpPr>
                <p:nvPr/>
              </p:nvSpPr>
              <p:spPr bwMode="auto">
                <a:xfrm>
                  <a:off x="4025" y="1456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Line 21"/>
                <p:cNvSpPr>
                  <a:spLocks noChangeShapeType="1"/>
                </p:cNvSpPr>
                <p:nvPr/>
              </p:nvSpPr>
              <p:spPr bwMode="auto">
                <a:xfrm>
                  <a:off x="4025" y="1471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Line 22"/>
                <p:cNvSpPr>
                  <a:spLocks noChangeShapeType="1"/>
                </p:cNvSpPr>
                <p:nvPr/>
              </p:nvSpPr>
              <p:spPr bwMode="auto">
                <a:xfrm>
                  <a:off x="4025" y="1486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Line 23"/>
                <p:cNvSpPr>
                  <a:spLocks noChangeShapeType="1"/>
                </p:cNvSpPr>
                <p:nvPr/>
              </p:nvSpPr>
              <p:spPr bwMode="auto">
                <a:xfrm>
                  <a:off x="4025" y="1501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Line 24"/>
                <p:cNvSpPr>
                  <a:spLocks noChangeShapeType="1"/>
                </p:cNvSpPr>
                <p:nvPr/>
              </p:nvSpPr>
              <p:spPr bwMode="auto">
                <a:xfrm>
                  <a:off x="4025" y="1517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Line 25"/>
                <p:cNvSpPr>
                  <a:spLocks noChangeShapeType="1"/>
                </p:cNvSpPr>
                <p:nvPr/>
              </p:nvSpPr>
              <p:spPr bwMode="auto">
                <a:xfrm>
                  <a:off x="4025" y="1533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Line 26"/>
                <p:cNvSpPr>
                  <a:spLocks noChangeShapeType="1"/>
                </p:cNvSpPr>
                <p:nvPr/>
              </p:nvSpPr>
              <p:spPr bwMode="auto">
                <a:xfrm>
                  <a:off x="4025" y="154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Line 27"/>
                <p:cNvSpPr>
                  <a:spLocks noChangeShapeType="1"/>
                </p:cNvSpPr>
                <p:nvPr/>
              </p:nvSpPr>
              <p:spPr bwMode="auto">
                <a:xfrm>
                  <a:off x="4025" y="1563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Line 28"/>
                <p:cNvSpPr>
                  <a:spLocks noChangeShapeType="1"/>
                </p:cNvSpPr>
                <p:nvPr/>
              </p:nvSpPr>
              <p:spPr bwMode="auto">
                <a:xfrm>
                  <a:off x="4025" y="157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Line 29"/>
                <p:cNvSpPr>
                  <a:spLocks noChangeShapeType="1"/>
                </p:cNvSpPr>
                <p:nvPr/>
              </p:nvSpPr>
              <p:spPr bwMode="auto">
                <a:xfrm>
                  <a:off x="4025" y="1594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Line 30"/>
                <p:cNvSpPr>
                  <a:spLocks noChangeShapeType="1"/>
                </p:cNvSpPr>
                <p:nvPr/>
              </p:nvSpPr>
              <p:spPr bwMode="auto">
                <a:xfrm>
                  <a:off x="4025" y="1608"/>
                  <a:ext cx="34" cy="0"/>
                </a:xfrm>
                <a:prstGeom prst="line">
                  <a:avLst/>
                </a:prstGeom>
                <a:noFill/>
                <a:ln w="12699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Rectangle 31"/>
              <p:cNvSpPr>
                <a:spLocks noChangeArrowheads="1"/>
              </p:cNvSpPr>
              <p:nvPr/>
            </p:nvSpPr>
            <p:spPr bwMode="auto">
              <a:xfrm>
                <a:off x="3696" y="1255"/>
                <a:ext cx="326" cy="448"/>
              </a:xfrm>
              <a:prstGeom prst="rect">
                <a:avLst/>
              </a:prstGeom>
              <a:solidFill>
                <a:srgbClr val="ADD6A5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3795" y="1716"/>
                <a:ext cx="121" cy="17"/>
              </a:xfrm>
              <a:prstGeom prst="rect">
                <a:avLst/>
              </a:prstGeom>
              <a:solidFill>
                <a:srgbClr val="322D26"/>
              </a:solidFill>
              <a:ln w="12699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" name="Freeform 33"/>
              <p:cNvSpPr>
                <a:spLocks/>
              </p:cNvSpPr>
              <p:nvPr/>
            </p:nvSpPr>
            <p:spPr bwMode="auto">
              <a:xfrm>
                <a:off x="3707" y="1711"/>
                <a:ext cx="381" cy="30"/>
              </a:xfrm>
              <a:custGeom>
                <a:avLst/>
                <a:gdLst>
                  <a:gd name="T0" fmla="*/ 0 w 381"/>
                  <a:gd name="T1" fmla="*/ 29 h 30"/>
                  <a:gd name="T2" fmla="*/ 0 w 381"/>
                  <a:gd name="T3" fmla="*/ 0 h 30"/>
                  <a:gd name="T4" fmla="*/ 380 w 381"/>
                  <a:gd name="T5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81" h="30">
                    <a:moveTo>
                      <a:pt x="0" y="29"/>
                    </a:moveTo>
                    <a:lnTo>
                      <a:pt x="0" y="0"/>
                    </a:lnTo>
                    <a:lnTo>
                      <a:pt x="380" y="0"/>
                    </a:lnTo>
                  </a:path>
                </a:pathLst>
              </a:custGeom>
              <a:noFill/>
              <a:ln w="25399" cap="rnd" cmpd="sng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20" name="Group 34"/>
              <p:cNvGrpSpPr>
                <a:grpSpLocks/>
              </p:cNvGrpSpPr>
              <p:nvPr/>
            </p:nvGrpSpPr>
            <p:grpSpPr bwMode="auto">
              <a:xfrm>
                <a:off x="3962" y="1718"/>
                <a:ext cx="42" cy="37"/>
                <a:chOff x="3962" y="1718"/>
                <a:chExt cx="42" cy="37"/>
              </a:xfrm>
            </p:grpSpPr>
            <p:sp>
              <p:nvSpPr>
                <p:cNvPr id="57" name="Freeform 35"/>
                <p:cNvSpPr>
                  <a:spLocks/>
                </p:cNvSpPr>
                <p:nvPr/>
              </p:nvSpPr>
              <p:spPr bwMode="auto">
                <a:xfrm>
                  <a:off x="3972" y="1728"/>
                  <a:ext cx="28" cy="27"/>
                </a:xfrm>
                <a:custGeom>
                  <a:avLst/>
                  <a:gdLst>
                    <a:gd name="T0" fmla="*/ 0 w 28"/>
                    <a:gd name="T1" fmla="*/ 0 h 27"/>
                    <a:gd name="T2" fmla="*/ 0 w 28"/>
                    <a:gd name="T3" fmla="*/ 26 h 27"/>
                    <a:gd name="T4" fmla="*/ 27 w 28"/>
                    <a:gd name="T5" fmla="*/ 26 h 27"/>
                    <a:gd name="T6" fmla="*/ 27 w 28"/>
                    <a:gd name="T7" fmla="*/ 0 h 27"/>
                    <a:gd name="T8" fmla="*/ 0 w 28"/>
                    <a:gd name="T9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8" h="27">
                      <a:moveTo>
                        <a:pt x="0" y="0"/>
                      </a:moveTo>
                      <a:lnTo>
                        <a:pt x="0" y="26"/>
                      </a:lnTo>
                      <a:lnTo>
                        <a:pt x="27" y="26"/>
                      </a:lnTo>
                      <a:lnTo>
                        <a:pt x="27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E9E7D1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8" name="Freeform 36"/>
                <p:cNvSpPr>
                  <a:spLocks/>
                </p:cNvSpPr>
                <p:nvPr/>
              </p:nvSpPr>
              <p:spPr bwMode="auto">
                <a:xfrm>
                  <a:off x="3962" y="1718"/>
                  <a:ext cx="42" cy="19"/>
                </a:xfrm>
                <a:custGeom>
                  <a:avLst/>
                  <a:gdLst>
                    <a:gd name="T0" fmla="*/ 0 w 42"/>
                    <a:gd name="T1" fmla="*/ 0 h 19"/>
                    <a:gd name="T2" fmla="*/ 0 w 42"/>
                    <a:gd name="T3" fmla="*/ 18 h 19"/>
                    <a:gd name="T4" fmla="*/ 41 w 42"/>
                    <a:gd name="T5" fmla="*/ 18 h 19"/>
                    <a:gd name="T6" fmla="*/ 41 w 42"/>
                    <a:gd name="T7" fmla="*/ 0 h 19"/>
                    <a:gd name="T8" fmla="*/ 0 w 42"/>
                    <a:gd name="T9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42" h="19">
                      <a:moveTo>
                        <a:pt x="0" y="0"/>
                      </a:moveTo>
                      <a:lnTo>
                        <a:pt x="0" y="18"/>
                      </a:lnTo>
                      <a:lnTo>
                        <a:pt x="41" y="18"/>
                      </a:lnTo>
                      <a:lnTo>
                        <a:pt x="4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52493E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1" name="Group 37"/>
              <p:cNvGrpSpPr>
                <a:grpSpLocks/>
              </p:cNvGrpSpPr>
              <p:nvPr/>
            </p:nvGrpSpPr>
            <p:grpSpPr bwMode="auto">
              <a:xfrm>
                <a:off x="3791" y="1382"/>
                <a:ext cx="98" cy="75"/>
                <a:chOff x="3791" y="1382"/>
                <a:chExt cx="98" cy="75"/>
              </a:xfrm>
            </p:grpSpPr>
            <p:sp>
              <p:nvSpPr>
                <p:cNvPr id="55" name="Freeform 38"/>
                <p:cNvSpPr>
                  <a:spLocks/>
                </p:cNvSpPr>
                <p:nvPr/>
              </p:nvSpPr>
              <p:spPr bwMode="auto">
                <a:xfrm>
                  <a:off x="3797" y="1385"/>
                  <a:ext cx="92" cy="72"/>
                </a:xfrm>
                <a:custGeom>
                  <a:avLst/>
                  <a:gdLst>
                    <a:gd name="T0" fmla="*/ 0 w 92"/>
                    <a:gd name="T1" fmla="*/ 0 h 72"/>
                    <a:gd name="T2" fmla="*/ 0 w 92"/>
                    <a:gd name="T3" fmla="*/ 71 h 72"/>
                    <a:gd name="T4" fmla="*/ 91 w 92"/>
                    <a:gd name="T5" fmla="*/ 71 h 72"/>
                    <a:gd name="T6" fmla="*/ 91 w 92"/>
                    <a:gd name="T7" fmla="*/ 0 h 72"/>
                    <a:gd name="T8" fmla="*/ 0 w 92"/>
                    <a:gd name="T9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72">
                      <a:moveTo>
                        <a:pt x="0" y="0"/>
                      </a:moveTo>
                      <a:lnTo>
                        <a:pt x="0" y="71"/>
                      </a:lnTo>
                      <a:lnTo>
                        <a:pt x="91" y="71"/>
                      </a:lnTo>
                      <a:lnTo>
                        <a:pt x="9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6" name="Freeform 39"/>
                <p:cNvSpPr>
                  <a:spLocks/>
                </p:cNvSpPr>
                <p:nvPr/>
              </p:nvSpPr>
              <p:spPr bwMode="auto">
                <a:xfrm>
                  <a:off x="3791" y="1382"/>
                  <a:ext cx="92" cy="72"/>
                </a:xfrm>
                <a:custGeom>
                  <a:avLst/>
                  <a:gdLst>
                    <a:gd name="T0" fmla="*/ 0 w 92"/>
                    <a:gd name="T1" fmla="*/ 0 h 72"/>
                    <a:gd name="T2" fmla="*/ 0 w 92"/>
                    <a:gd name="T3" fmla="*/ 71 h 72"/>
                    <a:gd name="T4" fmla="*/ 91 w 92"/>
                    <a:gd name="T5" fmla="*/ 71 h 72"/>
                    <a:gd name="T6" fmla="*/ 91 w 92"/>
                    <a:gd name="T7" fmla="*/ 0 h 72"/>
                    <a:gd name="T8" fmla="*/ 0 w 92"/>
                    <a:gd name="T9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92" h="72">
                      <a:moveTo>
                        <a:pt x="0" y="0"/>
                      </a:moveTo>
                      <a:lnTo>
                        <a:pt x="0" y="71"/>
                      </a:lnTo>
                      <a:lnTo>
                        <a:pt x="91" y="71"/>
                      </a:lnTo>
                      <a:lnTo>
                        <a:pt x="9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2" name="Group 40"/>
              <p:cNvGrpSpPr>
                <a:grpSpLocks/>
              </p:cNvGrpSpPr>
              <p:nvPr/>
            </p:nvGrpSpPr>
            <p:grpSpPr bwMode="auto">
              <a:xfrm>
                <a:off x="3882" y="1494"/>
                <a:ext cx="127" cy="94"/>
                <a:chOff x="3882" y="1494"/>
                <a:chExt cx="127" cy="94"/>
              </a:xfrm>
            </p:grpSpPr>
            <p:sp>
              <p:nvSpPr>
                <p:cNvPr id="53" name="Freeform 41"/>
                <p:cNvSpPr>
                  <a:spLocks/>
                </p:cNvSpPr>
                <p:nvPr/>
              </p:nvSpPr>
              <p:spPr bwMode="auto">
                <a:xfrm>
                  <a:off x="3887" y="1496"/>
                  <a:ext cx="122" cy="92"/>
                </a:xfrm>
                <a:custGeom>
                  <a:avLst/>
                  <a:gdLst>
                    <a:gd name="T0" fmla="*/ 0 w 122"/>
                    <a:gd name="T1" fmla="*/ 0 h 92"/>
                    <a:gd name="T2" fmla="*/ 0 w 122"/>
                    <a:gd name="T3" fmla="*/ 91 h 92"/>
                    <a:gd name="T4" fmla="*/ 121 w 122"/>
                    <a:gd name="T5" fmla="*/ 91 h 92"/>
                    <a:gd name="T6" fmla="*/ 121 w 122"/>
                    <a:gd name="T7" fmla="*/ 0 h 92"/>
                    <a:gd name="T8" fmla="*/ 0 w 122"/>
                    <a:gd name="T9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2" h="92">
                      <a:moveTo>
                        <a:pt x="0" y="0"/>
                      </a:moveTo>
                      <a:lnTo>
                        <a:pt x="0" y="91"/>
                      </a:lnTo>
                      <a:lnTo>
                        <a:pt x="121" y="91"/>
                      </a:lnTo>
                      <a:lnTo>
                        <a:pt x="12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4" name="Freeform 42"/>
                <p:cNvSpPr>
                  <a:spLocks/>
                </p:cNvSpPr>
                <p:nvPr/>
              </p:nvSpPr>
              <p:spPr bwMode="auto">
                <a:xfrm>
                  <a:off x="3882" y="1494"/>
                  <a:ext cx="123" cy="92"/>
                </a:xfrm>
                <a:custGeom>
                  <a:avLst/>
                  <a:gdLst>
                    <a:gd name="T0" fmla="*/ 0 w 123"/>
                    <a:gd name="T1" fmla="*/ 0 h 92"/>
                    <a:gd name="T2" fmla="*/ 0 w 123"/>
                    <a:gd name="T3" fmla="*/ 91 h 92"/>
                    <a:gd name="T4" fmla="*/ 122 w 123"/>
                    <a:gd name="T5" fmla="*/ 91 h 92"/>
                    <a:gd name="T6" fmla="*/ 122 w 123"/>
                    <a:gd name="T7" fmla="*/ 0 h 92"/>
                    <a:gd name="T8" fmla="*/ 0 w 123"/>
                    <a:gd name="T9" fmla="*/ 0 h 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23" h="92">
                      <a:moveTo>
                        <a:pt x="0" y="0"/>
                      </a:moveTo>
                      <a:lnTo>
                        <a:pt x="0" y="91"/>
                      </a:lnTo>
                      <a:lnTo>
                        <a:pt x="122" y="91"/>
                      </a:lnTo>
                      <a:lnTo>
                        <a:pt x="12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3" name="Group 43"/>
              <p:cNvGrpSpPr>
                <a:grpSpLocks/>
              </p:cNvGrpSpPr>
              <p:nvPr/>
            </p:nvGrpSpPr>
            <p:grpSpPr bwMode="auto">
              <a:xfrm>
                <a:off x="3791" y="1266"/>
                <a:ext cx="151" cy="24"/>
                <a:chOff x="3791" y="1266"/>
                <a:chExt cx="151" cy="24"/>
              </a:xfrm>
            </p:grpSpPr>
            <p:sp>
              <p:nvSpPr>
                <p:cNvPr id="51" name="Freeform 44"/>
                <p:cNvSpPr>
                  <a:spLocks/>
                </p:cNvSpPr>
                <p:nvPr/>
              </p:nvSpPr>
              <p:spPr bwMode="auto">
                <a:xfrm>
                  <a:off x="3797" y="1269"/>
                  <a:ext cx="145" cy="21"/>
                </a:xfrm>
                <a:custGeom>
                  <a:avLst/>
                  <a:gdLst>
                    <a:gd name="T0" fmla="*/ 0 w 145"/>
                    <a:gd name="T1" fmla="*/ 0 h 21"/>
                    <a:gd name="T2" fmla="*/ 0 w 145"/>
                    <a:gd name="T3" fmla="*/ 20 h 21"/>
                    <a:gd name="T4" fmla="*/ 144 w 145"/>
                    <a:gd name="T5" fmla="*/ 20 h 21"/>
                    <a:gd name="T6" fmla="*/ 144 w 145"/>
                    <a:gd name="T7" fmla="*/ 0 h 21"/>
                    <a:gd name="T8" fmla="*/ 0 w 145"/>
                    <a:gd name="T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1">
                      <a:moveTo>
                        <a:pt x="0" y="0"/>
                      </a:moveTo>
                      <a:lnTo>
                        <a:pt x="0" y="20"/>
                      </a:lnTo>
                      <a:lnTo>
                        <a:pt x="144" y="20"/>
                      </a:lnTo>
                      <a:lnTo>
                        <a:pt x="144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2" name="Freeform 45"/>
                <p:cNvSpPr>
                  <a:spLocks/>
                </p:cNvSpPr>
                <p:nvPr/>
              </p:nvSpPr>
              <p:spPr bwMode="auto">
                <a:xfrm>
                  <a:off x="3791" y="1266"/>
                  <a:ext cx="145" cy="21"/>
                </a:xfrm>
                <a:custGeom>
                  <a:avLst/>
                  <a:gdLst>
                    <a:gd name="T0" fmla="*/ 0 w 145"/>
                    <a:gd name="T1" fmla="*/ 0 h 21"/>
                    <a:gd name="T2" fmla="*/ 0 w 145"/>
                    <a:gd name="T3" fmla="*/ 20 h 21"/>
                    <a:gd name="T4" fmla="*/ 144 w 145"/>
                    <a:gd name="T5" fmla="*/ 20 h 21"/>
                    <a:gd name="T6" fmla="*/ 144 w 145"/>
                    <a:gd name="T7" fmla="*/ 0 h 21"/>
                    <a:gd name="T8" fmla="*/ 0 w 145"/>
                    <a:gd name="T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1">
                      <a:moveTo>
                        <a:pt x="0" y="0"/>
                      </a:moveTo>
                      <a:lnTo>
                        <a:pt x="0" y="20"/>
                      </a:lnTo>
                      <a:lnTo>
                        <a:pt x="144" y="20"/>
                      </a:lnTo>
                      <a:lnTo>
                        <a:pt x="144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4" name="Group 46"/>
              <p:cNvGrpSpPr>
                <a:grpSpLocks/>
              </p:cNvGrpSpPr>
              <p:nvPr/>
            </p:nvGrpSpPr>
            <p:grpSpPr bwMode="auto">
              <a:xfrm>
                <a:off x="3954" y="1277"/>
                <a:ext cx="37" cy="34"/>
                <a:chOff x="3954" y="1277"/>
                <a:chExt cx="37" cy="34"/>
              </a:xfrm>
            </p:grpSpPr>
            <p:sp>
              <p:nvSpPr>
                <p:cNvPr id="49" name="Freeform 47"/>
                <p:cNvSpPr>
                  <a:spLocks/>
                </p:cNvSpPr>
                <p:nvPr/>
              </p:nvSpPr>
              <p:spPr bwMode="auto">
                <a:xfrm>
                  <a:off x="3960" y="1280"/>
                  <a:ext cx="31" cy="31"/>
                </a:xfrm>
                <a:custGeom>
                  <a:avLst/>
                  <a:gdLst>
                    <a:gd name="T0" fmla="*/ 0 w 31"/>
                    <a:gd name="T1" fmla="*/ 0 h 31"/>
                    <a:gd name="T2" fmla="*/ 0 w 31"/>
                    <a:gd name="T3" fmla="*/ 30 h 31"/>
                    <a:gd name="T4" fmla="*/ 30 w 31"/>
                    <a:gd name="T5" fmla="*/ 30 h 31"/>
                    <a:gd name="T6" fmla="*/ 30 w 31"/>
                    <a:gd name="T7" fmla="*/ 0 h 31"/>
                    <a:gd name="T8" fmla="*/ 0 w 31"/>
                    <a:gd name="T9" fmla="*/ 0 h 3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1" h="31">
                      <a:moveTo>
                        <a:pt x="0" y="0"/>
                      </a:moveTo>
                      <a:lnTo>
                        <a:pt x="0" y="30"/>
                      </a:lnTo>
                      <a:lnTo>
                        <a:pt x="30" y="30"/>
                      </a:lnTo>
                      <a:lnTo>
                        <a:pt x="3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50" name="Freeform 48"/>
                <p:cNvSpPr>
                  <a:spLocks/>
                </p:cNvSpPr>
                <p:nvPr/>
              </p:nvSpPr>
              <p:spPr bwMode="auto">
                <a:xfrm>
                  <a:off x="3954" y="1277"/>
                  <a:ext cx="32" cy="32"/>
                </a:xfrm>
                <a:custGeom>
                  <a:avLst/>
                  <a:gdLst>
                    <a:gd name="T0" fmla="*/ 0 w 32"/>
                    <a:gd name="T1" fmla="*/ 0 h 32"/>
                    <a:gd name="T2" fmla="*/ 0 w 32"/>
                    <a:gd name="T3" fmla="*/ 31 h 32"/>
                    <a:gd name="T4" fmla="*/ 31 w 32"/>
                    <a:gd name="T5" fmla="*/ 31 h 32"/>
                    <a:gd name="T6" fmla="*/ 31 w 32"/>
                    <a:gd name="T7" fmla="*/ 0 h 32"/>
                    <a:gd name="T8" fmla="*/ 0 w 32"/>
                    <a:gd name="T9" fmla="*/ 0 h 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32">
                      <a:moveTo>
                        <a:pt x="0" y="0"/>
                      </a:moveTo>
                      <a:lnTo>
                        <a:pt x="0" y="31"/>
                      </a:lnTo>
                      <a:lnTo>
                        <a:pt x="31" y="31"/>
                      </a:lnTo>
                      <a:lnTo>
                        <a:pt x="3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5" name="Group 49"/>
              <p:cNvGrpSpPr>
                <a:grpSpLocks/>
              </p:cNvGrpSpPr>
              <p:nvPr/>
            </p:nvGrpSpPr>
            <p:grpSpPr bwMode="auto">
              <a:xfrm>
                <a:off x="3794" y="1338"/>
                <a:ext cx="67" cy="24"/>
                <a:chOff x="3794" y="1338"/>
                <a:chExt cx="67" cy="24"/>
              </a:xfrm>
            </p:grpSpPr>
            <p:sp>
              <p:nvSpPr>
                <p:cNvPr id="47" name="Freeform 50"/>
                <p:cNvSpPr>
                  <a:spLocks/>
                </p:cNvSpPr>
                <p:nvPr/>
              </p:nvSpPr>
              <p:spPr bwMode="auto">
                <a:xfrm>
                  <a:off x="3799" y="1340"/>
                  <a:ext cx="62" cy="22"/>
                </a:xfrm>
                <a:custGeom>
                  <a:avLst/>
                  <a:gdLst>
                    <a:gd name="T0" fmla="*/ 0 w 62"/>
                    <a:gd name="T1" fmla="*/ 0 h 22"/>
                    <a:gd name="T2" fmla="*/ 0 w 62"/>
                    <a:gd name="T3" fmla="*/ 21 h 22"/>
                    <a:gd name="T4" fmla="*/ 61 w 62"/>
                    <a:gd name="T5" fmla="*/ 21 h 22"/>
                    <a:gd name="T6" fmla="*/ 61 w 62"/>
                    <a:gd name="T7" fmla="*/ 0 h 22"/>
                    <a:gd name="T8" fmla="*/ 0 w 62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22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61" y="21"/>
                      </a:lnTo>
                      <a:lnTo>
                        <a:pt x="6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8" name="Freeform 51"/>
                <p:cNvSpPr>
                  <a:spLocks/>
                </p:cNvSpPr>
                <p:nvPr/>
              </p:nvSpPr>
              <p:spPr bwMode="auto">
                <a:xfrm>
                  <a:off x="3794" y="1338"/>
                  <a:ext cx="63" cy="21"/>
                </a:xfrm>
                <a:custGeom>
                  <a:avLst/>
                  <a:gdLst>
                    <a:gd name="T0" fmla="*/ 0 w 63"/>
                    <a:gd name="T1" fmla="*/ 0 h 21"/>
                    <a:gd name="T2" fmla="*/ 0 w 63"/>
                    <a:gd name="T3" fmla="*/ 20 h 21"/>
                    <a:gd name="T4" fmla="*/ 62 w 63"/>
                    <a:gd name="T5" fmla="*/ 20 h 21"/>
                    <a:gd name="T6" fmla="*/ 62 w 63"/>
                    <a:gd name="T7" fmla="*/ 0 h 21"/>
                    <a:gd name="T8" fmla="*/ 0 w 63"/>
                    <a:gd name="T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1">
                      <a:moveTo>
                        <a:pt x="0" y="0"/>
                      </a:moveTo>
                      <a:lnTo>
                        <a:pt x="0" y="20"/>
                      </a:lnTo>
                      <a:lnTo>
                        <a:pt x="62" y="20"/>
                      </a:lnTo>
                      <a:lnTo>
                        <a:pt x="6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6" name="Group 52"/>
              <p:cNvGrpSpPr>
                <a:grpSpLocks/>
              </p:cNvGrpSpPr>
              <p:nvPr/>
            </p:nvGrpSpPr>
            <p:grpSpPr bwMode="auto">
              <a:xfrm>
                <a:off x="3861" y="1339"/>
                <a:ext cx="66" cy="26"/>
                <a:chOff x="3861" y="1339"/>
                <a:chExt cx="66" cy="26"/>
              </a:xfrm>
            </p:grpSpPr>
            <p:sp>
              <p:nvSpPr>
                <p:cNvPr id="45" name="Freeform 53"/>
                <p:cNvSpPr>
                  <a:spLocks/>
                </p:cNvSpPr>
                <p:nvPr/>
              </p:nvSpPr>
              <p:spPr bwMode="auto">
                <a:xfrm>
                  <a:off x="3865" y="1343"/>
                  <a:ext cx="62" cy="22"/>
                </a:xfrm>
                <a:custGeom>
                  <a:avLst/>
                  <a:gdLst>
                    <a:gd name="T0" fmla="*/ 0 w 62"/>
                    <a:gd name="T1" fmla="*/ 0 h 22"/>
                    <a:gd name="T2" fmla="*/ 0 w 62"/>
                    <a:gd name="T3" fmla="*/ 21 h 22"/>
                    <a:gd name="T4" fmla="*/ 61 w 62"/>
                    <a:gd name="T5" fmla="*/ 21 h 22"/>
                    <a:gd name="T6" fmla="*/ 61 w 62"/>
                    <a:gd name="T7" fmla="*/ 0 h 22"/>
                    <a:gd name="T8" fmla="*/ 0 w 62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2" h="22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61" y="21"/>
                      </a:lnTo>
                      <a:lnTo>
                        <a:pt x="6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6" name="Freeform 54"/>
                <p:cNvSpPr>
                  <a:spLocks/>
                </p:cNvSpPr>
                <p:nvPr/>
              </p:nvSpPr>
              <p:spPr bwMode="auto">
                <a:xfrm>
                  <a:off x="3861" y="1339"/>
                  <a:ext cx="63" cy="22"/>
                </a:xfrm>
                <a:custGeom>
                  <a:avLst/>
                  <a:gdLst>
                    <a:gd name="T0" fmla="*/ 0 w 63"/>
                    <a:gd name="T1" fmla="*/ 0 h 22"/>
                    <a:gd name="T2" fmla="*/ 0 w 63"/>
                    <a:gd name="T3" fmla="*/ 21 h 22"/>
                    <a:gd name="T4" fmla="*/ 62 w 63"/>
                    <a:gd name="T5" fmla="*/ 21 h 22"/>
                    <a:gd name="T6" fmla="*/ 62 w 63"/>
                    <a:gd name="T7" fmla="*/ 0 h 22"/>
                    <a:gd name="T8" fmla="*/ 0 w 63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63" h="22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62" y="21"/>
                      </a:lnTo>
                      <a:lnTo>
                        <a:pt x="6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7" name="Group 55"/>
              <p:cNvGrpSpPr>
                <a:grpSpLocks/>
              </p:cNvGrpSpPr>
              <p:nvPr/>
            </p:nvGrpSpPr>
            <p:grpSpPr bwMode="auto">
              <a:xfrm>
                <a:off x="3791" y="1466"/>
                <a:ext cx="55" cy="19"/>
                <a:chOff x="3791" y="1466"/>
                <a:chExt cx="55" cy="19"/>
              </a:xfrm>
            </p:grpSpPr>
            <p:sp>
              <p:nvSpPr>
                <p:cNvPr id="43" name="Freeform 56"/>
                <p:cNvSpPr>
                  <a:spLocks/>
                </p:cNvSpPr>
                <p:nvPr/>
              </p:nvSpPr>
              <p:spPr bwMode="auto">
                <a:xfrm>
                  <a:off x="3796" y="1468"/>
                  <a:ext cx="50" cy="17"/>
                </a:xfrm>
                <a:custGeom>
                  <a:avLst/>
                  <a:gdLst>
                    <a:gd name="T0" fmla="*/ 0 w 50"/>
                    <a:gd name="T1" fmla="*/ 0 h 17"/>
                    <a:gd name="T2" fmla="*/ 0 w 50"/>
                    <a:gd name="T3" fmla="*/ 16 h 17"/>
                    <a:gd name="T4" fmla="*/ 49 w 50"/>
                    <a:gd name="T5" fmla="*/ 16 h 17"/>
                    <a:gd name="T6" fmla="*/ 49 w 50"/>
                    <a:gd name="T7" fmla="*/ 0 h 17"/>
                    <a:gd name="T8" fmla="*/ 0 w 50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0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49" y="16"/>
                      </a:lnTo>
                      <a:lnTo>
                        <a:pt x="49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4" name="Freeform 57"/>
                <p:cNvSpPr>
                  <a:spLocks/>
                </p:cNvSpPr>
                <p:nvPr/>
              </p:nvSpPr>
              <p:spPr bwMode="auto">
                <a:xfrm>
                  <a:off x="3791" y="1466"/>
                  <a:ext cx="51" cy="17"/>
                </a:xfrm>
                <a:custGeom>
                  <a:avLst/>
                  <a:gdLst>
                    <a:gd name="T0" fmla="*/ 0 w 51"/>
                    <a:gd name="T1" fmla="*/ 0 h 17"/>
                    <a:gd name="T2" fmla="*/ 0 w 51"/>
                    <a:gd name="T3" fmla="*/ 16 h 17"/>
                    <a:gd name="T4" fmla="*/ 50 w 51"/>
                    <a:gd name="T5" fmla="*/ 16 h 17"/>
                    <a:gd name="T6" fmla="*/ 50 w 51"/>
                    <a:gd name="T7" fmla="*/ 0 h 17"/>
                    <a:gd name="T8" fmla="*/ 0 w 51"/>
                    <a:gd name="T9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1" h="17">
                      <a:moveTo>
                        <a:pt x="0" y="0"/>
                      </a:moveTo>
                      <a:lnTo>
                        <a:pt x="0" y="16"/>
                      </a:lnTo>
                      <a:lnTo>
                        <a:pt x="50" y="16"/>
                      </a:lnTo>
                      <a:lnTo>
                        <a:pt x="50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8" name="Group 58"/>
              <p:cNvGrpSpPr>
                <a:grpSpLocks/>
              </p:cNvGrpSpPr>
              <p:nvPr/>
            </p:nvGrpSpPr>
            <p:grpSpPr bwMode="auto">
              <a:xfrm>
                <a:off x="3791" y="1297"/>
                <a:ext cx="151" cy="23"/>
                <a:chOff x="3791" y="1297"/>
                <a:chExt cx="151" cy="23"/>
              </a:xfrm>
            </p:grpSpPr>
            <p:sp>
              <p:nvSpPr>
                <p:cNvPr id="41" name="Freeform 59"/>
                <p:cNvSpPr>
                  <a:spLocks/>
                </p:cNvSpPr>
                <p:nvPr/>
              </p:nvSpPr>
              <p:spPr bwMode="auto">
                <a:xfrm>
                  <a:off x="3797" y="1298"/>
                  <a:ext cx="145" cy="22"/>
                </a:xfrm>
                <a:custGeom>
                  <a:avLst/>
                  <a:gdLst>
                    <a:gd name="T0" fmla="*/ 0 w 145"/>
                    <a:gd name="T1" fmla="*/ 0 h 22"/>
                    <a:gd name="T2" fmla="*/ 0 w 145"/>
                    <a:gd name="T3" fmla="*/ 21 h 22"/>
                    <a:gd name="T4" fmla="*/ 144 w 145"/>
                    <a:gd name="T5" fmla="*/ 21 h 22"/>
                    <a:gd name="T6" fmla="*/ 144 w 145"/>
                    <a:gd name="T7" fmla="*/ 0 h 22"/>
                    <a:gd name="T8" fmla="*/ 0 w 145"/>
                    <a:gd name="T9" fmla="*/ 0 h 2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2">
                      <a:moveTo>
                        <a:pt x="0" y="0"/>
                      </a:moveTo>
                      <a:lnTo>
                        <a:pt x="0" y="21"/>
                      </a:lnTo>
                      <a:lnTo>
                        <a:pt x="144" y="21"/>
                      </a:lnTo>
                      <a:lnTo>
                        <a:pt x="144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" name="Freeform 60"/>
                <p:cNvSpPr>
                  <a:spLocks/>
                </p:cNvSpPr>
                <p:nvPr/>
              </p:nvSpPr>
              <p:spPr bwMode="auto">
                <a:xfrm>
                  <a:off x="3791" y="1297"/>
                  <a:ext cx="145" cy="21"/>
                </a:xfrm>
                <a:custGeom>
                  <a:avLst/>
                  <a:gdLst>
                    <a:gd name="T0" fmla="*/ 0 w 145"/>
                    <a:gd name="T1" fmla="*/ 0 h 21"/>
                    <a:gd name="T2" fmla="*/ 0 w 145"/>
                    <a:gd name="T3" fmla="*/ 20 h 21"/>
                    <a:gd name="T4" fmla="*/ 144 w 145"/>
                    <a:gd name="T5" fmla="*/ 20 h 21"/>
                    <a:gd name="T6" fmla="*/ 144 w 145"/>
                    <a:gd name="T7" fmla="*/ 0 h 21"/>
                    <a:gd name="T8" fmla="*/ 0 w 145"/>
                    <a:gd name="T9" fmla="*/ 0 h 2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45" h="21">
                      <a:moveTo>
                        <a:pt x="0" y="0"/>
                      </a:moveTo>
                      <a:lnTo>
                        <a:pt x="0" y="20"/>
                      </a:lnTo>
                      <a:lnTo>
                        <a:pt x="144" y="20"/>
                      </a:lnTo>
                      <a:lnTo>
                        <a:pt x="144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29" name="Group 61"/>
              <p:cNvGrpSpPr>
                <a:grpSpLocks/>
              </p:cNvGrpSpPr>
              <p:nvPr/>
            </p:nvGrpSpPr>
            <p:grpSpPr bwMode="auto">
              <a:xfrm>
                <a:off x="3729" y="1387"/>
                <a:ext cx="39" cy="25"/>
                <a:chOff x="3729" y="1387"/>
                <a:chExt cx="39" cy="25"/>
              </a:xfrm>
            </p:grpSpPr>
            <p:sp>
              <p:nvSpPr>
                <p:cNvPr id="39" name="Freeform 62"/>
                <p:cNvSpPr>
                  <a:spLocks/>
                </p:cNvSpPr>
                <p:nvPr/>
              </p:nvSpPr>
              <p:spPr bwMode="auto">
                <a:xfrm>
                  <a:off x="3736" y="1388"/>
                  <a:ext cx="32" cy="24"/>
                </a:xfrm>
                <a:custGeom>
                  <a:avLst/>
                  <a:gdLst>
                    <a:gd name="T0" fmla="*/ 0 w 32"/>
                    <a:gd name="T1" fmla="*/ 0 h 24"/>
                    <a:gd name="T2" fmla="*/ 0 w 32"/>
                    <a:gd name="T3" fmla="*/ 23 h 24"/>
                    <a:gd name="T4" fmla="*/ 31 w 32"/>
                    <a:gd name="T5" fmla="*/ 23 h 24"/>
                    <a:gd name="T6" fmla="*/ 31 w 32"/>
                    <a:gd name="T7" fmla="*/ 0 h 24"/>
                    <a:gd name="T8" fmla="*/ 0 w 32"/>
                    <a:gd name="T9" fmla="*/ 0 h 2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4">
                      <a:moveTo>
                        <a:pt x="0" y="0"/>
                      </a:moveTo>
                      <a:lnTo>
                        <a:pt x="0" y="23"/>
                      </a:lnTo>
                      <a:lnTo>
                        <a:pt x="31" y="23"/>
                      </a:lnTo>
                      <a:lnTo>
                        <a:pt x="3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0" name="Freeform 63"/>
                <p:cNvSpPr>
                  <a:spLocks/>
                </p:cNvSpPr>
                <p:nvPr/>
              </p:nvSpPr>
              <p:spPr bwMode="auto">
                <a:xfrm>
                  <a:off x="3729" y="1387"/>
                  <a:ext cx="35" cy="23"/>
                </a:xfrm>
                <a:custGeom>
                  <a:avLst/>
                  <a:gdLst>
                    <a:gd name="T0" fmla="*/ 0 w 35"/>
                    <a:gd name="T1" fmla="*/ 0 h 23"/>
                    <a:gd name="T2" fmla="*/ 0 w 35"/>
                    <a:gd name="T3" fmla="*/ 22 h 23"/>
                    <a:gd name="T4" fmla="*/ 34 w 35"/>
                    <a:gd name="T5" fmla="*/ 22 h 23"/>
                    <a:gd name="T6" fmla="*/ 34 w 35"/>
                    <a:gd name="T7" fmla="*/ 0 h 23"/>
                    <a:gd name="T8" fmla="*/ 0 w 35"/>
                    <a:gd name="T9" fmla="*/ 0 h 2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5" h="23">
                      <a:moveTo>
                        <a:pt x="0" y="0"/>
                      </a:moveTo>
                      <a:lnTo>
                        <a:pt x="0" y="22"/>
                      </a:lnTo>
                      <a:lnTo>
                        <a:pt x="34" y="22"/>
                      </a:lnTo>
                      <a:lnTo>
                        <a:pt x="34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0" name="Group 64"/>
              <p:cNvGrpSpPr>
                <a:grpSpLocks/>
              </p:cNvGrpSpPr>
              <p:nvPr/>
            </p:nvGrpSpPr>
            <p:grpSpPr bwMode="auto">
              <a:xfrm>
                <a:off x="3761" y="1602"/>
                <a:ext cx="38" cy="30"/>
                <a:chOff x="3761" y="1602"/>
                <a:chExt cx="38" cy="30"/>
              </a:xfrm>
            </p:grpSpPr>
            <p:sp>
              <p:nvSpPr>
                <p:cNvPr id="37" name="Freeform 65"/>
                <p:cNvSpPr>
                  <a:spLocks/>
                </p:cNvSpPr>
                <p:nvPr/>
              </p:nvSpPr>
              <p:spPr bwMode="auto">
                <a:xfrm>
                  <a:off x="3765" y="1606"/>
                  <a:ext cx="34" cy="26"/>
                </a:xfrm>
                <a:custGeom>
                  <a:avLst/>
                  <a:gdLst>
                    <a:gd name="T0" fmla="*/ 0 w 34"/>
                    <a:gd name="T1" fmla="*/ 0 h 26"/>
                    <a:gd name="T2" fmla="*/ 0 w 34"/>
                    <a:gd name="T3" fmla="*/ 25 h 26"/>
                    <a:gd name="T4" fmla="*/ 33 w 34"/>
                    <a:gd name="T5" fmla="*/ 25 h 26"/>
                    <a:gd name="T6" fmla="*/ 33 w 34"/>
                    <a:gd name="T7" fmla="*/ 0 h 26"/>
                    <a:gd name="T8" fmla="*/ 0 w 34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4" h="26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33" y="25"/>
                      </a:lnTo>
                      <a:lnTo>
                        <a:pt x="33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Freeform 66"/>
                <p:cNvSpPr>
                  <a:spLocks/>
                </p:cNvSpPr>
                <p:nvPr/>
              </p:nvSpPr>
              <p:spPr bwMode="auto">
                <a:xfrm>
                  <a:off x="3761" y="1602"/>
                  <a:ext cx="32" cy="26"/>
                </a:xfrm>
                <a:custGeom>
                  <a:avLst/>
                  <a:gdLst>
                    <a:gd name="T0" fmla="*/ 0 w 32"/>
                    <a:gd name="T1" fmla="*/ 0 h 26"/>
                    <a:gd name="T2" fmla="*/ 0 w 32"/>
                    <a:gd name="T3" fmla="*/ 25 h 26"/>
                    <a:gd name="T4" fmla="*/ 31 w 32"/>
                    <a:gd name="T5" fmla="*/ 25 h 26"/>
                    <a:gd name="T6" fmla="*/ 31 w 32"/>
                    <a:gd name="T7" fmla="*/ 0 h 26"/>
                    <a:gd name="T8" fmla="*/ 0 w 32"/>
                    <a:gd name="T9" fmla="*/ 0 h 2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2" h="26">
                      <a:moveTo>
                        <a:pt x="0" y="0"/>
                      </a:moveTo>
                      <a:lnTo>
                        <a:pt x="0" y="25"/>
                      </a:lnTo>
                      <a:lnTo>
                        <a:pt x="31" y="25"/>
                      </a:lnTo>
                      <a:lnTo>
                        <a:pt x="3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" name="Group 67"/>
              <p:cNvGrpSpPr>
                <a:grpSpLocks/>
              </p:cNvGrpSpPr>
              <p:nvPr/>
            </p:nvGrpSpPr>
            <p:grpSpPr bwMode="auto">
              <a:xfrm>
                <a:off x="3863" y="1651"/>
                <a:ext cx="29" cy="41"/>
                <a:chOff x="3863" y="1651"/>
                <a:chExt cx="29" cy="41"/>
              </a:xfrm>
            </p:grpSpPr>
            <p:sp>
              <p:nvSpPr>
                <p:cNvPr id="35" name="Freeform 68"/>
                <p:cNvSpPr>
                  <a:spLocks/>
                </p:cNvSpPr>
                <p:nvPr/>
              </p:nvSpPr>
              <p:spPr bwMode="auto">
                <a:xfrm>
                  <a:off x="3869" y="1656"/>
                  <a:ext cx="23" cy="36"/>
                </a:xfrm>
                <a:custGeom>
                  <a:avLst/>
                  <a:gdLst>
                    <a:gd name="T0" fmla="*/ 0 w 23"/>
                    <a:gd name="T1" fmla="*/ 0 h 36"/>
                    <a:gd name="T2" fmla="*/ 0 w 23"/>
                    <a:gd name="T3" fmla="*/ 35 h 36"/>
                    <a:gd name="T4" fmla="*/ 22 w 23"/>
                    <a:gd name="T5" fmla="*/ 35 h 36"/>
                    <a:gd name="T6" fmla="*/ 22 w 23"/>
                    <a:gd name="T7" fmla="*/ 0 h 36"/>
                    <a:gd name="T8" fmla="*/ 0 w 23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36">
                      <a:moveTo>
                        <a:pt x="0" y="0"/>
                      </a:moveTo>
                      <a:lnTo>
                        <a:pt x="0" y="35"/>
                      </a:lnTo>
                      <a:lnTo>
                        <a:pt x="22" y="35"/>
                      </a:lnTo>
                      <a:lnTo>
                        <a:pt x="2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Freeform 69"/>
                <p:cNvSpPr>
                  <a:spLocks/>
                </p:cNvSpPr>
                <p:nvPr/>
              </p:nvSpPr>
              <p:spPr bwMode="auto">
                <a:xfrm>
                  <a:off x="3863" y="1651"/>
                  <a:ext cx="24" cy="37"/>
                </a:xfrm>
                <a:custGeom>
                  <a:avLst/>
                  <a:gdLst>
                    <a:gd name="T0" fmla="*/ 0 w 24"/>
                    <a:gd name="T1" fmla="*/ 0 h 37"/>
                    <a:gd name="T2" fmla="*/ 0 w 24"/>
                    <a:gd name="T3" fmla="*/ 36 h 37"/>
                    <a:gd name="T4" fmla="*/ 23 w 24"/>
                    <a:gd name="T5" fmla="*/ 36 h 37"/>
                    <a:gd name="T6" fmla="*/ 23 w 24"/>
                    <a:gd name="T7" fmla="*/ 0 h 37"/>
                    <a:gd name="T8" fmla="*/ 0 w 24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4" h="37">
                      <a:moveTo>
                        <a:pt x="0" y="0"/>
                      </a:moveTo>
                      <a:lnTo>
                        <a:pt x="0" y="36"/>
                      </a:lnTo>
                      <a:lnTo>
                        <a:pt x="23" y="36"/>
                      </a:lnTo>
                      <a:lnTo>
                        <a:pt x="23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2" name="Group 70"/>
              <p:cNvGrpSpPr>
                <a:grpSpLocks/>
              </p:cNvGrpSpPr>
              <p:nvPr/>
            </p:nvGrpSpPr>
            <p:grpSpPr bwMode="auto">
              <a:xfrm>
                <a:off x="3907" y="1651"/>
                <a:ext cx="29" cy="41"/>
                <a:chOff x="3907" y="1651"/>
                <a:chExt cx="29" cy="41"/>
              </a:xfrm>
            </p:grpSpPr>
            <p:sp>
              <p:nvSpPr>
                <p:cNvPr id="33" name="Freeform 71"/>
                <p:cNvSpPr>
                  <a:spLocks/>
                </p:cNvSpPr>
                <p:nvPr/>
              </p:nvSpPr>
              <p:spPr bwMode="auto">
                <a:xfrm>
                  <a:off x="3913" y="1656"/>
                  <a:ext cx="23" cy="36"/>
                </a:xfrm>
                <a:custGeom>
                  <a:avLst/>
                  <a:gdLst>
                    <a:gd name="T0" fmla="*/ 0 w 23"/>
                    <a:gd name="T1" fmla="*/ 0 h 36"/>
                    <a:gd name="T2" fmla="*/ 0 w 23"/>
                    <a:gd name="T3" fmla="*/ 35 h 36"/>
                    <a:gd name="T4" fmla="*/ 22 w 23"/>
                    <a:gd name="T5" fmla="*/ 35 h 36"/>
                    <a:gd name="T6" fmla="*/ 22 w 23"/>
                    <a:gd name="T7" fmla="*/ 0 h 36"/>
                    <a:gd name="T8" fmla="*/ 0 w 23"/>
                    <a:gd name="T9" fmla="*/ 0 h 3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36">
                      <a:moveTo>
                        <a:pt x="0" y="0"/>
                      </a:moveTo>
                      <a:lnTo>
                        <a:pt x="0" y="35"/>
                      </a:lnTo>
                      <a:lnTo>
                        <a:pt x="22" y="35"/>
                      </a:lnTo>
                      <a:lnTo>
                        <a:pt x="2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Freeform 72"/>
                <p:cNvSpPr>
                  <a:spLocks/>
                </p:cNvSpPr>
                <p:nvPr/>
              </p:nvSpPr>
              <p:spPr bwMode="auto">
                <a:xfrm>
                  <a:off x="3907" y="1651"/>
                  <a:ext cx="23" cy="37"/>
                </a:xfrm>
                <a:custGeom>
                  <a:avLst/>
                  <a:gdLst>
                    <a:gd name="T0" fmla="*/ 0 w 23"/>
                    <a:gd name="T1" fmla="*/ 0 h 37"/>
                    <a:gd name="T2" fmla="*/ 0 w 23"/>
                    <a:gd name="T3" fmla="*/ 36 h 37"/>
                    <a:gd name="T4" fmla="*/ 22 w 23"/>
                    <a:gd name="T5" fmla="*/ 36 h 37"/>
                    <a:gd name="T6" fmla="*/ 22 w 23"/>
                    <a:gd name="T7" fmla="*/ 0 h 37"/>
                    <a:gd name="T8" fmla="*/ 0 w 23"/>
                    <a:gd name="T9" fmla="*/ 0 h 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3" h="37">
                      <a:moveTo>
                        <a:pt x="0" y="0"/>
                      </a:moveTo>
                      <a:lnTo>
                        <a:pt x="0" y="36"/>
                      </a:lnTo>
                      <a:lnTo>
                        <a:pt x="22" y="36"/>
                      </a:lnTo>
                      <a:lnTo>
                        <a:pt x="22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716759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75" name="AutoShape 73"/>
            <p:cNvSpPr>
              <a:spLocks noChangeArrowheads="1"/>
            </p:cNvSpPr>
            <p:nvPr/>
          </p:nvSpPr>
          <p:spPr bwMode="auto">
            <a:xfrm rot="10800000" flipH="1" flipV="1">
              <a:off x="5903913" y="3121025"/>
              <a:ext cx="271462" cy="101600"/>
            </a:xfrm>
            <a:custGeom>
              <a:avLst/>
              <a:gdLst>
                <a:gd name="G0" fmla="+- 5399 0 0"/>
                <a:gd name="G1" fmla="+- 21600 0 5399"/>
                <a:gd name="G2" fmla="*/ 5399 1 2"/>
                <a:gd name="G3" fmla="+- 21600 0 G2"/>
                <a:gd name="G4" fmla="+/ 5399 21600 2"/>
                <a:gd name="G5" fmla="+/ G1 0 2"/>
                <a:gd name="G6" fmla="*/ 21600 21600 5399"/>
                <a:gd name="G7" fmla="*/ G6 1 2"/>
                <a:gd name="G8" fmla="+- 21600 0 G7"/>
                <a:gd name="G9" fmla="*/ 21600 1 2"/>
                <a:gd name="G10" fmla="+- 5399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Rectangle 74"/>
            <p:cNvSpPr>
              <a:spLocks noChangeArrowheads="1"/>
            </p:cNvSpPr>
            <p:nvPr/>
          </p:nvSpPr>
          <p:spPr bwMode="auto">
            <a:xfrm>
              <a:off x="6875463" y="4471988"/>
              <a:ext cx="1295400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>
                  <a:latin typeface="Calibri" panose="020F0502020204030204" pitchFamily="34" charset="0"/>
                  <a:ea typeface="华文楷体" panose="02010600040101010101" pitchFamily="2" charset="-122"/>
                </a:rPr>
                <a:t>连接器</a:t>
              </a:r>
            </a:p>
          </p:txBody>
        </p:sp>
        <p:sp>
          <p:nvSpPr>
            <p:cNvPr id="77" name="Rectangle 75"/>
            <p:cNvSpPr>
              <a:spLocks noChangeArrowheads="1"/>
            </p:cNvSpPr>
            <p:nvPr/>
          </p:nvSpPr>
          <p:spPr bwMode="auto">
            <a:xfrm>
              <a:off x="6773863" y="4027488"/>
              <a:ext cx="878446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>
                  <a:latin typeface="Calibri" panose="020F0502020204030204" pitchFamily="34" charset="0"/>
                  <a:ea typeface="华文楷体" panose="02010600040101010101" pitchFamily="2" charset="-122"/>
                </a:rPr>
                <a:t>收发器</a:t>
              </a:r>
            </a:p>
          </p:txBody>
        </p:sp>
        <p:sp>
          <p:nvSpPr>
            <p:cNvPr id="78" name="Rectangle 76"/>
            <p:cNvSpPr>
              <a:spLocks noChangeArrowheads="1"/>
            </p:cNvSpPr>
            <p:nvPr/>
          </p:nvSpPr>
          <p:spPr bwMode="auto">
            <a:xfrm>
              <a:off x="6324600" y="3352800"/>
              <a:ext cx="982257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>
                  <a:latin typeface="Calibri" panose="020F0502020204030204" pitchFamily="34" charset="0"/>
                  <a:ea typeface="华文楷体" panose="02010600040101010101" pitchFamily="2" charset="-122"/>
                </a:rPr>
                <a:t>AUI</a:t>
              </a:r>
              <a:r>
                <a:rPr kumimoji="1" lang="zh-CN" altLang="en-US">
                  <a:latin typeface="Calibri" panose="020F0502020204030204" pitchFamily="34" charset="0"/>
                  <a:ea typeface="华文楷体" panose="02010600040101010101" pitchFamily="2" charset="-122"/>
                </a:rPr>
                <a:t>电缆</a:t>
              </a:r>
            </a:p>
          </p:txBody>
        </p:sp>
        <p:sp>
          <p:nvSpPr>
            <p:cNvPr id="79" name="Rectangle 77"/>
            <p:cNvSpPr>
              <a:spLocks noChangeArrowheads="1"/>
            </p:cNvSpPr>
            <p:nvPr/>
          </p:nvSpPr>
          <p:spPr bwMode="auto">
            <a:xfrm>
              <a:off x="6400800" y="2514600"/>
              <a:ext cx="647613" cy="36997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dirty="0">
                  <a:latin typeface="Calibri" panose="020F0502020204030204" pitchFamily="34" charset="0"/>
                  <a:ea typeface="华文楷体" panose="02010600040101010101" pitchFamily="2" charset="-122"/>
                </a:rPr>
                <a:t>网卡</a:t>
              </a:r>
            </a:p>
          </p:txBody>
        </p:sp>
        <p:sp>
          <p:nvSpPr>
            <p:cNvPr id="80" name="Rectangle 78"/>
            <p:cNvSpPr>
              <a:spLocks noChangeArrowheads="1"/>
            </p:cNvSpPr>
            <p:nvPr/>
          </p:nvSpPr>
          <p:spPr bwMode="auto">
            <a:xfrm>
              <a:off x="6005513" y="3244850"/>
              <a:ext cx="71437" cy="657225"/>
            </a:xfrm>
            <a:prstGeom prst="rect">
              <a:avLst/>
            </a:prstGeom>
            <a:solidFill>
              <a:schemeClr val="folHlink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Rectangle 79"/>
            <p:cNvSpPr>
              <a:spLocks noChangeArrowheads="1"/>
            </p:cNvSpPr>
            <p:nvPr/>
          </p:nvSpPr>
          <p:spPr bwMode="auto">
            <a:xfrm>
              <a:off x="2735263" y="2076450"/>
              <a:ext cx="2598737" cy="3391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>
                  <a:latin typeface="楷体_GB2312" pitchFamily="49" charset="-122"/>
                  <a:ea typeface="楷体_GB2312" pitchFamily="49" charset="-122"/>
                </a:rPr>
                <a:t>站接口</a:t>
              </a:r>
            </a:p>
          </p:txBody>
        </p:sp>
        <p:sp>
          <p:nvSpPr>
            <p:cNvPr id="82" name="Rectangle 80"/>
            <p:cNvSpPr>
              <a:spLocks noChangeArrowheads="1"/>
            </p:cNvSpPr>
            <p:nvPr/>
          </p:nvSpPr>
          <p:spPr bwMode="auto">
            <a:xfrm>
              <a:off x="2735263" y="2446338"/>
              <a:ext cx="2590800" cy="3391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楷体_GB2312" pitchFamily="49" charset="-122"/>
                  <a:ea typeface="楷体_GB2312" pitchFamily="49" charset="-122"/>
                </a:rPr>
                <a:t>数据封装</a:t>
              </a:r>
              <a:r>
                <a:rPr kumimoji="1" lang="en-US" altLang="zh-CN" sz="1600" b="1" dirty="0">
                  <a:latin typeface="楷体_GB2312" pitchFamily="49" charset="-122"/>
                  <a:ea typeface="楷体_GB2312" pitchFamily="49" charset="-122"/>
                </a:rPr>
                <a:t>/</a:t>
              </a:r>
              <a:r>
                <a:rPr kumimoji="1" lang="zh-CN" altLang="en-US" sz="1600" b="1" dirty="0">
                  <a:latin typeface="楷体_GB2312" pitchFamily="49" charset="-122"/>
                  <a:ea typeface="楷体_GB2312" pitchFamily="49" charset="-122"/>
                </a:rPr>
                <a:t>解封（</a:t>
              </a:r>
              <a:r>
                <a:rPr kumimoji="1" lang="en-US" altLang="zh-CN" sz="1600" b="1" dirty="0">
                  <a:latin typeface="楷体_GB2312" pitchFamily="49" charset="-122"/>
                  <a:ea typeface="楷体_GB2312" pitchFamily="49" charset="-122"/>
                </a:rPr>
                <a:t>MAC </a:t>
              </a:r>
              <a:r>
                <a:rPr kumimoji="1" lang="zh-CN" altLang="en-US" sz="1600" b="1" dirty="0">
                  <a:latin typeface="楷体_GB2312" pitchFamily="49" charset="-122"/>
                  <a:ea typeface="楷体_GB2312" pitchFamily="49" charset="-122"/>
                </a:rPr>
                <a:t>帧）</a:t>
              </a:r>
            </a:p>
          </p:txBody>
        </p:sp>
        <p:sp>
          <p:nvSpPr>
            <p:cNvPr id="83" name="Rectangle 81"/>
            <p:cNvSpPr>
              <a:spLocks noChangeArrowheads="1"/>
            </p:cNvSpPr>
            <p:nvPr/>
          </p:nvSpPr>
          <p:spPr bwMode="auto">
            <a:xfrm>
              <a:off x="2646363" y="2819400"/>
              <a:ext cx="2679700" cy="3391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 dirty="0">
                  <a:latin typeface="楷体_GB2312" pitchFamily="49" charset="-122"/>
                  <a:ea typeface="楷体_GB2312" pitchFamily="49" charset="-122"/>
                </a:rPr>
                <a:t>介质访问控制</a:t>
              </a:r>
              <a:r>
                <a:rPr kumimoji="1" lang="en-US" altLang="zh-CN" sz="1600" b="1" dirty="0">
                  <a:latin typeface="楷体_GB2312" pitchFamily="49" charset="-122"/>
                  <a:ea typeface="楷体_GB2312" pitchFamily="49" charset="-122"/>
                </a:rPr>
                <a:t>(CSMA/CD)</a:t>
              </a:r>
              <a:endParaRPr kumimoji="1" lang="zh-CN" altLang="en-US" sz="1600" b="1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4" name="Rectangle 82"/>
            <p:cNvSpPr>
              <a:spLocks noChangeArrowheads="1"/>
            </p:cNvSpPr>
            <p:nvPr/>
          </p:nvSpPr>
          <p:spPr bwMode="auto">
            <a:xfrm>
              <a:off x="2735263" y="3276600"/>
              <a:ext cx="2598737" cy="3391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>
                  <a:latin typeface="楷体_GB2312" pitchFamily="49" charset="-122"/>
                  <a:ea typeface="楷体_GB2312" pitchFamily="49" charset="-122"/>
                </a:rPr>
                <a:t>曼彻斯特编码</a:t>
              </a:r>
              <a:r>
                <a:rPr kumimoji="1" lang="en-US" altLang="zh-CN" sz="1600" b="1">
                  <a:latin typeface="楷体_GB2312" pitchFamily="49" charset="-122"/>
                  <a:ea typeface="楷体_GB2312" pitchFamily="49" charset="-122"/>
                </a:rPr>
                <a:t>/</a:t>
              </a:r>
              <a:r>
                <a:rPr kumimoji="1" lang="zh-CN" altLang="en-US" sz="1600" b="1">
                  <a:latin typeface="楷体_GB2312" pitchFamily="49" charset="-122"/>
                  <a:ea typeface="楷体_GB2312" pitchFamily="49" charset="-122"/>
                </a:rPr>
                <a:t>译码</a:t>
              </a:r>
            </a:p>
          </p:txBody>
        </p:sp>
        <p:sp>
          <p:nvSpPr>
            <p:cNvPr id="85" name="Rectangle 83"/>
            <p:cNvSpPr>
              <a:spLocks noChangeArrowheads="1"/>
            </p:cNvSpPr>
            <p:nvPr/>
          </p:nvSpPr>
          <p:spPr bwMode="auto">
            <a:xfrm>
              <a:off x="2735263" y="4191000"/>
              <a:ext cx="2209800" cy="3391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600" b="1">
                  <a:latin typeface="楷体_GB2312" pitchFamily="49" charset="-122"/>
                  <a:ea typeface="楷体_GB2312" pitchFamily="49" charset="-122"/>
                </a:rPr>
                <a:t>发送</a:t>
              </a:r>
              <a:r>
                <a:rPr kumimoji="1" lang="en-US" altLang="zh-CN" sz="1600" b="1">
                  <a:latin typeface="楷体_GB2312" pitchFamily="49" charset="-122"/>
                  <a:ea typeface="楷体_GB2312" pitchFamily="49" charset="-122"/>
                </a:rPr>
                <a:t>/</a:t>
              </a:r>
              <a:r>
                <a:rPr kumimoji="1" lang="zh-CN" altLang="en-US" sz="1600" b="1">
                  <a:latin typeface="楷体_GB2312" pitchFamily="49" charset="-122"/>
                  <a:ea typeface="楷体_GB2312" pitchFamily="49" charset="-122"/>
                </a:rPr>
                <a:t>接收</a:t>
              </a:r>
            </a:p>
          </p:txBody>
        </p:sp>
        <p:sp>
          <p:nvSpPr>
            <p:cNvPr id="86" name="Line 84"/>
            <p:cNvSpPr>
              <a:spLocks noChangeShapeType="1"/>
            </p:cNvSpPr>
            <p:nvPr/>
          </p:nvSpPr>
          <p:spPr bwMode="auto">
            <a:xfrm>
              <a:off x="5410200" y="2133600"/>
              <a:ext cx="312738" cy="157163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7" name="Line 85"/>
            <p:cNvSpPr>
              <a:spLocks noChangeShapeType="1"/>
            </p:cNvSpPr>
            <p:nvPr/>
          </p:nvSpPr>
          <p:spPr bwMode="auto">
            <a:xfrm flipV="1">
              <a:off x="5410200" y="3124200"/>
              <a:ext cx="304800" cy="38100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8" name="Line 86"/>
            <p:cNvSpPr>
              <a:spLocks noChangeShapeType="1"/>
            </p:cNvSpPr>
            <p:nvPr/>
          </p:nvSpPr>
          <p:spPr bwMode="auto">
            <a:xfrm flipV="1">
              <a:off x="5135563" y="4079875"/>
              <a:ext cx="484187" cy="115888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9" name="Line 87"/>
            <p:cNvSpPr>
              <a:spLocks noChangeShapeType="1"/>
            </p:cNvSpPr>
            <p:nvPr/>
          </p:nvSpPr>
          <p:spPr bwMode="auto">
            <a:xfrm>
              <a:off x="5127625" y="4464050"/>
              <a:ext cx="481013" cy="77788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0" name="AutoShape 88"/>
            <p:cNvSpPr>
              <a:spLocks noChangeArrowheads="1"/>
            </p:cNvSpPr>
            <p:nvPr/>
          </p:nvSpPr>
          <p:spPr bwMode="auto">
            <a:xfrm flipV="1">
              <a:off x="5884863" y="3905250"/>
              <a:ext cx="338137" cy="112713"/>
            </a:xfrm>
            <a:custGeom>
              <a:avLst/>
              <a:gdLst>
                <a:gd name="G0" fmla="+- 5399 0 0"/>
                <a:gd name="G1" fmla="+- 21600 0 5399"/>
                <a:gd name="G2" fmla="*/ 5399 1 2"/>
                <a:gd name="G3" fmla="+- 21600 0 G2"/>
                <a:gd name="G4" fmla="+/ 5399 21600 2"/>
                <a:gd name="G5" fmla="+/ G1 0 2"/>
                <a:gd name="G6" fmla="*/ 21600 21600 5399"/>
                <a:gd name="G7" fmla="*/ G6 1 2"/>
                <a:gd name="G8" fmla="+- 21600 0 G7"/>
                <a:gd name="G9" fmla="*/ 21600 1 2"/>
                <a:gd name="G10" fmla="+- 5399 0 G9"/>
                <a:gd name="G11" fmla="?: G10 G8 0"/>
                <a:gd name="G12" fmla="?: G10 G7 21600"/>
                <a:gd name="T0" fmla="*/ 18900 w 21600"/>
                <a:gd name="T1" fmla="*/ 10800 h 21600"/>
                <a:gd name="T2" fmla="*/ 10800 w 21600"/>
                <a:gd name="T3" fmla="*/ 21600 h 21600"/>
                <a:gd name="T4" fmla="*/ 2700 w 21600"/>
                <a:gd name="T5" fmla="*/ 10800 h 21600"/>
                <a:gd name="T6" fmla="*/ 10800 w 21600"/>
                <a:gd name="T7" fmla="*/ 0 h 21600"/>
                <a:gd name="T8" fmla="*/ 4500 w 21600"/>
                <a:gd name="T9" fmla="*/ 4500 h 21600"/>
                <a:gd name="T10" fmla="*/ 17100 w 21600"/>
                <a:gd name="T11" fmla="*/ 171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T8" t="T9" r="T10" b="T11"/>
              <a:pathLst>
                <a:path w="21600" h="21600">
                  <a:moveTo>
                    <a:pt x="0" y="0"/>
                  </a:moveTo>
                  <a:lnTo>
                    <a:pt x="5399" y="21600"/>
                  </a:lnTo>
                  <a:lnTo>
                    <a:pt x="16201" y="21600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chemeClr val="bg2"/>
            </a:solidFill>
            <a:ln w="12699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1" name="Line 89"/>
            <p:cNvSpPr>
              <a:spLocks noChangeShapeType="1"/>
            </p:cNvSpPr>
            <p:nvPr/>
          </p:nvSpPr>
          <p:spPr bwMode="auto">
            <a:xfrm flipH="1">
              <a:off x="6621463" y="4713288"/>
              <a:ext cx="30480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92" name="Line 90"/>
            <p:cNvSpPr>
              <a:spLocks noChangeShapeType="1"/>
            </p:cNvSpPr>
            <p:nvPr/>
          </p:nvSpPr>
          <p:spPr bwMode="auto">
            <a:xfrm flipH="1">
              <a:off x="1211263" y="3219450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93" name="Line 91"/>
            <p:cNvSpPr>
              <a:spLocks noChangeShapeType="1"/>
            </p:cNvSpPr>
            <p:nvPr/>
          </p:nvSpPr>
          <p:spPr bwMode="auto">
            <a:xfrm>
              <a:off x="1217613" y="2401888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94" name="Text Box 92"/>
            <p:cNvSpPr txBox="1">
              <a:spLocks noChangeArrowheads="1"/>
            </p:cNvSpPr>
            <p:nvPr/>
          </p:nvSpPr>
          <p:spPr bwMode="auto">
            <a:xfrm>
              <a:off x="1522413" y="2706688"/>
              <a:ext cx="685800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1600" b="1">
                  <a:latin typeface="楷体_GB2312" pitchFamily="49" charset="-122"/>
                  <a:ea typeface="楷体_GB2312" pitchFamily="49" charset="-122"/>
                </a:rPr>
                <a:t>MAC</a:t>
              </a:r>
            </a:p>
          </p:txBody>
        </p:sp>
        <p:sp>
          <p:nvSpPr>
            <p:cNvPr id="95" name="Rectangle 93"/>
            <p:cNvSpPr>
              <a:spLocks noChangeArrowheads="1"/>
            </p:cNvSpPr>
            <p:nvPr/>
          </p:nvSpPr>
          <p:spPr bwMode="auto">
            <a:xfrm>
              <a:off x="1522413" y="2090738"/>
              <a:ext cx="497252" cy="3385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b="1">
                  <a:latin typeface="楷体_GB2312" pitchFamily="49" charset="-122"/>
                  <a:ea typeface="楷体_GB2312" pitchFamily="49" charset="-122"/>
                </a:rPr>
                <a:t>LLC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6620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总线型以太网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52</a:t>
            </a:fld>
            <a:endParaRPr lang="zh-CN" altLang="en-US" dirty="0"/>
          </a:p>
        </p:txBody>
      </p:sp>
      <p:grpSp>
        <p:nvGrpSpPr>
          <p:cNvPr id="98" name="Group 2"/>
          <p:cNvGrpSpPr>
            <a:grpSpLocks/>
          </p:cNvGrpSpPr>
          <p:nvPr/>
        </p:nvGrpSpPr>
        <p:grpSpPr bwMode="auto">
          <a:xfrm>
            <a:off x="2096294" y="1457324"/>
            <a:ext cx="4951412" cy="5248275"/>
            <a:chOff x="1969" y="1110"/>
            <a:chExt cx="2007" cy="1978"/>
          </a:xfrm>
        </p:grpSpPr>
        <p:sp>
          <p:nvSpPr>
            <p:cNvPr id="99" name="Line 3"/>
            <p:cNvSpPr>
              <a:spLocks noChangeShapeType="1"/>
            </p:cNvSpPr>
            <p:nvPr/>
          </p:nvSpPr>
          <p:spPr bwMode="auto">
            <a:xfrm>
              <a:off x="1969" y="2193"/>
              <a:ext cx="363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Line 4"/>
            <p:cNvSpPr>
              <a:spLocks noChangeShapeType="1"/>
            </p:cNvSpPr>
            <p:nvPr/>
          </p:nvSpPr>
          <p:spPr bwMode="auto">
            <a:xfrm>
              <a:off x="1969" y="1881"/>
              <a:ext cx="365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Line 5"/>
            <p:cNvSpPr>
              <a:spLocks noChangeShapeType="1"/>
            </p:cNvSpPr>
            <p:nvPr/>
          </p:nvSpPr>
          <p:spPr bwMode="auto">
            <a:xfrm>
              <a:off x="1969" y="1570"/>
              <a:ext cx="363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Line 6"/>
            <p:cNvSpPr>
              <a:spLocks noChangeShapeType="1"/>
            </p:cNvSpPr>
            <p:nvPr/>
          </p:nvSpPr>
          <p:spPr bwMode="auto">
            <a:xfrm>
              <a:off x="1969" y="1110"/>
              <a:ext cx="1" cy="137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Line 7"/>
            <p:cNvSpPr>
              <a:spLocks noChangeShapeType="1"/>
            </p:cNvSpPr>
            <p:nvPr/>
          </p:nvSpPr>
          <p:spPr bwMode="auto">
            <a:xfrm>
              <a:off x="1969" y="1258"/>
              <a:ext cx="363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Line 8"/>
            <p:cNvSpPr>
              <a:spLocks noChangeShapeType="1"/>
            </p:cNvSpPr>
            <p:nvPr/>
          </p:nvSpPr>
          <p:spPr bwMode="auto">
            <a:xfrm>
              <a:off x="2654" y="1258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Line 9"/>
            <p:cNvSpPr>
              <a:spLocks noChangeShapeType="1"/>
            </p:cNvSpPr>
            <p:nvPr/>
          </p:nvSpPr>
          <p:spPr bwMode="auto">
            <a:xfrm>
              <a:off x="2984" y="1258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Line 10"/>
            <p:cNvSpPr>
              <a:spLocks noChangeShapeType="1"/>
            </p:cNvSpPr>
            <p:nvPr/>
          </p:nvSpPr>
          <p:spPr bwMode="auto">
            <a:xfrm>
              <a:off x="3316" y="1258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Line 11"/>
            <p:cNvSpPr>
              <a:spLocks noChangeShapeType="1"/>
            </p:cNvSpPr>
            <p:nvPr/>
          </p:nvSpPr>
          <p:spPr bwMode="auto">
            <a:xfrm>
              <a:off x="3838" y="1258"/>
              <a:ext cx="1" cy="11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Line 12"/>
            <p:cNvSpPr>
              <a:spLocks noChangeShapeType="1"/>
            </p:cNvSpPr>
            <p:nvPr/>
          </p:nvSpPr>
          <p:spPr bwMode="auto">
            <a:xfrm>
              <a:off x="2654" y="1570"/>
              <a:ext cx="1" cy="1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Line 13"/>
            <p:cNvSpPr>
              <a:spLocks noChangeShapeType="1"/>
            </p:cNvSpPr>
            <p:nvPr/>
          </p:nvSpPr>
          <p:spPr bwMode="auto">
            <a:xfrm>
              <a:off x="2984" y="1570"/>
              <a:ext cx="1" cy="1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Line 14"/>
            <p:cNvSpPr>
              <a:spLocks noChangeShapeType="1"/>
            </p:cNvSpPr>
            <p:nvPr/>
          </p:nvSpPr>
          <p:spPr bwMode="auto">
            <a:xfrm>
              <a:off x="3316" y="1570"/>
              <a:ext cx="1" cy="114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Line 15"/>
            <p:cNvSpPr>
              <a:spLocks noChangeShapeType="1"/>
            </p:cNvSpPr>
            <p:nvPr/>
          </p:nvSpPr>
          <p:spPr bwMode="auto">
            <a:xfrm>
              <a:off x="3838" y="1570"/>
              <a:ext cx="1" cy="112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Line 16"/>
            <p:cNvSpPr>
              <a:spLocks noChangeShapeType="1"/>
            </p:cNvSpPr>
            <p:nvPr/>
          </p:nvSpPr>
          <p:spPr bwMode="auto">
            <a:xfrm>
              <a:off x="2654" y="1881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Line 17"/>
            <p:cNvSpPr>
              <a:spLocks noChangeShapeType="1"/>
            </p:cNvSpPr>
            <p:nvPr/>
          </p:nvSpPr>
          <p:spPr bwMode="auto">
            <a:xfrm>
              <a:off x="2984" y="1881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4" name="Line 18"/>
            <p:cNvSpPr>
              <a:spLocks noChangeShapeType="1"/>
            </p:cNvSpPr>
            <p:nvPr/>
          </p:nvSpPr>
          <p:spPr bwMode="auto">
            <a:xfrm>
              <a:off x="3316" y="1881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5" name="Line 19"/>
            <p:cNvSpPr>
              <a:spLocks noChangeShapeType="1"/>
            </p:cNvSpPr>
            <p:nvPr/>
          </p:nvSpPr>
          <p:spPr bwMode="auto">
            <a:xfrm>
              <a:off x="3838" y="1881"/>
              <a:ext cx="1" cy="11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6" name="Line 20"/>
            <p:cNvSpPr>
              <a:spLocks noChangeShapeType="1"/>
            </p:cNvSpPr>
            <p:nvPr/>
          </p:nvSpPr>
          <p:spPr bwMode="auto">
            <a:xfrm>
              <a:off x="2654" y="2193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7" name="Line 21"/>
            <p:cNvSpPr>
              <a:spLocks noChangeShapeType="1"/>
            </p:cNvSpPr>
            <p:nvPr/>
          </p:nvSpPr>
          <p:spPr bwMode="auto">
            <a:xfrm>
              <a:off x="2984" y="2193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" name="Line 22"/>
            <p:cNvSpPr>
              <a:spLocks noChangeShapeType="1"/>
            </p:cNvSpPr>
            <p:nvPr/>
          </p:nvSpPr>
          <p:spPr bwMode="auto">
            <a:xfrm>
              <a:off x="3316" y="2193"/>
              <a:ext cx="1" cy="115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9" name="Line 23"/>
            <p:cNvSpPr>
              <a:spLocks noChangeShapeType="1"/>
            </p:cNvSpPr>
            <p:nvPr/>
          </p:nvSpPr>
          <p:spPr bwMode="auto">
            <a:xfrm>
              <a:off x="3838" y="2193"/>
              <a:ext cx="1" cy="113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0" name="Rectangle 24"/>
            <p:cNvSpPr>
              <a:spLocks noChangeArrowheads="1"/>
            </p:cNvSpPr>
            <p:nvPr/>
          </p:nvSpPr>
          <p:spPr bwMode="auto">
            <a:xfrm>
              <a:off x="2764" y="2743"/>
              <a:ext cx="212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zh-CN" sz="1000" dirty="0">
                  <a:solidFill>
                    <a:srgbClr val="000000"/>
                  </a:solidFill>
                  <a:latin typeface="Myriad Roman" charset="0"/>
                </a:rPr>
                <a:t>Repeater</a:t>
              </a:r>
              <a:endParaRPr lang="en-GB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1" name="Rectangle 25"/>
            <p:cNvSpPr>
              <a:spLocks noChangeArrowheads="1"/>
            </p:cNvSpPr>
            <p:nvPr/>
          </p:nvSpPr>
          <p:spPr bwMode="auto">
            <a:xfrm>
              <a:off x="2761" y="2964"/>
              <a:ext cx="107" cy="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GB" altLang="zh-CN" sz="1000" dirty="0">
                  <a:solidFill>
                    <a:srgbClr val="000000"/>
                  </a:solidFill>
                  <a:latin typeface="Myriad Roman" charset="0"/>
                </a:rPr>
                <a:t>Host</a:t>
              </a:r>
              <a:endParaRPr lang="en-GB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" name="Rectangle 26"/>
            <p:cNvSpPr>
              <a:spLocks noChangeArrowheads="1"/>
            </p:cNvSpPr>
            <p:nvPr/>
          </p:nvSpPr>
          <p:spPr bwMode="auto">
            <a:xfrm>
              <a:off x="3504" y="1440"/>
              <a:ext cx="147" cy="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600">
                  <a:solidFill>
                    <a:srgbClr val="000000"/>
                  </a:solidFill>
                  <a:latin typeface="Myriad Roman" charset="0"/>
                </a:rPr>
                <a:t>■ ■ ■</a:t>
              </a:r>
              <a:endParaRPr lang="zh-CN" altLang="en-GB" sz="2400">
                <a:latin typeface="Times New Roman" panose="02020603050405020304" pitchFamily="18" charset="0"/>
              </a:endParaRPr>
            </a:p>
          </p:txBody>
        </p:sp>
        <p:sp>
          <p:nvSpPr>
            <p:cNvPr id="123" name="Freeform 27"/>
            <p:cNvSpPr>
              <a:spLocks/>
            </p:cNvSpPr>
            <p:nvPr/>
          </p:nvSpPr>
          <p:spPr bwMode="auto">
            <a:xfrm>
              <a:off x="2565" y="2379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7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7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" name="Rectangle 28"/>
            <p:cNvSpPr>
              <a:spLocks noChangeArrowheads="1"/>
            </p:cNvSpPr>
            <p:nvPr/>
          </p:nvSpPr>
          <p:spPr bwMode="auto">
            <a:xfrm>
              <a:off x="2565" y="2392"/>
              <a:ext cx="179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" name="Rectangle 29"/>
            <p:cNvSpPr>
              <a:spLocks noChangeArrowheads="1"/>
            </p:cNvSpPr>
            <p:nvPr/>
          </p:nvSpPr>
          <p:spPr bwMode="auto">
            <a:xfrm>
              <a:off x="2559" y="2440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6" name="Freeform 30"/>
            <p:cNvSpPr>
              <a:spLocks/>
            </p:cNvSpPr>
            <p:nvPr/>
          </p:nvSpPr>
          <p:spPr bwMode="auto">
            <a:xfrm>
              <a:off x="2559" y="2425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7" name="Freeform 31"/>
            <p:cNvSpPr>
              <a:spLocks/>
            </p:cNvSpPr>
            <p:nvPr/>
          </p:nvSpPr>
          <p:spPr bwMode="auto">
            <a:xfrm>
              <a:off x="2590" y="2308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5 w 128"/>
                <a:gd name="T3" fmla="*/ 0 h 9"/>
                <a:gd name="T4" fmla="*/ 113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5" y="0"/>
                  </a:lnTo>
                  <a:lnTo>
                    <a:pt x="113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8" name="Rectangle 32"/>
            <p:cNvSpPr>
              <a:spLocks noChangeArrowheads="1"/>
            </p:cNvSpPr>
            <p:nvPr/>
          </p:nvSpPr>
          <p:spPr bwMode="auto">
            <a:xfrm>
              <a:off x="2590" y="2317"/>
              <a:ext cx="128" cy="71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9" name="Rectangle 33"/>
            <p:cNvSpPr>
              <a:spLocks noChangeArrowheads="1"/>
            </p:cNvSpPr>
            <p:nvPr/>
          </p:nvSpPr>
          <p:spPr bwMode="auto">
            <a:xfrm>
              <a:off x="2600" y="2325"/>
              <a:ext cx="108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0" name="Freeform 34"/>
            <p:cNvSpPr>
              <a:spLocks/>
            </p:cNvSpPr>
            <p:nvPr/>
          </p:nvSpPr>
          <p:spPr bwMode="auto">
            <a:xfrm>
              <a:off x="2539" y="3020"/>
              <a:ext cx="182" cy="16"/>
            </a:xfrm>
            <a:custGeom>
              <a:avLst/>
              <a:gdLst>
                <a:gd name="T0" fmla="*/ 0 w 182"/>
                <a:gd name="T1" fmla="*/ 16 h 16"/>
                <a:gd name="T2" fmla="*/ 20 w 182"/>
                <a:gd name="T3" fmla="*/ 0 h 16"/>
                <a:gd name="T4" fmla="*/ 161 w 182"/>
                <a:gd name="T5" fmla="*/ 0 h 16"/>
                <a:gd name="T6" fmla="*/ 182 w 182"/>
                <a:gd name="T7" fmla="*/ 16 h 16"/>
                <a:gd name="T8" fmla="*/ 0 w 182"/>
                <a:gd name="T9" fmla="*/ 16 h 16"/>
                <a:gd name="T10" fmla="*/ 0 w 182"/>
                <a:gd name="T11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6">
                  <a:moveTo>
                    <a:pt x="0" y="16"/>
                  </a:moveTo>
                  <a:lnTo>
                    <a:pt x="20" y="0"/>
                  </a:lnTo>
                  <a:lnTo>
                    <a:pt x="161" y="0"/>
                  </a:lnTo>
                  <a:lnTo>
                    <a:pt x="182" y="16"/>
                  </a:lnTo>
                  <a:lnTo>
                    <a:pt x="0" y="16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1" name="Rectangle 35"/>
            <p:cNvSpPr>
              <a:spLocks noChangeArrowheads="1"/>
            </p:cNvSpPr>
            <p:nvPr/>
          </p:nvSpPr>
          <p:spPr bwMode="auto">
            <a:xfrm>
              <a:off x="2539" y="3036"/>
              <a:ext cx="182" cy="30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2" name="Rectangle 36"/>
            <p:cNvSpPr>
              <a:spLocks noChangeArrowheads="1"/>
            </p:cNvSpPr>
            <p:nvPr/>
          </p:nvSpPr>
          <p:spPr bwMode="auto">
            <a:xfrm>
              <a:off x="2534" y="3081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" name="Freeform 37"/>
            <p:cNvSpPr>
              <a:spLocks/>
            </p:cNvSpPr>
            <p:nvPr/>
          </p:nvSpPr>
          <p:spPr bwMode="auto">
            <a:xfrm>
              <a:off x="2534" y="3066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0 w 192"/>
                <a:gd name="T3" fmla="*/ 0 h 15"/>
                <a:gd name="T4" fmla="*/ 171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0" y="0"/>
                  </a:lnTo>
                  <a:lnTo>
                    <a:pt x="171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4" name="Freeform 38"/>
            <p:cNvSpPr>
              <a:spLocks/>
            </p:cNvSpPr>
            <p:nvPr/>
          </p:nvSpPr>
          <p:spPr bwMode="auto">
            <a:xfrm>
              <a:off x="2567" y="2949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3 w 128"/>
                <a:gd name="T3" fmla="*/ 0 h 9"/>
                <a:gd name="T4" fmla="*/ 113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3" y="0"/>
                  </a:lnTo>
                  <a:lnTo>
                    <a:pt x="113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5" name="Rectangle 39"/>
            <p:cNvSpPr>
              <a:spLocks noChangeArrowheads="1"/>
            </p:cNvSpPr>
            <p:nvPr/>
          </p:nvSpPr>
          <p:spPr bwMode="auto">
            <a:xfrm>
              <a:off x="2567" y="2958"/>
              <a:ext cx="128" cy="71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6" name="Rectangle 40"/>
            <p:cNvSpPr>
              <a:spLocks noChangeArrowheads="1"/>
            </p:cNvSpPr>
            <p:nvPr/>
          </p:nvSpPr>
          <p:spPr bwMode="auto">
            <a:xfrm>
              <a:off x="2577" y="2966"/>
              <a:ext cx="105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7" name="Freeform 41"/>
            <p:cNvSpPr>
              <a:spLocks/>
            </p:cNvSpPr>
            <p:nvPr/>
          </p:nvSpPr>
          <p:spPr bwMode="auto">
            <a:xfrm>
              <a:off x="2894" y="2379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8 w 179"/>
                <a:gd name="T3" fmla="*/ 0 h 13"/>
                <a:gd name="T4" fmla="*/ 162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8" y="0"/>
                  </a:lnTo>
                  <a:lnTo>
                    <a:pt x="162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8" name="Rectangle 42"/>
            <p:cNvSpPr>
              <a:spLocks noChangeArrowheads="1"/>
            </p:cNvSpPr>
            <p:nvPr/>
          </p:nvSpPr>
          <p:spPr bwMode="auto">
            <a:xfrm>
              <a:off x="2894" y="2392"/>
              <a:ext cx="179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9" name="Rectangle 43"/>
            <p:cNvSpPr>
              <a:spLocks noChangeArrowheads="1"/>
            </p:cNvSpPr>
            <p:nvPr/>
          </p:nvSpPr>
          <p:spPr bwMode="auto">
            <a:xfrm>
              <a:off x="2889" y="2440"/>
              <a:ext cx="190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0" name="Freeform 44"/>
            <p:cNvSpPr>
              <a:spLocks/>
            </p:cNvSpPr>
            <p:nvPr/>
          </p:nvSpPr>
          <p:spPr bwMode="auto">
            <a:xfrm>
              <a:off x="2889" y="2425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1" name="Freeform 45"/>
            <p:cNvSpPr>
              <a:spLocks/>
            </p:cNvSpPr>
            <p:nvPr/>
          </p:nvSpPr>
          <p:spPr bwMode="auto">
            <a:xfrm>
              <a:off x="2920" y="2308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5 w 128"/>
                <a:gd name="T3" fmla="*/ 0 h 9"/>
                <a:gd name="T4" fmla="*/ 113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5" y="0"/>
                  </a:lnTo>
                  <a:lnTo>
                    <a:pt x="113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2" name="Rectangle 46"/>
            <p:cNvSpPr>
              <a:spLocks noChangeArrowheads="1"/>
            </p:cNvSpPr>
            <p:nvPr/>
          </p:nvSpPr>
          <p:spPr bwMode="auto">
            <a:xfrm>
              <a:off x="2920" y="2317"/>
              <a:ext cx="128" cy="71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" name="Rectangle 47"/>
            <p:cNvSpPr>
              <a:spLocks noChangeArrowheads="1"/>
            </p:cNvSpPr>
            <p:nvPr/>
          </p:nvSpPr>
          <p:spPr bwMode="auto">
            <a:xfrm>
              <a:off x="2930" y="2325"/>
              <a:ext cx="105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4" name="Freeform 48"/>
            <p:cNvSpPr>
              <a:spLocks/>
            </p:cNvSpPr>
            <p:nvPr/>
          </p:nvSpPr>
          <p:spPr bwMode="auto">
            <a:xfrm>
              <a:off x="3224" y="2379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5" name="Rectangle 49"/>
            <p:cNvSpPr>
              <a:spLocks noChangeArrowheads="1"/>
            </p:cNvSpPr>
            <p:nvPr/>
          </p:nvSpPr>
          <p:spPr bwMode="auto">
            <a:xfrm>
              <a:off x="3224" y="2392"/>
              <a:ext cx="182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6" name="Rectangle 50"/>
            <p:cNvSpPr>
              <a:spLocks noChangeArrowheads="1"/>
            </p:cNvSpPr>
            <p:nvPr/>
          </p:nvSpPr>
          <p:spPr bwMode="auto">
            <a:xfrm>
              <a:off x="3219" y="2440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7" name="Freeform 51"/>
            <p:cNvSpPr>
              <a:spLocks/>
            </p:cNvSpPr>
            <p:nvPr/>
          </p:nvSpPr>
          <p:spPr bwMode="auto">
            <a:xfrm>
              <a:off x="3219" y="2425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8" name="Freeform 52"/>
            <p:cNvSpPr>
              <a:spLocks/>
            </p:cNvSpPr>
            <p:nvPr/>
          </p:nvSpPr>
          <p:spPr bwMode="auto">
            <a:xfrm>
              <a:off x="3253" y="2308"/>
              <a:ext cx="125" cy="9"/>
            </a:xfrm>
            <a:custGeom>
              <a:avLst/>
              <a:gdLst>
                <a:gd name="T0" fmla="*/ 0 w 125"/>
                <a:gd name="T1" fmla="*/ 9 h 9"/>
                <a:gd name="T2" fmla="*/ 12 w 125"/>
                <a:gd name="T3" fmla="*/ 0 h 9"/>
                <a:gd name="T4" fmla="*/ 112 w 125"/>
                <a:gd name="T5" fmla="*/ 0 h 9"/>
                <a:gd name="T6" fmla="*/ 125 w 125"/>
                <a:gd name="T7" fmla="*/ 9 h 9"/>
                <a:gd name="T8" fmla="*/ 0 w 125"/>
                <a:gd name="T9" fmla="*/ 9 h 9"/>
                <a:gd name="T10" fmla="*/ 0 w 125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9">
                  <a:moveTo>
                    <a:pt x="0" y="9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9" name="Rectangle 53"/>
            <p:cNvSpPr>
              <a:spLocks noChangeArrowheads="1"/>
            </p:cNvSpPr>
            <p:nvPr/>
          </p:nvSpPr>
          <p:spPr bwMode="auto">
            <a:xfrm>
              <a:off x="3253" y="2317"/>
              <a:ext cx="125" cy="71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0" name="Rectangle 54"/>
            <p:cNvSpPr>
              <a:spLocks noChangeArrowheads="1"/>
            </p:cNvSpPr>
            <p:nvPr/>
          </p:nvSpPr>
          <p:spPr bwMode="auto">
            <a:xfrm>
              <a:off x="3263" y="2325"/>
              <a:ext cx="105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1" name="Freeform 55"/>
            <p:cNvSpPr>
              <a:spLocks/>
            </p:cNvSpPr>
            <p:nvPr/>
          </p:nvSpPr>
          <p:spPr bwMode="auto">
            <a:xfrm>
              <a:off x="3746" y="2379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8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8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2" name="Rectangle 56"/>
            <p:cNvSpPr>
              <a:spLocks noChangeArrowheads="1"/>
            </p:cNvSpPr>
            <p:nvPr/>
          </p:nvSpPr>
          <p:spPr bwMode="auto">
            <a:xfrm>
              <a:off x="3746" y="2392"/>
              <a:ext cx="179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" name="Rectangle 57"/>
            <p:cNvSpPr>
              <a:spLocks noChangeArrowheads="1"/>
            </p:cNvSpPr>
            <p:nvPr/>
          </p:nvSpPr>
          <p:spPr bwMode="auto">
            <a:xfrm>
              <a:off x="3741" y="2440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" name="Freeform 58"/>
            <p:cNvSpPr>
              <a:spLocks/>
            </p:cNvSpPr>
            <p:nvPr/>
          </p:nvSpPr>
          <p:spPr bwMode="auto">
            <a:xfrm>
              <a:off x="3741" y="2425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0 w 192"/>
                <a:gd name="T3" fmla="*/ 0 h 15"/>
                <a:gd name="T4" fmla="*/ 171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0" y="0"/>
                  </a:lnTo>
                  <a:lnTo>
                    <a:pt x="171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5" name="Freeform 59"/>
            <p:cNvSpPr>
              <a:spLocks/>
            </p:cNvSpPr>
            <p:nvPr/>
          </p:nvSpPr>
          <p:spPr bwMode="auto">
            <a:xfrm>
              <a:off x="3772" y="2308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5 w 128"/>
                <a:gd name="T3" fmla="*/ 0 h 9"/>
                <a:gd name="T4" fmla="*/ 115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5" y="0"/>
                  </a:lnTo>
                  <a:lnTo>
                    <a:pt x="115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6" name="Rectangle 60"/>
            <p:cNvSpPr>
              <a:spLocks noChangeArrowheads="1"/>
            </p:cNvSpPr>
            <p:nvPr/>
          </p:nvSpPr>
          <p:spPr bwMode="auto">
            <a:xfrm>
              <a:off x="3772" y="2317"/>
              <a:ext cx="128" cy="71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7" name="Rectangle 61"/>
            <p:cNvSpPr>
              <a:spLocks noChangeArrowheads="1"/>
            </p:cNvSpPr>
            <p:nvPr/>
          </p:nvSpPr>
          <p:spPr bwMode="auto">
            <a:xfrm>
              <a:off x="3785" y="2325"/>
              <a:ext cx="104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8" name="Freeform 62"/>
            <p:cNvSpPr>
              <a:spLocks/>
            </p:cNvSpPr>
            <p:nvPr/>
          </p:nvSpPr>
          <p:spPr bwMode="auto">
            <a:xfrm>
              <a:off x="3746" y="2070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8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8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9" name="Rectangle 63"/>
            <p:cNvSpPr>
              <a:spLocks noChangeArrowheads="1"/>
            </p:cNvSpPr>
            <p:nvPr/>
          </p:nvSpPr>
          <p:spPr bwMode="auto">
            <a:xfrm>
              <a:off x="3746" y="2083"/>
              <a:ext cx="179" cy="30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0" name="Rectangle 64"/>
            <p:cNvSpPr>
              <a:spLocks noChangeArrowheads="1"/>
            </p:cNvSpPr>
            <p:nvPr/>
          </p:nvSpPr>
          <p:spPr bwMode="auto">
            <a:xfrm>
              <a:off x="3741" y="2128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1" name="Freeform 65"/>
            <p:cNvSpPr>
              <a:spLocks/>
            </p:cNvSpPr>
            <p:nvPr/>
          </p:nvSpPr>
          <p:spPr bwMode="auto">
            <a:xfrm>
              <a:off x="3741" y="2113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0 w 192"/>
                <a:gd name="T3" fmla="*/ 0 h 15"/>
                <a:gd name="T4" fmla="*/ 171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0" y="0"/>
                  </a:lnTo>
                  <a:lnTo>
                    <a:pt x="171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2" name="Freeform 66"/>
            <p:cNvSpPr>
              <a:spLocks/>
            </p:cNvSpPr>
            <p:nvPr/>
          </p:nvSpPr>
          <p:spPr bwMode="auto">
            <a:xfrm>
              <a:off x="3772" y="1996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5 w 128"/>
                <a:gd name="T3" fmla="*/ 0 h 9"/>
                <a:gd name="T4" fmla="*/ 115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5" y="0"/>
                  </a:lnTo>
                  <a:lnTo>
                    <a:pt x="115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" name="Rectangle 67"/>
            <p:cNvSpPr>
              <a:spLocks noChangeArrowheads="1"/>
            </p:cNvSpPr>
            <p:nvPr/>
          </p:nvSpPr>
          <p:spPr bwMode="auto">
            <a:xfrm>
              <a:off x="3772" y="2005"/>
              <a:ext cx="128" cy="7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" name="Rectangle 68"/>
            <p:cNvSpPr>
              <a:spLocks noChangeArrowheads="1"/>
            </p:cNvSpPr>
            <p:nvPr/>
          </p:nvSpPr>
          <p:spPr bwMode="auto">
            <a:xfrm>
              <a:off x="3785" y="2013"/>
              <a:ext cx="104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5" name="Freeform 69"/>
            <p:cNvSpPr>
              <a:spLocks/>
            </p:cNvSpPr>
            <p:nvPr/>
          </p:nvSpPr>
          <p:spPr bwMode="auto">
            <a:xfrm>
              <a:off x="3224" y="2070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6" name="Rectangle 70"/>
            <p:cNvSpPr>
              <a:spLocks noChangeArrowheads="1"/>
            </p:cNvSpPr>
            <p:nvPr/>
          </p:nvSpPr>
          <p:spPr bwMode="auto">
            <a:xfrm>
              <a:off x="3224" y="2083"/>
              <a:ext cx="182" cy="30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7" name="Rectangle 71"/>
            <p:cNvSpPr>
              <a:spLocks noChangeArrowheads="1"/>
            </p:cNvSpPr>
            <p:nvPr/>
          </p:nvSpPr>
          <p:spPr bwMode="auto">
            <a:xfrm>
              <a:off x="3219" y="2128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8" name="Freeform 72"/>
            <p:cNvSpPr>
              <a:spLocks/>
            </p:cNvSpPr>
            <p:nvPr/>
          </p:nvSpPr>
          <p:spPr bwMode="auto">
            <a:xfrm>
              <a:off x="3219" y="2113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9" name="Freeform 73"/>
            <p:cNvSpPr>
              <a:spLocks/>
            </p:cNvSpPr>
            <p:nvPr/>
          </p:nvSpPr>
          <p:spPr bwMode="auto">
            <a:xfrm>
              <a:off x="3253" y="1996"/>
              <a:ext cx="125" cy="9"/>
            </a:xfrm>
            <a:custGeom>
              <a:avLst/>
              <a:gdLst>
                <a:gd name="T0" fmla="*/ 0 w 125"/>
                <a:gd name="T1" fmla="*/ 9 h 9"/>
                <a:gd name="T2" fmla="*/ 12 w 125"/>
                <a:gd name="T3" fmla="*/ 0 h 9"/>
                <a:gd name="T4" fmla="*/ 112 w 125"/>
                <a:gd name="T5" fmla="*/ 0 h 9"/>
                <a:gd name="T6" fmla="*/ 125 w 125"/>
                <a:gd name="T7" fmla="*/ 9 h 9"/>
                <a:gd name="T8" fmla="*/ 0 w 125"/>
                <a:gd name="T9" fmla="*/ 9 h 9"/>
                <a:gd name="T10" fmla="*/ 0 w 125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9">
                  <a:moveTo>
                    <a:pt x="0" y="9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0" name="Rectangle 74"/>
            <p:cNvSpPr>
              <a:spLocks noChangeArrowheads="1"/>
            </p:cNvSpPr>
            <p:nvPr/>
          </p:nvSpPr>
          <p:spPr bwMode="auto">
            <a:xfrm>
              <a:off x="3253" y="2005"/>
              <a:ext cx="125" cy="7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1" name="Rectangle 75"/>
            <p:cNvSpPr>
              <a:spLocks noChangeArrowheads="1"/>
            </p:cNvSpPr>
            <p:nvPr/>
          </p:nvSpPr>
          <p:spPr bwMode="auto">
            <a:xfrm>
              <a:off x="3263" y="2013"/>
              <a:ext cx="105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2" name="Freeform 76"/>
            <p:cNvSpPr>
              <a:spLocks/>
            </p:cNvSpPr>
            <p:nvPr/>
          </p:nvSpPr>
          <p:spPr bwMode="auto">
            <a:xfrm>
              <a:off x="2894" y="2070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3" name="Rectangle 77"/>
            <p:cNvSpPr>
              <a:spLocks noChangeArrowheads="1"/>
            </p:cNvSpPr>
            <p:nvPr/>
          </p:nvSpPr>
          <p:spPr bwMode="auto">
            <a:xfrm>
              <a:off x="2894" y="2083"/>
              <a:ext cx="182" cy="30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" name="Rectangle 78"/>
            <p:cNvSpPr>
              <a:spLocks noChangeArrowheads="1"/>
            </p:cNvSpPr>
            <p:nvPr/>
          </p:nvSpPr>
          <p:spPr bwMode="auto">
            <a:xfrm>
              <a:off x="2889" y="2128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5" name="Freeform 79"/>
            <p:cNvSpPr>
              <a:spLocks/>
            </p:cNvSpPr>
            <p:nvPr/>
          </p:nvSpPr>
          <p:spPr bwMode="auto">
            <a:xfrm>
              <a:off x="2889" y="2113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6" name="Freeform 80"/>
            <p:cNvSpPr>
              <a:spLocks/>
            </p:cNvSpPr>
            <p:nvPr/>
          </p:nvSpPr>
          <p:spPr bwMode="auto">
            <a:xfrm>
              <a:off x="2923" y="1996"/>
              <a:ext cx="125" cy="9"/>
            </a:xfrm>
            <a:custGeom>
              <a:avLst/>
              <a:gdLst>
                <a:gd name="T0" fmla="*/ 0 w 125"/>
                <a:gd name="T1" fmla="*/ 9 h 9"/>
                <a:gd name="T2" fmla="*/ 12 w 125"/>
                <a:gd name="T3" fmla="*/ 0 h 9"/>
                <a:gd name="T4" fmla="*/ 112 w 125"/>
                <a:gd name="T5" fmla="*/ 0 h 9"/>
                <a:gd name="T6" fmla="*/ 125 w 125"/>
                <a:gd name="T7" fmla="*/ 9 h 9"/>
                <a:gd name="T8" fmla="*/ 0 w 125"/>
                <a:gd name="T9" fmla="*/ 9 h 9"/>
                <a:gd name="T10" fmla="*/ 0 w 125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9">
                  <a:moveTo>
                    <a:pt x="0" y="9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7" name="Rectangle 81"/>
            <p:cNvSpPr>
              <a:spLocks noChangeArrowheads="1"/>
            </p:cNvSpPr>
            <p:nvPr/>
          </p:nvSpPr>
          <p:spPr bwMode="auto">
            <a:xfrm>
              <a:off x="2923" y="2005"/>
              <a:ext cx="125" cy="7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8" name="Rectangle 82"/>
            <p:cNvSpPr>
              <a:spLocks noChangeArrowheads="1"/>
            </p:cNvSpPr>
            <p:nvPr/>
          </p:nvSpPr>
          <p:spPr bwMode="auto">
            <a:xfrm>
              <a:off x="2933" y="2013"/>
              <a:ext cx="105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9" name="Freeform 83"/>
            <p:cNvSpPr>
              <a:spLocks/>
            </p:cNvSpPr>
            <p:nvPr/>
          </p:nvSpPr>
          <p:spPr bwMode="auto">
            <a:xfrm>
              <a:off x="2565" y="2070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7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7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0" name="Rectangle 84"/>
            <p:cNvSpPr>
              <a:spLocks noChangeArrowheads="1"/>
            </p:cNvSpPr>
            <p:nvPr/>
          </p:nvSpPr>
          <p:spPr bwMode="auto">
            <a:xfrm>
              <a:off x="2565" y="2083"/>
              <a:ext cx="179" cy="30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1" name="Rectangle 85"/>
            <p:cNvSpPr>
              <a:spLocks noChangeArrowheads="1"/>
            </p:cNvSpPr>
            <p:nvPr/>
          </p:nvSpPr>
          <p:spPr bwMode="auto">
            <a:xfrm>
              <a:off x="2559" y="2128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2" name="Freeform 86"/>
            <p:cNvSpPr>
              <a:spLocks/>
            </p:cNvSpPr>
            <p:nvPr/>
          </p:nvSpPr>
          <p:spPr bwMode="auto">
            <a:xfrm>
              <a:off x="2559" y="2113"/>
              <a:ext cx="192" cy="15"/>
            </a:xfrm>
            <a:custGeom>
              <a:avLst/>
              <a:gdLst>
                <a:gd name="T0" fmla="*/ 0 w 192"/>
                <a:gd name="T1" fmla="*/ 15 h 15"/>
                <a:gd name="T2" fmla="*/ 21 w 192"/>
                <a:gd name="T3" fmla="*/ 0 h 15"/>
                <a:gd name="T4" fmla="*/ 172 w 192"/>
                <a:gd name="T5" fmla="*/ 0 h 15"/>
                <a:gd name="T6" fmla="*/ 192 w 192"/>
                <a:gd name="T7" fmla="*/ 15 h 15"/>
                <a:gd name="T8" fmla="*/ 0 w 192"/>
                <a:gd name="T9" fmla="*/ 15 h 15"/>
                <a:gd name="T10" fmla="*/ 0 w 192"/>
                <a:gd name="T1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5">
                  <a:moveTo>
                    <a:pt x="0" y="15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5"/>
                  </a:lnTo>
                  <a:lnTo>
                    <a:pt x="0" y="15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3" name="Freeform 87"/>
            <p:cNvSpPr>
              <a:spLocks/>
            </p:cNvSpPr>
            <p:nvPr/>
          </p:nvSpPr>
          <p:spPr bwMode="auto">
            <a:xfrm>
              <a:off x="2590" y="1996"/>
              <a:ext cx="128" cy="9"/>
            </a:xfrm>
            <a:custGeom>
              <a:avLst/>
              <a:gdLst>
                <a:gd name="T0" fmla="*/ 0 w 128"/>
                <a:gd name="T1" fmla="*/ 9 h 9"/>
                <a:gd name="T2" fmla="*/ 15 w 128"/>
                <a:gd name="T3" fmla="*/ 0 h 9"/>
                <a:gd name="T4" fmla="*/ 113 w 128"/>
                <a:gd name="T5" fmla="*/ 0 h 9"/>
                <a:gd name="T6" fmla="*/ 128 w 128"/>
                <a:gd name="T7" fmla="*/ 9 h 9"/>
                <a:gd name="T8" fmla="*/ 0 w 128"/>
                <a:gd name="T9" fmla="*/ 9 h 9"/>
                <a:gd name="T10" fmla="*/ 0 w 128"/>
                <a:gd name="T11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9">
                  <a:moveTo>
                    <a:pt x="0" y="9"/>
                  </a:moveTo>
                  <a:lnTo>
                    <a:pt x="15" y="0"/>
                  </a:lnTo>
                  <a:lnTo>
                    <a:pt x="113" y="0"/>
                  </a:lnTo>
                  <a:lnTo>
                    <a:pt x="128" y="9"/>
                  </a:lnTo>
                  <a:lnTo>
                    <a:pt x="0" y="9"/>
                  </a:lnTo>
                  <a:lnTo>
                    <a:pt x="0" y="9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" name="Rectangle 88"/>
            <p:cNvSpPr>
              <a:spLocks noChangeArrowheads="1"/>
            </p:cNvSpPr>
            <p:nvPr/>
          </p:nvSpPr>
          <p:spPr bwMode="auto">
            <a:xfrm>
              <a:off x="2590" y="2005"/>
              <a:ext cx="128" cy="7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5" name="Rectangle 89"/>
            <p:cNvSpPr>
              <a:spLocks noChangeArrowheads="1"/>
            </p:cNvSpPr>
            <p:nvPr/>
          </p:nvSpPr>
          <p:spPr bwMode="auto">
            <a:xfrm>
              <a:off x="2600" y="2013"/>
              <a:ext cx="108" cy="57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6" name="Freeform 90"/>
            <p:cNvSpPr>
              <a:spLocks/>
            </p:cNvSpPr>
            <p:nvPr/>
          </p:nvSpPr>
          <p:spPr bwMode="auto">
            <a:xfrm>
              <a:off x="3746" y="1758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8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8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7" name="Rectangle 91"/>
            <p:cNvSpPr>
              <a:spLocks noChangeArrowheads="1"/>
            </p:cNvSpPr>
            <p:nvPr/>
          </p:nvSpPr>
          <p:spPr bwMode="auto">
            <a:xfrm>
              <a:off x="3746" y="1771"/>
              <a:ext cx="179" cy="3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8" name="Rectangle 92"/>
            <p:cNvSpPr>
              <a:spLocks noChangeArrowheads="1"/>
            </p:cNvSpPr>
            <p:nvPr/>
          </p:nvSpPr>
          <p:spPr bwMode="auto">
            <a:xfrm>
              <a:off x="3741" y="1816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9" name="Freeform 93"/>
            <p:cNvSpPr>
              <a:spLocks/>
            </p:cNvSpPr>
            <p:nvPr/>
          </p:nvSpPr>
          <p:spPr bwMode="auto">
            <a:xfrm>
              <a:off x="3741" y="1803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0 w 192"/>
                <a:gd name="T3" fmla="*/ 0 h 13"/>
                <a:gd name="T4" fmla="*/ 171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0" y="0"/>
                  </a:lnTo>
                  <a:lnTo>
                    <a:pt x="171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0" name="Freeform 94"/>
            <p:cNvSpPr>
              <a:spLocks/>
            </p:cNvSpPr>
            <p:nvPr/>
          </p:nvSpPr>
          <p:spPr bwMode="auto">
            <a:xfrm>
              <a:off x="3772" y="1684"/>
              <a:ext cx="128" cy="11"/>
            </a:xfrm>
            <a:custGeom>
              <a:avLst/>
              <a:gdLst>
                <a:gd name="T0" fmla="*/ 0 w 128"/>
                <a:gd name="T1" fmla="*/ 11 h 11"/>
                <a:gd name="T2" fmla="*/ 15 w 128"/>
                <a:gd name="T3" fmla="*/ 0 h 11"/>
                <a:gd name="T4" fmla="*/ 115 w 128"/>
                <a:gd name="T5" fmla="*/ 0 h 11"/>
                <a:gd name="T6" fmla="*/ 128 w 128"/>
                <a:gd name="T7" fmla="*/ 11 h 11"/>
                <a:gd name="T8" fmla="*/ 0 w 128"/>
                <a:gd name="T9" fmla="*/ 11 h 11"/>
                <a:gd name="T10" fmla="*/ 0 w 128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11">
                  <a:moveTo>
                    <a:pt x="0" y="11"/>
                  </a:moveTo>
                  <a:lnTo>
                    <a:pt x="15" y="0"/>
                  </a:lnTo>
                  <a:lnTo>
                    <a:pt x="115" y="0"/>
                  </a:lnTo>
                  <a:lnTo>
                    <a:pt x="128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1" name="Rectangle 95"/>
            <p:cNvSpPr>
              <a:spLocks noChangeArrowheads="1"/>
            </p:cNvSpPr>
            <p:nvPr/>
          </p:nvSpPr>
          <p:spPr bwMode="auto">
            <a:xfrm>
              <a:off x="3772" y="1695"/>
              <a:ext cx="128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2" name="Rectangle 96"/>
            <p:cNvSpPr>
              <a:spLocks noChangeArrowheads="1"/>
            </p:cNvSpPr>
            <p:nvPr/>
          </p:nvSpPr>
          <p:spPr bwMode="auto">
            <a:xfrm>
              <a:off x="3785" y="1702"/>
              <a:ext cx="104" cy="5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3" name="Freeform 97"/>
            <p:cNvSpPr>
              <a:spLocks/>
            </p:cNvSpPr>
            <p:nvPr/>
          </p:nvSpPr>
          <p:spPr bwMode="auto">
            <a:xfrm>
              <a:off x="3224" y="1758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" name="Rectangle 98"/>
            <p:cNvSpPr>
              <a:spLocks noChangeArrowheads="1"/>
            </p:cNvSpPr>
            <p:nvPr/>
          </p:nvSpPr>
          <p:spPr bwMode="auto">
            <a:xfrm>
              <a:off x="3224" y="1771"/>
              <a:ext cx="182" cy="3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5" name="Rectangle 99"/>
            <p:cNvSpPr>
              <a:spLocks noChangeArrowheads="1"/>
            </p:cNvSpPr>
            <p:nvPr/>
          </p:nvSpPr>
          <p:spPr bwMode="auto">
            <a:xfrm>
              <a:off x="3219" y="1816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6" name="Freeform 100"/>
            <p:cNvSpPr>
              <a:spLocks/>
            </p:cNvSpPr>
            <p:nvPr/>
          </p:nvSpPr>
          <p:spPr bwMode="auto">
            <a:xfrm>
              <a:off x="3219" y="1803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7" name="Freeform 101"/>
            <p:cNvSpPr>
              <a:spLocks/>
            </p:cNvSpPr>
            <p:nvPr/>
          </p:nvSpPr>
          <p:spPr bwMode="auto">
            <a:xfrm>
              <a:off x="3253" y="1684"/>
              <a:ext cx="125" cy="11"/>
            </a:xfrm>
            <a:custGeom>
              <a:avLst/>
              <a:gdLst>
                <a:gd name="T0" fmla="*/ 0 w 125"/>
                <a:gd name="T1" fmla="*/ 11 h 11"/>
                <a:gd name="T2" fmla="*/ 12 w 125"/>
                <a:gd name="T3" fmla="*/ 0 h 11"/>
                <a:gd name="T4" fmla="*/ 112 w 125"/>
                <a:gd name="T5" fmla="*/ 0 h 11"/>
                <a:gd name="T6" fmla="*/ 125 w 125"/>
                <a:gd name="T7" fmla="*/ 11 h 11"/>
                <a:gd name="T8" fmla="*/ 0 w 125"/>
                <a:gd name="T9" fmla="*/ 11 h 11"/>
                <a:gd name="T10" fmla="*/ 0 w 125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11">
                  <a:moveTo>
                    <a:pt x="0" y="11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8" name="Rectangle 102"/>
            <p:cNvSpPr>
              <a:spLocks noChangeArrowheads="1"/>
            </p:cNvSpPr>
            <p:nvPr/>
          </p:nvSpPr>
          <p:spPr bwMode="auto">
            <a:xfrm>
              <a:off x="3253" y="1695"/>
              <a:ext cx="125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9" name="Rectangle 103"/>
            <p:cNvSpPr>
              <a:spLocks noChangeArrowheads="1"/>
            </p:cNvSpPr>
            <p:nvPr/>
          </p:nvSpPr>
          <p:spPr bwMode="auto">
            <a:xfrm>
              <a:off x="3263" y="1702"/>
              <a:ext cx="105" cy="5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0" name="Freeform 104"/>
            <p:cNvSpPr>
              <a:spLocks/>
            </p:cNvSpPr>
            <p:nvPr/>
          </p:nvSpPr>
          <p:spPr bwMode="auto">
            <a:xfrm>
              <a:off x="2894" y="1758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1" name="Rectangle 105"/>
            <p:cNvSpPr>
              <a:spLocks noChangeArrowheads="1"/>
            </p:cNvSpPr>
            <p:nvPr/>
          </p:nvSpPr>
          <p:spPr bwMode="auto">
            <a:xfrm>
              <a:off x="2894" y="1771"/>
              <a:ext cx="182" cy="3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2" name="Rectangle 106"/>
            <p:cNvSpPr>
              <a:spLocks noChangeArrowheads="1"/>
            </p:cNvSpPr>
            <p:nvPr/>
          </p:nvSpPr>
          <p:spPr bwMode="auto">
            <a:xfrm>
              <a:off x="2889" y="1816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3" name="Freeform 107"/>
            <p:cNvSpPr>
              <a:spLocks/>
            </p:cNvSpPr>
            <p:nvPr/>
          </p:nvSpPr>
          <p:spPr bwMode="auto">
            <a:xfrm>
              <a:off x="2889" y="1803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4" name="Freeform 108"/>
            <p:cNvSpPr>
              <a:spLocks/>
            </p:cNvSpPr>
            <p:nvPr/>
          </p:nvSpPr>
          <p:spPr bwMode="auto">
            <a:xfrm>
              <a:off x="2923" y="1684"/>
              <a:ext cx="125" cy="11"/>
            </a:xfrm>
            <a:custGeom>
              <a:avLst/>
              <a:gdLst>
                <a:gd name="T0" fmla="*/ 0 w 125"/>
                <a:gd name="T1" fmla="*/ 11 h 11"/>
                <a:gd name="T2" fmla="*/ 12 w 125"/>
                <a:gd name="T3" fmla="*/ 0 h 11"/>
                <a:gd name="T4" fmla="*/ 112 w 125"/>
                <a:gd name="T5" fmla="*/ 0 h 11"/>
                <a:gd name="T6" fmla="*/ 125 w 125"/>
                <a:gd name="T7" fmla="*/ 11 h 11"/>
                <a:gd name="T8" fmla="*/ 0 w 125"/>
                <a:gd name="T9" fmla="*/ 11 h 11"/>
                <a:gd name="T10" fmla="*/ 0 w 125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11">
                  <a:moveTo>
                    <a:pt x="0" y="11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" name="Rectangle 109"/>
            <p:cNvSpPr>
              <a:spLocks noChangeArrowheads="1"/>
            </p:cNvSpPr>
            <p:nvPr/>
          </p:nvSpPr>
          <p:spPr bwMode="auto">
            <a:xfrm>
              <a:off x="2923" y="1695"/>
              <a:ext cx="125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" name="Rectangle 110"/>
            <p:cNvSpPr>
              <a:spLocks noChangeArrowheads="1"/>
            </p:cNvSpPr>
            <p:nvPr/>
          </p:nvSpPr>
          <p:spPr bwMode="auto">
            <a:xfrm>
              <a:off x="2933" y="1702"/>
              <a:ext cx="105" cy="5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7" name="Freeform 111"/>
            <p:cNvSpPr>
              <a:spLocks/>
            </p:cNvSpPr>
            <p:nvPr/>
          </p:nvSpPr>
          <p:spPr bwMode="auto">
            <a:xfrm>
              <a:off x="2565" y="1758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7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7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8" name="Rectangle 112"/>
            <p:cNvSpPr>
              <a:spLocks noChangeArrowheads="1"/>
            </p:cNvSpPr>
            <p:nvPr/>
          </p:nvSpPr>
          <p:spPr bwMode="auto">
            <a:xfrm>
              <a:off x="2565" y="1771"/>
              <a:ext cx="179" cy="3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9" name="Rectangle 113"/>
            <p:cNvSpPr>
              <a:spLocks noChangeArrowheads="1"/>
            </p:cNvSpPr>
            <p:nvPr/>
          </p:nvSpPr>
          <p:spPr bwMode="auto">
            <a:xfrm>
              <a:off x="2559" y="1816"/>
              <a:ext cx="192" cy="7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0" name="Freeform 114"/>
            <p:cNvSpPr>
              <a:spLocks/>
            </p:cNvSpPr>
            <p:nvPr/>
          </p:nvSpPr>
          <p:spPr bwMode="auto">
            <a:xfrm>
              <a:off x="2559" y="1803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1" name="Freeform 115"/>
            <p:cNvSpPr>
              <a:spLocks/>
            </p:cNvSpPr>
            <p:nvPr/>
          </p:nvSpPr>
          <p:spPr bwMode="auto">
            <a:xfrm>
              <a:off x="2590" y="1684"/>
              <a:ext cx="128" cy="11"/>
            </a:xfrm>
            <a:custGeom>
              <a:avLst/>
              <a:gdLst>
                <a:gd name="T0" fmla="*/ 0 w 128"/>
                <a:gd name="T1" fmla="*/ 11 h 11"/>
                <a:gd name="T2" fmla="*/ 15 w 128"/>
                <a:gd name="T3" fmla="*/ 0 h 11"/>
                <a:gd name="T4" fmla="*/ 113 w 128"/>
                <a:gd name="T5" fmla="*/ 0 h 11"/>
                <a:gd name="T6" fmla="*/ 128 w 128"/>
                <a:gd name="T7" fmla="*/ 11 h 11"/>
                <a:gd name="T8" fmla="*/ 0 w 128"/>
                <a:gd name="T9" fmla="*/ 11 h 11"/>
                <a:gd name="T10" fmla="*/ 0 w 128"/>
                <a:gd name="T1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11">
                  <a:moveTo>
                    <a:pt x="0" y="11"/>
                  </a:moveTo>
                  <a:lnTo>
                    <a:pt x="15" y="0"/>
                  </a:lnTo>
                  <a:lnTo>
                    <a:pt x="113" y="0"/>
                  </a:lnTo>
                  <a:lnTo>
                    <a:pt x="128" y="11"/>
                  </a:lnTo>
                  <a:lnTo>
                    <a:pt x="0" y="11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2" name="Rectangle 116"/>
            <p:cNvSpPr>
              <a:spLocks noChangeArrowheads="1"/>
            </p:cNvSpPr>
            <p:nvPr/>
          </p:nvSpPr>
          <p:spPr bwMode="auto">
            <a:xfrm>
              <a:off x="2590" y="1695"/>
              <a:ext cx="128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3" name="Rectangle 117"/>
            <p:cNvSpPr>
              <a:spLocks noChangeArrowheads="1"/>
            </p:cNvSpPr>
            <p:nvPr/>
          </p:nvSpPr>
          <p:spPr bwMode="auto">
            <a:xfrm>
              <a:off x="2600" y="1702"/>
              <a:ext cx="108" cy="56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4" name="Freeform 118"/>
            <p:cNvSpPr>
              <a:spLocks/>
            </p:cNvSpPr>
            <p:nvPr/>
          </p:nvSpPr>
          <p:spPr bwMode="auto">
            <a:xfrm>
              <a:off x="3746" y="1446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8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8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" name="Rectangle 119"/>
            <p:cNvSpPr>
              <a:spLocks noChangeArrowheads="1"/>
            </p:cNvSpPr>
            <p:nvPr/>
          </p:nvSpPr>
          <p:spPr bwMode="auto">
            <a:xfrm>
              <a:off x="3746" y="1459"/>
              <a:ext cx="179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6" name="Rectangle 120"/>
            <p:cNvSpPr>
              <a:spLocks noChangeArrowheads="1"/>
            </p:cNvSpPr>
            <p:nvPr/>
          </p:nvSpPr>
          <p:spPr bwMode="auto">
            <a:xfrm>
              <a:off x="3741" y="1505"/>
              <a:ext cx="192" cy="6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7" name="Freeform 121"/>
            <p:cNvSpPr>
              <a:spLocks/>
            </p:cNvSpPr>
            <p:nvPr/>
          </p:nvSpPr>
          <p:spPr bwMode="auto">
            <a:xfrm>
              <a:off x="3741" y="1492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0 w 192"/>
                <a:gd name="T3" fmla="*/ 0 h 13"/>
                <a:gd name="T4" fmla="*/ 171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0" y="0"/>
                  </a:lnTo>
                  <a:lnTo>
                    <a:pt x="171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8" name="Freeform 122"/>
            <p:cNvSpPr>
              <a:spLocks/>
            </p:cNvSpPr>
            <p:nvPr/>
          </p:nvSpPr>
          <p:spPr bwMode="auto">
            <a:xfrm>
              <a:off x="3772" y="1373"/>
              <a:ext cx="128" cy="10"/>
            </a:xfrm>
            <a:custGeom>
              <a:avLst/>
              <a:gdLst>
                <a:gd name="T0" fmla="*/ 0 w 128"/>
                <a:gd name="T1" fmla="*/ 10 h 10"/>
                <a:gd name="T2" fmla="*/ 15 w 128"/>
                <a:gd name="T3" fmla="*/ 0 h 10"/>
                <a:gd name="T4" fmla="*/ 115 w 128"/>
                <a:gd name="T5" fmla="*/ 0 h 10"/>
                <a:gd name="T6" fmla="*/ 128 w 128"/>
                <a:gd name="T7" fmla="*/ 10 h 10"/>
                <a:gd name="T8" fmla="*/ 0 w 128"/>
                <a:gd name="T9" fmla="*/ 10 h 10"/>
                <a:gd name="T10" fmla="*/ 0 w 128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10">
                  <a:moveTo>
                    <a:pt x="0" y="10"/>
                  </a:moveTo>
                  <a:lnTo>
                    <a:pt x="15" y="0"/>
                  </a:lnTo>
                  <a:lnTo>
                    <a:pt x="115" y="0"/>
                  </a:lnTo>
                  <a:lnTo>
                    <a:pt x="128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9" name="Rectangle 123"/>
            <p:cNvSpPr>
              <a:spLocks noChangeArrowheads="1"/>
            </p:cNvSpPr>
            <p:nvPr/>
          </p:nvSpPr>
          <p:spPr bwMode="auto">
            <a:xfrm>
              <a:off x="3772" y="1383"/>
              <a:ext cx="128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0" name="Rectangle 124"/>
            <p:cNvSpPr>
              <a:spLocks noChangeArrowheads="1"/>
            </p:cNvSpPr>
            <p:nvPr/>
          </p:nvSpPr>
          <p:spPr bwMode="auto">
            <a:xfrm>
              <a:off x="3785" y="1392"/>
              <a:ext cx="104" cy="54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1" name="Freeform 125"/>
            <p:cNvSpPr>
              <a:spLocks/>
            </p:cNvSpPr>
            <p:nvPr/>
          </p:nvSpPr>
          <p:spPr bwMode="auto">
            <a:xfrm>
              <a:off x="3224" y="1446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2" name="Rectangle 126"/>
            <p:cNvSpPr>
              <a:spLocks noChangeArrowheads="1"/>
            </p:cNvSpPr>
            <p:nvPr/>
          </p:nvSpPr>
          <p:spPr bwMode="auto">
            <a:xfrm>
              <a:off x="3224" y="1459"/>
              <a:ext cx="182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3" name="Rectangle 127"/>
            <p:cNvSpPr>
              <a:spLocks noChangeArrowheads="1"/>
            </p:cNvSpPr>
            <p:nvPr/>
          </p:nvSpPr>
          <p:spPr bwMode="auto">
            <a:xfrm>
              <a:off x="3219" y="1505"/>
              <a:ext cx="192" cy="6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4" name="Freeform 128"/>
            <p:cNvSpPr>
              <a:spLocks/>
            </p:cNvSpPr>
            <p:nvPr/>
          </p:nvSpPr>
          <p:spPr bwMode="auto">
            <a:xfrm>
              <a:off x="3219" y="1492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" name="Freeform 129"/>
            <p:cNvSpPr>
              <a:spLocks/>
            </p:cNvSpPr>
            <p:nvPr/>
          </p:nvSpPr>
          <p:spPr bwMode="auto">
            <a:xfrm>
              <a:off x="3253" y="1373"/>
              <a:ext cx="125" cy="10"/>
            </a:xfrm>
            <a:custGeom>
              <a:avLst/>
              <a:gdLst>
                <a:gd name="T0" fmla="*/ 0 w 125"/>
                <a:gd name="T1" fmla="*/ 10 h 10"/>
                <a:gd name="T2" fmla="*/ 12 w 125"/>
                <a:gd name="T3" fmla="*/ 0 h 10"/>
                <a:gd name="T4" fmla="*/ 112 w 125"/>
                <a:gd name="T5" fmla="*/ 0 h 10"/>
                <a:gd name="T6" fmla="*/ 125 w 125"/>
                <a:gd name="T7" fmla="*/ 10 h 10"/>
                <a:gd name="T8" fmla="*/ 0 w 125"/>
                <a:gd name="T9" fmla="*/ 10 h 10"/>
                <a:gd name="T10" fmla="*/ 0 w 125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10">
                  <a:moveTo>
                    <a:pt x="0" y="10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6" name="Rectangle 130"/>
            <p:cNvSpPr>
              <a:spLocks noChangeArrowheads="1"/>
            </p:cNvSpPr>
            <p:nvPr/>
          </p:nvSpPr>
          <p:spPr bwMode="auto">
            <a:xfrm>
              <a:off x="3253" y="1383"/>
              <a:ext cx="125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7" name="Rectangle 131"/>
            <p:cNvSpPr>
              <a:spLocks noChangeArrowheads="1"/>
            </p:cNvSpPr>
            <p:nvPr/>
          </p:nvSpPr>
          <p:spPr bwMode="auto">
            <a:xfrm>
              <a:off x="3263" y="1392"/>
              <a:ext cx="105" cy="54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8" name="Freeform 132"/>
            <p:cNvSpPr>
              <a:spLocks/>
            </p:cNvSpPr>
            <p:nvPr/>
          </p:nvSpPr>
          <p:spPr bwMode="auto">
            <a:xfrm>
              <a:off x="2894" y="1446"/>
              <a:ext cx="182" cy="13"/>
            </a:xfrm>
            <a:custGeom>
              <a:avLst/>
              <a:gdLst>
                <a:gd name="T0" fmla="*/ 0 w 182"/>
                <a:gd name="T1" fmla="*/ 13 h 13"/>
                <a:gd name="T2" fmla="*/ 21 w 182"/>
                <a:gd name="T3" fmla="*/ 0 h 13"/>
                <a:gd name="T4" fmla="*/ 162 w 182"/>
                <a:gd name="T5" fmla="*/ 0 h 13"/>
                <a:gd name="T6" fmla="*/ 182 w 182"/>
                <a:gd name="T7" fmla="*/ 13 h 13"/>
                <a:gd name="T8" fmla="*/ 0 w 182"/>
                <a:gd name="T9" fmla="*/ 13 h 13"/>
                <a:gd name="T10" fmla="*/ 0 w 18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2" h="13">
                  <a:moveTo>
                    <a:pt x="0" y="13"/>
                  </a:moveTo>
                  <a:lnTo>
                    <a:pt x="21" y="0"/>
                  </a:lnTo>
                  <a:lnTo>
                    <a:pt x="162" y="0"/>
                  </a:lnTo>
                  <a:lnTo>
                    <a:pt x="18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9" name="Rectangle 133"/>
            <p:cNvSpPr>
              <a:spLocks noChangeArrowheads="1"/>
            </p:cNvSpPr>
            <p:nvPr/>
          </p:nvSpPr>
          <p:spPr bwMode="auto">
            <a:xfrm>
              <a:off x="2894" y="1459"/>
              <a:ext cx="182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0" name="Rectangle 134"/>
            <p:cNvSpPr>
              <a:spLocks noChangeArrowheads="1"/>
            </p:cNvSpPr>
            <p:nvPr/>
          </p:nvSpPr>
          <p:spPr bwMode="auto">
            <a:xfrm>
              <a:off x="2889" y="1505"/>
              <a:ext cx="192" cy="6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1" name="Freeform 135"/>
            <p:cNvSpPr>
              <a:spLocks/>
            </p:cNvSpPr>
            <p:nvPr/>
          </p:nvSpPr>
          <p:spPr bwMode="auto">
            <a:xfrm>
              <a:off x="2889" y="1492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2" name="Freeform 136"/>
            <p:cNvSpPr>
              <a:spLocks/>
            </p:cNvSpPr>
            <p:nvPr/>
          </p:nvSpPr>
          <p:spPr bwMode="auto">
            <a:xfrm>
              <a:off x="2923" y="1373"/>
              <a:ext cx="125" cy="10"/>
            </a:xfrm>
            <a:custGeom>
              <a:avLst/>
              <a:gdLst>
                <a:gd name="T0" fmla="*/ 0 w 125"/>
                <a:gd name="T1" fmla="*/ 10 h 10"/>
                <a:gd name="T2" fmla="*/ 12 w 125"/>
                <a:gd name="T3" fmla="*/ 0 h 10"/>
                <a:gd name="T4" fmla="*/ 112 w 125"/>
                <a:gd name="T5" fmla="*/ 0 h 10"/>
                <a:gd name="T6" fmla="*/ 125 w 125"/>
                <a:gd name="T7" fmla="*/ 10 h 10"/>
                <a:gd name="T8" fmla="*/ 0 w 125"/>
                <a:gd name="T9" fmla="*/ 10 h 10"/>
                <a:gd name="T10" fmla="*/ 0 w 125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10">
                  <a:moveTo>
                    <a:pt x="0" y="10"/>
                  </a:moveTo>
                  <a:lnTo>
                    <a:pt x="12" y="0"/>
                  </a:lnTo>
                  <a:lnTo>
                    <a:pt x="112" y="0"/>
                  </a:lnTo>
                  <a:lnTo>
                    <a:pt x="125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3" name="Rectangle 137"/>
            <p:cNvSpPr>
              <a:spLocks noChangeArrowheads="1"/>
            </p:cNvSpPr>
            <p:nvPr/>
          </p:nvSpPr>
          <p:spPr bwMode="auto">
            <a:xfrm>
              <a:off x="2923" y="1383"/>
              <a:ext cx="125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4" name="Rectangle 138"/>
            <p:cNvSpPr>
              <a:spLocks noChangeArrowheads="1"/>
            </p:cNvSpPr>
            <p:nvPr/>
          </p:nvSpPr>
          <p:spPr bwMode="auto">
            <a:xfrm>
              <a:off x="2933" y="1392"/>
              <a:ext cx="105" cy="54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" name="Freeform 139"/>
            <p:cNvSpPr>
              <a:spLocks/>
            </p:cNvSpPr>
            <p:nvPr/>
          </p:nvSpPr>
          <p:spPr bwMode="auto">
            <a:xfrm>
              <a:off x="2565" y="1446"/>
              <a:ext cx="179" cy="13"/>
            </a:xfrm>
            <a:custGeom>
              <a:avLst/>
              <a:gdLst>
                <a:gd name="T0" fmla="*/ 0 w 179"/>
                <a:gd name="T1" fmla="*/ 13 h 13"/>
                <a:gd name="T2" fmla="*/ 17 w 179"/>
                <a:gd name="T3" fmla="*/ 0 h 13"/>
                <a:gd name="T4" fmla="*/ 161 w 179"/>
                <a:gd name="T5" fmla="*/ 0 h 13"/>
                <a:gd name="T6" fmla="*/ 179 w 179"/>
                <a:gd name="T7" fmla="*/ 13 h 13"/>
                <a:gd name="T8" fmla="*/ 0 w 179"/>
                <a:gd name="T9" fmla="*/ 13 h 13"/>
                <a:gd name="T10" fmla="*/ 0 w 179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79" h="13">
                  <a:moveTo>
                    <a:pt x="0" y="13"/>
                  </a:moveTo>
                  <a:lnTo>
                    <a:pt x="17" y="0"/>
                  </a:lnTo>
                  <a:lnTo>
                    <a:pt x="161" y="0"/>
                  </a:lnTo>
                  <a:lnTo>
                    <a:pt x="179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6" name="Rectangle 140"/>
            <p:cNvSpPr>
              <a:spLocks noChangeArrowheads="1"/>
            </p:cNvSpPr>
            <p:nvPr/>
          </p:nvSpPr>
          <p:spPr bwMode="auto">
            <a:xfrm>
              <a:off x="2565" y="1459"/>
              <a:ext cx="179" cy="33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7" name="Rectangle 141"/>
            <p:cNvSpPr>
              <a:spLocks noChangeArrowheads="1"/>
            </p:cNvSpPr>
            <p:nvPr/>
          </p:nvSpPr>
          <p:spPr bwMode="auto">
            <a:xfrm>
              <a:off x="2559" y="1505"/>
              <a:ext cx="192" cy="6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8" name="Freeform 142"/>
            <p:cNvSpPr>
              <a:spLocks/>
            </p:cNvSpPr>
            <p:nvPr/>
          </p:nvSpPr>
          <p:spPr bwMode="auto">
            <a:xfrm>
              <a:off x="2559" y="1492"/>
              <a:ext cx="192" cy="13"/>
            </a:xfrm>
            <a:custGeom>
              <a:avLst/>
              <a:gdLst>
                <a:gd name="T0" fmla="*/ 0 w 192"/>
                <a:gd name="T1" fmla="*/ 13 h 13"/>
                <a:gd name="T2" fmla="*/ 21 w 192"/>
                <a:gd name="T3" fmla="*/ 0 h 13"/>
                <a:gd name="T4" fmla="*/ 172 w 192"/>
                <a:gd name="T5" fmla="*/ 0 h 13"/>
                <a:gd name="T6" fmla="*/ 192 w 192"/>
                <a:gd name="T7" fmla="*/ 13 h 13"/>
                <a:gd name="T8" fmla="*/ 0 w 192"/>
                <a:gd name="T9" fmla="*/ 13 h 13"/>
                <a:gd name="T10" fmla="*/ 0 w 192"/>
                <a:gd name="T11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2" h="13">
                  <a:moveTo>
                    <a:pt x="0" y="13"/>
                  </a:moveTo>
                  <a:lnTo>
                    <a:pt x="21" y="0"/>
                  </a:lnTo>
                  <a:lnTo>
                    <a:pt x="172" y="0"/>
                  </a:lnTo>
                  <a:lnTo>
                    <a:pt x="192" y="13"/>
                  </a:lnTo>
                  <a:lnTo>
                    <a:pt x="0" y="13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9" name="Freeform 143"/>
            <p:cNvSpPr>
              <a:spLocks/>
            </p:cNvSpPr>
            <p:nvPr/>
          </p:nvSpPr>
          <p:spPr bwMode="auto">
            <a:xfrm>
              <a:off x="2590" y="1373"/>
              <a:ext cx="128" cy="10"/>
            </a:xfrm>
            <a:custGeom>
              <a:avLst/>
              <a:gdLst>
                <a:gd name="T0" fmla="*/ 0 w 128"/>
                <a:gd name="T1" fmla="*/ 10 h 10"/>
                <a:gd name="T2" fmla="*/ 15 w 128"/>
                <a:gd name="T3" fmla="*/ 0 h 10"/>
                <a:gd name="T4" fmla="*/ 113 w 128"/>
                <a:gd name="T5" fmla="*/ 0 h 10"/>
                <a:gd name="T6" fmla="*/ 128 w 128"/>
                <a:gd name="T7" fmla="*/ 10 h 10"/>
                <a:gd name="T8" fmla="*/ 0 w 128"/>
                <a:gd name="T9" fmla="*/ 10 h 10"/>
                <a:gd name="T10" fmla="*/ 0 w 128"/>
                <a:gd name="T11" fmla="*/ 1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8" h="10">
                  <a:moveTo>
                    <a:pt x="0" y="10"/>
                  </a:moveTo>
                  <a:lnTo>
                    <a:pt x="15" y="0"/>
                  </a:lnTo>
                  <a:lnTo>
                    <a:pt x="113" y="0"/>
                  </a:lnTo>
                  <a:lnTo>
                    <a:pt x="128" y="10"/>
                  </a:lnTo>
                  <a:lnTo>
                    <a:pt x="0" y="10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CCCCCC"/>
            </a:solidFill>
            <a:ln w="47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0" name="Rectangle 144"/>
            <p:cNvSpPr>
              <a:spLocks noChangeArrowheads="1"/>
            </p:cNvSpPr>
            <p:nvPr/>
          </p:nvSpPr>
          <p:spPr bwMode="auto">
            <a:xfrm>
              <a:off x="2590" y="1383"/>
              <a:ext cx="128" cy="72"/>
            </a:xfrm>
            <a:prstGeom prst="rect">
              <a:avLst/>
            </a:prstGeom>
            <a:solidFill>
              <a:srgbClr val="A6A6A6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1" name="Rectangle 145"/>
            <p:cNvSpPr>
              <a:spLocks noChangeArrowheads="1"/>
            </p:cNvSpPr>
            <p:nvPr/>
          </p:nvSpPr>
          <p:spPr bwMode="auto">
            <a:xfrm>
              <a:off x="2600" y="1392"/>
              <a:ext cx="108" cy="54"/>
            </a:xfrm>
            <a:prstGeom prst="rect">
              <a:avLst/>
            </a:prstGeom>
            <a:solidFill>
              <a:srgbClr val="FFFFFF"/>
            </a:solidFill>
            <a:ln w="47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2" name="Rectangle 146"/>
            <p:cNvSpPr>
              <a:spLocks noChangeArrowheads="1"/>
            </p:cNvSpPr>
            <p:nvPr/>
          </p:nvSpPr>
          <p:spPr bwMode="auto">
            <a:xfrm>
              <a:off x="2112" y="1232"/>
              <a:ext cx="197" cy="89"/>
            </a:xfrm>
            <a:prstGeom prst="rect">
              <a:avLst/>
            </a:prstGeom>
            <a:solidFill>
              <a:srgbClr val="CCEC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3" name="Freeform 147"/>
            <p:cNvSpPr>
              <a:spLocks/>
            </p:cNvSpPr>
            <p:nvPr/>
          </p:nvSpPr>
          <p:spPr bwMode="auto">
            <a:xfrm>
              <a:off x="2309" y="1195"/>
              <a:ext cx="43" cy="126"/>
            </a:xfrm>
            <a:custGeom>
              <a:avLst/>
              <a:gdLst>
                <a:gd name="T0" fmla="*/ 43 w 43"/>
                <a:gd name="T1" fmla="*/ 0 h 126"/>
                <a:gd name="T2" fmla="*/ 43 w 43"/>
                <a:gd name="T3" fmla="*/ 91 h 126"/>
                <a:gd name="T4" fmla="*/ 0 w 43"/>
                <a:gd name="T5" fmla="*/ 126 h 126"/>
                <a:gd name="T6" fmla="*/ 0 w 43"/>
                <a:gd name="T7" fmla="*/ 37 h 126"/>
                <a:gd name="T8" fmla="*/ 43 w 43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26">
                  <a:moveTo>
                    <a:pt x="43" y="0"/>
                  </a:moveTo>
                  <a:lnTo>
                    <a:pt x="43" y="91"/>
                  </a:lnTo>
                  <a:lnTo>
                    <a:pt x="0" y="126"/>
                  </a:lnTo>
                  <a:lnTo>
                    <a:pt x="0" y="3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80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4" name="Freeform 148"/>
            <p:cNvSpPr>
              <a:spLocks/>
            </p:cNvSpPr>
            <p:nvPr/>
          </p:nvSpPr>
          <p:spPr bwMode="auto">
            <a:xfrm>
              <a:off x="2112" y="1195"/>
              <a:ext cx="240" cy="37"/>
            </a:xfrm>
            <a:custGeom>
              <a:avLst/>
              <a:gdLst>
                <a:gd name="T0" fmla="*/ 0 w 240"/>
                <a:gd name="T1" fmla="*/ 37 h 37"/>
                <a:gd name="T2" fmla="*/ 43 w 240"/>
                <a:gd name="T3" fmla="*/ 0 h 37"/>
                <a:gd name="T4" fmla="*/ 240 w 240"/>
                <a:gd name="T5" fmla="*/ 0 h 37"/>
                <a:gd name="T6" fmla="*/ 197 w 240"/>
                <a:gd name="T7" fmla="*/ 37 h 37"/>
                <a:gd name="T8" fmla="*/ 0 w 240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37">
                  <a:moveTo>
                    <a:pt x="0" y="37"/>
                  </a:moveTo>
                  <a:lnTo>
                    <a:pt x="43" y="0"/>
                  </a:lnTo>
                  <a:lnTo>
                    <a:pt x="240" y="0"/>
                  </a:lnTo>
                  <a:lnTo>
                    <a:pt x="197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A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" name="Rectangle 149"/>
            <p:cNvSpPr>
              <a:spLocks noChangeArrowheads="1"/>
            </p:cNvSpPr>
            <p:nvPr/>
          </p:nvSpPr>
          <p:spPr bwMode="auto">
            <a:xfrm>
              <a:off x="2112" y="1544"/>
              <a:ext cx="197" cy="88"/>
            </a:xfrm>
            <a:prstGeom prst="rect">
              <a:avLst/>
            </a:prstGeom>
            <a:solidFill>
              <a:srgbClr val="CCEC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" name="Freeform 150"/>
            <p:cNvSpPr>
              <a:spLocks/>
            </p:cNvSpPr>
            <p:nvPr/>
          </p:nvSpPr>
          <p:spPr bwMode="auto">
            <a:xfrm>
              <a:off x="2309" y="1507"/>
              <a:ext cx="43" cy="125"/>
            </a:xfrm>
            <a:custGeom>
              <a:avLst/>
              <a:gdLst>
                <a:gd name="T0" fmla="*/ 43 w 43"/>
                <a:gd name="T1" fmla="*/ 0 h 125"/>
                <a:gd name="T2" fmla="*/ 43 w 43"/>
                <a:gd name="T3" fmla="*/ 91 h 125"/>
                <a:gd name="T4" fmla="*/ 0 w 43"/>
                <a:gd name="T5" fmla="*/ 125 h 125"/>
                <a:gd name="T6" fmla="*/ 0 w 43"/>
                <a:gd name="T7" fmla="*/ 37 h 125"/>
                <a:gd name="T8" fmla="*/ 43 w 43"/>
                <a:gd name="T9" fmla="*/ 0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25">
                  <a:moveTo>
                    <a:pt x="43" y="0"/>
                  </a:moveTo>
                  <a:lnTo>
                    <a:pt x="43" y="91"/>
                  </a:lnTo>
                  <a:lnTo>
                    <a:pt x="0" y="125"/>
                  </a:lnTo>
                  <a:lnTo>
                    <a:pt x="0" y="3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80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7" name="Freeform 151"/>
            <p:cNvSpPr>
              <a:spLocks/>
            </p:cNvSpPr>
            <p:nvPr/>
          </p:nvSpPr>
          <p:spPr bwMode="auto">
            <a:xfrm>
              <a:off x="2112" y="1507"/>
              <a:ext cx="240" cy="37"/>
            </a:xfrm>
            <a:custGeom>
              <a:avLst/>
              <a:gdLst>
                <a:gd name="T0" fmla="*/ 0 w 240"/>
                <a:gd name="T1" fmla="*/ 37 h 37"/>
                <a:gd name="T2" fmla="*/ 43 w 240"/>
                <a:gd name="T3" fmla="*/ 0 h 37"/>
                <a:gd name="T4" fmla="*/ 240 w 240"/>
                <a:gd name="T5" fmla="*/ 0 h 37"/>
                <a:gd name="T6" fmla="*/ 197 w 240"/>
                <a:gd name="T7" fmla="*/ 37 h 37"/>
                <a:gd name="T8" fmla="*/ 0 w 240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37">
                  <a:moveTo>
                    <a:pt x="0" y="37"/>
                  </a:moveTo>
                  <a:lnTo>
                    <a:pt x="43" y="0"/>
                  </a:lnTo>
                  <a:lnTo>
                    <a:pt x="240" y="0"/>
                  </a:lnTo>
                  <a:lnTo>
                    <a:pt x="197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A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8" name="Rectangle 152"/>
            <p:cNvSpPr>
              <a:spLocks noChangeArrowheads="1"/>
            </p:cNvSpPr>
            <p:nvPr/>
          </p:nvSpPr>
          <p:spPr bwMode="auto">
            <a:xfrm>
              <a:off x="2112" y="1853"/>
              <a:ext cx="197" cy="89"/>
            </a:xfrm>
            <a:prstGeom prst="rect">
              <a:avLst/>
            </a:prstGeom>
            <a:solidFill>
              <a:srgbClr val="CCEC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9" name="Freeform 153"/>
            <p:cNvSpPr>
              <a:spLocks/>
            </p:cNvSpPr>
            <p:nvPr/>
          </p:nvSpPr>
          <p:spPr bwMode="auto">
            <a:xfrm>
              <a:off x="2309" y="1816"/>
              <a:ext cx="43" cy="126"/>
            </a:xfrm>
            <a:custGeom>
              <a:avLst/>
              <a:gdLst>
                <a:gd name="T0" fmla="*/ 43 w 43"/>
                <a:gd name="T1" fmla="*/ 0 h 126"/>
                <a:gd name="T2" fmla="*/ 43 w 43"/>
                <a:gd name="T3" fmla="*/ 91 h 126"/>
                <a:gd name="T4" fmla="*/ 0 w 43"/>
                <a:gd name="T5" fmla="*/ 126 h 126"/>
                <a:gd name="T6" fmla="*/ 0 w 43"/>
                <a:gd name="T7" fmla="*/ 37 h 126"/>
                <a:gd name="T8" fmla="*/ 43 w 43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26">
                  <a:moveTo>
                    <a:pt x="43" y="0"/>
                  </a:moveTo>
                  <a:lnTo>
                    <a:pt x="43" y="91"/>
                  </a:lnTo>
                  <a:lnTo>
                    <a:pt x="0" y="126"/>
                  </a:lnTo>
                  <a:lnTo>
                    <a:pt x="0" y="3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80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0" name="Freeform 154"/>
            <p:cNvSpPr>
              <a:spLocks/>
            </p:cNvSpPr>
            <p:nvPr/>
          </p:nvSpPr>
          <p:spPr bwMode="auto">
            <a:xfrm>
              <a:off x="2112" y="1816"/>
              <a:ext cx="240" cy="37"/>
            </a:xfrm>
            <a:custGeom>
              <a:avLst/>
              <a:gdLst>
                <a:gd name="T0" fmla="*/ 0 w 240"/>
                <a:gd name="T1" fmla="*/ 37 h 37"/>
                <a:gd name="T2" fmla="*/ 43 w 240"/>
                <a:gd name="T3" fmla="*/ 0 h 37"/>
                <a:gd name="T4" fmla="*/ 240 w 240"/>
                <a:gd name="T5" fmla="*/ 0 h 37"/>
                <a:gd name="T6" fmla="*/ 197 w 240"/>
                <a:gd name="T7" fmla="*/ 37 h 37"/>
                <a:gd name="T8" fmla="*/ 0 w 240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37">
                  <a:moveTo>
                    <a:pt x="0" y="37"/>
                  </a:moveTo>
                  <a:lnTo>
                    <a:pt x="43" y="0"/>
                  </a:lnTo>
                  <a:lnTo>
                    <a:pt x="240" y="0"/>
                  </a:lnTo>
                  <a:lnTo>
                    <a:pt x="197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A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1" name="Rectangle 155"/>
            <p:cNvSpPr>
              <a:spLocks noChangeArrowheads="1"/>
            </p:cNvSpPr>
            <p:nvPr/>
          </p:nvSpPr>
          <p:spPr bwMode="auto">
            <a:xfrm>
              <a:off x="2112" y="2165"/>
              <a:ext cx="197" cy="89"/>
            </a:xfrm>
            <a:prstGeom prst="rect">
              <a:avLst/>
            </a:prstGeom>
            <a:solidFill>
              <a:srgbClr val="CCEC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2" name="Freeform 156"/>
            <p:cNvSpPr>
              <a:spLocks/>
            </p:cNvSpPr>
            <p:nvPr/>
          </p:nvSpPr>
          <p:spPr bwMode="auto">
            <a:xfrm>
              <a:off x="2309" y="2128"/>
              <a:ext cx="43" cy="126"/>
            </a:xfrm>
            <a:custGeom>
              <a:avLst/>
              <a:gdLst>
                <a:gd name="T0" fmla="*/ 43 w 43"/>
                <a:gd name="T1" fmla="*/ 0 h 126"/>
                <a:gd name="T2" fmla="*/ 43 w 43"/>
                <a:gd name="T3" fmla="*/ 91 h 126"/>
                <a:gd name="T4" fmla="*/ 0 w 43"/>
                <a:gd name="T5" fmla="*/ 126 h 126"/>
                <a:gd name="T6" fmla="*/ 0 w 43"/>
                <a:gd name="T7" fmla="*/ 37 h 126"/>
                <a:gd name="T8" fmla="*/ 43 w 43"/>
                <a:gd name="T9" fmla="*/ 0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3" h="126">
                  <a:moveTo>
                    <a:pt x="43" y="0"/>
                  </a:moveTo>
                  <a:lnTo>
                    <a:pt x="43" y="91"/>
                  </a:lnTo>
                  <a:lnTo>
                    <a:pt x="0" y="126"/>
                  </a:lnTo>
                  <a:lnTo>
                    <a:pt x="0" y="37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80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3" name="Freeform 157"/>
            <p:cNvSpPr>
              <a:spLocks/>
            </p:cNvSpPr>
            <p:nvPr/>
          </p:nvSpPr>
          <p:spPr bwMode="auto">
            <a:xfrm>
              <a:off x="2112" y="2128"/>
              <a:ext cx="240" cy="37"/>
            </a:xfrm>
            <a:custGeom>
              <a:avLst/>
              <a:gdLst>
                <a:gd name="T0" fmla="*/ 0 w 240"/>
                <a:gd name="T1" fmla="*/ 37 h 37"/>
                <a:gd name="T2" fmla="*/ 43 w 240"/>
                <a:gd name="T3" fmla="*/ 0 h 37"/>
                <a:gd name="T4" fmla="*/ 240 w 240"/>
                <a:gd name="T5" fmla="*/ 0 h 37"/>
                <a:gd name="T6" fmla="*/ 197 w 240"/>
                <a:gd name="T7" fmla="*/ 37 h 37"/>
                <a:gd name="T8" fmla="*/ 0 w 240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0" h="37">
                  <a:moveTo>
                    <a:pt x="0" y="37"/>
                  </a:moveTo>
                  <a:lnTo>
                    <a:pt x="43" y="0"/>
                  </a:lnTo>
                  <a:lnTo>
                    <a:pt x="240" y="0"/>
                  </a:lnTo>
                  <a:lnTo>
                    <a:pt x="197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A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4" name="Rectangle 158"/>
            <p:cNvSpPr>
              <a:spLocks noChangeArrowheads="1"/>
            </p:cNvSpPr>
            <p:nvPr/>
          </p:nvSpPr>
          <p:spPr bwMode="auto">
            <a:xfrm>
              <a:off x="2493" y="2739"/>
              <a:ext cx="199" cy="91"/>
            </a:xfrm>
            <a:prstGeom prst="rect">
              <a:avLst/>
            </a:prstGeom>
            <a:solidFill>
              <a:srgbClr val="CCEC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5" name="Freeform 159"/>
            <p:cNvSpPr>
              <a:spLocks/>
            </p:cNvSpPr>
            <p:nvPr/>
          </p:nvSpPr>
          <p:spPr bwMode="auto">
            <a:xfrm>
              <a:off x="2692" y="2702"/>
              <a:ext cx="44" cy="128"/>
            </a:xfrm>
            <a:custGeom>
              <a:avLst/>
              <a:gdLst>
                <a:gd name="T0" fmla="*/ 44 w 44"/>
                <a:gd name="T1" fmla="*/ 0 h 128"/>
                <a:gd name="T2" fmla="*/ 44 w 44"/>
                <a:gd name="T3" fmla="*/ 91 h 128"/>
                <a:gd name="T4" fmla="*/ 0 w 44"/>
                <a:gd name="T5" fmla="*/ 128 h 128"/>
                <a:gd name="T6" fmla="*/ 0 w 44"/>
                <a:gd name="T7" fmla="*/ 37 h 128"/>
                <a:gd name="T8" fmla="*/ 44 w 44"/>
                <a:gd name="T9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28">
                  <a:moveTo>
                    <a:pt x="44" y="0"/>
                  </a:moveTo>
                  <a:lnTo>
                    <a:pt x="44" y="91"/>
                  </a:lnTo>
                  <a:lnTo>
                    <a:pt x="0" y="128"/>
                  </a:lnTo>
                  <a:lnTo>
                    <a:pt x="0" y="37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80CFE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6" name="Freeform 160"/>
            <p:cNvSpPr>
              <a:spLocks/>
            </p:cNvSpPr>
            <p:nvPr/>
          </p:nvSpPr>
          <p:spPr bwMode="auto">
            <a:xfrm>
              <a:off x="2493" y="2702"/>
              <a:ext cx="243" cy="37"/>
            </a:xfrm>
            <a:custGeom>
              <a:avLst/>
              <a:gdLst>
                <a:gd name="T0" fmla="*/ 0 w 243"/>
                <a:gd name="T1" fmla="*/ 37 h 37"/>
                <a:gd name="T2" fmla="*/ 46 w 243"/>
                <a:gd name="T3" fmla="*/ 0 h 37"/>
                <a:gd name="T4" fmla="*/ 243 w 243"/>
                <a:gd name="T5" fmla="*/ 0 h 37"/>
                <a:gd name="T6" fmla="*/ 199 w 243"/>
                <a:gd name="T7" fmla="*/ 37 h 37"/>
                <a:gd name="T8" fmla="*/ 0 w 243"/>
                <a:gd name="T9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43" h="37">
                  <a:moveTo>
                    <a:pt x="0" y="37"/>
                  </a:moveTo>
                  <a:lnTo>
                    <a:pt x="46" y="0"/>
                  </a:lnTo>
                  <a:lnTo>
                    <a:pt x="243" y="0"/>
                  </a:lnTo>
                  <a:lnTo>
                    <a:pt x="199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A0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7" name="Line 161"/>
            <p:cNvSpPr>
              <a:spLocks noChangeShapeType="1"/>
            </p:cNvSpPr>
            <p:nvPr/>
          </p:nvSpPr>
          <p:spPr bwMode="auto">
            <a:xfrm>
              <a:off x="2332" y="2193"/>
              <a:ext cx="1644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8" name="Line 162"/>
            <p:cNvSpPr>
              <a:spLocks noChangeShapeType="1"/>
            </p:cNvSpPr>
            <p:nvPr/>
          </p:nvSpPr>
          <p:spPr bwMode="auto">
            <a:xfrm>
              <a:off x="2334" y="1881"/>
              <a:ext cx="1642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9" name="Line 163"/>
            <p:cNvSpPr>
              <a:spLocks noChangeShapeType="1"/>
            </p:cNvSpPr>
            <p:nvPr/>
          </p:nvSpPr>
          <p:spPr bwMode="auto">
            <a:xfrm>
              <a:off x="2332" y="1570"/>
              <a:ext cx="1644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0" name="Line 164"/>
            <p:cNvSpPr>
              <a:spLocks noChangeShapeType="1"/>
            </p:cNvSpPr>
            <p:nvPr/>
          </p:nvSpPr>
          <p:spPr bwMode="auto">
            <a:xfrm>
              <a:off x="2332" y="1258"/>
              <a:ext cx="1644" cy="1"/>
            </a:xfrm>
            <a:prstGeom prst="line">
              <a:avLst/>
            </a:prstGeom>
            <a:noFill/>
            <a:ln w="7938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1" name="Rectangle 165"/>
            <p:cNvSpPr>
              <a:spLocks noChangeArrowheads="1"/>
            </p:cNvSpPr>
            <p:nvPr/>
          </p:nvSpPr>
          <p:spPr bwMode="auto">
            <a:xfrm>
              <a:off x="3504" y="1728"/>
              <a:ext cx="147" cy="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600">
                  <a:solidFill>
                    <a:srgbClr val="000000"/>
                  </a:solidFill>
                  <a:latin typeface="Myriad Roman" charset="0"/>
                </a:rPr>
                <a:t>■ ■ ■</a:t>
              </a:r>
              <a:endParaRPr lang="zh-CN" altLang="en-GB" sz="2400">
                <a:latin typeface="Times New Roman" panose="02020603050405020304" pitchFamily="18" charset="0"/>
              </a:endParaRPr>
            </a:p>
          </p:txBody>
        </p:sp>
        <p:sp>
          <p:nvSpPr>
            <p:cNvPr id="262" name="Rectangle 166"/>
            <p:cNvSpPr>
              <a:spLocks noChangeArrowheads="1"/>
            </p:cNvSpPr>
            <p:nvPr/>
          </p:nvSpPr>
          <p:spPr bwMode="auto">
            <a:xfrm>
              <a:off x="3504" y="2016"/>
              <a:ext cx="147" cy="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600">
                  <a:solidFill>
                    <a:srgbClr val="000000"/>
                  </a:solidFill>
                  <a:latin typeface="Myriad Roman" charset="0"/>
                </a:rPr>
                <a:t>■ ■ ■</a:t>
              </a:r>
              <a:endParaRPr lang="zh-CN" altLang="en-GB" sz="2400">
                <a:latin typeface="Times New Roman" panose="02020603050405020304" pitchFamily="18" charset="0"/>
              </a:endParaRPr>
            </a:p>
          </p:txBody>
        </p:sp>
        <p:sp>
          <p:nvSpPr>
            <p:cNvPr id="263" name="Rectangle 167"/>
            <p:cNvSpPr>
              <a:spLocks noChangeArrowheads="1"/>
            </p:cNvSpPr>
            <p:nvPr/>
          </p:nvSpPr>
          <p:spPr bwMode="auto">
            <a:xfrm>
              <a:off x="3504" y="2352"/>
              <a:ext cx="147" cy="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/>
            <a:p>
              <a:pPr eaLnBrk="0" hangingPunct="0"/>
              <a:r>
                <a:rPr lang="en-US" altLang="zh-CN" sz="600">
                  <a:solidFill>
                    <a:srgbClr val="000000"/>
                  </a:solidFill>
                  <a:latin typeface="Myriad Roman" charset="0"/>
                </a:rPr>
                <a:t>■ ■ ■</a:t>
              </a:r>
              <a:endParaRPr lang="zh-CN" altLang="en-GB" sz="2400"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571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星形以太网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2334927"/>
          </a:xfrm>
        </p:spPr>
        <p:txBody>
          <a:bodyPr/>
          <a:lstStyle/>
          <a:p>
            <a:r>
              <a:rPr lang="en-US" altLang="zh-CN" dirty="0"/>
              <a:t>10BaseT</a:t>
            </a:r>
            <a:r>
              <a:rPr lang="zh-CN" altLang="en-US" dirty="0"/>
              <a:t>，双绞线介质，</a:t>
            </a:r>
            <a:r>
              <a:rPr lang="en-US" altLang="zh-CN" dirty="0"/>
              <a:t>IEEE 802.3i </a:t>
            </a:r>
          </a:p>
          <a:p>
            <a:pPr lvl="1"/>
            <a:r>
              <a:rPr lang="zh-CN" altLang="en-US" sz="1800" dirty="0"/>
              <a:t>双绞线总是配合集线器使用</a:t>
            </a:r>
            <a:endParaRPr lang="en-US" altLang="zh-CN" sz="1800" dirty="0"/>
          </a:p>
          <a:p>
            <a:pPr lvl="1"/>
            <a:r>
              <a:rPr lang="zh-CN" altLang="en-US" sz="1800" dirty="0"/>
              <a:t>集线器</a:t>
            </a:r>
            <a:r>
              <a:rPr lang="en-US" altLang="zh-CN" sz="1800" dirty="0"/>
              <a:t>(Hub)</a:t>
            </a:r>
            <a:r>
              <a:rPr lang="zh-CN" altLang="en-US" sz="1800" dirty="0"/>
              <a:t>：物理层设备，简单转发比特</a:t>
            </a:r>
            <a:endParaRPr lang="en-US" altLang="zh-CN" sz="1800" dirty="0"/>
          </a:p>
          <a:p>
            <a:pPr lvl="1"/>
            <a:r>
              <a:rPr lang="zh-CN" altLang="en-US" sz="1800" b="1" dirty="0">
                <a:solidFill>
                  <a:srgbClr val="FF0000"/>
                </a:solidFill>
              </a:rPr>
              <a:t>拓扑结构为星形，逻辑上仍是总线型网络，</a:t>
            </a:r>
            <a:r>
              <a:rPr lang="zh-CN" altLang="en-US" sz="1800" dirty="0"/>
              <a:t>使用</a:t>
            </a:r>
            <a:r>
              <a:rPr lang="en-US" altLang="zh-CN" sz="1800" dirty="0"/>
              <a:t>CSMA/CD</a:t>
            </a:r>
          </a:p>
          <a:p>
            <a:pPr lvl="1"/>
            <a:r>
              <a:rPr lang="zh-CN" altLang="en-US" sz="1800" dirty="0"/>
              <a:t>每个主机通过两对双绞线与</a:t>
            </a:r>
            <a:r>
              <a:rPr lang="en-US" altLang="zh-CN" sz="1800" dirty="0"/>
              <a:t>Hub</a:t>
            </a:r>
            <a:r>
              <a:rPr lang="zh-CN" altLang="en-US" sz="1800" dirty="0"/>
              <a:t>相连，发送</a:t>
            </a:r>
            <a:r>
              <a:rPr lang="en-US" altLang="zh-CN" sz="1800" dirty="0"/>
              <a:t>/</a:t>
            </a:r>
            <a:r>
              <a:rPr lang="zh-CN" altLang="en-US" sz="1800" dirty="0"/>
              <a:t>接收各</a:t>
            </a:r>
            <a:r>
              <a:rPr lang="en-US" altLang="zh-CN" sz="1800" dirty="0"/>
              <a:t>1</a:t>
            </a:r>
            <a:r>
              <a:rPr lang="zh-CN" altLang="en-US" sz="1800" dirty="0"/>
              <a:t>对</a:t>
            </a:r>
            <a:endParaRPr lang="en-US" altLang="zh-CN" sz="1800" dirty="0"/>
          </a:p>
          <a:p>
            <a:pPr lvl="1"/>
            <a:r>
              <a:rPr lang="zh-CN" altLang="en-US" sz="1800" dirty="0"/>
              <a:t>便宜，增添或移去站点</a:t>
            </a:r>
            <a:r>
              <a:rPr lang="en-US" altLang="zh-CN" sz="1800" dirty="0"/>
              <a:t>(</a:t>
            </a:r>
            <a:r>
              <a:rPr lang="zh-CN" altLang="en-US" sz="1800" dirty="0"/>
              <a:t>主机</a:t>
            </a:r>
            <a:r>
              <a:rPr lang="en-US" altLang="zh-CN" sz="1800" dirty="0"/>
              <a:t>)</a:t>
            </a:r>
            <a:r>
              <a:rPr lang="zh-CN" altLang="en-US" sz="1800" dirty="0"/>
              <a:t>变得十分简单，容易检测到电缆故障</a:t>
            </a:r>
            <a:endParaRPr lang="en-US" altLang="zh-CN" sz="18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53</a:t>
            </a:fld>
            <a:endParaRPr lang="zh-CN" altLang="en-US" dirty="0"/>
          </a:p>
        </p:txBody>
      </p:sp>
      <p:grpSp>
        <p:nvGrpSpPr>
          <p:cNvPr id="7" name="组合 6"/>
          <p:cNvGrpSpPr/>
          <p:nvPr/>
        </p:nvGrpSpPr>
        <p:grpSpPr>
          <a:xfrm>
            <a:off x="195072" y="3802281"/>
            <a:ext cx="5012123" cy="2937011"/>
            <a:chOff x="566218" y="3500507"/>
            <a:chExt cx="5012123" cy="2937011"/>
          </a:xfrm>
        </p:grpSpPr>
        <p:sp>
          <p:nvSpPr>
            <p:cNvPr id="349" name="Rectangle 11"/>
            <p:cNvSpPr>
              <a:spLocks noChangeArrowheads="1"/>
            </p:cNvSpPr>
            <p:nvPr/>
          </p:nvSpPr>
          <p:spPr bwMode="auto">
            <a:xfrm>
              <a:off x="566218" y="3500507"/>
              <a:ext cx="5012123" cy="2937011"/>
            </a:xfrm>
            <a:prstGeom prst="rect">
              <a:avLst/>
            </a:prstGeom>
            <a:solidFill>
              <a:srgbClr val="F2F2F8"/>
            </a:solidFill>
            <a:ln w="25400">
              <a:noFill/>
              <a:miter lim="800000"/>
              <a:headEnd/>
              <a:tailEnd/>
            </a:ln>
            <a:effectLst/>
          </p:spPr>
          <p:txBody>
            <a:bodyPr wrap="none" lIns="0" anchor="ctr"/>
            <a:lstStyle/>
            <a:p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</a:rPr>
                <a:t>  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24" name="Line 66"/>
            <p:cNvSpPr>
              <a:spLocks noChangeShapeType="1"/>
            </p:cNvSpPr>
            <p:nvPr/>
          </p:nvSpPr>
          <p:spPr bwMode="auto">
            <a:xfrm flipV="1">
              <a:off x="720575" y="4778905"/>
              <a:ext cx="1809850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3" name="Line 193"/>
            <p:cNvSpPr>
              <a:spLocks noChangeShapeType="1"/>
            </p:cNvSpPr>
            <p:nvPr/>
          </p:nvSpPr>
          <p:spPr bwMode="auto">
            <a:xfrm>
              <a:off x="1129451" y="4760060"/>
              <a:ext cx="0" cy="1381494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5" name="Line 195"/>
            <p:cNvSpPr>
              <a:spLocks noChangeShapeType="1"/>
            </p:cNvSpPr>
            <p:nvPr/>
          </p:nvSpPr>
          <p:spPr bwMode="auto">
            <a:xfrm flipV="1">
              <a:off x="857772" y="6126684"/>
              <a:ext cx="523678" cy="0"/>
            </a:xfrm>
            <a:prstGeom prst="line">
              <a:avLst/>
            </a:prstGeom>
            <a:noFill/>
            <a:ln w="126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350" name="Picture 11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03866" y="4504928"/>
              <a:ext cx="1175654" cy="6897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1" name="Rectangle 191"/>
            <p:cNvSpPr>
              <a:spLocks noChangeArrowheads="1"/>
            </p:cNvSpPr>
            <p:nvPr/>
          </p:nvSpPr>
          <p:spPr bwMode="auto">
            <a:xfrm>
              <a:off x="2376661" y="4439709"/>
              <a:ext cx="528991" cy="3391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2075" tIns="46038" rIns="92075" bIns="46038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Hub</a:t>
              </a:r>
            </a:p>
          </p:txBody>
        </p:sp>
        <p:grpSp>
          <p:nvGrpSpPr>
            <p:cNvPr id="352" name="组合 351"/>
            <p:cNvGrpSpPr/>
            <p:nvPr/>
          </p:nvGrpSpPr>
          <p:grpSpPr>
            <a:xfrm>
              <a:off x="1367835" y="5724372"/>
              <a:ext cx="1305822" cy="693857"/>
              <a:chOff x="1367883" y="5491661"/>
              <a:chExt cx="1305822" cy="693857"/>
            </a:xfrm>
          </p:grpSpPr>
          <p:sp>
            <p:nvSpPr>
              <p:cNvPr id="353" name="Rectangle 64"/>
              <p:cNvSpPr>
                <a:spLocks noChangeArrowheads="1"/>
              </p:cNvSpPr>
              <p:nvPr/>
            </p:nvSpPr>
            <p:spPr bwMode="auto">
              <a:xfrm>
                <a:off x="2231276" y="5877099"/>
                <a:ext cx="442429" cy="308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sz="1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NIC</a:t>
                </a:r>
              </a:p>
            </p:txBody>
          </p:sp>
          <p:pic>
            <p:nvPicPr>
              <p:cNvPr id="354" name="Picture 36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7883" y="5491661"/>
                <a:ext cx="813967" cy="6309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355" name="Group 4"/>
              <p:cNvGrpSpPr>
                <a:grpSpLocks/>
              </p:cNvGrpSpPr>
              <p:nvPr/>
            </p:nvGrpSpPr>
            <p:grpSpPr bwMode="auto">
              <a:xfrm>
                <a:off x="1932342" y="5670084"/>
                <a:ext cx="539456" cy="298449"/>
                <a:chOff x="2801" y="2891"/>
                <a:chExt cx="412" cy="210"/>
              </a:xfrm>
            </p:grpSpPr>
            <p:sp>
              <p:nvSpPr>
                <p:cNvPr id="356" name="Freeform 5"/>
                <p:cNvSpPr>
                  <a:spLocks/>
                </p:cNvSpPr>
                <p:nvPr/>
              </p:nvSpPr>
              <p:spPr bwMode="auto">
                <a:xfrm>
                  <a:off x="2904" y="3063"/>
                  <a:ext cx="215" cy="27"/>
                </a:xfrm>
                <a:custGeom>
                  <a:avLst/>
                  <a:gdLst>
                    <a:gd name="T0" fmla="*/ 214 w 215"/>
                    <a:gd name="T1" fmla="*/ 0 h 27"/>
                    <a:gd name="T2" fmla="*/ 0 w 215"/>
                    <a:gd name="T3" fmla="*/ 0 h 27"/>
                    <a:gd name="T4" fmla="*/ 0 w 215"/>
                    <a:gd name="T5" fmla="*/ 26 h 27"/>
                    <a:gd name="T6" fmla="*/ 214 w 215"/>
                    <a:gd name="T7" fmla="*/ 26 h 27"/>
                    <a:gd name="T8" fmla="*/ 214 w 215"/>
                    <a:gd name="T9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5" h="27">
                      <a:moveTo>
                        <a:pt x="214" y="0"/>
                      </a:move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214" y="26"/>
                      </a:lnTo>
                      <a:lnTo>
                        <a:pt x="214" y="0"/>
                      </a:lnTo>
                    </a:path>
                  </a:pathLst>
                </a:custGeom>
                <a:solidFill>
                  <a:srgbClr val="FFCC33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357" name="Group 6"/>
                <p:cNvGrpSpPr>
                  <a:grpSpLocks/>
                </p:cNvGrpSpPr>
                <p:nvPr/>
              </p:nvGrpSpPr>
              <p:grpSpPr bwMode="auto">
                <a:xfrm>
                  <a:off x="2922" y="3067"/>
                  <a:ext cx="189" cy="18"/>
                  <a:chOff x="2922" y="3067"/>
                  <a:chExt cx="189" cy="18"/>
                </a:xfrm>
              </p:grpSpPr>
              <p:sp>
                <p:nvSpPr>
                  <p:cNvPr id="39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31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1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086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2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07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0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4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04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5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035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6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02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7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0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9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86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98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87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97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88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9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89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947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90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93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491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92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358" name="Rectangle 23"/>
                <p:cNvSpPr>
                  <a:spLocks noChangeArrowheads="1"/>
                </p:cNvSpPr>
                <p:nvPr/>
              </p:nvSpPr>
              <p:spPr bwMode="auto">
                <a:xfrm>
                  <a:off x="2845" y="2891"/>
                  <a:ext cx="368" cy="172"/>
                </a:xfrm>
                <a:prstGeom prst="rect">
                  <a:avLst/>
                </a:prstGeom>
                <a:solidFill>
                  <a:srgbClr val="ADD6A5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359" name="Freeform 24"/>
                <p:cNvSpPr>
                  <a:spLocks/>
                </p:cNvSpPr>
                <p:nvPr/>
              </p:nvSpPr>
              <p:spPr bwMode="auto">
                <a:xfrm>
                  <a:off x="2813" y="2895"/>
                  <a:ext cx="25" cy="206"/>
                </a:xfrm>
                <a:custGeom>
                  <a:avLst/>
                  <a:gdLst>
                    <a:gd name="T0" fmla="*/ 0 w 25"/>
                    <a:gd name="T1" fmla="*/ 0 h 206"/>
                    <a:gd name="T2" fmla="*/ 24 w 25"/>
                    <a:gd name="T3" fmla="*/ 0 h 206"/>
                    <a:gd name="T4" fmla="*/ 24 w 25"/>
                    <a:gd name="T5" fmla="*/ 205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" h="206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24" y="205"/>
                      </a:lnTo>
                    </a:path>
                  </a:pathLst>
                </a:custGeom>
                <a:noFill/>
                <a:ln w="25399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360" name="Group 25"/>
                <p:cNvGrpSpPr>
                  <a:grpSpLocks/>
                </p:cNvGrpSpPr>
                <p:nvPr/>
              </p:nvGrpSpPr>
              <p:grpSpPr bwMode="auto">
                <a:xfrm>
                  <a:off x="2801" y="2935"/>
                  <a:ext cx="32" cy="23"/>
                  <a:chOff x="2801" y="2935"/>
                  <a:chExt cx="32" cy="23"/>
                </a:xfrm>
              </p:grpSpPr>
              <p:sp>
                <p:nvSpPr>
                  <p:cNvPr id="397" name="Freeform 26"/>
                  <p:cNvSpPr>
                    <a:spLocks/>
                  </p:cNvSpPr>
                  <p:nvPr/>
                </p:nvSpPr>
                <p:spPr bwMode="auto">
                  <a:xfrm>
                    <a:off x="2801" y="2940"/>
                    <a:ext cx="23" cy="17"/>
                  </a:xfrm>
                  <a:custGeom>
                    <a:avLst/>
                    <a:gdLst>
                      <a:gd name="T0" fmla="*/ 22 w 23"/>
                      <a:gd name="T1" fmla="*/ 0 h 17"/>
                      <a:gd name="T2" fmla="*/ 0 w 23"/>
                      <a:gd name="T3" fmla="*/ 0 h 17"/>
                      <a:gd name="T4" fmla="*/ 0 w 23"/>
                      <a:gd name="T5" fmla="*/ 16 h 17"/>
                      <a:gd name="T6" fmla="*/ 22 w 23"/>
                      <a:gd name="T7" fmla="*/ 16 h 17"/>
                      <a:gd name="T8" fmla="*/ 22 w 23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1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2" y="16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E9E7D1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8" name="Freeform 27"/>
                  <p:cNvSpPr>
                    <a:spLocks/>
                  </p:cNvSpPr>
                  <p:nvPr/>
                </p:nvSpPr>
                <p:spPr bwMode="auto">
                  <a:xfrm>
                    <a:off x="2816" y="2935"/>
                    <a:ext cx="17" cy="23"/>
                  </a:xfrm>
                  <a:custGeom>
                    <a:avLst/>
                    <a:gdLst>
                      <a:gd name="T0" fmla="*/ 16 w 17"/>
                      <a:gd name="T1" fmla="*/ 0 h 23"/>
                      <a:gd name="T2" fmla="*/ 0 w 17"/>
                      <a:gd name="T3" fmla="*/ 0 h 23"/>
                      <a:gd name="T4" fmla="*/ 0 w 17"/>
                      <a:gd name="T5" fmla="*/ 22 h 23"/>
                      <a:gd name="T6" fmla="*/ 16 w 17"/>
                      <a:gd name="T7" fmla="*/ 22 h 23"/>
                      <a:gd name="T8" fmla="*/ 16 w 17"/>
                      <a:gd name="T9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3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2"/>
                        </a:lnTo>
                        <a:lnTo>
                          <a:pt x="16" y="22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52493E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1" name="Group 28"/>
                <p:cNvGrpSpPr>
                  <a:grpSpLocks/>
                </p:cNvGrpSpPr>
                <p:nvPr/>
              </p:nvGrpSpPr>
              <p:grpSpPr bwMode="auto">
                <a:xfrm>
                  <a:off x="3048" y="2940"/>
                  <a:ext cx="62" cy="54"/>
                  <a:chOff x="3048" y="2940"/>
                  <a:chExt cx="62" cy="54"/>
                </a:xfrm>
              </p:grpSpPr>
              <p:sp>
                <p:nvSpPr>
                  <p:cNvPr id="395" name="Freeform 29"/>
                  <p:cNvSpPr>
                    <a:spLocks/>
                  </p:cNvSpPr>
                  <p:nvPr/>
                </p:nvSpPr>
                <p:spPr bwMode="auto">
                  <a:xfrm>
                    <a:off x="3048" y="2944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6" name="Freeform 30"/>
                  <p:cNvSpPr>
                    <a:spLocks/>
                  </p:cNvSpPr>
                  <p:nvPr/>
                </p:nvSpPr>
                <p:spPr bwMode="auto">
                  <a:xfrm>
                    <a:off x="3050" y="2940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2" name="Group 31"/>
                <p:cNvGrpSpPr>
                  <a:grpSpLocks/>
                </p:cNvGrpSpPr>
                <p:nvPr/>
              </p:nvGrpSpPr>
              <p:grpSpPr bwMode="auto">
                <a:xfrm>
                  <a:off x="2939" y="2989"/>
                  <a:ext cx="79" cy="70"/>
                  <a:chOff x="2939" y="2989"/>
                  <a:chExt cx="79" cy="70"/>
                </a:xfrm>
              </p:grpSpPr>
              <p:sp>
                <p:nvSpPr>
                  <p:cNvPr id="393" name="Freeform 32"/>
                  <p:cNvSpPr>
                    <a:spLocks/>
                  </p:cNvSpPr>
                  <p:nvPr/>
                </p:nvSpPr>
                <p:spPr bwMode="auto">
                  <a:xfrm>
                    <a:off x="2939" y="2993"/>
                    <a:ext cx="76" cy="66"/>
                  </a:xfrm>
                  <a:custGeom>
                    <a:avLst/>
                    <a:gdLst>
                      <a:gd name="T0" fmla="*/ 75 w 76"/>
                      <a:gd name="T1" fmla="*/ 0 h 66"/>
                      <a:gd name="T2" fmla="*/ 0 w 76"/>
                      <a:gd name="T3" fmla="*/ 0 h 66"/>
                      <a:gd name="T4" fmla="*/ 0 w 76"/>
                      <a:gd name="T5" fmla="*/ 65 h 66"/>
                      <a:gd name="T6" fmla="*/ 75 w 76"/>
                      <a:gd name="T7" fmla="*/ 65 h 66"/>
                      <a:gd name="T8" fmla="*/ 75 w 76"/>
                      <a:gd name="T9" fmla="*/ 0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6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5"/>
                        </a:lnTo>
                        <a:lnTo>
                          <a:pt x="75" y="65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4" name="Freeform 33"/>
                  <p:cNvSpPr>
                    <a:spLocks/>
                  </p:cNvSpPr>
                  <p:nvPr/>
                </p:nvSpPr>
                <p:spPr bwMode="auto">
                  <a:xfrm>
                    <a:off x="2942" y="2989"/>
                    <a:ext cx="76" cy="67"/>
                  </a:xfrm>
                  <a:custGeom>
                    <a:avLst/>
                    <a:gdLst>
                      <a:gd name="T0" fmla="*/ 75 w 76"/>
                      <a:gd name="T1" fmla="*/ 0 h 67"/>
                      <a:gd name="T2" fmla="*/ 0 w 76"/>
                      <a:gd name="T3" fmla="*/ 0 h 67"/>
                      <a:gd name="T4" fmla="*/ 0 w 76"/>
                      <a:gd name="T5" fmla="*/ 66 h 67"/>
                      <a:gd name="T6" fmla="*/ 75 w 76"/>
                      <a:gd name="T7" fmla="*/ 66 h 67"/>
                      <a:gd name="T8" fmla="*/ 75 w 76"/>
                      <a:gd name="T9" fmla="*/ 0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7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6"/>
                        </a:lnTo>
                        <a:lnTo>
                          <a:pt x="75" y="66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3" name="Group 34"/>
                <p:cNvGrpSpPr>
                  <a:grpSpLocks/>
                </p:cNvGrpSpPr>
                <p:nvPr/>
              </p:nvGrpSpPr>
              <p:grpSpPr bwMode="auto">
                <a:xfrm>
                  <a:off x="3186" y="2940"/>
                  <a:ext cx="20" cy="82"/>
                  <a:chOff x="3186" y="2940"/>
                  <a:chExt cx="20" cy="82"/>
                </a:xfrm>
              </p:grpSpPr>
              <p:sp>
                <p:nvSpPr>
                  <p:cNvPr id="391" name="Freeform 35"/>
                  <p:cNvSpPr>
                    <a:spLocks/>
                  </p:cNvSpPr>
                  <p:nvPr/>
                </p:nvSpPr>
                <p:spPr bwMode="auto">
                  <a:xfrm>
                    <a:off x="3186" y="2944"/>
                    <a:ext cx="17" cy="78"/>
                  </a:xfrm>
                  <a:custGeom>
                    <a:avLst/>
                    <a:gdLst>
                      <a:gd name="T0" fmla="*/ 16 w 17"/>
                      <a:gd name="T1" fmla="*/ 0 h 78"/>
                      <a:gd name="T2" fmla="*/ 0 w 17"/>
                      <a:gd name="T3" fmla="*/ 0 h 78"/>
                      <a:gd name="T4" fmla="*/ 0 w 17"/>
                      <a:gd name="T5" fmla="*/ 77 h 78"/>
                      <a:gd name="T6" fmla="*/ 16 w 17"/>
                      <a:gd name="T7" fmla="*/ 77 h 78"/>
                      <a:gd name="T8" fmla="*/ 16 w 17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7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6" y="7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2" name="Freeform 36"/>
                  <p:cNvSpPr>
                    <a:spLocks/>
                  </p:cNvSpPr>
                  <p:nvPr/>
                </p:nvSpPr>
                <p:spPr bwMode="auto">
                  <a:xfrm>
                    <a:off x="3188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4" name="Group 37"/>
                <p:cNvGrpSpPr>
                  <a:grpSpLocks/>
                </p:cNvGrpSpPr>
                <p:nvPr/>
              </p:nvGrpSpPr>
              <p:grpSpPr bwMode="auto">
                <a:xfrm>
                  <a:off x="3168" y="3028"/>
                  <a:ext cx="28" cy="21"/>
                  <a:chOff x="3168" y="3028"/>
                  <a:chExt cx="28" cy="21"/>
                </a:xfrm>
              </p:grpSpPr>
              <p:sp>
                <p:nvSpPr>
                  <p:cNvPr id="389" name="Freeform 38"/>
                  <p:cNvSpPr>
                    <a:spLocks/>
                  </p:cNvSpPr>
                  <p:nvPr/>
                </p:nvSpPr>
                <p:spPr bwMode="auto">
                  <a:xfrm>
                    <a:off x="3168" y="3032"/>
                    <a:ext cx="26" cy="17"/>
                  </a:xfrm>
                  <a:custGeom>
                    <a:avLst/>
                    <a:gdLst>
                      <a:gd name="T0" fmla="*/ 25 w 26"/>
                      <a:gd name="T1" fmla="*/ 0 h 17"/>
                      <a:gd name="T2" fmla="*/ 0 w 26"/>
                      <a:gd name="T3" fmla="*/ 0 h 17"/>
                      <a:gd name="T4" fmla="*/ 0 w 26"/>
                      <a:gd name="T5" fmla="*/ 16 h 17"/>
                      <a:gd name="T6" fmla="*/ 25 w 26"/>
                      <a:gd name="T7" fmla="*/ 16 h 17"/>
                      <a:gd name="T8" fmla="*/ 25 w 26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7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5" y="16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90" name="Freeform 39"/>
                  <p:cNvSpPr>
                    <a:spLocks/>
                  </p:cNvSpPr>
                  <p:nvPr/>
                </p:nvSpPr>
                <p:spPr bwMode="auto">
                  <a:xfrm>
                    <a:off x="3170" y="3028"/>
                    <a:ext cx="26" cy="18"/>
                  </a:xfrm>
                  <a:custGeom>
                    <a:avLst/>
                    <a:gdLst>
                      <a:gd name="T0" fmla="*/ 25 w 26"/>
                      <a:gd name="T1" fmla="*/ 0 h 18"/>
                      <a:gd name="T2" fmla="*/ 0 w 26"/>
                      <a:gd name="T3" fmla="*/ 0 h 18"/>
                      <a:gd name="T4" fmla="*/ 0 w 26"/>
                      <a:gd name="T5" fmla="*/ 17 h 18"/>
                      <a:gd name="T6" fmla="*/ 25 w 26"/>
                      <a:gd name="T7" fmla="*/ 17 h 18"/>
                      <a:gd name="T8" fmla="*/ 25 w 26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5" y="17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5" name="Group 40"/>
                <p:cNvGrpSpPr>
                  <a:grpSpLocks/>
                </p:cNvGrpSpPr>
                <p:nvPr/>
              </p:nvGrpSpPr>
              <p:grpSpPr bwMode="auto">
                <a:xfrm>
                  <a:off x="3126" y="2942"/>
                  <a:ext cx="20" cy="37"/>
                  <a:chOff x="3126" y="2942"/>
                  <a:chExt cx="20" cy="37"/>
                </a:xfrm>
              </p:grpSpPr>
              <p:sp>
                <p:nvSpPr>
                  <p:cNvPr id="387" name="Freeform 41"/>
                  <p:cNvSpPr>
                    <a:spLocks/>
                  </p:cNvSpPr>
                  <p:nvPr/>
                </p:nvSpPr>
                <p:spPr bwMode="auto">
                  <a:xfrm>
                    <a:off x="3126" y="2945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8" name="Freeform 42"/>
                  <p:cNvSpPr>
                    <a:spLocks/>
                  </p:cNvSpPr>
                  <p:nvPr/>
                </p:nvSpPr>
                <p:spPr bwMode="auto">
                  <a:xfrm>
                    <a:off x="3128" y="2942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6" name="Group 43"/>
                <p:cNvGrpSpPr>
                  <a:grpSpLocks/>
                </p:cNvGrpSpPr>
                <p:nvPr/>
              </p:nvGrpSpPr>
              <p:grpSpPr bwMode="auto">
                <a:xfrm>
                  <a:off x="3125" y="2978"/>
                  <a:ext cx="20" cy="37"/>
                  <a:chOff x="3125" y="2978"/>
                  <a:chExt cx="20" cy="37"/>
                </a:xfrm>
              </p:grpSpPr>
              <p:sp>
                <p:nvSpPr>
                  <p:cNvPr id="385" name="Freeform 44"/>
                  <p:cNvSpPr>
                    <a:spLocks/>
                  </p:cNvSpPr>
                  <p:nvPr/>
                </p:nvSpPr>
                <p:spPr bwMode="auto">
                  <a:xfrm>
                    <a:off x="3125" y="2981"/>
                    <a:ext cx="17" cy="34"/>
                  </a:xfrm>
                  <a:custGeom>
                    <a:avLst/>
                    <a:gdLst>
                      <a:gd name="T0" fmla="*/ 16 w 17"/>
                      <a:gd name="T1" fmla="*/ 0 h 34"/>
                      <a:gd name="T2" fmla="*/ 0 w 17"/>
                      <a:gd name="T3" fmla="*/ 0 h 34"/>
                      <a:gd name="T4" fmla="*/ 0 w 17"/>
                      <a:gd name="T5" fmla="*/ 33 h 34"/>
                      <a:gd name="T6" fmla="*/ 16 w 17"/>
                      <a:gd name="T7" fmla="*/ 33 h 34"/>
                      <a:gd name="T8" fmla="*/ 16 w 17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34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6" y="33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6" name="Freeform 45"/>
                  <p:cNvSpPr>
                    <a:spLocks/>
                  </p:cNvSpPr>
                  <p:nvPr/>
                </p:nvSpPr>
                <p:spPr bwMode="auto">
                  <a:xfrm>
                    <a:off x="3127" y="2978"/>
                    <a:ext cx="18" cy="35"/>
                  </a:xfrm>
                  <a:custGeom>
                    <a:avLst/>
                    <a:gdLst>
                      <a:gd name="T0" fmla="*/ 17 w 18"/>
                      <a:gd name="T1" fmla="*/ 0 h 35"/>
                      <a:gd name="T2" fmla="*/ 0 w 18"/>
                      <a:gd name="T3" fmla="*/ 0 h 35"/>
                      <a:gd name="T4" fmla="*/ 0 w 18"/>
                      <a:gd name="T5" fmla="*/ 34 h 35"/>
                      <a:gd name="T6" fmla="*/ 17 w 18"/>
                      <a:gd name="T7" fmla="*/ 34 h 35"/>
                      <a:gd name="T8" fmla="*/ 17 w 18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5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4"/>
                        </a:lnTo>
                        <a:lnTo>
                          <a:pt x="17" y="34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7" name="Group 46"/>
                <p:cNvGrpSpPr>
                  <a:grpSpLocks/>
                </p:cNvGrpSpPr>
                <p:nvPr/>
              </p:nvGrpSpPr>
              <p:grpSpPr bwMode="auto">
                <a:xfrm>
                  <a:off x="3025" y="2940"/>
                  <a:ext cx="19" cy="31"/>
                  <a:chOff x="3025" y="2940"/>
                  <a:chExt cx="19" cy="31"/>
                </a:xfrm>
              </p:grpSpPr>
              <p:sp>
                <p:nvSpPr>
                  <p:cNvPr id="383" name="Freeform 47"/>
                  <p:cNvSpPr>
                    <a:spLocks/>
                  </p:cNvSpPr>
                  <p:nvPr/>
                </p:nvSpPr>
                <p:spPr bwMode="auto">
                  <a:xfrm>
                    <a:off x="3025" y="2944"/>
                    <a:ext cx="17" cy="27"/>
                  </a:xfrm>
                  <a:custGeom>
                    <a:avLst/>
                    <a:gdLst>
                      <a:gd name="T0" fmla="*/ 16 w 17"/>
                      <a:gd name="T1" fmla="*/ 0 h 27"/>
                      <a:gd name="T2" fmla="*/ 0 w 17"/>
                      <a:gd name="T3" fmla="*/ 0 h 27"/>
                      <a:gd name="T4" fmla="*/ 0 w 17"/>
                      <a:gd name="T5" fmla="*/ 26 h 27"/>
                      <a:gd name="T6" fmla="*/ 16 w 17"/>
                      <a:gd name="T7" fmla="*/ 26 h 27"/>
                      <a:gd name="T8" fmla="*/ 16 w 17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7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16" y="26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4" name="Freeform 48"/>
                  <p:cNvSpPr>
                    <a:spLocks/>
                  </p:cNvSpPr>
                  <p:nvPr/>
                </p:nvSpPr>
                <p:spPr bwMode="auto">
                  <a:xfrm>
                    <a:off x="3027" y="2940"/>
                    <a:ext cx="17" cy="28"/>
                  </a:xfrm>
                  <a:custGeom>
                    <a:avLst/>
                    <a:gdLst>
                      <a:gd name="T0" fmla="*/ 16 w 17"/>
                      <a:gd name="T1" fmla="*/ 0 h 28"/>
                      <a:gd name="T2" fmla="*/ 0 w 17"/>
                      <a:gd name="T3" fmla="*/ 0 h 28"/>
                      <a:gd name="T4" fmla="*/ 0 w 17"/>
                      <a:gd name="T5" fmla="*/ 27 h 28"/>
                      <a:gd name="T6" fmla="*/ 16 w 17"/>
                      <a:gd name="T7" fmla="*/ 27 h 28"/>
                      <a:gd name="T8" fmla="*/ 16 w 17"/>
                      <a:gd name="T9" fmla="*/ 0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7"/>
                        </a:lnTo>
                        <a:lnTo>
                          <a:pt x="16" y="2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8" name="Group 49"/>
                <p:cNvGrpSpPr>
                  <a:grpSpLocks/>
                </p:cNvGrpSpPr>
                <p:nvPr/>
              </p:nvGrpSpPr>
              <p:grpSpPr bwMode="auto">
                <a:xfrm>
                  <a:off x="3161" y="2940"/>
                  <a:ext cx="19" cy="82"/>
                  <a:chOff x="3161" y="2940"/>
                  <a:chExt cx="19" cy="82"/>
                </a:xfrm>
              </p:grpSpPr>
              <p:sp>
                <p:nvSpPr>
                  <p:cNvPr id="381" name="Freeform 50"/>
                  <p:cNvSpPr>
                    <a:spLocks/>
                  </p:cNvSpPr>
                  <p:nvPr/>
                </p:nvSpPr>
                <p:spPr bwMode="auto">
                  <a:xfrm>
                    <a:off x="3161" y="2944"/>
                    <a:ext cx="18" cy="78"/>
                  </a:xfrm>
                  <a:custGeom>
                    <a:avLst/>
                    <a:gdLst>
                      <a:gd name="T0" fmla="*/ 17 w 18"/>
                      <a:gd name="T1" fmla="*/ 0 h 78"/>
                      <a:gd name="T2" fmla="*/ 0 w 18"/>
                      <a:gd name="T3" fmla="*/ 0 h 78"/>
                      <a:gd name="T4" fmla="*/ 0 w 18"/>
                      <a:gd name="T5" fmla="*/ 77 h 78"/>
                      <a:gd name="T6" fmla="*/ 17 w 18"/>
                      <a:gd name="T7" fmla="*/ 77 h 78"/>
                      <a:gd name="T8" fmla="*/ 17 w 18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8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7" y="77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2" name="Freeform 51"/>
                  <p:cNvSpPr>
                    <a:spLocks/>
                  </p:cNvSpPr>
                  <p:nvPr/>
                </p:nvSpPr>
                <p:spPr bwMode="auto">
                  <a:xfrm>
                    <a:off x="3162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69" name="Group 52"/>
                <p:cNvGrpSpPr>
                  <a:grpSpLocks/>
                </p:cNvGrpSpPr>
                <p:nvPr/>
              </p:nvGrpSpPr>
              <p:grpSpPr bwMode="auto">
                <a:xfrm>
                  <a:off x="3085" y="2907"/>
                  <a:ext cx="21" cy="21"/>
                  <a:chOff x="3085" y="2907"/>
                  <a:chExt cx="21" cy="21"/>
                </a:xfrm>
              </p:grpSpPr>
              <p:sp>
                <p:nvSpPr>
                  <p:cNvPr id="379" name="Freeform 53"/>
                  <p:cNvSpPr>
                    <a:spLocks/>
                  </p:cNvSpPr>
                  <p:nvPr/>
                </p:nvSpPr>
                <p:spPr bwMode="auto">
                  <a:xfrm>
                    <a:off x="3085" y="2911"/>
                    <a:ext cx="20" cy="17"/>
                  </a:xfrm>
                  <a:custGeom>
                    <a:avLst/>
                    <a:gdLst>
                      <a:gd name="T0" fmla="*/ 19 w 20"/>
                      <a:gd name="T1" fmla="*/ 0 h 17"/>
                      <a:gd name="T2" fmla="*/ 0 w 20"/>
                      <a:gd name="T3" fmla="*/ 0 h 17"/>
                      <a:gd name="T4" fmla="*/ 0 w 20"/>
                      <a:gd name="T5" fmla="*/ 16 h 17"/>
                      <a:gd name="T6" fmla="*/ 19 w 20"/>
                      <a:gd name="T7" fmla="*/ 16 h 17"/>
                      <a:gd name="T8" fmla="*/ 19 w 2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" h="17">
                        <a:moveTo>
                          <a:pt x="1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19" y="16"/>
                        </a:lnTo>
                        <a:lnTo>
                          <a:pt x="1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80" name="Freeform 54"/>
                  <p:cNvSpPr>
                    <a:spLocks/>
                  </p:cNvSpPr>
                  <p:nvPr/>
                </p:nvSpPr>
                <p:spPr bwMode="auto">
                  <a:xfrm>
                    <a:off x="3087" y="2907"/>
                    <a:ext cx="19" cy="19"/>
                  </a:xfrm>
                  <a:custGeom>
                    <a:avLst/>
                    <a:gdLst>
                      <a:gd name="T0" fmla="*/ 18 w 19"/>
                      <a:gd name="T1" fmla="*/ 0 h 19"/>
                      <a:gd name="T2" fmla="*/ 0 w 19"/>
                      <a:gd name="T3" fmla="*/ 0 h 19"/>
                      <a:gd name="T4" fmla="*/ 0 w 19"/>
                      <a:gd name="T5" fmla="*/ 18 h 19"/>
                      <a:gd name="T6" fmla="*/ 18 w 19"/>
                      <a:gd name="T7" fmla="*/ 18 h 19"/>
                      <a:gd name="T8" fmla="*/ 18 w 19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19">
                        <a:moveTo>
                          <a:pt x="18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18" y="18"/>
                        </a:lnTo>
                        <a:lnTo>
                          <a:pt x="18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70" name="Group 55"/>
                <p:cNvGrpSpPr>
                  <a:grpSpLocks/>
                </p:cNvGrpSpPr>
                <p:nvPr/>
              </p:nvGrpSpPr>
              <p:grpSpPr bwMode="auto">
                <a:xfrm>
                  <a:off x="2904" y="2924"/>
                  <a:ext cx="24" cy="21"/>
                  <a:chOff x="2904" y="2924"/>
                  <a:chExt cx="24" cy="21"/>
                </a:xfrm>
              </p:grpSpPr>
              <p:sp>
                <p:nvSpPr>
                  <p:cNvPr id="377" name="Freeform 56"/>
                  <p:cNvSpPr>
                    <a:spLocks/>
                  </p:cNvSpPr>
                  <p:nvPr/>
                </p:nvSpPr>
                <p:spPr bwMode="auto">
                  <a:xfrm>
                    <a:off x="2904" y="2926"/>
                    <a:ext cx="21" cy="19"/>
                  </a:xfrm>
                  <a:custGeom>
                    <a:avLst/>
                    <a:gdLst>
                      <a:gd name="T0" fmla="*/ 20 w 21"/>
                      <a:gd name="T1" fmla="*/ 0 h 19"/>
                      <a:gd name="T2" fmla="*/ 0 w 21"/>
                      <a:gd name="T3" fmla="*/ 0 h 19"/>
                      <a:gd name="T4" fmla="*/ 0 w 21"/>
                      <a:gd name="T5" fmla="*/ 18 h 19"/>
                      <a:gd name="T6" fmla="*/ 20 w 21"/>
                      <a:gd name="T7" fmla="*/ 18 h 19"/>
                      <a:gd name="T8" fmla="*/ 20 w 21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19">
                        <a:moveTo>
                          <a:pt x="20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20" y="1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78" name="Freeform 57"/>
                  <p:cNvSpPr>
                    <a:spLocks/>
                  </p:cNvSpPr>
                  <p:nvPr/>
                </p:nvSpPr>
                <p:spPr bwMode="auto">
                  <a:xfrm>
                    <a:off x="2906" y="2924"/>
                    <a:ext cx="22" cy="18"/>
                  </a:xfrm>
                  <a:custGeom>
                    <a:avLst/>
                    <a:gdLst>
                      <a:gd name="T0" fmla="*/ 21 w 22"/>
                      <a:gd name="T1" fmla="*/ 0 h 18"/>
                      <a:gd name="T2" fmla="*/ 0 w 22"/>
                      <a:gd name="T3" fmla="*/ 0 h 18"/>
                      <a:gd name="T4" fmla="*/ 0 w 22"/>
                      <a:gd name="T5" fmla="*/ 17 h 18"/>
                      <a:gd name="T6" fmla="*/ 21 w 22"/>
                      <a:gd name="T7" fmla="*/ 17 h 18"/>
                      <a:gd name="T8" fmla="*/ 21 w 22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18">
                        <a:moveTo>
                          <a:pt x="21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1" y="17"/>
                        </a:lnTo>
                        <a:lnTo>
                          <a:pt x="21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71" name="Group 58"/>
                <p:cNvGrpSpPr>
                  <a:grpSpLocks/>
                </p:cNvGrpSpPr>
                <p:nvPr/>
              </p:nvGrpSpPr>
              <p:grpSpPr bwMode="auto">
                <a:xfrm>
                  <a:off x="2854" y="2979"/>
                  <a:ext cx="34" cy="20"/>
                  <a:chOff x="2854" y="2979"/>
                  <a:chExt cx="34" cy="20"/>
                </a:xfrm>
              </p:grpSpPr>
              <p:sp>
                <p:nvSpPr>
                  <p:cNvPr id="375" name="Freeform 59"/>
                  <p:cNvSpPr>
                    <a:spLocks/>
                  </p:cNvSpPr>
                  <p:nvPr/>
                </p:nvSpPr>
                <p:spPr bwMode="auto">
                  <a:xfrm>
                    <a:off x="2854" y="2982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76" name="Freeform 60"/>
                  <p:cNvSpPr>
                    <a:spLocks/>
                  </p:cNvSpPr>
                  <p:nvPr/>
                </p:nvSpPr>
                <p:spPr bwMode="auto">
                  <a:xfrm>
                    <a:off x="2857" y="2979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372" name="Group 61"/>
                <p:cNvGrpSpPr>
                  <a:grpSpLocks/>
                </p:cNvGrpSpPr>
                <p:nvPr/>
              </p:nvGrpSpPr>
              <p:grpSpPr bwMode="auto">
                <a:xfrm>
                  <a:off x="2854" y="3003"/>
                  <a:ext cx="34" cy="20"/>
                  <a:chOff x="2854" y="3003"/>
                  <a:chExt cx="34" cy="20"/>
                </a:xfrm>
              </p:grpSpPr>
              <p:sp>
                <p:nvSpPr>
                  <p:cNvPr id="373" name="Freeform 62"/>
                  <p:cNvSpPr>
                    <a:spLocks/>
                  </p:cNvSpPr>
                  <p:nvPr/>
                </p:nvSpPr>
                <p:spPr bwMode="auto">
                  <a:xfrm>
                    <a:off x="2854" y="3006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374" name="Freeform 63"/>
                  <p:cNvSpPr>
                    <a:spLocks/>
                  </p:cNvSpPr>
                  <p:nvPr/>
                </p:nvSpPr>
                <p:spPr bwMode="auto">
                  <a:xfrm>
                    <a:off x="2857" y="3003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492" name="组合 491"/>
            <p:cNvGrpSpPr/>
            <p:nvPr/>
          </p:nvGrpSpPr>
          <p:grpSpPr>
            <a:xfrm>
              <a:off x="1224603" y="3709612"/>
              <a:ext cx="1305822" cy="693857"/>
              <a:chOff x="1367883" y="5491661"/>
              <a:chExt cx="1305822" cy="693857"/>
            </a:xfrm>
          </p:grpSpPr>
          <p:sp>
            <p:nvSpPr>
              <p:cNvPr id="493" name="Rectangle 64"/>
              <p:cNvSpPr>
                <a:spLocks noChangeArrowheads="1"/>
              </p:cNvSpPr>
              <p:nvPr/>
            </p:nvSpPr>
            <p:spPr bwMode="auto">
              <a:xfrm>
                <a:off x="2231276" y="5877099"/>
                <a:ext cx="442429" cy="308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sz="1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NIC</a:t>
                </a:r>
              </a:p>
            </p:txBody>
          </p:sp>
          <p:pic>
            <p:nvPicPr>
              <p:cNvPr id="494" name="Picture 36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7883" y="5491661"/>
                <a:ext cx="813967" cy="6309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495" name="Group 4"/>
              <p:cNvGrpSpPr>
                <a:grpSpLocks/>
              </p:cNvGrpSpPr>
              <p:nvPr/>
            </p:nvGrpSpPr>
            <p:grpSpPr bwMode="auto">
              <a:xfrm>
                <a:off x="1932342" y="5670084"/>
                <a:ext cx="539456" cy="298449"/>
                <a:chOff x="2801" y="2891"/>
                <a:chExt cx="412" cy="210"/>
              </a:xfrm>
            </p:grpSpPr>
            <p:sp>
              <p:nvSpPr>
                <p:cNvPr id="496" name="Freeform 5"/>
                <p:cNvSpPr>
                  <a:spLocks/>
                </p:cNvSpPr>
                <p:nvPr/>
              </p:nvSpPr>
              <p:spPr bwMode="auto">
                <a:xfrm>
                  <a:off x="2904" y="3063"/>
                  <a:ext cx="215" cy="27"/>
                </a:xfrm>
                <a:custGeom>
                  <a:avLst/>
                  <a:gdLst>
                    <a:gd name="T0" fmla="*/ 214 w 215"/>
                    <a:gd name="T1" fmla="*/ 0 h 27"/>
                    <a:gd name="T2" fmla="*/ 0 w 215"/>
                    <a:gd name="T3" fmla="*/ 0 h 27"/>
                    <a:gd name="T4" fmla="*/ 0 w 215"/>
                    <a:gd name="T5" fmla="*/ 26 h 27"/>
                    <a:gd name="T6" fmla="*/ 214 w 215"/>
                    <a:gd name="T7" fmla="*/ 26 h 27"/>
                    <a:gd name="T8" fmla="*/ 214 w 215"/>
                    <a:gd name="T9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5" h="27">
                      <a:moveTo>
                        <a:pt x="214" y="0"/>
                      </a:move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214" y="26"/>
                      </a:lnTo>
                      <a:lnTo>
                        <a:pt x="214" y="0"/>
                      </a:lnTo>
                    </a:path>
                  </a:pathLst>
                </a:custGeom>
                <a:solidFill>
                  <a:srgbClr val="FFCC33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497" name="Group 6"/>
                <p:cNvGrpSpPr>
                  <a:grpSpLocks/>
                </p:cNvGrpSpPr>
                <p:nvPr/>
              </p:nvGrpSpPr>
              <p:grpSpPr bwMode="auto">
                <a:xfrm>
                  <a:off x="2922" y="3067"/>
                  <a:ext cx="189" cy="18"/>
                  <a:chOff x="2922" y="3067"/>
                  <a:chExt cx="189" cy="18"/>
                </a:xfrm>
              </p:grpSpPr>
              <p:sp>
                <p:nvSpPr>
                  <p:cNvPr id="539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31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0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1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086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2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07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3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0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4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04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5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035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6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02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7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8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9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49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98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50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97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51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9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52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947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53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93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54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92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498" name="Rectangle 23"/>
                <p:cNvSpPr>
                  <a:spLocks noChangeArrowheads="1"/>
                </p:cNvSpPr>
                <p:nvPr/>
              </p:nvSpPr>
              <p:spPr bwMode="auto">
                <a:xfrm>
                  <a:off x="2845" y="2891"/>
                  <a:ext cx="368" cy="172"/>
                </a:xfrm>
                <a:prstGeom prst="rect">
                  <a:avLst/>
                </a:prstGeom>
                <a:solidFill>
                  <a:srgbClr val="ADD6A5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499" name="Freeform 24"/>
                <p:cNvSpPr>
                  <a:spLocks/>
                </p:cNvSpPr>
                <p:nvPr/>
              </p:nvSpPr>
              <p:spPr bwMode="auto">
                <a:xfrm>
                  <a:off x="2813" y="2895"/>
                  <a:ext cx="25" cy="206"/>
                </a:xfrm>
                <a:custGeom>
                  <a:avLst/>
                  <a:gdLst>
                    <a:gd name="T0" fmla="*/ 0 w 25"/>
                    <a:gd name="T1" fmla="*/ 0 h 206"/>
                    <a:gd name="T2" fmla="*/ 24 w 25"/>
                    <a:gd name="T3" fmla="*/ 0 h 206"/>
                    <a:gd name="T4" fmla="*/ 24 w 25"/>
                    <a:gd name="T5" fmla="*/ 205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" h="206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24" y="205"/>
                      </a:lnTo>
                    </a:path>
                  </a:pathLst>
                </a:custGeom>
                <a:noFill/>
                <a:ln w="25399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500" name="Group 25"/>
                <p:cNvGrpSpPr>
                  <a:grpSpLocks/>
                </p:cNvGrpSpPr>
                <p:nvPr/>
              </p:nvGrpSpPr>
              <p:grpSpPr bwMode="auto">
                <a:xfrm>
                  <a:off x="2801" y="2935"/>
                  <a:ext cx="32" cy="23"/>
                  <a:chOff x="2801" y="2935"/>
                  <a:chExt cx="32" cy="23"/>
                </a:xfrm>
              </p:grpSpPr>
              <p:sp>
                <p:nvSpPr>
                  <p:cNvPr id="537" name="Freeform 26"/>
                  <p:cNvSpPr>
                    <a:spLocks/>
                  </p:cNvSpPr>
                  <p:nvPr/>
                </p:nvSpPr>
                <p:spPr bwMode="auto">
                  <a:xfrm>
                    <a:off x="2801" y="2940"/>
                    <a:ext cx="23" cy="17"/>
                  </a:xfrm>
                  <a:custGeom>
                    <a:avLst/>
                    <a:gdLst>
                      <a:gd name="T0" fmla="*/ 22 w 23"/>
                      <a:gd name="T1" fmla="*/ 0 h 17"/>
                      <a:gd name="T2" fmla="*/ 0 w 23"/>
                      <a:gd name="T3" fmla="*/ 0 h 17"/>
                      <a:gd name="T4" fmla="*/ 0 w 23"/>
                      <a:gd name="T5" fmla="*/ 16 h 17"/>
                      <a:gd name="T6" fmla="*/ 22 w 23"/>
                      <a:gd name="T7" fmla="*/ 16 h 17"/>
                      <a:gd name="T8" fmla="*/ 22 w 23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1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2" y="16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E9E7D1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38" name="Freeform 27"/>
                  <p:cNvSpPr>
                    <a:spLocks/>
                  </p:cNvSpPr>
                  <p:nvPr/>
                </p:nvSpPr>
                <p:spPr bwMode="auto">
                  <a:xfrm>
                    <a:off x="2816" y="2935"/>
                    <a:ext cx="17" cy="23"/>
                  </a:xfrm>
                  <a:custGeom>
                    <a:avLst/>
                    <a:gdLst>
                      <a:gd name="T0" fmla="*/ 16 w 17"/>
                      <a:gd name="T1" fmla="*/ 0 h 23"/>
                      <a:gd name="T2" fmla="*/ 0 w 17"/>
                      <a:gd name="T3" fmla="*/ 0 h 23"/>
                      <a:gd name="T4" fmla="*/ 0 w 17"/>
                      <a:gd name="T5" fmla="*/ 22 h 23"/>
                      <a:gd name="T6" fmla="*/ 16 w 17"/>
                      <a:gd name="T7" fmla="*/ 22 h 23"/>
                      <a:gd name="T8" fmla="*/ 16 w 17"/>
                      <a:gd name="T9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3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2"/>
                        </a:lnTo>
                        <a:lnTo>
                          <a:pt x="16" y="22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52493E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1" name="Group 28"/>
                <p:cNvGrpSpPr>
                  <a:grpSpLocks/>
                </p:cNvGrpSpPr>
                <p:nvPr/>
              </p:nvGrpSpPr>
              <p:grpSpPr bwMode="auto">
                <a:xfrm>
                  <a:off x="3048" y="2940"/>
                  <a:ext cx="62" cy="54"/>
                  <a:chOff x="3048" y="2940"/>
                  <a:chExt cx="62" cy="54"/>
                </a:xfrm>
              </p:grpSpPr>
              <p:sp>
                <p:nvSpPr>
                  <p:cNvPr id="535" name="Freeform 29"/>
                  <p:cNvSpPr>
                    <a:spLocks/>
                  </p:cNvSpPr>
                  <p:nvPr/>
                </p:nvSpPr>
                <p:spPr bwMode="auto">
                  <a:xfrm>
                    <a:off x="3048" y="2944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36" name="Freeform 30"/>
                  <p:cNvSpPr>
                    <a:spLocks/>
                  </p:cNvSpPr>
                  <p:nvPr/>
                </p:nvSpPr>
                <p:spPr bwMode="auto">
                  <a:xfrm>
                    <a:off x="3050" y="2940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2" name="Group 31"/>
                <p:cNvGrpSpPr>
                  <a:grpSpLocks/>
                </p:cNvGrpSpPr>
                <p:nvPr/>
              </p:nvGrpSpPr>
              <p:grpSpPr bwMode="auto">
                <a:xfrm>
                  <a:off x="2939" y="2989"/>
                  <a:ext cx="79" cy="70"/>
                  <a:chOff x="2939" y="2989"/>
                  <a:chExt cx="79" cy="70"/>
                </a:xfrm>
              </p:grpSpPr>
              <p:sp>
                <p:nvSpPr>
                  <p:cNvPr id="533" name="Freeform 32"/>
                  <p:cNvSpPr>
                    <a:spLocks/>
                  </p:cNvSpPr>
                  <p:nvPr/>
                </p:nvSpPr>
                <p:spPr bwMode="auto">
                  <a:xfrm>
                    <a:off x="2939" y="2993"/>
                    <a:ext cx="76" cy="66"/>
                  </a:xfrm>
                  <a:custGeom>
                    <a:avLst/>
                    <a:gdLst>
                      <a:gd name="T0" fmla="*/ 75 w 76"/>
                      <a:gd name="T1" fmla="*/ 0 h 66"/>
                      <a:gd name="T2" fmla="*/ 0 w 76"/>
                      <a:gd name="T3" fmla="*/ 0 h 66"/>
                      <a:gd name="T4" fmla="*/ 0 w 76"/>
                      <a:gd name="T5" fmla="*/ 65 h 66"/>
                      <a:gd name="T6" fmla="*/ 75 w 76"/>
                      <a:gd name="T7" fmla="*/ 65 h 66"/>
                      <a:gd name="T8" fmla="*/ 75 w 76"/>
                      <a:gd name="T9" fmla="*/ 0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6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5"/>
                        </a:lnTo>
                        <a:lnTo>
                          <a:pt x="75" y="65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34" name="Freeform 33"/>
                  <p:cNvSpPr>
                    <a:spLocks/>
                  </p:cNvSpPr>
                  <p:nvPr/>
                </p:nvSpPr>
                <p:spPr bwMode="auto">
                  <a:xfrm>
                    <a:off x="2942" y="2989"/>
                    <a:ext cx="76" cy="67"/>
                  </a:xfrm>
                  <a:custGeom>
                    <a:avLst/>
                    <a:gdLst>
                      <a:gd name="T0" fmla="*/ 75 w 76"/>
                      <a:gd name="T1" fmla="*/ 0 h 67"/>
                      <a:gd name="T2" fmla="*/ 0 w 76"/>
                      <a:gd name="T3" fmla="*/ 0 h 67"/>
                      <a:gd name="T4" fmla="*/ 0 w 76"/>
                      <a:gd name="T5" fmla="*/ 66 h 67"/>
                      <a:gd name="T6" fmla="*/ 75 w 76"/>
                      <a:gd name="T7" fmla="*/ 66 h 67"/>
                      <a:gd name="T8" fmla="*/ 75 w 76"/>
                      <a:gd name="T9" fmla="*/ 0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7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6"/>
                        </a:lnTo>
                        <a:lnTo>
                          <a:pt x="75" y="66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3" name="Group 34"/>
                <p:cNvGrpSpPr>
                  <a:grpSpLocks/>
                </p:cNvGrpSpPr>
                <p:nvPr/>
              </p:nvGrpSpPr>
              <p:grpSpPr bwMode="auto">
                <a:xfrm>
                  <a:off x="3186" y="2940"/>
                  <a:ext cx="20" cy="82"/>
                  <a:chOff x="3186" y="2940"/>
                  <a:chExt cx="20" cy="82"/>
                </a:xfrm>
              </p:grpSpPr>
              <p:sp>
                <p:nvSpPr>
                  <p:cNvPr id="531" name="Freeform 35"/>
                  <p:cNvSpPr>
                    <a:spLocks/>
                  </p:cNvSpPr>
                  <p:nvPr/>
                </p:nvSpPr>
                <p:spPr bwMode="auto">
                  <a:xfrm>
                    <a:off x="3186" y="2944"/>
                    <a:ext cx="17" cy="78"/>
                  </a:xfrm>
                  <a:custGeom>
                    <a:avLst/>
                    <a:gdLst>
                      <a:gd name="T0" fmla="*/ 16 w 17"/>
                      <a:gd name="T1" fmla="*/ 0 h 78"/>
                      <a:gd name="T2" fmla="*/ 0 w 17"/>
                      <a:gd name="T3" fmla="*/ 0 h 78"/>
                      <a:gd name="T4" fmla="*/ 0 w 17"/>
                      <a:gd name="T5" fmla="*/ 77 h 78"/>
                      <a:gd name="T6" fmla="*/ 16 w 17"/>
                      <a:gd name="T7" fmla="*/ 77 h 78"/>
                      <a:gd name="T8" fmla="*/ 16 w 17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7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6" y="7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32" name="Freeform 36"/>
                  <p:cNvSpPr>
                    <a:spLocks/>
                  </p:cNvSpPr>
                  <p:nvPr/>
                </p:nvSpPr>
                <p:spPr bwMode="auto">
                  <a:xfrm>
                    <a:off x="3188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4" name="Group 37"/>
                <p:cNvGrpSpPr>
                  <a:grpSpLocks/>
                </p:cNvGrpSpPr>
                <p:nvPr/>
              </p:nvGrpSpPr>
              <p:grpSpPr bwMode="auto">
                <a:xfrm>
                  <a:off x="3168" y="3028"/>
                  <a:ext cx="28" cy="21"/>
                  <a:chOff x="3168" y="3028"/>
                  <a:chExt cx="28" cy="21"/>
                </a:xfrm>
              </p:grpSpPr>
              <p:sp>
                <p:nvSpPr>
                  <p:cNvPr id="529" name="Freeform 38"/>
                  <p:cNvSpPr>
                    <a:spLocks/>
                  </p:cNvSpPr>
                  <p:nvPr/>
                </p:nvSpPr>
                <p:spPr bwMode="auto">
                  <a:xfrm>
                    <a:off x="3168" y="3032"/>
                    <a:ext cx="26" cy="17"/>
                  </a:xfrm>
                  <a:custGeom>
                    <a:avLst/>
                    <a:gdLst>
                      <a:gd name="T0" fmla="*/ 25 w 26"/>
                      <a:gd name="T1" fmla="*/ 0 h 17"/>
                      <a:gd name="T2" fmla="*/ 0 w 26"/>
                      <a:gd name="T3" fmla="*/ 0 h 17"/>
                      <a:gd name="T4" fmla="*/ 0 w 26"/>
                      <a:gd name="T5" fmla="*/ 16 h 17"/>
                      <a:gd name="T6" fmla="*/ 25 w 26"/>
                      <a:gd name="T7" fmla="*/ 16 h 17"/>
                      <a:gd name="T8" fmla="*/ 25 w 26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7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5" y="16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30" name="Freeform 39"/>
                  <p:cNvSpPr>
                    <a:spLocks/>
                  </p:cNvSpPr>
                  <p:nvPr/>
                </p:nvSpPr>
                <p:spPr bwMode="auto">
                  <a:xfrm>
                    <a:off x="3170" y="3028"/>
                    <a:ext cx="26" cy="18"/>
                  </a:xfrm>
                  <a:custGeom>
                    <a:avLst/>
                    <a:gdLst>
                      <a:gd name="T0" fmla="*/ 25 w 26"/>
                      <a:gd name="T1" fmla="*/ 0 h 18"/>
                      <a:gd name="T2" fmla="*/ 0 w 26"/>
                      <a:gd name="T3" fmla="*/ 0 h 18"/>
                      <a:gd name="T4" fmla="*/ 0 w 26"/>
                      <a:gd name="T5" fmla="*/ 17 h 18"/>
                      <a:gd name="T6" fmla="*/ 25 w 26"/>
                      <a:gd name="T7" fmla="*/ 17 h 18"/>
                      <a:gd name="T8" fmla="*/ 25 w 26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5" y="17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5" name="Group 40"/>
                <p:cNvGrpSpPr>
                  <a:grpSpLocks/>
                </p:cNvGrpSpPr>
                <p:nvPr/>
              </p:nvGrpSpPr>
              <p:grpSpPr bwMode="auto">
                <a:xfrm>
                  <a:off x="3126" y="2942"/>
                  <a:ext cx="20" cy="37"/>
                  <a:chOff x="3126" y="2942"/>
                  <a:chExt cx="20" cy="37"/>
                </a:xfrm>
              </p:grpSpPr>
              <p:sp>
                <p:nvSpPr>
                  <p:cNvPr id="527" name="Freeform 41"/>
                  <p:cNvSpPr>
                    <a:spLocks/>
                  </p:cNvSpPr>
                  <p:nvPr/>
                </p:nvSpPr>
                <p:spPr bwMode="auto">
                  <a:xfrm>
                    <a:off x="3126" y="2945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28" name="Freeform 42"/>
                  <p:cNvSpPr>
                    <a:spLocks/>
                  </p:cNvSpPr>
                  <p:nvPr/>
                </p:nvSpPr>
                <p:spPr bwMode="auto">
                  <a:xfrm>
                    <a:off x="3128" y="2942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6" name="Group 43"/>
                <p:cNvGrpSpPr>
                  <a:grpSpLocks/>
                </p:cNvGrpSpPr>
                <p:nvPr/>
              </p:nvGrpSpPr>
              <p:grpSpPr bwMode="auto">
                <a:xfrm>
                  <a:off x="3125" y="2978"/>
                  <a:ext cx="20" cy="37"/>
                  <a:chOff x="3125" y="2978"/>
                  <a:chExt cx="20" cy="37"/>
                </a:xfrm>
              </p:grpSpPr>
              <p:sp>
                <p:nvSpPr>
                  <p:cNvPr id="525" name="Freeform 44"/>
                  <p:cNvSpPr>
                    <a:spLocks/>
                  </p:cNvSpPr>
                  <p:nvPr/>
                </p:nvSpPr>
                <p:spPr bwMode="auto">
                  <a:xfrm>
                    <a:off x="3125" y="2981"/>
                    <a:ext cx="17" cy="34"/>
                  </a:xfrm>
                  <a:custGeom>
                    <a:avLst/>
                    <a:gdLst>
                      <a:gd name="T0" fmla="*/ 16 w 17"/>
                      <a:gd name="T1" fmla="*/ 0 h 34"/>
                      <a:gd name="T2" fmla="*/ 0 w 17"/>
                      <a:gd name="T3" fmla="*/ 0 h 34"/>
                      <a:gd name="T4" fmla="*/ 0 w 17"/>
                      <a:gd name="T5" fmla="*/ 33 h 34"/>
                      <a:gd name="T6" fmla="*/ 16 w 17"/>
                      <a:gd name="T7" fmla="*/ 33 h 34"/>
                      <a:gd name="T8" fmla="*/ 16 w 17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34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6" y="33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26" name="Freeform 45"/>
                  <p:cNvSpPr>
                    <a:spLocks/>
                  </p:cNvSpPr>
                  <p:nvPr/>
                </p:nvSpPr>
                <p:spPr bwMode="auto">
                  <a:xfrm>
                    <a:off x="3127" y="2978"/>
                    <a:ext cx="18" cy="35"/>
                  </a:xfrm>
                  <a:custGeom>
                    <a:avLst/>
                    <a:gdLst>
                      <a:gd name="T0" fmla="*/ 17 w 18"/>
                      <a:gd name="T1" fmla="*/ 0 h 35"/>
                      <a:gd name="T2" fmla="*/ 0 w 18"/>
                      <a:gd name="T3" fmla="*/ 0 h 35"/>
                      <a:gd name="T4" fmla="*/ 0 w 18"/>
                      <a:gd name="T5" fmla="*/ 34 h 35"/>
                      <a:gd name="T6" fmla="*/ 17 w 18"/>
                      <a:gd name="T7" fmla="*/ 34 h 35"/>
                      <a:gd name="T8" fmla="*/ 17 w 18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5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4"/>
                        </a:lnTo>
                        <a:lnTo>
                          <a:pt x="17" y="34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7" name="Group 46"/>
                <p:cNvGrpSpPr>
                  <a:grpSpLocks/>
                </p:cNvGrpSpPr>
                <p:nvPr/>
              </p:nvGrpSpPr>
              <p:grpSpPr bwMode="auto">
                <a:xfrm>
                  <a:off x="3025" y="2940"/>
                  <a:ext cx="19" cy="31"/>
                  <a:chOff x="3025" y="2940"/>
                  <a:chExt cx="19" cy="31"/>
                </a:xfrm>
              </p:grpSpPr>
              <p:sp>
                <p:nvSpPr>
                  <p:cNvPr id="523" name="Freeform 47"/>
                  <p:cNvSpPr>
                    <a:spLocks/>
                  </p:cNvSpPr>
                  <p:nvPr/>
                </p:nvSpPr>
                <p:spPr bwMode="auto">
                  <a:xfrm>
                    <a:off x="3025" y="2944"/>
                    <a:ext cx="17" cy="27"/>
                  </a:xfrm>
                  <a:custGeom>
                    <a:avLst/>
                    <a:gdLst>
                      <a:gd name="T0" fmla="*/ 16 w 17"/>
                      <a:gd name="T1" fmla="*/ 0 h 27"/>
                      <a:gd name="T2" fmla="*/ 0 w 17"/>
                      <a:gd name="T3" fmla="*/ 0 h 27"/>
                      <a:gd name="T4" fmla="*/ 0 w 17"/>
                      <a:gd name="T5" fmla="*/ 26 h 27"/>
                      <a:gd name="T6" fmla="*/ 16 w 17"/>
                      <a:gd name="T7" fmla="*/ 26 h 27"/>
                      <a:gd name="T8" fmla="*/ 16 w 17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7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16" y="26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24" name="Freeform 48"/>
                  <p:cNvSpPr>
                    <a:spLocks/>
                  </p:cNvSpPr>
                  <p:nvPr/>
                </p:nvSpPr>
                <p:spPr bwMode="auto">
                  <a:xfrm>
                    <a:off x="3027" y="2940"/>
                    <a:ext cx="17" cy="28"/>
                  </a:xfrm>
                  <a:custGeom>
                    <a:avLst/>
                    <a:gdLst>
                      <a:gd name="T0" fmla="*/ 16 w 17"/>
                      <a:gd name="T1" fmla="*/ 0 h 28"/>
                      <a:gd name="T2" fmla="*/ 0 w 17"/>
                      <a:gd name="T3" fmla="*/ 0 h 28"/>
                      <a:gd name="T4" fmla="*/ 0 w 17"/>
                      <a:gd name="T5" fmla="*/ 27 h 28"/>
                      <a:gd name="T6" fmla="*/ 16 w 17"/>
                      <a:gd name="T7" fmla="*/ 27 h 28"/>
                      <a:gd name="T8" fmla="*/ 16 w 17"/>
                      <a:gd name="T9" fmla="*/ 0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7"/>
                        </a:lnTo>
                        <a:lnTo>
                          <a:pt x="16" y="2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8" name="Group 49"/>
                <p:cNvGrpSpPr>
                  <a:grpSpLocks/>
                </p:cNvGrpSpPr>
                <p:nvPr/>
              </p:nvGrpSpPr>
              <p:grpSpPr bwMode="auto">
                <a:xfrm>
                  <a:off x="3161" y="2940"/>
                  <a:ext cx="19" cy="82"/>
                  <a:chOff x="3161" y="2940"/>
                  <a:chExt cx="19" cy="82"/>
                </a:xfrm>
              </p:grpSpPr>
              <p:sp>
                <p:nvSpPr>
                  <p:cNvPr id="521" name="Freeform 50"/>
                  <p:cNvSpPr>
                    <a:spLocks/>
                  </p:cNvSpPr>
                  <p:nvPr/>
                </p:nvSpPr>
                <p:spPr bwMode="auto">
                  <a:xfrm>
                    <a:off x="3161" y="2944"/>
                    <a:ext cx="18" cy="78"/>
                  </a:xfrm>
                  <a:custGeom>
                    <a:avLst/>
                    <a:gdLst>
                      <a:gd name="T0" fmla="*/ 17 w 18"/>
                      <a:gd name="T1" fmla="*/ 0 h 78"/>
                      <a:gd name="T2" fmla="*/ 0 w 18"/>
                      <a:gd name="T3" fmla="*/ 0 h 78"/>
                      <a:gd name="T4" fmla="*/ 0 w 18"/>
                      <a:gd name="T5" fmla="*/ 77 h 78"/>
                      <a:gd name="T6" fmla="*/ 17 w 18"/>
                      <a:gd name="T7" fmla="*/ 77 h 78"/>
                      <a:gd name="T8" fmla="*/ 17 w 18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8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7" y="77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22" name="Freeform 51"/>
                  <p:cNvSpPr>
                    <a:spLocks/>
                  </p:cNvSpPr>
                  <p:nvPr/>
                </p:nvSpPr>
                <p:spPr bwMode="auto">
                  <a:xfrm>
                    <a:off x="3162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09" name="Group 52"/>
                <p:cNvGrpSpPr>
                  <a:grpSpLocks/>
                </p:cNvGrpSpPr>
                <p:nvPr/>
              </p:nvGrpSpPr>
              <p:grpSpPr bwMode="auto">
                <a:xfrm>
                  <a:off x="3085" y="2907"/>
                  <a:ext cx="21" cy="21"/>
                  <a:chOff x="3085" y="2907"/>
                  <a:chExt cx="21" cy="21"/>
                </a:xfrm>
              </p:grpSpPr>
              <p:sp>
                <p:nvSpPr>
                  <p:cNvPr id="519" name="Freeform 53"/>
                  <p:cNvSpPr>
                    <a:spLocks/>
                  </p:cNvSpPr>
                  <p:nvPr/>
                </p:nvSpPr>
                <p:spPr bwMode="auto">
                  <a:xfrm>
                    <a:off x="3085" y="2911"/>
                    <a:ext cx="20" cy="17"/>
                  </a:xfrm>
                  <a:custGeom>
                    <a:avLst/>
                    <a:gdLst>
                      <a:gd name="T0" fmla="*/ 19 w 20"/>
                      <a:gd name="T1" fmla="*/ 0 h 17"/>
                      <a:gd name="T2" fmla="*/ 0 w 20"/>
                      <a:gd name="T3" fmla="*/ 0 h 17"/>
                      <a:gd name="T4" fmla="*/ 0 w 20"/>
                      <a:gd name="T5" fmla="*/ 16 h 17"/>
                      <a:gd name="T6" fmla="*/ 19 w 20"/>
                      <a:gd name="T7" fmla="*/ 16 h 17"/>
                      <a:gd name="T8" fmla="*/ 19 w 2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" h="17">
                        <a:moveTo>
                          <a:pt x="1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19" y="16"/>
                        </a:lnTo>
                        <a:lnTo>
                          <a:pt x="1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20" name="Freeform 54"/>
                  <p:cNvSpPr>
                    <a:spLocks/>
                  </p:cNvSpPr>
                  <p:nvPr/>
                </p:nvSpPr>
                <p:spPr bwMode="auto">
                  <a:xfrm>
                    <a:off x="3087" y="2907"/>
                    <a:ext cx="19" cy="19"/>
                  </a:xfrm>
                  <a:custGeom>
                    <a:avLst/>
                    <a:gdLst>
                      <a:gd name="T0" fmla="*/ 18 w 19"/>
                      <a:gd name="T1" fmla="*/ 0 h 19"/>
                      <a:gd name="T2" fmla="*/ 0 w 19"/>
                      <a:gd name="T3" fmla="*/ 0 h 19"/>
                      <a:gd name="T4" fmla="*/ 0 w 19"/>
                      <a:gd name="T5" fmla="*/ 18 h 19"/>
                      <a:gd name="T6" fmla="*/ 18 w 19"/>
                      <a:gd name="T7" fmla="*/ 18 h 19"/>
                      <a:gd name="T8" fmla="*/ 18 w 19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19">
                        <a:moveTo>
                          <a:pt x="18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18" y="18"/>
                        </a:lnTo>
                        <a:lnTo>
                          <a:pt x="18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10" name="Group 55"/>
                <p:cNvGrpSpPr>
                  <a:grpSpLocks/>
                </p:cNvGrpSpPr>
                <p:nvPr/>
              </p:nvGrpSpPr>
              <p:grpSpPr bwMode="auto">
                <a:xfrm>
                  <a:off x="2904" y="2924"/>
                  <a:ext cx="24" cy="21"/>
                  <a:chOff x="2904" y="2924"/>
                  <a:chExt cx="24" cy="21"/>
                </a:xfrm>
              </p:grpSpPr>
              <p:sp>
                <p:nvSpPr>
                  <p:cNvPr id="517" name="Freeform 56"/>
                  <p:cNvSpPr>
                    <a:spLocks/>
                  </p:cNvSpPr>
                  <p:nvPr/>
                </p:nvSpPr>
                <p:spPr bwMode="auto">
                  <a:xfrm>
                    <a:off x="2904" y="2926"/>
                    <a:ext cx="21" cy="19"/>
                  </a:xfrm>
                  <a:custGeom>
                    <a:avLst/>
                    <a:gdLst>
                      <a:gd name="T0" fmla="*/ 20 w 21"/>
                      <a:gd name="T1" fmla="*/ 0 h 19"/>
                      <a:gd name="T2" fmla="*/ 0 w 21"/>
                      <a:gd name="T3" fmla="*/ 0 h 19"/>
                      <a:gd name="T4" fmla="*/ 0 w 21"/>
                      <a:gd name="T5" fmla="*/ 18 h 19"/>
                      <a:gd name="T6" fmla="*/ 20 w 21"/>
                      <a:gd name="T7" fmla="*/ 18 h 19"/>
                      <a:gd name="T8" fmla="*/ 20 w 21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19">
                        <a:moveTo>
                          <a:pt x="20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20" y="1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18" name="Freeform 57"/>
                  <p:cNvSpPr>
                    <a:spLocks/>
                  </p:cNvSpPr>
                  <p:nvPr/>
                </p:nvSpPr>
                <p:spPr bwMode="auto">
                  <a:xfrm>
                    <a:off x="2906" y="2924"/>
                    <a:ext cx="22" cy="18"/>
                  </a:xfrm>
                  <a:custGeom>
                    <a:avLst/>
                    <a:gdLst>
                      <a:gd name="T0" fmla="*/ 21 w 22"/>
                      <a:gd name="T1" fmla="*/ 0 h 18"/>
                      <a:gd name="T2" fmla="*/ 0 w 22"/>
                      <a:gd name="T3" fmla="*/ 0 h 18"/>
                      <a:gd name="T4" fmla="*/ 0 w 22"/>
                      <a:gd name="T5" fmla="*/ 17 h 18"/>
                      <a:gd name="T6" fmla="*/ 21 w 22"/>
                      <a:gd name="T7" fmla="*/ 17 h 18"/>
                      <a:gd name="T8" fmla="*/ 21 w 22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18">
                        <a:moveTo>
                          <a:pt x="21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1" y="17"/>
                        </a:lnTo>
                        <a:lnTo>
                          <a:pt x="21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11" name="Group 58"/>
                <p:cNvGrpSpPr>
                  <a:grpSpLocks/>
                </p:cNvGrpSpPr>
                <p:nvPr/>
              </p:nvGrpSpPr>
              <p:grpSpPr bwMode="auto">
                <a:xfrm>
                  <a:off x="2854" y="2979"/>
                  <a:ext cx="34" cy="20"/>
                  <a:chOff x="2854" y="2979"/>
                  <a:chExt cx="34" cy="20"/>
                </a:xfrm>
              </p:grpSpPr>
              <p:sp>
                <p:nvSpPr>
                  <p:cNvPr id="515" name="Freeform 59"/>
                  <p:cNvSpPr>
                    <a:spLocks/>
                  </p:cNvSpPr>
                  <p:nvPr/>
                </p:nvSpPr>
                <p:spPr bwMode="auto">
                  <a:xfrm>
                    <a:off x="2854" y="2982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16" name="Freeform 60"/>
                  <p:cNvSpPr>
                    <a:spLocks/>
                  </p:cNvSpPr>
                  <p:nvPr/>
                </p:nvSpPr>
                <p:spPr bwMode="auto">
                  <a:xfrm>
                    <a:off x="2857" y="2979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12" name="Group 61"/>
                <p:cNvGrpSpPr>
                  <a:grpSpLocks/>
                </p:cNvGrpSpPr>
                <p:nvPr/>
              </p:nvGrpSpPr>
              <p:grpSpPr bwMode="auto">
                <a:xfrm>
                  <a:off x="2854" y="3003"/>
                  <a:ext cx="34" cy="20"/>
                  <a:chOff x="2854" y="3003"/>
                  <a:chExt cx="34" cy="20"/>
                </a:xfrm>
              </p:grpSpPr>
              <p:sp>
                <p:nvSpPr>
                  <p:cNvPr id="513" name="Freeform 62"/>
                  <p:cNvSpPr>
                    <a:spLocks/>
                  </p:cNvSpPr>
                  <p:nvPr/>
                </p:nvSpPr>
                <p:spPr bwMode="auto">
                  <a:xfrm>
                    <a:off x="2854" y="3006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14" name="Freeform 63"/>
                  <p:cNvSpPr>
                    <a:spLocks/>
                  </p:cNvSpPr>
                  <p:nvPr/>
                </p:nvSpPr>
                <p:spPr bwMode="auto">
                  <a:xfrm>
                    <a:off x="2857" y="3003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555" name="组合 554"/>
            <p:cNvGrpSpPr/>
            <p:nvPr/>
          </p:nvGrpSpPr>
          <p:grpSpPr>
            <a:xfrm>
              <a:off x="2900577" y="5712180"/>
              <a:ext cx="1305822" cy="693857"/>
              <a:chOff x="1367883" y="5491661"/>
              <a:chExt cx="1305822" cy="693857"/>
            </a:xfrm>
          </p:grpSpPr>
          <p:sp>
            <p:nvSpPr>
              <p:cNvPr id="556" name="Rectangle 64"/>
              <p:cNvSpPr>
                <a:spLocks noChangeArrowheads="1"/>
              </p:cNvSpPr>
              <p:nvPr/>
            </p:nvSpPr>
            <p:spPr bwMode="auto">
              <a:xfrm>
                <a:off x="2231276" y="5877099"/>
                <a:ext cx="442429" cy="308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sz="1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NIC</a:t>
                </a:r>
              </a:p>
            </p:txBody>
          </p:sp>
          <p:pic>
            <p:nvPicPr>
              <p:cNvPr id="557" name="Picture 36"/>
              <p:cNvPicPr>
                <a:picLocks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7883" y="5491661"/>
                <a:ext cx="813967" cy="63096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558" name="Group 4"/>
              <p:cNvGrpSpPr>
                <a:grpSpLocks/>
              </p:cNvGrpSpPr>
              <p:nvPr/>
            </p:nvGrpSpPr>
            <p:grpSpPr bwMode="auto">
              <a:xfrm>
                <a:off x="1932342" y="5670084"/>
                <a:ext cx="539456" cy="298449"/>
                <a:chOff x="2801" y="2891"/>
                <a:chExt cx="412" cy="210"/>
              </a:xfrm>
            </p:grpSpPr>
            <p:sp>
              <p:nvSpPr>
                <p:cNvPr id="559" name="Freeform 5"/>
                <p:cNvSpPr>
                  <a:spLocks/>
                </p:cNvSpPr>
                <p:nvPr/>
              </p:nvSpPr>
              <p:spPr bwMode="auto">
                <a:xfrm>
                  <a:off x="2904" y="3063"/>
                  <a:ext cx="215" cy="27"/>
                </a:xfrm>
                <a:custGeom>
                  <a:avLst/>
                  <a:gdLst>
                    <a:gd name="T0" fmla="*/ 214 w 215"/>
                    <a:gd name="T1" fmla="*/ 0 h 27"/>
                    <a:gd name="T2" fmla="*/ 0 w 215"/>
                    <a:gd name="T3" fmla="*/ 0 h 27"/>
                    <a:gd name="T4" fmla="*/ 0 w 215"/>
                    <a:gd name="T5" fmla="*/ 26 h 27"/>
                    <a:gd name="T6" fmla="*/ 214 w 215"/>
                    <a:gd name="T7" fmla="*/ 26 h 27"/>
                    <a:gd name="T8" fmla="*/ 214 w 215"/>
                    <a:gd name="T9" fmla="*/ 0 h 2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215" h="27">
                      <a:moveTo>
                        <a:pt x="214" y="0"/>
                      </a:moveTo>
                      <a:lnTo>
                        <a:pt x="0" y="0"/>
                      </a:lnTo>
                      <a:lnTo>
                        <a:pt x="0" y="26"/>
                      </a:lnTo>
                      <a:lnTo>
                        <a:pt x="214" y="26"/>
                      </a:lnTo>
                      <a:lnTo>
                        <a:pt x="214" y="0"/>
                      </a:lnTo>
                    </a:path>
                  </a:pathLst>
                </a:custGeom>
                <a:solidFill>
                  <a:srgbClr val="FFCC33"/>
                </a:solidFill>
                <a:ln w="9525" cap="rnd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560" name="Group 6"/>
                <p:cNvGrpSpPr>
                  <a:grpSpLocks/>
                </p:cNvGrpSpPr>
                <p:nvPr/>
              </p:nvGrpSpPr>
              <p:grpSpPr bwMode="auto">
                <a:xfrm>
                  <a:off x="2922" y="3067"/>
                  <a:ext cx="189" cy="18"/>
                  <a:chOff x="2922" y="3067"/>
                  <a:chExt cx="189" cy="18"/>
                </a:xfrm>
              </p:grpSpPr>
              <p:sp>
                <p:nvSpPr>
                  <p:cNvPr id="602" name="Line 7"/>
                  <p:cNvSpPr>
                    <a:spLocks noChangeShapeType="1"/>
                  </p:cNvSpPr>
                  <p:nvPr/>
                </p:nvSpPr>
                <p:spPr bwMode="auto">
                  <a:xfrm>
                    <a:off x="31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3" name="Line 8"/>
                  <p:cNvSpPr>
                    <a:spLocks noChangeShapeType="1"/>
                  </p:cNvSpPr>
                  <p:nvPr/>
                </p:nvSpPr>
                <p:spPr bwMode="auto">
                  <a:xfrm>
                    <a:off x="30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4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3086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5" name="Line 10"/>
                  <p:cNvSpPr>
                    <a:spLocks noChangeShapeType="1"/>
                  </p:cNvSpPr>
                  <p:nvPr/>
                </p:nvSpPr>
                <p:spPr bwMode="auto">
                  <a:xfrm>
                    <a:off x="307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6" name="Line 11"/>
                  <p:cNvSpPr>
                    <a:spLocks noChangeShapeType="1"/>
                  </p:cNvSpPr>
                  <p:nvPr/>
                </p:nvSpPr>
                <p:spPr bwMode="auto">
                  <a:xfrm>
                    <a:off x="30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7" name="Line 12"/>
                  <p:cNvSpPr>
                    <a:spLocks noChangeShapeType="1"/>
                  </p:cNvSpPr>
                  <p:nvPr/>
                </p:nvSpPr>
                <p:spPr bwMode="auto">
                  <a:xfrm>
                    <a:off x="304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8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3035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9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3023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0" name="Line 15"/>
                  <p:cNvSpPr>
                    <a:spLocks noChangeShapeType="1"/>
                  </p:cNvSpPr>
                  <p:nvPr/>
                </p:nvSpPr>
                <p:spPr bwMode="auto">
                  <a:xfrm>
                    <a:off x="3011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2998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2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298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3" name="Line 18"/>
                  <p:cNvSpPr>
                    <a:spLocks noChangeShapeType="1"/>
                  </p:cNvSpPr>
                  <p:nvPr/>
                </p:nvSpPr>
                <p:spPr bwMode="auto">
                  <a:xfrm>
                    <a:off x="297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2960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5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947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6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2934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17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2922" y="3067"/>
                    <a:ext cx="0" cy="18"/>
                  </a:xfrm>
                  <a:prstGeom prst="line">
                    <a:avLst/>
                  </a:prstGeom>
                  <a:noFill/>
                  <a:ln w="12699">
                    <a:solidFill>
                      <a:schemeClr val="tx1"/>
                    </a:solidFill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sp>
              <p:nvSpPr>
                <p:cNvPr id="561" name="Rectangle 23"/>
                <p:cNvSpPr>
                  <a:spLocks noChangeArrowheads="1"/>
                </p:cNvSpPr>
                <p:nvPr/>
              </p:nvSpPr>
              <p:spPr bwMode="auto">
                <a:xfrm>
                  <a:off x="2845" y="2891"/>
                  <a:ext cx="368" cy="172"/>
                </a:xfrm>
                <a:prstGeom prst="rect">
                  <a:avLst/>
                </a:prstGeom>
                <a:solidFill>
                  <a:srgbClr val="ADD6A5"/>
                </a:solidFill>
                <a:ln w="12699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562" name="Freeform 24"/>
                <p:cNvSpPr>
                  <a:spLocks/>
                </p:cNvSpPr>
                <p:nvPr/>
              </p:nvSpPr>
              <p:spPr bwMode="auto">
                <a:xfrm>
                  <a:off x="2813" y="2895"/>
                  <a:ext cx="25" cy="206"/>
                </a:xfrm>
                <a:custGeom>
                  <a:avLst/>
                  <a:gdLst>
                    <a:gd name="T0" fmla="*/ 0 w 25"/>
                    <a:gd name="T1" fmla="*/ 0 h 206"/>
                    <a:gd name="T2" fmla="*/ 24 w 25"/>
                    <a:gd name="T3" fmla="*/ 0 h 206"/>
                    <a:gd name="T4" fmla="*/ 24 w 25"/>
                    <a:gd name="T5" fmla="*/ 205 h 20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5" h="206">
                      <a:moveTo>
                        <a:pt x="0" y="0"/>
                      </a:moveTo>
                      <a:lnTo>
                        <a:pt x="24" y="0"/>
                      </a:lnTo>
                      <a:lnTo>
                        <a:pt x="24" y="205"/>
                      </a:lnTo>
                    </a:path>
                  </a:pathLst>
                </a:custGeom>
                <a:noFill/>
                <a:ln w="25399" cap="rnd" cmpd="sng">
                  <a:solidFill>
                    <a:schemeClr val="tx1"/>
                  </a:solidFill>
                  <a:prstDash val="solid"/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>
                  <a:defPPr>
                    <a:defRPr lang="zh-CN"/>
                  </a:defPPr>
                  <a:lvl1pPr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1pPr>
                  <a:lvl2pPr marL="4572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2pPr>
                  <a:lvl3pPr marL="9144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3pPr>
                  <a:lvl4pPr marL="13716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4pPr>
                  <a:lvl5pPr marL="1828800" algn="l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  <a:cs typeface="+mn-cs"/>
                    </a:defRPr>
                  </a:lvl9pPr>
                </a:lstStyle>
                <a:p>
                  <a:endParaRPr lang="zh-CN" altLang="en-US" sz="1600">
                    <a:latin typeface="Calibri" panose="020F0502020204030204" pitchFamily="34" charset="0"/>
                    <a:ea typeface="华文楷体" panose="02010600040101010101" pitchFamily="2" charset="-122"/>
                  </a:endParaRPr>
                </a:p>
              </p:txBody>
            </p:sp>
            <p:grpSp>
              <p:nvGrpSpPr>
                <p:cNvPr id="563" name="Group 25"/>
                <p:cNvGrpSpPr>
                  <a:grpSpLocks/>
                </p:cNvGrpSpPr>
                <p:nvPr/>
              </p:nvGrpSpPr>
              <p:grpSpPr bwMode="auto">
                <a:xfrm>
                  <a:off x="2801" y="2935"/>
                  <a:ext cx="32" cy="23"/>
                  <a:chOff x="2801" y="2935"/>
                  <a:chExt cx="32" cy="23"/>
                </a:xfrm>
              </p:grpSpPr>
              <p:sp>
                <p:nvSpPr>
                  <p:cNvPr id="600" name="Freeform 26"/>
                  <p:cNvSpPr>
                    <a:spLocks/>
                  </p:cNvSpPr>
                  <p:nvPr/>
                </p:nvSpPr>
                <p:spPr bwMode="auto">
                  <a:xfrm>
                    <a:off x="2801" y="2940"/>
                    <a:ext cx="23" cy="17"/>
                  </a:xfrm>
                  <a:custGeom>
                    <a:avLst/>
                    <a:gdLst>
                      <a:gd name="T0" fmla="*/ 22 w 23"/>
                      <a:gd name="T1" fmla="*/ 0 h 17"/>
                      <a:gd name="T2" fmla="*/ 0 w 23"/>
                      <a:gd name="T3" fmla="*/ 0 h 17"/>
                      <a:gd name="T4" fmla="*/ 0 w 23"/>
                      <a:gd name="T5" fmla="*/ 16 h 17"/>
                      <a:gd name="T6" fmla="*/ 22 w 23"/>
                      <a:gd name="T7" fmla="*/ 16 h 17"/>
                      <a:gd name="T8" fmla="*/ 22 w 23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3" h="17">
                        <a:moveTo>
                          <a:pt x="22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2" y="16"/>
                        </a:lnTo>
                        <a:lnTo>
                          <a:pt x="22" y="0"/>
                        </a:lnTo>
                      </a:path>
                    </a:pathLst>
                  </a:custGeom>
                  <a:solidFill>
                    <a:srgbClr val="E9E7D1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01" name="Freeform 27"/>
                  <p:cNvSpPr>
                    <a:spLocks/>
                  </p:cNvSpPr>
                  <p:nvPr/>
                </p:nvSpPr>
                <p:spPr bwMode="auto">
                  <a:xfrm>
                    <a:off x="2816" y="2935"/>
                    <a:ext cx="17" cy="23"/>
                  </a:xfrm>
                  <a:custGeom>
                    <a:avLst/>
                    <a:gdLst>
                      <a:gd name="T0" fmla="*/ 16 w 17"/>
                      <a:gd name="T1" fmla="*/ 0 h 23"/>
                      <a:gd name="T2" fmla="*/ 0 w 17"/>
                      <a:gd name="T3" fmla="*/ 0 h 23"/>
                      <a:gd name="T4" fmla="*/ 0 w 17"/>
                      <a:gd name="T5" fmla="*/ 22 h 23"/>
                      <a:gd name="T6" fmla="*/ 16 w 17"/>
                      <a:gd name="T7" fmla="*/ 22 h 23"/>
                      <a:gd name="T8" fmla="*/ 16 w 17"/>
                      <a:gd name="T9" fmla="*/ 0 h 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3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2"/>
                        </a:lnTo>
                        <a:lnTo>
                          <a:pt x="16" y="22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52493E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4" name="Group 28"/>
                <p:cNvGrpSpPr>
                  <a:grpSpLocks/>
                </p:cNvGrpSpPr>
                <p:nvPr/>
              </p:nvGrpSpPr>
              <p:grpSpPr bwMode="auto">
                <a:xfrm>
                  <a:off x="3048" y="2940"/>
                  <a:ext cx="62" cy="54"/>
                  <a:chOff x="3048" y="2940"/>
                  <a:chExt cx="62" cy="54"/>
                </a:xfrm>
              </p:grpSpPr>
              <p:sp>
                <p:nvSpPr>
                  <p:cNvPr id="598" name="Freeform 29"/>
                  <p:cNvSpPr>
                    <a:spLocks/>
                  </p:cNvSpPr>
                  <p:nvPr/>
                </p:nvSpPr>
                <p:spPr bwMode="auto">
                  <a:xfrm>
                    <a:off x="3048" y="2944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99" name="Freeform 30"/>
                  <p:cNvSpPr>
                    <a:spLocks/>
                  </p:cNvSpPr>
                  <p:nvPr/>
                </p:nvSpPr>
                <p:spPr bwMode="auto">
                  <a:xfrm>
                    <a:off x="3050" y="2940"/>
                    <a:ext cx="60" cy="50"/>
                  </a:xfrm>
                  <a:custGeom>
                    <a:avLst/>
                    <a:gdLst>
                      <a:gd name="T0" fmla="*/ 59 w 60"/>
                      <a:gd name="T1" fmla="*/ 0 h 50"/>
                      <a:gd name="T2" fmla="*/ 0 w 60"/>
                      <a:gd name="T3" fmla="*/ 0 h 50"/>
                      <a:gd name="T4" fmla="*/ 0 w 60"/>
                      <a:gd name="T5" fmla="*/ 49 h 50"/>
                      <a:gd name="T6" fmla="*/ 59 w 60"/>
                      <a:gd name="T7" fmla="*/ 49 h 50"/>
                      <a:gd name="T8" fmla="*/ 59 w 60"/>
                      <a:gd name="T9" fmla="*/ 0 h 5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60" h="50">
                        <a:moveTo>
                          <a:pt x="59" y="0"/>
                        </a:moveTo>
                        <a:lnTo>
                          <a:pt x="0" y="0"/>
                        </a:lnTo>
                        <a:lnTo>
                          <a:pt x="0" y="49"/>
                        </a:lnTo>
                        <a:lnTo>
                          <a:pt x="59" y="49"/>
                        </a:lnTo>
                        <a:lnTo>
                          <a:pt x="59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5" name="Group 31"/>
                <p:cNvGrpSpPr>
                  <a:grpSpLocks/>
                </p:cNvGrpSpPr>
                <p:nvPr/>
              </p:nvGrpSpPr>
              <p:grpSpPr bwMode="auto">
                <a:xfrm>
                  <a:off x="2939" y="2989"/>
                  <a:ext cx="79" cy="70"/>
                  <a:chOff x="2939" y="2989"/>
                  <a:chExt cx="79" cy="70"/>
                </a:xfrm>
              </p:grpSpPr>
              <p:sp>
                <p:nvSpPr>
                  <p:cNvPr id="596" name="Freeform 32"/>
                  <p:cNvSpPr>
                    <a:spLocks/>
                  </p:cNvSpPr>
                  <p:nvPr/>
                </p:nvSpPr>
                <p:spPr bwMode="auto">
                  <a:xfrm>
                    <a:off x="2939" y="2993"/>
                    <a:ext cx="76" cy="66"/>
                  </a:xfrm>
                  <a:custGeom>
                    <a:avLst/>
                    <a:gdLst>
                      <a:gd name="T0" fmla="*/ 75 w 76"/>
                      <a:gd name="T1" fmla="*/ 0 h 66"/>
                      <a:gd name="T2" fmla="*/ 0 w 76"/>
                      <a:gd name="T3" fmla="*/ 0 h 66"/>
                      <a:gd name="T4" fmla="*/ 0 w 76"/>
                      <a:gd name="T5" fmla="*/ 65 h 66"/>
                      <a:gd name="T6" fmla="*/ 75 w 76"/>
                      <a:gd name="T7" fmla="*/ 65 h 66"/>
                      <a:gd name="T8" fmla="*/ 75 w 76"/>
                      <a:gd name="T9" fmla="*/ 0 h 6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6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5"/>
                        </a:lnTo>
                        <a:lnTo>
                          <a:pt x="75" y="65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97" name="Freeform 33"/>
                  <p:cNvSpPr>
                    <a:spLocks/>
                  </p:cNvSpPr>
                  <p:nvPr/>
                </p:nvSpPr>
                <p:spPr bwMode="auto">
                  <a:xfrm>
                    <a:off x="2942" y="2989"/>
                    <a:ext cx="76" cy="67"/>
                  </a:xfrm>
                  <a:custGeom>
                    <a:avLst/>
                    <a:gdLst>
                      <a:gd name="T0" fmla="*/ 75 w 76"/>
                      <a:gd name="T1" fmla="*/ 0 h 67"/>
                      <a:gd name="T2" fmla="*/ 0 w 76"/>
                      <a:gd name="T3" fmla="*/ 0 h 67"/>
                      <a:gd name="T4" fmla="*/ 0 w 76"/>
                      <a:gd name="T5" fmla="*/ 66 h 67"/>
                      <a:gd name="T6" fmla="*/ 75 w 76"/>
                      <a:gd name="T7" fmla="*/ 66 h 67"/>
                      <a:gd name="T8" fmla="*/ 75 w 76"/>
                      <a:gd name="T9" fmla="*/ 0 h 6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76" h="67">
                        <a:moveTo>
                          <a:pt x="75" y="0"/>
                        </a:moveTo>
                        <a:lnTo>
                          <a:pt x="0" y="0"/>
                        </a:lnTo>
                        <a:lnTo>
                          <a:pt x="0" y="66"/>
                        </a:lnTo>
                        <a:lnTo>
                          <a:pt x="75" y="66"/>
                        </a:lnTo>
                        <a:lnTo>
                          <a:pt x="7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6" name="Group 34"/>
                <p:cNvGrpSpPr>
                  <a:grpSpLocks/>
                </p:cNvGrpSpPr>
                <p:nvPr/>
              </p:nvGrpSpPr>
              <p:grpSpPr bwMode="auto">
                <a:xfrm>
                  <a:off x="3186" y="2940"/>
                  <a:ext cx="20" cy="82"/>
                  <a:chOff x="3186" y="2940"/>
                  <a:chExt cx="20" cy="82"/>
                </a:xfrm>
              </p:grpSpPr>
              <p:sp>
                <p:nvSpPr>
                  <p:cNvPr id="594" name="Freeform 35"/>
                  <p:cNvSpPr>
                    <a:spLocks/>
                  </p:cNvSpPr>
                  <p:nvPr/>
                </p:nvSpPr>
                <p:spPr bwMode="auto">
                  <a:xfrm>
                    <a:off x="3186" y="2944"/>
                    <a:ext cx="17" cy="78"/>
                  </a:xfrm>
                  <a:custGeom>
                    <a:avLst/>
                    <a:gdLst>
                      <a:gd name="T0" fmla="*/ 16 w 17"/>
                      <a:gd name="T1" fmla="*/ 0 h 78"/>
                      <a:gd name="T2" fmla="*/ 0 w 17"/>
                      <a:gd name="T3" fmla="*/ 0 h 78"/>
                      <a:gd name="T4" fmla="*/ 0 w 17"/>
                      <a:gd name="T5" fmla="*/ 77 h 78"/>
                      <a:gd name="T6" fmla="*/ 16 w 17"/>
                      <a:gd name="T7" fmla="*/ 77 h 78"/>
                      <a:gd name="T8" fmla="*/ 16 w 17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7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6" y="7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95" name="Freeform 36"/>
                  <p:cNvSpPr>
                    <a:spLocks/>
                  </p:cNvSpPr>
                  <p:nvPr/>
                </p:nvSpPr>
                <p:spPr bwMode="auto">
                  <a:xfrm>
                    <a:off x="3188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7" name="Group 37"/>
                <p:cNvGrpSpPr>
                  <a:grpSpLocks/>
                </p:cNvGrpSpPr>
                <p:nvPr/>
              </p:nvGrpSpPr>
              <p:grpSpPr bwMode="auto">
                <a:xfrm>
                  <a:off x="3168" y="3028"/>
                  <a:ext cx="28" cy="21"/>
                  <a:chOff x="3168" y="3028"/>
                  <a:chExt cx="28" cy="21"/>
                </a:xfrm>
              </p:grpSpPr>
              <p:sp>
                <p:nvSpPr>
                  <p:cNvPr id="592" name="Freeform 38"/>
                  <p:cNvSpPr>
                    <a:spLocks/>
                  </p:cNvSpPr>
                  <p:nvPr/>
                </p:nvSpPr>
                <p:spPr bwMode="auto">
                  <a:xfrm>
                    <a:off x="3168" y="3032"/>
                    <a:ext cx="26" cy="17"/>
                  </a:xfrm>
                  <a:custGeom>
                    <a:avLst/>
                    <a:gdLst>
                      <a:gd name="T0" fmla="*/ 25 w 26"/>
                      <a:gd name="T1" fmla="*/ 0 h 17"/>
                      <a:gd name="T2" fmla="*/ 0 w 26"/>
                      <a:gd name="T3" fmla="*/ 0 h 17"/>
                      <a:gd name="T4" fmla="*/ 0 w 26"/>
                      <a:gd name="T5" fmla="*/ 16 h 17"/>
                      <a:gd name="T6" fmla="*/ 25 w 26"/>
                      <a:gd name="T7" fmla="*/ 16 h 17"/>
                      <a:gd name="T8" fmla="*/ 25 w 26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7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5" y="16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93" name="Freeform 39"/>
                  <p:cNvSpPr>
                    <a:spLocks/>
                  </p:cNvSpPr>
                  <p:nvPr/>
                </p:nvSpPr>
                <p:spPr bwMode="auto">
                  <a:xfrm>
                    <a:off x="3170" y="3028"/>
                    <a:ext cx="26" cy="18"/>
                  </a:xfrm>
                  <a:custGeom>
                    <a:avLst/>
                    <a:gdLst>
                      <a:gd name="T0" fmla="*/ 25 w 26"/>
                      <a:gd name="T1" fmla="*/ 0 h 18"/>
                      <a:gd name="T2" fmla="*/ 0 w 26"/>
                      <a:gd name="T3" fmla="*/ 0 h 18"/>
                      <a:gd name="T4" fmla="*/ 0 w 26"/>
                      <a:gd name="T5" fmla="*/ 17 h 18"/>
                      <a:gd name="T6" fmla="*/ 25 w 26"/>
                      <a:gd name="T7" fmla="*/ 17 h 18"/>
                      <a:gd name="T8" fmla="*/ 25 w 26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6" h="18">
                        <a:moveTo>
                          <a:pt x="25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5" y="17"/>
                        </a:lnTo>
                        <a:lnTo>
                          <a:pt x="25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8" name="Group 40"/>
                <p:cNvGrpSpPr>
                  <a:grpSpLocks/>
                </p:cNvGrpSpPr>
                <p:nvPr/>
              </p:nvGrpSpPr>
              <p:grpSpPr bwMode="auto">
                <a:xfrm>
                  <a:off x="3126" y="2942"/>
                  <a:ext cx="20" cy="37"/>
                  <a:chOff x="3126" y="2942"/>
                  <a:chExt cx="20" cy="37"/>
                </a:xfrm>
              </p:grpSpPr>
              <p:sp>
                <p:nvSpPr>
                  <p:cNvPr id="590" name="Freeform 41"/>
                  <p:cNvSpPr>
                    <a:spLocks/>
                  </p:cNvSpPr>
                  <p:nvPr/>
                </p:nvSpPr>
                <p:spPr bwMode="auto">
                  <a:xfrm>
                    <a:off x="3126" y="2945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91" name="Freeform 42"/>
                  <p:cNvSpPr>
                    <a:spLocks/>
                  </p:cNvSpPr>
                  <p:nvPr/>
                </p:nvSpPr>
                <p:spPr bwMode="auto">
                  <a:xfrm>
                    <a:off x="3128" y="2942"/>
                    <a:ext cx="18" cy="34"/>
                  </a:xfrm>
                  <a:custGeom>
                    <a:avLst/>
                    <a:gdLst>
                      <a:gd name="T0" fmla="*/ 17 w 18"/>
                      <a:gd name="T1" fmla="*/ 0 h 34"/>
                      <a:gd name="T2" fmla="*/ 0 w 18"/>
                      <a:gd name="T3" fmla="*/ 0 h 34"/>
                      <a:gd name="T4" fmla="*/ 0 w 18"/>
                      <a:gd name="T5" fmla="*/ 33 h 34"/>
                      <a:gd name="T6" fmla="*/ 17 w 18"/>
                      <a:gd name="T7" fmla="*/ 33 h 34"/>
                      <a:gd name="T8" fmla="*/ 17 w 18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4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7" y="33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69" name="Group 43"/>
                <p:cNvGrpSpPr>
                  <a:grpSpLocks/>
                </p:cNvGrpSpPr>
                <p:nvPr/>
              </p:nvGrpSpPr>
              <p:grpSpPr bwMode="auto">
                <a:xfrm>
                  <a:off x="3125" y="2978"/>
                  <a:ext cx="20" cy="37"/>
                  <a:chOff x="3125" y="2978"/>
                  <a:chExt cx="20" cy="37"/>
                </a:xfrm>
              </p:grpSpPr>
              <p:sp>
                <p:nvSpPr>
                  <p:cNvPr id="588" name="Freeform 44"/>
                  <p:cNvSpPr>
                    <a:spLocks/>
                  </p:cNvSpPr>
                  <p:nvPr/>
                </p:nvSpPr>
                <p:spPr bwMode="auto">
                  <a:xfrm>
                    <a:off x="3125" y="2981"/>
                    <a:ext cx="17" cy="34"/>
                  </a:xfrm>
                  <a:custGeom>
                    <a:avLst/>
                    <a:gdLst>
                      <a:gd name="T0" fmla="*/ 16 w 17"/>
                      <a:gd name="T1" fmla="*/ 0 h 34"/>
                      <a:gd name="T2" fmla="*/ 0 w 17"/>
                      <a:gd name="T3" fmla="*/ 0 h 34"/>
                      <a:gd name="T4" fmla="*/ 0 w 17"/>
                      <a:gd name="T5" fmla="*/ 33 h 34"/>
                      <a:gd name="T6" fmla="*/ 16 w 17"/>
                      <a:gd name="T7" fmla="*/ 33 h 34"/>
                      <a:gd name="T8" fmla="*/ 16 w 17"/>
                      <a:gd name="T9" fmla="*/ 0 h 34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34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33"/>
                        </a:lnTo>
                        <a:lnTo>
                          <a:pt x="16" y="33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89" name="Freeform 45"/>
                  <p:cNvSpPr>
                    <a:spLocks/>
                  </p:cNvSpPr>
                  <p:nvPr/>
                </p:nvSpPr>
                <p:spPr bwMode="auto">
                  <a:xfrm>
                    <a:off x="3127" y="2978"/>
                    <a:ext cx="18" cy="35"/>
                  </a:xfrm>
                  <a:custGeom>
                    <a:avLst/>
                    <a:gdLst>
                      <a:gd name="T0" fmla="*/ 17 w 18"/>
                      <a:gd name="T1" fmla="*/ 0 h 35"/>
                      <a:gd name="T2" fmla="*/ 0 w 18"/>
                      <a:gd name="T3" fmla="*/ 0 h 35"/>
                      <a:gd name="T4" fmla="*/ 0 w 18"/>
                      <a:gd name="T5" fmla="*/ 34 h 35"/>
                      <a:gd name="T6" fmla="*/ 17 w 18"/>
                      <a:gd name="T7" fmla="*/ 34 h 35"/>
                      <a:gd name="T8" fmla="*/ 17 w 18"/>
                      <a:gd name="T9" fmla="*/ 0 h 3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35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34"/>
                        </a:lnTo>
                        <a:lnTo>
                          <a:pt x="17" y="34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0" name="Group 46"/>
                <p:cNvGrpSpPr>
                  <a:grpSpLocks/>
                </p:cNvGrpSpPr>
                <p:nvPr/>
              </p:nvGrpSpPr>
              <p:grpSpPr bwMode="auto">
                <a:xfrm>
                  <a:off x="3025" y="2940"/>
                  <a:ext cx="19" cy="31"/>
                  <a:chOff x="3025" y="2940"/>
                  <a:chExt cx="19" cy="31"/>
                </a:xfrm>
              </p:grpSpPr>
              <p:sp>
                <p:nvSpPr>
                  <p:cNvPr id="586" name="Freeform 47"/>
                  <p:cNvSpPr>
                    <a:spLocks/>
                  </p:cNvSpPr>
                  <p:nvPr/>
                </p:nvSpPr>
                <p:spPr bwMode="auto">
                  <a:xfrm>
                    <a:off x="3025" y="2944"/>
                    <a:ext cx="17" cy="27"/>
                  </a:xfrm>
                  <a:custGeom>
                    <a:avLst/>
                    <a:gdLst>
                      <a:gd name="T0" fmla="*/ 16 w 17"/>
                      <a:gd name="T1" fmla="*/ 0 h 27"/>
                      <a:gd name="T2" fmla="*/ 0 w 17"/>
                      <a:gd name="T3" fmla="*/ 0 h 27"/>
                      <a:gd name="T4" fmla="*/ 0 w 17"/>
                      <a:gd name="T5" fmla="*/ 26 h 27"/>
                      <a:gd name="T6" fmla="*/ 16 w 17"/>
                      <a:gd name="T7" fmla="*/ 26 h 27"/>
                      <a:gd name="T8" fmla="*/ 16 w 17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7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16" y="26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87" name="Freeform 48"/>
                  <p:cNvSpPr>
                    <a:spLocks/>
                  </p:cNvSpPr>
                  <p:nvPr/>
                </p:nvSpPr>
                <p:spPr bwMode="auto">
                  <a:xfrm>
                    <a:off x="3027" y="2940"/>
                    <a:ext cx="17" cy="28"/>
                  </a:xfrm>
                  <a:custGeom>
                    <a:avLst/>
                    <a:gdLst>
                      <a:gd name="T0" fmla="*/ 16 w 17"/>
                      <a:gd name="T1" fmla="*/ 0 h 28"/>
                      <a:gd name="T2" fmla="*/ 0 w 17"/>
                      <a:gd name="T3" fmla="*/ 0 h 28"/>
                      <a:gd name="T4" fmla="*/ 0 w 17"/>
                      <a:gd name="T5" fmla="*/ 27 h 28"/>
                      <a:gd name="T6" fmla="*/ 16 w 17"/>
                      <a:gd name="T7" fmla="*/ 27 h 28"/>
                      <a:gd name="T8" fmla="*/ 16 w 17"/>
                      <a:gd name="T9" fmla="*/ 0 h 2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7" h="28">
                        <a:moveTo>
                          <a:pt x="16" y="0"/>
                        </a:moveTo>
                        <a:lnTo>
                          <a:pt x="0" y="0"/>
                        </a:lnTo>
                        <a:lnTo>
                          <a:pt x="0" y="27"/>
                        </a:lnTo>
                        <a:lnTo>
                          <a:pt x="16" y="27"/>
                        </a:lnTo>
                        <a:lnTo>
                          <a:pt x="16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1" name="Group 49"/>
                <p:cNvGrpSpPr>
                  <a:grpSpLocks/>
                </p:cNvGrpSpPr>
                <p:nvPr/>
              </p:nvGrpSpPr>
              <p:grpSpPr bwMode="auto">
                <a:xfrm>
                  <a:off x="3161" y="2940"/>
                  <a:ext cx="19" cy="82"/>
                  <a:chOff x="3161" y="2940"/>
                  <a:chExt cx="19" cy="82"/>
                </a:xfrm>
              </p:grpSpPr>
              <p:sp>
                <p:nvSpPr>
                  <p:cNvPr id="584" name="Freeform 50"/>
                  <p:cNvSpPr>
                    <a:spLocks/>
                  </p:cNvSpPr>
                  <p:nvPr/>
                </p:nvSpPr>
                <p:spPr bwMode="auto">
                  <a:xfrm>
                    <a:off x="3161" y="2944"/>
                    <a:ext cx="18" cy="78"/>
                  </a:xfrm>
                  <a:custGeom>
                    <a:avLst/>
                    <a:gdLst>
                      <a:gd name="T0" fmla="*/ 17 w 18"/>
                      <a:gd name="T1" fmla="*/ 0 h 78"/>
                      <a:gd name="T2" fmla="*/ 0 w 18"/>
                      <a:gd name="T3" fmla="*/ 0 h 78"/>
                      <a:gd name="T4" fmla="*/ 0 w 18"/>
                      <a:gd name="T5" fmla="*/ 77 h 78"/>
                      <a:gd name="T6" fmla="*/ 17 w 18"/>
                      <a:gd name="T7" fmla="*/ 77 h 78"/>
                      <a:gd name="T8" fmla="*/ 17 w 18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8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7"/>
                        </a:lnTo>
                        <a:lnTo>
                          <a:pt x="17" y="77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85" name="Freeform 51"/>
                  <p:cNvSpPr>
                    <a:spLocks/>
                  </p:cNvSpPr>
                  <p:nvPr/>
                </p:nvSpPr>
                <p:spPr bwMode="auto">
                  <a:xfrm>
                    <a:off x="3162" y="2940"/>
                    <a:ext cx="18" cy="79"/>
                  </a:xfrm>
                  <a:custGeom>
                    <a:avLst/>
                    <a:gdLst>
                      <a:gd name="T0" fmla="*/ 17 w 18"/>
                      <a:gd name="T1" fmla="*/ 0 h 79"/>
                      <a:gd name="T2" fmla="*/ 0 w 18"/>
                      <a:gd name="T3" fmla="*/ 0 h 79"/>
                      <a:gd name="T4" fmla="*/ 0 w 18"/>
                      <a:gd name="T5" fmla="*/ 78 h 79"/>
                      <a:gd name="T6" fmla="*/ 17 w 18"/>
                      <a:gd name="T7" fmla="*/ 78 h 79"/>
                      <a:gd name="T8" fmla="*/ 17 w 18"/>
                      <a:gd name="T9" fmla="*/ 0 h 7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8" h="79">
                        <a:moveTo>
                          <a:pt x="17" y="0"/>
                        </a:moveTo>
                        <a:lnTo>
                          <a:pt x="0" y="0"/>
                        </a:lnTo>
                        <a:lnTo>
                          <a:pt x="0" y="78"/>
                        </a:lnTo>
                        <a:lnTo>
                          <a:pt x="17" y="78"/>
                        </a:lnTo>
                        <a:lnTo>
                          <a:pt x="17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2" name="Group 52"/>
                <p:cNvGrpSpPr>
                  <a:grpSpLocks/>
                </p:cNvGrpSpPr>
                <p:nvPr/>
              </p:nvGrpSpPr>
              <p:grpSpPr bwMode="auto">
                <a:xfrm>
                  <a:off x="3085" y="2907"/>
                  <a:ext cx="21" cy="21"/>
                  <a:chOff x="3085" y="2907"/>
                  <a:chExt cx="21" cy="21"/>
                </a:xfrm>
              </p:grpSpPr>
              <p:sp>
                <p:nvSpPr>
                  <p:cNvPr id="582" name="Freeform 53"/>
                  <p:cNvSpPr>
                    <a:spLocks/>
                  </p:cNvSpPr>
                  <p:nvPr/>
                </p:nvSpPr>
                <p:spPr bwMode="auto">
                  <a:xfrm>
                    <a:off x="3085" y="2911"/>
                    <a:ext cx="20" cy="17"/>
                  </a:xfrm>
                  <a:custGeom>
                    <a:avLst/>
                    <a:gdLst>
                      <a:gd name="T0" fmla="*/ 19 w 20"/>
                      <a:gd name="T1" fmla="*/ 0 h 17"/>
                      <a:gd name="T2" fmla="*/ 0 w 20"/>
                      <a:gd name="T3" fmla="*/ 0 h 17"/>
                      <a:gd name="T4" fmla="*/ 0 w 20"/>
                      <a:gd name="T5" fmla="*/ 16 h 17"/>
                      <a:gd name="T6" fmla="*/ 19 w 20"/>
                      <a:gd name="T7" fmla="*/ 16 h 17"/>
                      <a:gd name="T8" fmla="*/ 19 w 2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0" h="17">
                        <a:moveTo>
                          <a:pt x="1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19" y="16"/>
                        </a:lnTo>
                        <a:lnTo>
                          <a:pt x="1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83" name="Freeform 54"/>
                  <p:cNvSpPr>
                    <a:spLocks/>
                  </p:cNvSpPr>
                  <p:nvPr/>
                </p:nvSpPr>
                <p:spPr bwMode="auto">
                  <a:xfrm>
                    <a:off x="3087" y="2907"/>
                    <a:ext cx="19" cy="19"/>
                  </a:xfrm>
                  <a:custGeom>
                    <a:avLst/>
                    <a:gdLst>
                      <a:gd name="T0" fmla="*/ 18 w 19"/>
                      <a:gd name="T1" fmla="*/ 0 h 19"/>
                      <a:gd name="T2" fmla="*/ 0 w 19"/>
                      <a:gd name="T3" fmla="*/ 0 h 19"/>
                      <a:gd name="T4" fmla="*/ 0 w 19"/>
                      <a:gd name="T5" fmla="*/ 18 h 19"/>
                      <a:gd name="T6" fmla="*/ 18 w 19"/>
                      <a:gd name="T7" fmla="*/ 18 h 19"/>
                      <a:gd name="T8" fmla="*/ 18 w 19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19" h="19">
                        <a:moveTo>
                          <a:pt x="18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18" y="18"/>
                        </a:lnTo>
                        <a:lnTo>
                          <a:pt x="18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3" name="Group 55"/>
                <p:cNvGrpSpPr>
                  <a:grpSpLocks/>
                </p:cNvGrpSpPr>
                <p:nvPr/>
              </p:nvGrpSpPr>
              <p:grpSpPr bwMode="auto">
                <a:xfrm>
                  <a:off x="2904" y="2924"/>
                  <a:ext cx="24" cy="21"/>
                  <a:chOff x="2904" y="2924"/>
                  <a:chExt cx="24" cy="21"/>
                </a:xfrm>
              </p:grpSpPr>
              <p:sp>
                <p:nvSpPr>
                  <p:cNvPr id="580" name="Freeform 56"/>
                  <p:cNvSpPr>
                    <a:spLocks/>
                  </p:cNvSpPr>
                  <p:nvPr/>
                </p:nvSpPr>
                <p:spPr bwMode="auto">
                  <a:xfrm>
                    <a:off x="2904" y="2926"/>
                    <a:ext cx="21" cy="19"/>
                  </a:xfrm>
                  <a:custGeom>
                    <a:avLst/>
                    <a:gdLst>
                      <a:gd name="T0" fmla="*/ 20 w 21"/>
                      <a:gd name="T1" fmla="*/ 0 h 19"/>
                      <a:gd name="T2" fmla="*/ 0 w 21"/>
                      <a:gd name="T3" fmla="*/ 0 h 19"/>
                      <a:gd name="T4" fmla="*/ 0 w 21"/>
                      <a:gd name="T5" fmla="*/ 18 h 19"/>
                      <a:gd name="T6" fmla="*/ 20 w 21"/>
                      <a:gd name="T7" fmla="*/ 18 h 19"/>
                      <a:gd name="T8" fmla="*/ 20 w 21"/>
                      <a:gd name="T9" fmla="*/ 0 h 19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" h="19">
                        <a:moveTo>
                          <a:pt x="20" y="0"/>
                        </a:moveTo>
                        <a:lnTo>
                          <a:pt x="0" y="0"/>
                        </a:lnTo>
                        <a:lnTo>
                          <a:pt x="0" y="18"/>
                        </a:lnTo>
                        <a:lnTo>
                          <a:pt x="20" y="1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81" name="Freeform 57"/>
                  <p:cNvSpPr>
                    <a:spLocks/>
                  </p:cNvSpPr>
                  <p:nvPr/>
                </p:nvSpPr>
                <p:spPr bwMode="auto">
                  <a:xfrm>
                    <a:off x="2906" y="2924"/>
                    <a:ext cx="22" cy="18"/>
                  </a:xfrm>
                  <a:custGeom>
                    <a:avLst/>
                    <a:gdLst>
                      <a:gd name="T0" fmla="*/ 21 w 22"/>
                      <a:gd name="T1" fmla="*/ 0 h 18"/>
                      <a:gd name="T2" fmla="*/ 0 w 22"/>
                      <a:gd name="T3" fmla="*/ 0 h 18"/>
                      <a:gd name="T4" fmla="*/ 0 w 22"/>
                      <a:gd name="T5" fmla="*/ 17 h 18"/>
                      <a:gd name="T6" fmla="*/ 21 w 22"/>
                      <a:gd name="T7" fmla="*/ 17 h 18"/>
                      <a:gd name="T8" fmla="*/ 21 w 22"/>
                      <a:gd name="T9" fmla="*/ 0 h 1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" h="18">
                        <a:moveTo>
                          <a:pt x="21" y="0"/>
                        </a:moveTo>
                        <a:lnTo>
                          <a:pt x="0" y="0"/>
                        </a:lnTo>
                        <a:lnTo>
                          <a:pt x="0" y="17"/>
                        </a:lnTo>
                        <a:lnTo>
                          <a:pt x="21" y="17"/>
                        </a:lnTo>
                        <a:lnTo>
                          <a:pt x="21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4" name="Group 58"/>
                <p:cNvGrpSpPr>
                  <a:grpSpLocks/>
                </p:cNvGrpSpPr>
                <p:nvPr/>
              </p:nvGrpSpPr>
              <p:grpSpPr bwMode="auto">
                <a:xfrm>
                  <a:off x="2854" y="2979"/>
                  <a:ext cx="34" cy="20"/>
                  <a:chOff x="2854" y="2979"/>
                  <a:chExt cx="34" cy="20"/>
                </a:xfrm>
              </p:grpSpPr>
              <p:sp>
                <p:nvSpPr>
                  <p:cNvPr id="578" name="Freeform 59"/>
                  <p:cNvSpPr>
                    <a:spLocks/>
                  </p:cNvSpPr>
                  <p:nvPr/>
                </p:nvSpPr>
                <p:spPr bwMode="auto">
                  <a:xfrm>
                    <a:off x="2854" y="2982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79" name="Freeform 60"/>
                  <p:cNvSpPr>
                    <a:spLocks/>
                  </p:cNvSpPr>
                  <p:nvPr/>
                </p:nvSpPr>
                <p:spPr bwMode="auto">
                  <a:xfrm>
                    <a:off x="2857" y="2979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  <p:grpSp>
              <p:nvGrpSpPr>
                <p:cNvPr id="575" name="Group 61"/>
                <p:cNvGrpSpPr>
                  <a:grpSpLocks/>
                </p:cNvGrpSpPr>
                <p:nvPr/>
              </p:nvGrpSpPr>
              <p:grpSpPr bwMode="auto">
                <a:xfrm>
                  <a:off x="2854" y="3003"/>
                  <a:ext cx="34" cy="20"/>
                  <a:chOff x="2854" y="3003"/>
                  <a:chExt cx="34" cy="20"/>
                </a:xfrm>
              </p:grpSpPr>
              <p:sp>
                <p:nvSpPr>
                  <p:cNvPr id="576" name="Freeform 62"/>
                  <p:cNvSpPr>
                    <a:spLocks/>
                  </p:cNvSpPr>
                  <p:nvPr/>
                </p:nvSpPr>
                <p:spPr bwMode="auto">
                  <a:xfrm>
                    <a:off x="2854" y="3006"/>
                    <a:ext cx="30" cy="17"/>
                  </a:xfrm>
                  <a:custGeom>
                    <a:avLst/>
                    <a:gdLst>
                      <a:gd name="T0" fmla="*/ 29 w 30"/>
                      <a:gd name="T1" fmla="*/ 0 h 17"/>
                      <a:gd name="T2" fmla="*/ 0 w 30"/>
                      <a:gd name="T3" fmla="*/ 0 h 17"/>
                      <a:gd name="T4" fmla="*/ 0 w 30"/>
                      <a:gd name="T5" fmla="*/ 16 h 17"/>
                      <a:gd name="T6" fmla="*/ 29 w 30"/>
                      <a:gd name="T7" fmla="*/ 16 h 17"/>
                      <a:gd name="T8" fmla="*/ 29 w 30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0" h="17">
                        <a:moveTo>
                          <a:pt x="29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29" y="16"/>
                        </a:lnTo>
                        <a:lnTo>
                          <a:pt x="29" y="0"/>
                        </a:lnTo>
                      </a:path>
                    </a:pathLst>
                  </a:custGeom>
                  <a:solidFill>
                    <a:srgbClr val="000000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577" name="Freeform 63"/>
                  <p:cNvSpPr>
                    <a:spLocks/>
                  </p:cNvSpPr>
                  <p:nvPr/>
                </p:nvSpPr>
                <p:spPr bwMode="auto">
                  <a:xfrm>
                    <a:off x="2857" y="3003"/>
                    <a:ext cx="31" cy="17"/>
                  </a:xfrm>
                  <a:custGeom>
                    <a:avLst/>
                    <a:gdLst>
                      <a:gd name="T0" fmla="*/ 30 w 31"/>
                      <a:gd name="T1" fmla="*/ 0 h 17"/>
                      <a:gd name="T2" fmla="*/ 0 w 31"/>
                      <a:gd name="T3" fmla="*/ 0 h 17"/>
                      <a:gd name="T4" fmla="*/ 0 w 31"/>
                      <a:gd name="T5" fmla="*/ 16 h 17"/>
                      <a:gd name="T6" fmla="*/ 30 w 31"/>
                      <a:gd name="T7" fmla="*/ 16 h 17"/>
                      <a:gd name="T8" fmla="*/ 30 w 31"/>
                      <a:gd name="T9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31" h="17">
                        <a:moveTo>
                          <a:pt x="30" y="0"/>
                        </a:moveTo>
                        <a:lnTo>
                          <a:pt x="0" y="0"/>
                        </a:lnTo>
                        <a:lnTo>
                          <a:pt x="0" y="16"/>
                        </a:lnTo>
                        <a:lnTo>
                          <a:pt x="30" y="16"/>
                        </a:lnTo>
                        <a:lnTo>
                          <a:pt x="30" y="0"/>
                        </a:lnTo>
                      </a:path>
                    </a:pathLst>
                  </a:custGeom>
                  <a:solidFill>
                    <a:srgbClr val="716759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</p:grpSp>
          </p:grpSp>
        </p:grpSp>
        <p:grpSp>
          <p:nvGrpSpPr>
            <p:cNvPr id="6" name="组合 5"/>
            <p:cNvGrpSpPr/>
            <p:nvPr/>
          </p:nvGrpSpPr>
          <p:grpSpPr>
            <a:xfrm>
              <a:off x="3616734" y="3738421"/>
              <a:ext cx="1596108" cy="630967"/>
              <a:chOff x="4140071" y="3738193"/>
              <a:chExt cx="1596108" cy="630967"/>
            </a:xfrm>
          </p:grpSpPr>
          <p:sp>
            <p:nvSpPr>
              <p:cNvPr id="682" name="Rectangle 64"/>
              <p:cNvSpPr>
                <a:spLocks noChangeArrowheads="1"/>
              </p:cNvSpPr>
              <p:nvPr/>
            </p:nvSpPr>
            <p:spPr bwMode="auto">
              <a:xfrm>
                <a:off x="4140071" y="3963670"/>
                <a:ext cx="442429" cy="308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sz="1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NIC</a:t>
                </a: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4499290" y="3738193"/>
                <a:ext cx="1236889" cy="630967"/>
                <a:chOff x="4499290" y="3738193"/>
                <a:chExt cx="1236889" cy="630967"/>
              </a:xfrm>
            </p:grpSpPr>
            <p:pic>
              <p:nvPicPr>
                <p:cNvPr id="683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22212" y="3738193"/>
                  <a:ext cx="813967" cy="6309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684" name="Group 4"/>
                <p:cNvGrpSpPr>
                  <a:grpSpLocks/>
                </p:cNvGrpSpPr>
                <p:nvPr/>
              </p:nvGrpSpPr>
              <p:grpSpPr bwMode="auto">
                <a:xfrm>
                  <a:off x="4499290" y="3952800"/>
                  <a:ext cx="539455" cy="298449"/>
                  <a:chOff x="2801" y="2891"/>
                  <a:chExt cx="412" cy="210"/>
                </a:xfrm>
              </p:grpSpPr>
              <p:sp>
                <p:nvSpPr>
                  <p:cNvPr id="685" name="Freeform 5"/>
                  <p:cNvSpPr>
                    <a:spLocks/>
                  </p:cNvSpPr>
                  <p:nvPr/>
                </p:nvSpPr>
                <p:spPr bwMode="auto">
                  <a:xfrm>
                    <a:off x="2904" y="3063"/>
                    <a:ext cx="215" cy="27"/>
                  </a:xfrm>
                  <a:custGeom>
                    <a:avLst/>
                    <a:gdLst>
                      <a:gd name="T0" fmla="*/ 214 w 215"/>
                      <a:gd name="T1" fmla="*/ 0 h 27"/>
                      <a:gd name="T2" fmla="*/ 0 w 215"/>
                      <a:gd name="T3" fmla="*/ 0 h 27"/>
                      <a:gd name="T4" fmla="*/ 0 w 215"/>
                      <a:gd name="T5" fmla="*/ 26 h 27"/>
                      <a:gd name="T6" fmla="*/ 214 w 215"/>
                      <a:gd name="T7" fmla="*/ 26 h 27"/>
                      <a:gd name="T8" fmla="*/ 214 w 215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5" h="27">
                        <a:moveTo>
                          <a:pt x="214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214" y="26"/>
                        </a:lnTo>
                        <a:lnTo>
                          <a:pt x="214" y="0"/>
                        </a:lnTo>
                      </a:path>
                    </a:pathLst>
                  </a:custGeom>
                  <a:solidFill>
                    <a:srgbClr val="FFCC33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686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922" y="3067"/>
                    <a:ext cx="189" cy="18"/>
                    <a:chOff x="2922" y="3067"/>
                    <a:chExt cx="189" cy="18"/>
                  </a:xfrm>
                </p:grpSpPr>
                <p:sp>
                  <p:nvSpPr>
                    <p:cNvPr id="728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29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0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86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1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2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3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4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4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35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5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6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7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8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39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40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41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7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42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43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2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687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845" y="2891"/>
                    <a:ext cx="368" cy="172"/>
                  </a:xfrm>
                  <a:prstGeom prst="rect">
                    <a:avLst/>
                  </a:prstGeom>
                  <a:solidFill>
                    <a:srgbClr val="ADD6A5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688" name="Freeform 24"/>
                  <p:cNvSpPr>
                    <a:spLocks/>
                  </p:cNvSpPr>
                  <p:nvPr/>
                </p:nvSpPr>
                <p:spPr bwMode="auto">
                  <a:xfrm>
                    <a:off x="2813" y="2895"/>
                    <a:ext cx="25" cy="206"/>
                  </a:xfrm>
                  <a:custGeom>
                    <a:avLst/>
                    <a:gdLst>
                      <a:gd name="T0" fmla="*/ 0 w 25"/>
                      <a:gd name="T1" fmla="*/ 0 h 206"/>
                      <a:gd name="T2" fmla="*/ 24 w 25"/>
                      <a:gd name="T3" fmla="*/ 0 h 206"/>
                      <a:gd name="T4" fmla="*/ 24 w 25"/>
                      <a:gd name="T5" fmla="*/ 205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" h="206">
                        <a:moveTo>
                          <a:pt x="0" y="0"/>
                        </a:moveTo>
                        <a:lnTo>
                          <a:pt x="24" y="0"/>
                        </a:lnTo>
                        <a:lnTo>
                          <a:pt x="24" y="205"/>
                        </a:lnTo>
                      </a:path>
                    </a:pathLst>
                  </a:custGeom>
                  <a:noFill/>
                  <a:ln w="25399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689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801" y="2935"/>
                    <a:ext cx="32" cy="23"/>
                    <a:chOff x="2801" y="2935"/>
                    <a:chExt cx="32" cy="23"/>
                  </a:xfrm>
                </p:grpSpPr>
                <p:sp>
                  <p:nvSpPr>
                    <p:cNvPr id="726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2801" y="2940"/>
                      <a:ext cx="23" cy="17"/>
                    </a:xfrm>
                    <a:custGeom>
                      <a:avLst/>
                      <a:gdLst>
                        <a:gd name="T0" fmla="*/ 22 w 23"/>
                        <a:gd name="T1" fmla="*/ 0 h 17"/>
                        <a:gd name="T2" fmla="*/ 0 w 23"/>
                        <a:gd name="T3" fmla="*/ 0 h 17"/>
                        <a:gd name="T4" fmla="*/ 0 w 23"/>
                        <a:gd name="T5" fmla="*/ 16 h 17"/>
                        <a:gd name="T6" fmla="*/ 22 w 23"/>
                        <a:gd name="T7" fmla="*/ 16 h 17"/>
                        <a:gd name="T8" fmla="*/ 22 w 23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17">
                          <a:moveTo>
                            <a:pt x="22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2" y="16"/>
                          </a:lnTo>
                          <a:lnTo>
                            <a:pt x="22" y="0"/>
                          </a:lnTo>
                        </a:path>
                      </a:pathLst>
                    </a:custGeom>
                    <a:solidFill>
                      <a:srgbClr val="E9E7D1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27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816" y="2935"/>
                      <a:ext cx="17" cy="23"/>
                    </a:xfrm>
                    <a:custGeom>
                      <a:avLst/>
                      <a:gdLst>
                        <a:gd name="T0" fmla="*/ 16 w 17"/>
                        <a:gd name="T1" fmla="*/ 0 h 23"/>
                        <a:gd name="T2" fmla="*/ 0 w 17"/>
                        <a:gd name="T3" fmla="*/ 0 h 23"/>
                        <a:gd name="T4" fmla="*/ 0 w 17"/>
                        <a:gd name="T5" fmla="*/ 22 h 23"/>
                        <a:gd name="T6" fmla="*/ 16 w 17"/>
                        <a:gd name="T7" fmla="*/ 22 h 23"/>
                        <a:gd name="T8" fmla="*/ 16 w 17"/>
                        <a:gd name="T9" fmla="*/ 0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3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2"/>
                          </a:lnTo>
                          <a:lnTo>
                            <a:pt x="16" y="22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52493E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0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048" y="2940"/>
                    <a:ext cx="62" cy="54"/>
                    <a:chOff x="3048" y="2940"/>
                    <a:chExt cx="62" cy="54"/>
                  </a:xfrm>
                </p:grpSpPr>
                <p:sp>
                  <p:nvSpPr>
                    <p:cNvPr id="724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3048" y="2944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25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3050" y="2940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1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2939" y="2989"/>
                    <a:ext cx="79" cy="70"/>
                    <a:chOff x="2939" y="2989"/>
                    <a:chExt cx="79" cy="70"/>
                  </a:xfrm>
                </p:grpSpPr>
                <p:sp>
                  <p:nvSpPr>
                    <p:cNvPr id="722" name="Freeform 32"/>
                    <p:cNvSpPr>
                      <a:spLocks/>
                    </p:cNvSpPr>
                    <p:nvPr/>
                  </p:nvSpPr>
                  <p:spPr bwMode="auto">
                    <a:xfrm>
                      <a:off x="2939" y="2993"/>
                      <a:ext cx="76" cy="66"/>
                    </a:xfrm>
                    <a:custGeom>
                      <a:avLst/>
                      <a:gdLst>
                        <a:gd name="T0" fmla="*/ 75 w 76"/>
                        <a:gd name="T1" fmla="*/ 0 h 66"/>
                        <a:gd name="T2" fmla="*/ 0 w 76"/>
                        <a:gd name="T3" fmla="*/ 0 h 66"/>
                        <a:gd name="T4" fmla="*/ 0 w 76"/>
                        <a:gd name="T5" fmla="*/ 65 h 66"/>
                        <a:gd name="T6" fmla="*/ 75 w 76"/>
                        <a:gd name="T7" fmla="*/ 65 h 66"/>
                        <a:gd name="T8" fmla="*/ 75 w 76"/>
                        <a:gd name="T9" fmla="*/ 0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6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5"/>
                          </a:lnTo>
                          <a:lnTo>
                            <a:pt x="75" y="65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23" name="Freeform 33"/>
                    <p:cNvSpPr>
                      <a:spLocks/>
                    </p:cNvSpPr>
                    <p:nvPr/>
                  </p:nvSpPr>
                  <p:spPr bwMode="auto">
                    <a:xfrm>
                      <a:off x="2942" y="2989"/>
                      <a:ext cx="76" cy="67"/>
                    </a:xfrm>
                    <a:custGeom>
                      <a:avLst/>
                      <a:gdLst>
                        <a:gd name="T0" fmla="*/ 75 w 76"/>
                        <a:gd name="T1" fmla="*/ 0 h 67"/>
                        <a:gd name="T2" fmla="*/ 0 w 76"/>
                        <a:gd name="T3" fmla="*/ 0 h 67"/>
                        <a:gd name="T4" fmla="*/ 0 w 76"/>
                        <a:gd name="T5" fmla="*/ 66 h 67"/>
                        <a:gd name="T6" fmla="*/ 75 w 76"/>
                        <a:gd name="T7" fmla="*/ 66 h 67"/>
                        <a:gd name="T8" fmla="*/ 75 w 76"/>
                        <a:gd name="T9" fmla="*/ 0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7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6"/>
                          </a:lnTo>
                          <a:lnTo>
                            <a:pt x="75" y="66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2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186" y="2940"/>
                    <a:ext cx="20" cy="82"/>
                    <a:chOff x="3186" y="2940"/>
                    <a:chExt cx="20" cy="82"/>
                  </a:xfrm>
                </p:grpSpPr>
                <p:sp>
                  <p:nvSpPr>
                    <p:cNvPr id="720" name="Freeform 35"/>
                    <p:cNvSpPr>
                      <a:spLocks/>
                    </p:cNvSpPr>
                    <p:nvPr/>
                  </p:nvSpPr>
                  <p:spPr bwMode="auto">
                    <a:xfrm>
                      <a:off x="3186" y="2944"/>
                      <a:ext cx="17" cy="78"/>
                    </a:xfrm>
                    <a:custGeom>
                      <a:avLst/>
                      <a:gdLst>
                        <a:gd name="T0" fmla="*/ 16 w 17"/>
                        <a:gd name="T1" fmla="*/ 0 h 78"/>
                        <a:gd name="T2" fmla="*/ 0 w 17"/>
                        <a:gd name="T3" fmla="*/ 0 h 78"/>
                        <a:gd name="T4" fmla="*/ 0 w 17"/>
                        <a:gd name="T5" fmla="*/ 77 h 78"/>
                        <a:gd name="T6" fmla="*/ 16 w 17"/>
                        <a:gd name="T7" fmla="*/ 77 h 78"/>
                        <a:gd name="T8" fmla="*/ 16 w 17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6" y="7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21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3188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3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168" y="3028"/>
                    <a:ext cx="28" cy="21"/>
                    <a:chOff x="3168" y="3028"/>
                    <a:chExt cx="28" cy="21"/>
                  </a:xfrm>
                </p:grpSpPr>
                <p:sp>
                  <p:nvSpPr>
                    <p:cNvPr id="718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3168" y="3032"/>
                      <a:ext cx="26" cy="17"/>
                    </a:xfrm>
                    <a:custGeom>
                      <a:avLst/>
                      <a:gdLst>
                        <a:gd name="T0" fmla="*/ 25 w 26"/>
                        <a:gd name="T1" fmla="*/ 0 h 17"/>
                        <a:gd name="T2" fmla="*/ 0 w 26"/>
                        <a:gd name="T3" fmla="*/ 0 h 17"/>
                        <a:gd name="T4" fmla="*/ 0 w 26"/>
                        <a:gd name="T5" fmla="*/ 16 h 17"/>
                        <a:gd name="T6" fmla="*/ 25 w 26"/>
                        <a:gd name="T7" fmla="*/ 16 h 17"/>
                        <a:gd name="T8" fmla="*/ 25 w 26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7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5" y="16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19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3170" y="3028"/>
                      <a:ext cx="26" cy="18"/>
                    </a:xfrm>
                    <a:custGeom>
                      <a:avLst/>
                      <a:gdLst>
                        <a:gd name="T0" fmla="*/ 25 w 26"/>
                        <a:gd name="T1" fmla="*/ 0 h 18"/>
                        <a:gd name="T2" fmla="*/ 0 w 26"/>
                        <a:gd name="T3" fmla="*/ 0 h 18"/>
                        <a:gd name="T4" fmla="*/ 0 w 26"/>
                        <a:gd name="T5" fmla="*/ 17 h 18"/>
                        <a:gd name="T6" fmla="*/ 25 w 26"/>
                        <a:gd name="T7" fmla="*/ 17 h 18"/>
                        <a:gd name="T8" fmla="*/ 25 w 26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8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5" y="17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4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126" y="2942"/>
                    <a:ext cx="20" cy="37"/>
                    <a:chOff x="3126" y="2942"/>
                    <a:chExt cx="20" cy="37"/>
                  </a:xfrm>
                </p:grpSpPr>
                <p:sp>
                  <p:nvSpPr>
                    <p:cNvPr id="716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3126" y="2945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17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3128" y="2942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5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125" y="2978"/>
                    <a:ext cx="20" cy="37"/>
                    <a:chOff x="3125" y="2978"/>
                    <a:chExt cx="20" cy="37"/>
                  </a:xfrm>
                </p:grpSpPr>
                <p:sp>
                  <p:nvSpPr>
                    <p:cNvPr id="714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3125" y="2981"/>
                      <a:ext cx="17" cy="34"/>
                    </a:xfrm>
                    <a:custGeom>
                      <a:avLst/>
                      <a:gdLst>
                        <a:gd name="T0" fmla="*/ 16 w 17"/>
                        <a:gd name="T1" fmla="*/ 0 h 34"/>
                        <a:gd name="T2" fmla="*/ 0 w 17"/>
                        <a:gd name="T3" fmla="*/ 0 h 34"/>
                        <a:gd name="T4" fmla="*/ 0 w 17"/>
                        <a:gd name="T5" fmla="*/ 33 h 34"/>
                        <a:gd name="T6" fmla="*/ 16 w 17"/>
                        <a:gd name="T7" fmla="*/ 33 h 34"/>
                        <a:gd name="T8" fmla="*/ 16 w 17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34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6" y="3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15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3127" y="2978"/>
                      <a:ext cx="18" cy="35"/>
                    </a:xfrm>
                    <a:custGeom>
                      <a:avLst/>
                      <a:gdLst>
                        <a:gd name="T0" fmla="*/ 17 w 18"/>
                        <a:gd name="T1" fmla="*/ 0 h 35"/>
                        <a:gd name="T2" fmla="*/ 0 w 18"/>
                        <a:gd name="T3" fmla="*/ 0 h 35"/>
                        <a:gd name="T4" fmla="*/ 0 w 18"/>
                        <a:gd name="T5" fmla="*/ 34 h 35"/>
                        <a:gd name="T6" fmla="*/ 17 w 18"/>
                        <a:gd name="T7" fmla="*/ 34 h 35"/>
                        <a:gd name="T8" fmla="*/ 17 w 18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5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4"/>
                          </a:lnTo>
                          <a:lnTo>
                            <a:pt x="17" y="34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6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025" y="2940"/>
                    <a:ext cx="19" cy="31"/>
                    <a:chOff x="3025" y="2940"/>
                    <a:chExt cx="19" cy="31"/>
                  </a:xfrm>
                </p:grpSpPr>
                <p:sp>
                  <p:nvSpPr>
                    <p:cNvPr id="712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3025" y="2944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0 h 27"/>
                        <a:gd name="T2" fmla="*/ 0 w 17"/>
                        <a:gd name="T3" fmla="*/ 0 h 27"/>
                        <a:gd name="T4" fmla="*/ 0 w 17"/>
                        <a:gd name="T5" fmla="*/ 26 h 27"/>
                        <a:gd name="T6" fmla="*/ 16 w 17"/>
                        <a:gd name="T7" fmla="*/ 26 h 27"/>
                        <a:gd name="T8" fmla="*/ 16 w 17"/>
                        <a:gd name="T9" fmla="*/ 0 h 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7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16" y="2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13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3027" y="2940"/>
                      <a:ext cx="17" cy="28"/>
                    </a:xfrm>
                    <a:custGeom>
                      <a:avLst/>
                      <a:gdLst>
                        <a:gd name="T0" fmla="*/ 16 w 17"/>
                        <a:gd name="T1" fmla="*/ 0 h 28"/>
                        <a:gd name="T2" fmla="*/ 0 w 17"/>
                        <a:gd name="T3" fmla="*/ 0 h 28"/>
                        <a:gd name="T4" fmla="*/ 0 w 17"/>
                        <a:gd name="T5" fmla="*/ 27 h 28"/>
                        <a:gd name="T6" fmla="*/ 16 w 17"/>
                        <a:gd name="T7" fmla="*/ 27 h 28"/>
                        <a:gd name="T8" fmla="*/ 16 w 17"/>
                        <a:gd name="T9" fmla="*/ 0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7"/>
                          </a:lnTo>
                          <a:lnTo>
                            <a:pt x="16" y="2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7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161" y="2940"/>
                    <a:ext cx="19" cy="82"/>
                    <a:chOff x="3161" y="2940"/>
                    <a:chExt cx="19" cy="82"/>
                  </a:xfrm>
                </p:grpSpPr>
                <p:sp>
                  <p:nvSpPr>
                    <p:cNvPr id="710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161" y="2944"/>
                      <a:ext cx="18" cy="78"/>
                    </a:xfrm>
                    <a:custGeom>
                      <a:avLst/>
                      <a:gdLst>
                        <a:gd name="T0" fmla="*/ 17 w 18"/>
                        <a:gd name="T1" fmla="*/ 0 h 78"/>
                        <a:gd name="T2" fmla="*/ 0 w 18"/>
                        <a:gd name="T3" fmla="*/ 0 h 78"/>
                        <a:gd name="T4" fmla="*/ 0 w 18"/>
                        <a:gd name="T5" fmla="*/ 77 h 78"/>
                        <a:gd name="T6" fmla="*/ 17 w 18"/>
                        <a:gd name="T7" fmla="*/ 77 h 78"/>
                        <a:gd name="T8" fmla="*/ 17 w 18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8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7" y="7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11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162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8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085" y="2907"/>
                    <a:ext cx="21" cy="21"/>
                    <a:chOff x="3085" y="2907"/>
                    <a:chExt cx="21" cy="21"/>
                  </a:xfrm>
                </p:grpSpPr>
                <p:sp>
                  <p:nvSpPr>
                    <p:cNvPr id="708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3085" y="2911"/>
                      <a:ext cx="20" cy="17"/>
                    </a:xfrm>
                    <a:custGeom>
                      <a:avLst/>
                      <a:gdLst>
                        <a:gd name="T0" fmla="*/ 19 w 20"/>
                        <a:gd name="T1" fmla="*/ 0 h 17"/>
                        <a:gd name="T2" fmla="*/ 0 w 20"/>
                        <a:gd name="T3" fmla="*/ 0 h 17"/>
                        <a:gd name="T4" fmla="*/ 0 w 20"/>
                        <a:gd name="T5" fmla="*/ 16 h 17"/>
                        <a:gd name="T6" fmla="*/ 19 w 20"/>
                        <a:gd name="T7" fmla="*/ 16 h 17"/>
                        <a:gd name="T8" fmla="*/ 19 w 2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" h="17">
                          <a:moveTo>
                            <a:pt x="1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9" y="16"/>
                          </a:lnTo>
                          <a:lnTo>
                            <a:pt x="1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09" name="Freeform 54"/>
                    <p:cNvSpPr>
                      <a:spLocks/>
                    </p:cNvSpPr>
                    <p:nvPr/>
                  </p:nvSpPr>
                  <p:spPr bwMode="auto">
                    <a:xfrm>
                      <a:off x="3087" y="2907"/>
                      <a:ext cx="19" cy="19"/>
                    </a:xfrm>
                    <a:custGeom>
                      <a:avLst/>
                      <a:gdLst>
                        <a:gd name="T0" fmla="*/ 18 w 19"/>
                        <a:gd name="T1" fmla="*/ 0 h 19"/>
                        <a:gd name="T2" fmla="*/ 0 w 19"/>
                        <a:gd name="T3" fmla="*/ 0 h 19"/>
                        <a:gd name="T4" fmla="*/ 0 w 19"/>
                        <a:gd name="T5" fmla="*/ 18 h 19"/>
                        <a:gd name="T6" fmla="*/ 18 w 19"/>
                        <a:gd name="T7" fmla="*/ 18 h 19"/>
                        <a:gd name="T8" fmla="*/ 18 w 19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19">
                          <a:moveTo>
                            <a:pt x="18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18" y="18"/>
                          </a:lnTo>
                          <a:lnTo>
                            <a:pt x="18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699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2904" y="2924"/>
                    <a:ext cx="24" cy="21"/>
                    <a:chOff x="2904" y="2924"/>
                    <a:chExt cx="24" cy="21"/>
                  </a:xfrm>
                </p:grpSpPr>
                <p:sp>
                  <p:nvSpPr>
                    <p:cNvPr id="706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2904" y="2926"/>
                      <a:ext cx="21" cy="19"/>
                    </a:xfrm>
                    <a:custGeom>
                      <a:avLst/>
                      <a:gdLst>
                        <a:gd name="T0" fmla="*/ 20 w 21"/>
                        <a:gd name="T1" fmla="*/ 0 h 19"/>
                        <a:gd name="T2" fmla="*/ 0 w 21"/>
                        <a:gd name="T3" fmla="*/ 0 h 19"/>
                        <a:gd name="T4" fmla="*/ 0 w 21"/>
                        <a:gd name="T5" fmla="*/ 18 h 19"/>
                        <a:gd name="T6" fmla="*/ 20 w 21"/>
                        <a:gd name="T7" fmla="*/ 18 h 19"/>
                        <a:gd name="T8" fmla="*/ 20 w 21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" h="19">
                          <a:moveTo>
                            <a:pt x="20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20" y="1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07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906" y="2924"/>
                      <a:ext cx="22" cy="18"/>
                    </a:xfrm>
                    <a:custGeom>
                      <a:avLst/>
                      <a:gdLst>
                        <a:gd name="T0" fmla="*/ 21 w 22"/>
                        <a:gd name="T1" fmla="*/ 0 h 18"/>
                        <a:gd name="T2" fmla="*/ 0 w 22"/>
                        <a:gd name="T3" fmla="*/ 0 h 18"/>
                        <a:gd name="T4" fmla="*/ 0 w 22"/>
                        <a:gd name="T5" fmla="*/ 17 h 18"/>
                        <a:gd name="T6" fmla="*/ 21 w 22"/>
                        <a:gd name="T7" fmla="*/ 17 h 18"/>
                        <a:gd name="T8" fmla="*/ 21 w 22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1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1" y="17"/>
                          </a:lnTo>
                          <a:lnTo>
                            <a:pt x="21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700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2854" y="2979"/>
                    <a:ext cx="34" cy="20"/>
                    <a:chOff x="2854" y="2979"/>
                    <a:chExt cx="34" cy="20"/>
                  </a:xfrm>
                </p:grpSpPr>
                <p:sp>
                  <p:nvSpPr>
                    <p:cNvPr id="704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2854" y="2982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05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857" y="2979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701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854" y="3003"/>
                    <a:ext cx="34" cy="20"/>
                    <a:chOff x="2854" y="3003"/>
                    <a:chExt cx="34" cy="20"/>
                  </a:xfrm>
                </p:grpSpPr>
                <p:sp>
                  <p:nvSpPr>
                    <p:cNvPr id="702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2854" y="3006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703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2857" y="3003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744" name="Line 68"/>
            <p:cNvSpPr>
              <a:spLocks noChangeShapeType="1"/>
            </p:cNvSpPr>
            <p:nvPr/>
          </p:nvSpPr>
          <p:spPr bwMode="auto">
            <a:xfrm flipH="1" flipV="1">
              <a:off x="2012961" y="4194194"/>
              <a:ext cx="759553" cy="678031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5" name="Line 68"/>
            <p:cNvSpPr>
              <a:spLocks noChangeShapeType="1"/>
            </p:cNvSpPr>
            <p:nvPr/>
          </p:nvSpPr>
          <p:spPr bwMode="auto">
            <a:xfrm flipH="1">
              <a:off x="3217190" y="4218310"/>
              <a:ext cx="963400" cy="340101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46" name="Line 68"/>
            <p:cNvSpPr>
              <a:spLocks noChangeShapeType="1"/>
            </p:cNvSpPr>
            <p:nvPr/>
          </p:nvSpPr>
          <p:spPr bwMode="auto">
            <a:xfrm flipH="1" flipV="1">
              <a:off x="3573713" y="4964409"/>
              <a:ext cx="1006268" cy="55333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grpSp>
          <p:nvGrpSpPr>
            <p:cNvPr id="809" name="组合 808"/>
            <p:cNvGrpSpPr/>
            <p:nvPr/>
          </p:nvGrpSpPr>
          <p:grpSpPr>
            <a:xfrm>
              <a:off x="3940848" y="4732292"/>
              <a:ext cx="1596108" cy="630967"/>
              <a:chOff x="4140071" y="3738193"/>
              <a:chExt cx="1596108" cy="630967"/>
            </a:xfrm>
          </p:grpSpPr>
          <p:sp>
            <p:nvSpPr>
              <p:cNvPr id="810" name="Rectangle 64"/>
              <p:cNvSpPr>
                <a:spLocks noChangeArrowheads="1"/>
              </p:cNvSpPr>
              <p:nvPr/>
            </p:nvSpPr>
            <p:spPr bwMode="auto">
              <a:xfrm>
                <a:off x="4140071" y="3963670"/>
                <a:ext cx="442429" cy="30841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sz="1400" dirty="0">
                    <a:latin typeface="Calibri" panose="020F0502020204030204" pitchFamily="34" charset="0"/>
                    <a:ea typeface="华文楷体" panose="02010600040101010101" pitchFamily="2" charset="-122"/>
                  </a:rPr>
                  <a:t>NIC</a:t>
                </a:r>
              </a:p>
            </p:txBody>
          </p:sp>
          <p:grpSp>
            <p:nvGrpSpPr>
              <p:cNvPr id="811" name="组合 810"/>
              <p:cNvGrpSpPr/>
              <p:nvPr/>
            </p:nvGrpSpPr>
            <p:grpSpPr>
              <a:xfrm>
                <a:off x="4499290" y="3738193"/>
                <a:ext cx="1236889" cy="630967"/>
                <a:chOff x="4499290" y="3738193"/>
                <a:chExt cx="1236889" cy="630967"/>
              </a:xfrm>
            </p:grpSpPr>
            <p:pic>
              <p:nvPicPr>
                <p:cNvPr id="812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922212" y="3738193"/>
                  <a:ext cx="813967" cy="6309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813" name="Group 4"/>
                <p:cNvGrpSpPr>
                  <a:grpSpLocks/>
                </p:cNvGrpSpPr>
                <p:nvPr/>
              </p:nvGrpSpPr>
              <p:grpSpPr bwMode="auto">
                <a:xfrm>
                  <a:off x="4499290" y="3952800"/>
                  <a:ext cx="539455" cy="298449"/>
                  <a:chOff x="2801" y="2891"/>
                  <a:chExt cx="412" cy="210"/>
                </a:xfrm>
              </p:grpSpPr>
              <p:sp>
                <p:nvSpPr>
                  <p:cNvPr id="814" name="Freeform 5"/>
                  <p:cNvSpPr>
                    <a:spLocks/>
                  </p:cNvSpPr>
                  <p:nvPr/>
                </p:nvSpPr>
                <p:spPr bwMode="auto">
                  <a:xfrm>
                    <a:off x="2904" y="3063"/>
                    <a:ext cx="215" cy="27"/>
                  </a:xfrm>
                  <a:custGeom>
                    <a:avLst/>
                    <a:gdLst>
                      <a:gd name="T0" fmla="*/ 214 w 215"/>
                      <a:gd name="T1" fmla="*/ 0 h 27"/>
                      <a:gd name="T2" fmla="*/ 0 w 215"/>
                      <a:gd name="T3" fmla="*/ 0 h 27"/>
                      <a:gd name="T4" fmla="*/ 0 w 215"/>
                      <a:gd name="T5" fmla="*/ 26 h 27"/>
                      <a:gd name="T6" fmla="*/ 214 w 215"/>
                      <a:gd name="T7" fmla="*/ 26 h 27"/>
                      <a:gd name="T8" fmla="*/ 214 w 215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5" h="27">
                        <a:moveTo>
                          <a:pt x="214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214" y="26"/>
                        </a:lnTo>
                        <a:lnTo>
                          <a:pt x="214" y="0"/>
                        </a:lnTo>
                      </a:path>
                    </a:pathLst>
                  </a:custGeom>
                  <a:solidFill>
                    <a:srgbClr val="FFCC33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815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922" y="3067"/>
                    <a:ext cx="189" cy="18"/>
                    <a:chOff x="2922" y="3067"/>
                    <a:chExt cx="189" cy="18"/>
                  </a:xfrm>
                </p:grpSpPr>
                <p:sp>
                  <p:nvSpPr>
                    <p:cNvPr id="857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8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9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86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0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1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2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4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3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35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4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5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6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7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8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69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70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7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71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72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2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816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845" y="2891"/>
                    <a:ext cx="368" cy="172"/>
                  </a:xfrm>
                  <a:prstGeom prst="rect">
                    <a:avLst/>
                  </a:prstGeom>
                  <a:solidFill>
                    <a:srgbClr val="ADD6A5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817" name="Freeform 24"/>
                  <p:cNvSpPr>
                    <a:spLocks/>
                  </p:cNvSpPr>
                  <p:nvPr/>
                </p:nvSpPr>
                <p:spPr bwMode="auto">
                  <a:xfrm>
                    <a:off x="2813" y="2895"/>
                    <a:ext cx="25" cy="206"/>
                  </a:xfrm>
                  <a:custGeom>
                    <a:avLst/>
                    <a:gdLst>
                      <a:gd name="T0" fmla="*/ 0 w 25"/>
                      <a:gd name="T1" fmla="*/ 0 h 206"/>
                      <a:gd name="T2" fmla="*/ 24 w 25"/>
                      <a:gd name="T3" fmla="*/ 0 h 206"/>
                      <a:gd name="T4" fmla="*/ 24 w 25"/>
                      <a:gd name="T5" fmla="*/ 205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" h="206">
                        <a:moveTo>
                          <a:pt x="0" y="0"/>
                        </a:moveTo>
                        <a:lnTo>
                          <a:pt x="24" y="0"/>
                        </a:lnTo>
                        <a:lnTo>
                          <a:pt x="24" y="205"/>
                        </a:lnTo>
                      </a:path>
                    </a:pathLst>
                  </a:custGeom>
                  <a:noFill/>
                  <a:ln w="25399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818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801" y="2935"/>
                    <a:ext cx="32" cy="23"/>
                    <a:chOff x="2801" y="2935"/>
                    <a:chExt cx="32" cy="23"/>
                  </a:xfrm>
                </p:grpSpPr>
                <p:sp>
                  <p:nvSpPr>
                    <p:cNvPr id="855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2801" y="2940"/>
                      <a:ext cx="23" cy="17"/>
                    </a:xfrm>
                    <a:custGeom>
                      <a:avLst/>
                      <a:gdLst>
                        <a:gd name="T0" fmla="*/ 22 w 23"/>
                        <a:gd name="T1" fmla="*/ 0 h 17"/>
                        <a:gd name="T2" fmla="*/ 0 w 23"/>
                        <a:gd name="T3" fmla="*/ 0 h 17"/>
                        <a:gd name="T4" fmla="*/ 0 w 23"/>
                        <a:gd name="T5" fmla="*/ 16 h 17"/>
                        <a:gd name="T6" fmla="*/ 22 w 23"/>
                        <a:gd name="T7" fmla="*/ 16 h 17"/>
                        <a:gd name="T8" fmla="*/ 22 w 23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17">
                          <a:moveTo>
                            <a:pt x="22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2" y="16"/>
                          </a:lnTo>
                          <a:lnTo>
                            <a:pt x="22" y="0"/>
                          </a:lnTo>
                        </a:path>
                      </a:pathLst>
                    </a:custGeom>
                    <a:solidFill>
                      <a:srgbClr val="E9E7D1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6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816" y="2935"/>
                      <a:ext cx="17" cy="23"/>
                    </a:xfrm>
                    <a:custGeom>
                      <a:avLst/>
                      <a:gdLst>
                        <a:gd name="T0" fmla="*/ 16 w 17"/>
                        <a:gd name="T1" fmla="*/ 0 h 23"/>
                        <a:gd name="T2" fmla="*/ 0 w 17"/>
                        <a:gd name="T3" fmla="*/ 0 h 23"/>
                        <a:gd name="T4" fmla="*/ 0 w 17"/>
                        <a:gd name="T5" fmla="*/ 22 h 23"/>
                        <a:gd name="T6" fmla="*/ 16 w 17"/>
                        <a:gd name="T7" fmla="*/ 22 h 23"/>
                        <a:gd name="T8" fmla="*/ 16 w 17"/>
                        <a:gd name="T9" fmla="*/ 0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3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2"/>
                          </a:lnTo>
                          <a:lnTo>
                            <a:pt x="16" y="22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52493E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19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048" y="2940"/>
                    <a:ext cx="62" cy="54"/>
                    <a:chOff x="3048" y="2940"/>
                    <a:chExt cx="62" cy="54"/>
                  </a:xfrm>
                </p:grpSpPr>
                <p:sp>
                  <p:nvSpPr>
                    <p:cNvPr id="853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3048" y="2944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4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3050" y="2940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0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2939" y="2989"/>
                    <a:ext cx="79" cy="70"/>
                    <a:chOff x="2939" y="2989"/>
                    <a:chExt cx="79" cy="70"/>
                  </a:xfrm>
                </p:grpSpPr>
                <p:sp>
                  <p:nvSpPr>
                    <p:cNvPr id="851" name="Freeform 32"/>
                    <p:cNvSpPr>
                      <a:spLocks/>
                    </p:cNvSpPr>
                    <p:nvPr/>
                  </p:nvSpPr>
                  <p:spPr bwMode="auto">
                    <a:xfrm>
                      <a:off x="2939" y="2993"/>
                      <a:ext cx="76" cy="66"/>
                    </a:xfrm>
                    <a:custGeom>
                      <a:avLst/>
                      <a:gdLst>
                        <a:gd name="T0" fmla="*/ 75 w 76"/>
                        <a:gd name="T1" fmla="*/ 0 h 66"/>
                        <a:gd name="T2" fmla="*/ 0 w 76"/>
                        <a:gd name="T3" fmla="*/ 0 h 66"/>
                        <a:gd name="T4" fmla="*/ 0 w 76"/>
                        <a:gd name="T5" fmla="*/ 65 h 66"/>
                        <a:gd name="T6" fmla="*/ 75 w 76"/>
                        <a:gd name="T7" fmla="*/ 65 h 66"/>
                        <a:gd name="T8" fmla="*/ 75 w 76"/>
                        <a:gd name="T9" fmla="*/ 0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6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5"/>
                          </a:lnTo>
                          <a:lnTo>
                            <a:pt x="75" y="65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2" name="Freeform 33"/>
                    <p:cNvSpPr>
                      <a:spLocks/>
                    </p:cNvSpPr>
                    <p:nvPr/>
                  </p:nvSpPr>
                  <p:spPr bwMode="auto">
                    <a:xfrm>
                      <a:off x="2942" y="2989"/>
                      <a:ext cx="76" cy="67"/>
                    </a:xfrm>
                    <a:custGeom>
                      <a:avLst/>
                      <a:gdLst>
                        <a:gd name="T0" fmla="*/ 75 w 76"/>
                        <a:gd name="T1" fmla="*/ 0 h 67"/>
                        <a:gd name="T2" fmla="*/ 0 w 76"/>
                        <a:gd name="T3" fmla="*/ 0 h 67"/>
                        <a:gd name="T4" fmla="*/ 0 w 76"/>
                        <a:gd name="T5" fmla="*/ 66 h 67"/>
                        <a:gd name="T6" fmla="*/ 75 w 76"/>
                        <a:gd name="T7" fmla="*/ 66 h 67"/>
                        <a:gd name="T8" fmla="*/ 75 w 76"/>
                        <a:gd name="T9" fmla="*/ 0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7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6"/>
                          </a:lnTo>
                          <a:lnTo>
                            <a:pt x="75" y="66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1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186" y="2940"/>
                    <a:ext cx="20" cy="82"/>
                    <a:chOff x="3186" y="2940"/>
                    <a:chExt cx="20" cy="82"/>
                  </a:xfrm>
                </p:grpSpPr>
                <p:sp>
                  <p:nvSpPr>
                    <p:cNvPr id="849" name="Freeform 35"/>
                    <p:cNvSpPr>
                      <a:spLocks/>
                    </p:cNvSpPr>
                    <p:nvPr/>
                  </p:nvSpPr>
                  <p:spPr bwMode="auto">
                    <a:xfrm>
                      <a:off x="3186" y="2944"/>
                      <a:ext cx="17" cy="78"/>
                    </a:xfrm>
                    <a:custGeom>
                      <a:avLst/>
                      <a:gdLst>
                        <a:gd name="T0" fmla="*/ 16 w 17"/>
                        <a:gd name="T1" fmla="*/ 0 h 78"/>
                        <a:gd name="T2" fmla="*/ 0 w 17"/>
                        <a:gd name="T3" fmla="*/ 0 h 78"/>
                        <a:gd name="T4" fmla="*/ 0 w 17"/>
                        <a:gd name="T5" fmla="*/ 77 h 78"/>
                        <a:gd name="T6" fmla="*/ 16 w 17"/>
                        <a:gd name="T7" fmla="*/ 77 h 78"/>
                        <a:gd name="T8" fmla="*/ 16 w 17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6" y="7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50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3188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2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168" y="3028"/>
                    <a:ext cx="28" cy="21"/>
                    <a:chOff x="3168" y="3028"/>
                    <a:chExt cx="28" cy="21"/>
                  </a:xfrm>
                </p:grpSpPr>
                <p:sp>
                  <p:nvSpPr>
                    <p:cNvPr id="847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3168" y="3032"/>
                      <a:ext cx="26" cy="17"/>
                    </a:xfrm>
                    <a:custGeom>
                      <a:avLst/>
                      <a:gdLst>
                        <a:gd name="T0" fmla="*/ 25 w 26"/>
                        <a:gd name="T1" fmla="*/ 0 h 17"/>
                        <a:gd name="T2" fmla="*/ 0 w 26"/>
                        <a:gd name="T3" fmla="*/ 0 h 17"/>
                        <a:gd name="T4" fmla="*/ 0 w 26"/>
                        <a:gd name="T5" fmla="*/ 16 h 17"/>
                        <a:gd name="T6" fmla="*/ 25 w 26"/>
                        <a:gd name="T7" fmla="*/ 16 h 17"/>
                        <a:gd name="T8" fmla="*/ 25 w 26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7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5" y="16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48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3170" y="3028"/>
                      <a:ext cx="26" cy="18"/>
                    </a:xfrm>
                    <a:custGeom>
                      <a:avLst/>
                      <a:gdLst>
                        <a:gd name="T0" fmla="*/ 25 w 26"/>
                        <a:gd name="T1" fmla="*/ 0 h 18"/>
                        <a:gd name="T2" fmla="*/ 0 w 26"/>
                        <a:gd name="T3" fmla="*/ 0 h 18"/>
                        <a:gd name="T4" fmla="*/ 0 w 26"/>
                        <a:gd name="T5" fmla="*/ 17 h 18"/>
                        <a:gd name="T6" fmla="*/ 25 w 26"/>
                        <a:gd name="T7" fmla="*/ 17 h 18"/>
                        <a:gd name="T8" fmla="*/ 25 w 26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8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5" y="17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3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126" y="2942"/>
                    <a:ext cx="20" cy="37"/>
                    <a:chOff x="3126" y="2942"/>
                    <a:chExt cx="20" cy="37"/>
                  </a:xfrm>
                </p:grpSpPr>
                <p:sp>
                  <p:nvSpPr>
                    <p:cNvPr id="845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3126" y="2945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46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3128" y="2942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4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125" y="2978"/>
                    <a:ext cx="20" cy="37"/>
                    <a:chOff x="3125" y="2978"/>
                    <a:chExt cx="20" cy="37"/>
                  </a:xfrm>
                </p:grpSpPr>
                <p:sp>
                  <p:nvSpPr>
                    <p:cNvPr id="843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3125" y="2981"/>
                      <a:ext cx="17" cy="34"/>
                    </a:xfrm>
                    <a:custGeom>
                      <a:avLst/>
                      <a:gdLst>
                        <a:gd name="T0" fmla="*/ 16 w 17"/>
                        <a:gd name="T1" fmla="*/ 0 h 34"/>
                        <a:gd name="T2" fmla="*/ 0 w 17"/>
                        <a:gd name="T3" fmla="*/ 0 h 34"/>
                        <a:gd name="T4" fmla="*/ 0 w 17"/>
                        <a:gd name="T5" fmla="*/ 33 h 34"/>
                        <a:gd name="T6" fmla="*/ 16 w 17"/>
                        <a:gd name="T7" fmla="*/ 33 h 34"/>
                        <a:gd name="T8" fmla="*/ 16 w 17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34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6" y="3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44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3127" y="2978"/>
                      <a:ext cx="18" cy="35"/>
                    </a:xfrm>
                    <a:custGeom>
                      <a:avLst/>
                      <a:gdLst>
                        <a:gd name="T0" fmla="*/ 17 w 18"/>
                        <a:gd name="T1" fmla="*/ 0 h 35"/>
                        <a:gd name="T2" fmla="*/ 0 w 18"/>
                        <a:gd name="T3" fmla="*/ 0 h 35"/>
                        <a:gd name="T4" fmla="*/ 0 w 18"/>
                        <a:gd name="T5" fmla="*/ 34 h 35"/>
                        <a:gd name="T6" fmla="*/ 17 w 18"/>
                        <a:gd name="T7" fmla="*/ 34 h 35"/>
                        <a:gd name="T8" fmla="*/ 17 w 18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5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4"/>
                          </a:lnTo>
                          <a:lnTo>
                            <a:pt x="17" y="34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5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025" y="2940"/>
                    <a:ext cx="19" cy="31"/>
                    <a:chOff x="3025" y="2940"/>
                    <a:chExt cx="19" cy="31"/>
                  </a:xfrm>
                </p:grpSpPr>
                <p:sp>
                  <p:nvSpPr>
                    <p:cNvPr id="841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3025" y="2944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0 h 27"/>
                        <a:gd name="T2" fmla="*/ 0 w 17"/>
                        <a:gd name="T3" fmla="*/ 0 h 27"/>
                        <a:gd name="T4" fmla="*/ 0 w 17"/>
                        <a:gd name="T5" fmla="*/ 26 h 27"/>
                        <a:gd name="T6" fmla="*/ 16 w 17"/>
                        <a:gd name="T7" fmla="*/ 26 h 27"/>
                        <a:gd name="T8" fmla="*/ 16 w 17"/>
                        <a:gd name="T9" fmla="*/ 0 h 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7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16" y="2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42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3027" y="2940"/>
                      <a:ext cx="17" cy="28"/>
                    </a:xfrm>
                    <a:custGeom>
                      <a:avLst/>
                      <a:gdLst>
                        <a:gd name="T0" fmla="*/ 16 w 17"/>
                        <a:gd name="T1" fmla="*/ 0 h 28"/>
                        <a:gd name="T2" fmla="*/ 0 w 17"/>
                        <a:gd name="T3" fmla="*/ 0 h 28"/>
                        <a:gd name="T4" fmla="*/ 0 w 17"/>
                        <a:gd name="T5" fmla="*/ 27 h 28"/>
                        <a:gd name="T6" fmla="*/ 16 w 17"/>
                        <a:gd name="T7" fmla="*/ 27 h 28"/>
                        <a:gd name="T8" fmla="*/ 16 w 17"/>
                        <a:gd name="T9" fmla="*/ 0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7"/>
                          </a:lnTo>
                          <a:lnTo>
                            <a:pt x="16" y="2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6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161" y="2940"/>
                    <a:ext cx="19" cy="82"/>
                    <a:chOff x="3161" y="2940"/>
                    <a:chExt cx="19" cy="82"/>
                  </a:xfrm>
                </p:grpSpPr>
                <p:sp>
                  <p:nvSpPr>
                    <p:cNvPr id="839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161" y="2944"/>
                      <a:ext cx="18" cy="78"/>
                    </a:xfrm>
                    <a:custGeom>
                      <a:avLst/>
                      <a:gdLst>
                        <a:gd name="T0" fmla="*/ 17 w 18"/>
                        <a:gd name="T1" fmla="*/ 0 h 78"/>
                        <a:gd name="T2" fmla="*/ 0 w 18"/>
                        <a:gd name="T3" fmla="*/ 0 h 78"/>
                        <a:gd name="T4" fmla="*/ 0 w 18"/>
                        <a:gd name="T5" fmla="*/ 77 h 78"/>
                        <a:gd name="T6" fmla="*/ 17 w 18"/>
                        <a:gd name="T7" fmla="*/ 77 h 78"/>
                        <a:gd name="T8" fmla="*/ 17 w 18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8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7" y="7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40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162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7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085" y="2907"/>
                    <a:ext cx="21" cy="21"/>
                    <a:chOff x="3085" y="2907"/>
                    <a:chExt cx="21" cy="21"/>
                  </a:xfrm>
                </p:grpSpPr>
                <p:sp>
                  <p:nvSpPr>
                    <p:cNvPr id="837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3085" y="2911"/>
                      <a:ext cx="20" cy="17"/>
                    </a:xfrm>
                    <a:custGeom>
                      <a:avLst/>
                      <a:gdLst>
                        <a:gd name="T0" fmla="*/ 19 w 20"/>
                        <a:gd name="T1" fmla="*/ 0 h 17"/>
                        <a:gd name="T2" fmla="*/ 0 w 20"/>
                        <a:gd name="T3" fmla="*/ 0 h 17"/>
                        <a:gd name="T4" fmla="*/ 0 w 20"/>
                        <a:gd name="T5" fmla="*/ 16 h 17"/>
                        <a:gd name="T6" fmla="*/ 19 w 20"/>
                        <a:gd name="T7" fmla="*/ 16 h 17"/>
                        <a:gd name="T8" fmla="*/ 19 w 2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" h="17">
                          <a:moveTo>
                            <a:pt x="1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9" y="16"/>
                          </a:lnTo>
                          <a:lnTo>
                            <a:pt x="1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38" name="Freeform 54"/>
                    <p:cNvSpPr>
                      <a:spLocks/>
                    </p:cNvSpPr>
                    <p:nvPr/>
                  </p:nvSpPr>
                  <p:spPr bwMode="auto">
                    <a:xfrm>
                      <a:off x="3087" y="2907"/>
                      <a:ext cx="19" cy="19"/>
                    </a:xfrm>
                    <a:custGeom>
                      <a:avLst/>
                      <a:gdLst>
                        <a:gd name="T0" fmla="*/ 18 w 19"/>
                        <a:gd name="T1" fmla="*/ 0 h 19"/>
                        <a:gd name="T2" fmla="*/ 0 w 19"/>
                        <a:gd name="T3" fmla="*/ 0 h 19"/>
                        <a:gd name="T4" fmla="*/ 0 w 19"/>
                        <a:gd name="T5" fmla="*/ 18 h 19"/>
                        <a:gd name="T6" fmla="*/ 18 w 19"/>
                        <a:gd name="T7" fmla="*/ 18 h 19"/>
                        <a:gd name="T8" fmla="*/ 18 w 19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19">
                          <a:moveTo>
                            <a:pt x="18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18" y="18"/>
                          </a:lnTo>
                          <a:lnTo>
                            <a:pt x="18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8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2904" y="2924"/>
                    <a:ext cx="24" cy="21"/>
                    <a:chOff x="2904" y="2924"/>
                    <a:chExt cx="24" cy="21"/>
                  </a:xfrm>
                </p:grpSpPr>
                <p:sp>
                  <p:nvSpPr>
                    <p:cNvPr id="835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2904" y="2926"/>
                      <a:ext cx="21" cy="19"/>
                    </a:xfrm>
                    <a:custGeom>
                      <a:avLst/>
                      <a:gdLst>
                        <a:gd name="T0" fmla="*/ 20 w 21"/>
                        <a:gd name="T1" fmla="*/ 0 h 19"/>
                        <a:gd name="T2" fmla="*/ 0 w 21"/>
                        <a:gd name="T3" fmla="*/ 0 h 19"/>
                        <a:gd name="T4" fmla="*/ 0 w 21"/>
                        <a:gd name="T5" fmla="*/ 18 h 19"/>
                        <a:gd name="T6" fmla="*/ 20 w 21"/>
                        <a:gd name="T7" fmla="*/ 18 h 19"/>
                        <a:gd name="T8" fmla="*/ 20 w 21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" h="19">
                          <a:moveTo>
                            <a:pt x="20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20" y="1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36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906" y="2924"/>
                      <a:ext cx="22" cy="18"/>
                    </a:xfrm>
                    <a:custGeom>
                      <a:avLst/>
                      <a:gdLst>
                        <a:gd name="T0" fmla="*/ 21 w 22"/>
                        <a:gd name="T1" fmla="*/ 0 h 18"/>
                        <a:gd name="T2" fmla="*/ 0 w 22"/>
                        <a:gd name="T3" fmla="*/ 0 h 18"/>
                        <a:gd name="T4" fmla="*/ 0 w 22"/>
                        <a:gd name="T5" fmla="*/ 17 h 18"/>
                        <a:gd name="T6" fmla="*/ 21 w 22"/>
                        <a:gd name="T7" fmla="*/ 17 h 18"/>
                        <a:gd name="T8" fmla="*/ 21 w 22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1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1" y="17"/>
                          </a:lnTo>
                          <a:lnTo>
                            <a:pt x="21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29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2854" y="2979"/>
                    <a:ext cx="34" cy="20"/>
                    <a:chOff x="2854" y="2979"/>
                    <a:chExt cx="34" cy="20"/>
                  </a:xfrm>
                </p:grpSpPr>
                <p:sp>
                  <p:nvSpPr>
                    <p:cNvPr id="833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2854" y="2982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34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857" y="2979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830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854" y="3003"/>
                    <a:ext cx="34" cy="20"/>
                    <a:chOff x="2854" y="3003"/>
                    <a:chExt cx="34" cy="20"/>
                  </a:xfrm>
                </p:grpSpPr>
                <p:sp>
                  <p:nvSpPr>
                    <p:cNvPr id="831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2854" y="3006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832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2857" y="3003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</p:grpSp>
          </p:grpSp>
        </p:grpSp>
        <p:sp>
          <p:nvSpPr>
            <p:cNvPr id="873" name="Line 68"/>
            <p:cNvSpPr>
              <a:spLocks noChangeShapeType="1"/>
            </p:cNvSpPr>
            <p:nvPr/>
          </p:nvSpPr>
          <p:spPr bwMode="auto">
            <a:xfrm flipH="1" flipV="1">
              <a:off x="3235844" y="5078569"/>
              <a:ext cx="506187" cy="830273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74" name="Line 68"/>
            <p:cNvSpPr>
              <a:spLocks noChangeShapeType="1"/>
            </p:cNvSpPr>
            <p:nvPr/>
          </p:nvSpPr>
          <p:spPr bwMode="auto">
            <a:xfrm flipV="1">
              <a:off x="2156195" y="4891932"/>
              <a:ext cx="780940" cy="999972"/>
            </a:xfrm>
            <a:prstGeom prst="line">
              <a:avLst/>
            </a:prstGeom>
            <a:noFill/>
            <a:ln w="25399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32" name="Rectangle 192"/>
            <p:cNvSpPr>
              <a:spLocks noChangeArrowheads="1"/>
            </p:cNvSpPr>
            <p:nvPr/>
          </p:nvSpPr>
          <p:spPr bwMode="auto">
            <a:xfrm>
              <a:off x="667865" y="5245302"/>
              <a:ext cx="863681" cy="585418"/>
            </a:xfrm>
            <a:prstGeom prst="rect">
              <a:avLst/>
            </a:prstGeom>
            <a:solidFill>
              <a:srgbClr val="F2F2F8"/>
            </a:solidFill>
            <a:ln>
              <a:noFill/>
            </a:ln>
            <a:effectLst/>
          </p:spPr>
          <p:txBody>
            <a:bodyPr wrap="square" lIns="0" tIns="46038" rIns="0" bIns="46038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/>
              <a:r>
                <a:rPr kumimoji="1" lang="zh-CN" altLang="en-US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最大长度 </a:t>
              </a:r>
              <a:r>
                <a:rPr kumimoji="1" lang="en-US" altLang="zh-CN" sz="1600" dirty="0">
                  <a:latin typeface="Calibri" panose="020F0502020204030204" pitchFamily="34" charset="0"/>
                  <a:ea typeface="华文楷体" panose="02010600040101010101" pitchFamily="2" charset="-122"/>
                </a:rPr>
                <a:t>100m</a:t>
              </a: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5452955" y="3895993"/>
            <a:ext cx="3393095" cy="2854145"/>
            <a:chOff x="5452955" y="3731103"/>
            <a:chExt cx="3393095" cy="2854145"/>
          </a:xfrm>
        </p:grpSpPr>
        <p:grpSp>
          <p:nvGrpSpPr>
            <p:cNvPr id="9" name="组合 8"/>
            <p:cNvGrpSpPr/>
            <p:nvPr/>
          </p:nvGrpSpPr>
          <p:grpSpPr>
            <a:xfrm>
              <a:off x="5452955" y="3731103"/>
              <a:ext cx="3393095" cy="2467637"/>
              <a:chOff x="5491074" y="3412830"/>
              <a:chExt cx="3393095" cy="2467637"/>
            </a:xfrm>
          </p:grpSpPr>
          <p:grpSp>
            <p:nvGrpSpPr>
              <p:cNvPr id="880" name="Group 6"/>
              <p:cNvGrpSpPr>
                <a:grpSpLocks/>
              </p:cNvGrpSpPr>
              <p:nvPr/>
            </p:nvGrpSpPr>
            <p:grpSpPr bwMode="auto">
              <a:xfrm rot="18501533">
                <a:off x="5875313" y="4636083"/>
                <a:ext cx="585369" cy="52026"/>
                <a:chOff x="1548" y="1476"/>
                <a:chExt cx="1338" cy="120"/>
              </a:xfrm>
            </p:grpSpPr>
            <p:sp>
              <p:nvSpPr>
                <p:cNvPr id="928" name="Freeform 7"/>
                <p:cNvSpPr>
                  <a:spLocks/>
                </p:cNvSpPr>
                <p:nvPr/>
              </p:nvSpPr>
              <p:spPr bwMode="auto">
                <a:xfrm>
                  <a:off x="1559" y="1433"/>
                  <a:ext cx="1330" cy="114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4 w 1331"/>
                    <a:gd name="T13" fmla="*/ 97 h 112"/>
                    <a:gd name="T14" fmla="*/ 1036 w 1331"/>
                    <a:gd name="T15" fmla="*/ 1 h 112"/>
                    <a:gd name="T16" fmla="*/ 1234 w 1331"/>
                    <a:gd name="T17" fmla="*/ 100 h 112"/>
                    <a:gd name="T18" fmla="*/ 1330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29" name="Freeform 8"/>
                <p:cNvSpPr>
                  <a:spLocks/>
                </p:cNvSpPr>
                <p:nvPr/>
              </p:nvSpPr>
              <p:spPr bwMode="auto">
                <a:xfrm flipV="1">
                  <a:off x="1538" y="1433"/>
                  <a:ext cx="1330" cy="118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4 w 1331"/>
                    <a:gd name="T13" fmla="*/ 97 h 112"/>
                    <a:gd name="T14" fmla="*/ 1036 w 1331"/>
                    <a:gd name="T15" fmla="*/ 1 h 112"/>
                    <a:gd name="T16" fmla="*/ 1234 w 1331"/>
                    <a:gd name="T17" fmla="*/ 100 h 112"/>
                    <a:gd name="T18" fmla="*/ 1330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882" name="Rectangle 15"/>
              <p:cNvSpPr>
                <a:spLocks noChangeArrowheads="1"/>
              </p:cNvSpPr>
              <p:nvPr/>
            </p:nvSpPr>
            <p:spPr bwMode="auto">
              <a:xfrm>
                <a:off x="5608490" y="3739934"/>
                <a:ext cx="3168109" cy="698320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>
                <a:outerShdw dist="28398" dir="3806097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3" name="AutoShape 16"/>
              <p:cNvSpPr>
                <a:spLocks noChangeArrowheads="1"/>
              </p:cNvSpPr>
              <p:nvPr/>
            </p:nvSpPr>
            <p:spPr bwMode="auto">
              <a:xfrm>
                <a:off x="6034738" y="4246979"/>
                <a:ext cx="254654" cy="182206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4" name="AutoShape 17"/>
              <p:cNvSpPr>
                <a:spLocks noChangeArrowheads="1"/>
              </p:cNvSpPr>
              <p:nvPr/>
            </p:nvSpPr>
            <p:spPr bwMode="auto">
              <a:xfrm>
                <a:off x="7861124" y="4248628"/>
                <a:ext cx="256479" cy="183031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5" name="AutoShape 18"/>
              <p:cNvSpPr>
                <a:spLocks noChangeArrowheads="1"/>
              </p:cNvSpPr>
              <p:nvPr/>
            </p:nvSpPr>
            <p:spPr bwMode="auto">
              <a:xfrm>
                <a:off x="6902751" y="4246979"/>
                <a:ext cx="256479" cy="182206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6" name="AutoShape 19"/>
              <p:cNvSpPr>
                <a:spLocks noChangeArrowheads="1"/>
              </p:cNvSpPr>
              <p:nvPr/>
            </p:nvSpPr>
            <p:spPr bwMode="auto">
              <a:xfrm rot="10800000" flipH="1">
                <a:off x="8120341" y="4248628"/>
                <a:ext cx="254654" cy="183031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7" name="AutoShape 20"/>
              <p:cNvSpPr>
                <a:spLocks noChangeArrowheads="1"/>
              </p:cNvSpPr>
              <p:nvPr/>
            </p:nvSpPr>
            <p:spPr bwMode="auto">
              <a:xfrm rot="10800000" flipH="1">
                <a:off x="6285741" y="4246979"/>
                <a:ext cx="255566" cy="182206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8" name="AutoShape 21"/>
              <p:cNvSpPr>
                <a:spLocks noChangeArrowheads="1"/>
              </p:cNvSpPr>
              <p:nvPr/>
            </p:nvSpPr>
            <p:spPr bwMode="auto">
              <a:xfrm rot="10800000" flipH="1">
                <a:off x="7165619" y="4256048"/>
                <a:ext cx="256479" cy="181382"/>
              </a:xfrm>
              <a:prstGeom prst="triangle">
                <a:avLst>
                  <a:gd name="adj" fmla="val 49995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89" name="Freeform 22"/>
              <p:cNvSpPr>
                <a:spLocks/>
              </p:cNvSpPr>
              <p:nvPr/>
            </p:nvSpPr>
            <p:spPr bwMode="auto">
              <a:xfrm>
                <a:off x="6479241" y="4077964"/>
                <a:ext cx="1515143" cy="169015"/>
              </a:xfrm>
              <a:custGeom>
                <a:avLst/>
                <a:gdLst>
                  <a:gd name="T0" fmla="*/ 2147483647 w 1375"/>
                  <a:gd name="T1" fmla="*/ 2147483647 h 187"/>
                  <a:gd name="T2" fmla="*/ 2147483647 w 1375"/>
                  <a:gd name="T3" fmla="*/ 0 h 187"/>
                  <a:gd name="T4" fmla="*/ 0 w 1375"/>
                  <a:gd name="T5" fmla="*/ 0 h 187"/>
                  <a:gd name="T6" fmla="*/ 0 w 1375"/>
                  <a:gd name="T7" fmla="*/ 2147483647 h 18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375"/>
                  <a:gd name="T13" fmla="*/ 0 h 187"/>
                  <a:gd name="T14" fmla="*/ 1375 w 1375"/>
                  <a:gd name="T15" fmla="*/ 187 h 18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375" h="187">
                    <a:moveTo>
                      <a:pt x="1374" y="186"/>
                    </a:moveTo>
                    <a:lnTo>
                      <a:pt x="1374" y="0"/>
                    </a:lnTo>
                    <a:lnTo>
                      <a:pt x="0" y="0"/>
                    </a:lnTo>
                    <a:lnTo>
                      <a:pt x="0" y="186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0" name="Freeform 23"/>
              <p:cNvSpPr>
                <a:spLocks/>
              </p:cNvSpPr>
              <p:nvPr/>
            </p:nvSpPr>
            <p:spPr bwMode="auto">
              <a:xfrm>
                <a:off x="7027796" y="3953470"/>
                <a:ext cx="1167390" cy="304227"/>
              </a:xfrm>
              <a:custGeom>
                <a:avLst/>
                <a:gdLst>
                  <a:gd name="T0" fmla="*/ 0 w 1060"/>
                  <a:gd name="T1" fmla="*/ 2147483647 h 337"/>
                  <a:gd name="T2" fmla="*/ 0 w 1060"/>
                  <a:gd name="T3" fmla="*/ 0 h 337"/>
                  <a:gd name="T4" fmla="*/ 2147483647 w 1060"/>
                  <a:gd name="T5" fmla="*/ 0 h 337"/>
                  <a:gd name="T6" fmla="*/ 2147483647 w 1060"/>
                  <a:gd name="T7" fmla="*/ 2147483647 h 3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60"/>
                  <a:gd name="T13" fmla="*/ 0 h 337"/>
                  <a:gd name="T14" fmla="*/ 1060 w 1060"/>
                  <a:gd name="T15" fmla="*/ 337 h 3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60" h="337">
                    <a:moveTo>
                      <a:pt x="0" y="336"/>
                    </a:moveTo>
                    <a:lnTo>
                      <a:pt x="0" y="0"/>
                    </a:lnTo>
                    <a:lnTo>
                      <a:pt x="1059" y="0"/>
                    </a:lnTo>
                    <a:lnTo>
                      <a:pt x="1059" y="33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1" name="Freeform 24"/>
              <p:cNvSpPr>
                <a:spLocks/>
              </p:cNvSpPr>
              <p:nvPr/>
            </p:nvSpPr>
            <p:spPr bwMode="auto">
              <a:xfrm>
                <a:off x="6374276" y="3953470"/>
                <a:ext cx="655345" cy="299280"/>
              </a:xfrm>
              <a:custGeom>
                <a:avLst/>
                <a:gdLst>
                  <a:gd name="T0" fmla="*/ 2147483647 w 595"/>
                  <a:gd name="T1" fmla="*/ 0 h 331"/>
                  <a:gd name="T2" fmla="*/ 0 w 595"/>
                  <a:gd name="T3" fmla="*/ 0 h 331"/>
                  <a:gd name="T4" fmla="*/ 0 w 595"/>
                  <a:gd name="T5" fmla="*/ 2147483647 h 331"/>
                  <a:gd name="T6" fmla="*/ 0 60000 65536"/>
                  <a:gd name="T7" fmla="*/ 0 60000 65536"/>
                  <a:gd name="T8" fmla="*/ 0 60000 65536"/>
                  <a:gd name="T9" fmla="*/ 0 w 595"/>
                  <a:gd name="T10" fmla="*/ 0 h 331"/>
                  <a:gd name="T11" fmla="*/ 595 w 595"/>
                  <a:gd name="T12" fmla="*/ 331 h 3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5" h="331">
                    <a:moveTo>
                      <a:pt x="594" y="0"/>
                    </a:moveTo>
                    <a:lnTo>
                      <a:pt x="0" y="0"/>
                    </a:lnTo>
                    <a:lnTo>
                      <a:pt x="0" y="33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2" name="Freeform 25"/>
              <p:cNvSpPr>
                <a:spLocks/>
              </p:cNvSpPr>
              <p:nvPr/>
            </p:nvSpPr>
            <p:spPr bwMode="auto">
              <a:xfrm>
                <a:off x="6162521" y="3845465"/>
                <a:ext cx="2148582" cy="412231"/>
              </a:xfrm>
              <a:custGeom>
                <a:avLst/>
                <a:gdLst>
                  <a:gd name="T0" fmla="*/ 0 w 1951"/>
                  <a:gd name="T1" fmla="*/ 2147483647 h 457"/>
                  <a:gd name="T2" fmla="*/ 0 w 1951"/>
                  <a:gd name="T3" fmla="*/ 0 h 457"/>
                  <a:gd name="T4" fmla="*/ 2147483647 w 1951"/>
                  <a:gd name="T5" fmla="*/ 0 h 457"/>
                  <a:gd name="T6" fmla="*/ 2147483647 w 1951"/>
                  <a:gd name="T7" fmla="*/ 2147483647 h 457"/>
                  <a:gd name="T8" fmla="*/ 2147483647 w 1951"/>
                  <a:gd name="T9" fmla="*/ 2147483647 h 45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51"/>
                  <a:gd name="T16" fmla="*/ 0 h 457"/>
                  <a:gd name="T17" fmla="*/ 1951 w 1951"/>
                  <a:gd name="T18" fmla="*/ 457 h 45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51" h="457">
                    <a:moveTo>
                      <a:pt x="0" y="456"/>
                    </a:moveTo>
                    <a:lnTo>
                      <a:pt x="0" y="0"/>
                    </a:lnTo>
                    <a:lnTo>
                      <a:pt x="1950" y="0"/>
                    </a:lnTo>
                    <a:lnTo>
                      <a:pt x="1950" y="450"/>
                    </a:lnTo>
                  </a:path>
                </a:pathLst>
              </a:custGeom>
              <a:noFill/>
              <a:ln w="12700" cap="rnd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</p:spPr>
            <p:txBody>
              <a:bodyPr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3" name="Line 26"/>
              <p:cNvSpPr>
                <a:spLocks noChangeShapeType="1"/>
              </p:cNvSpPr>
              <p:nvPr/>
            </p:nvSpPr>
            <p:spPr bwMode="auto">
              <a:xfrm>
                <a:off x="7339039" y="4081262"/>
                <a:ext cx="0" cy="1772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med"/>
                <a:tailEnd type="triangle" w="sm" len="med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4" name="Line 27"/>
              <p:cNvSpPr>
                <a:spLocks noChangeShapeType="1"/>
              </p:cNvSpPr>
              <p:nvPr/>
            </p:nvSpPr>
            <p:spPr bwMode="auto">
              <a:xfrm>
                <a:off x="7246852" y="3854534"/>
                <a:ext cx="0" cy="40893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sm" len="med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896" name="Oval 44"/>
              <p:cNvSpPr>
                <a:spLocks noChangeArrowheads="1"/>
              </p:cNvSpPr>
              <p:nvPr/>
            </p:nvSpPr>
            <p:spPr bwMode="auto">
              <a:xfrm>
                <a:off x="6999501" y="3930385"/>
                <a:ext cx="50201" cy="4122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97" name="Oval 45"/>
              <p:cNvSpPr>
                <a:spLocks noChangeArrowheads="1"/>
              </p:cNvSpPr>
              <p:nvPr/>
            </p:nvSpPr>
            <p:spPr bwMode="auto">
              <a:xfrm>
                <a:off x="7224034" y="3827327"/>
                <a:ext cx="51113" cy="4122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98" name="Oval 46"/>
              <p:cNvSpPr>
                <a:spLocks noChangeArrowheads="1"/>
              </p:cNvSpPr>
              <p:nvPr/>
            </p:nvSpPr>
            <p:spPr bwMode="auto">
              <a:xfrm>
                <a:off x="7316220" y="4054879"/>
                <a:ext cx="51113" cy="41223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solidFill>
                    <a:srgbClr val="000099"/>
                  </a:solidFill>
                  <a:latin typeface="+mn-ea"/>
                  <a:ea typeface="+mn-ea"/>
                </a:endParaRPr>
              </a:p>
            </p:txBody>
          </p:sp>
          <p:sp>
            <p:nvSpPr>
              <p:cNvPr id="899" name="Line 47"/>
              <p:cNvSpPr>
                <a:spLocks noChangeShapeType="1"/>
              </p:cNvSpPr>
              <p:nvPr/>
            </p:nvSpPr>
            <p:spPr bwMode="auto">
              <a:xfrm flipV="1">
                <a:off x="6944084" y="4503511"/>
                <a:ext cx="0" cy="309998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sm" len="med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900" name="Line 48"/>
              <p:cNvSpPr>
                <a:spLocks noChangeShapeType="1"/>
              </p:cNvSpPr>
              <p:nvPr/>
            </p:nvSpPr>
            <p:spPr bwMode="auto">
              <a:xfrm>
                <a:off x="7214580" y="4533667"/>
                <a:ext cx="0" cy="30752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sm" len="med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901" name="Line 49"/>
              <p:cNvSpPr>
                <a:spLocks noChangeShapeType="1"/>
              </p:cNvSpPr>
              <p:nvPr/>
            </p:nvSpPr>
            <p:spPr bwMode="auto">
              <a:xfrm rot="236364" flipV="1">
                <a:off x="5651516" y="4506501"/>
                <a:ext cx="259683" cy="28151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sm" len="med"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sp>
            <p:nvSpPr>
              <p:cNvPr id="903" name="Line 51"/>
              <p:cNvSpPr>
                <a:spLocks noChangeShapeType="1"/>
              </p:cNvSpPr>
              <p:nvPr/>
            </p:nvSpPr>
            <p:spPr bwMode="auto">
              <a:xfrm>
                <a:off x="7970653" y="4471233"/>
                <a:ext cx="203985" cy="342276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+mn-ea"/>
                </a:endParaRPr>
              </a:p>
            </p:txBody>
          </p:sp>
          <p:grpSp>
            <p:nvGrpSpPr>
              <p:cNvPr id="905" name="Group 54"/>
              <p:cNvGrpSpPr>
                <a:grpSpLocks/>
              </p:cNvGrpSpPr>
              <p:nvPr/>
            </p:nvGrpSpPr>
            <p:grpSpPr bwMode="auto">
              <a:xfrm rot="5400000" flipH="1">
                <a:off x="7064937" y="4631136"/>
                <a:ext cx="455104" cy="52026"/>
                <a:chOff x="1548" y="1476"/>
                <a:chExt cx="1338" cy="120"/>
              </a:xfrm>
            </p:grpSpPr>
            <p:sp>
              <p:nvSpPr>
                <p:cNvPr id="926" name="Freeform 55"/>
                <p:cNvSpPr>
                  <a:spLocks/>
                </p:cNvSpPr>
                <p:nvPr/>
              </p:nvSpPr>
              <p:spPr bwMode="auto">
                <a:xfrm>
                  <a:off x="1552" y="1485"/>
                  <a:ext cx="1333" cy="112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5 w 1331"/>
                    <a:gd name="T13" fmla="*/ 97 h 112"/>
                    <a:gd name="T14" fmla="*/ 1037 w 1331"/>
                    <a:gd name="T15" fmla="*/ 1 h 112"/>
                    <a:gd name="T16" fmla="*/ 1235 w 1331"/>
                    <a:gd name="T17" fmla="*/ 100 h 112"/>
                    <a:gd name="T18" fmla="*/ 1331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27" name="Freeform 56"/>
                <p:cNvSpPr>
                  <a:spLocks/>
                </p:cNvSpPr>
                <p:nvPr/>
              </p:nvSpPr>
              <p:spPr bwMode="auto">
                <a:xfrm flipV="1">
                  <a:off x="1547" y="1475"/>
                  <a:ext cx="1331" cy="114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5 w 1331"/>
                    <a:gd name="T13" fmla="*/ 97 h 112"/>
                    <a:gd name="T14" fmla="*/ 1037 w 1331"/>
                    <a:gd name="T15" fmla="*/ 1 h 112"/>
                    <a:gd name="T16" fmla="*/ 1235 w 1331"/>
                    <a:gd name="T17" fmla="*/ 100 h 112"/>
                    <a:gd name="T18" fmla="*/ 1331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06" name="Group 57"/>
              <p:cNvGrpSpPr>
                <a:grpSpLocks/>
              </p:cNvGrpSpPr>
              <p:nvPr/>
            </p:nvGrpSpPr>
            <p:grpSpPr bwMode="auto">
              <a:xfrm rot="5400000" flipH="1">
                <a:off x="6801112" y="4637732"/>
                <a:ext cx="454279" cy="52026"/>
                <a:chOff x="1548" y="1476"/>
                <a:chExt cx="1338" cy="120"/>
              </a:xfrm>
            </p:grpSpPr>
            <p:sp>
              <p:nvSpPr>
                <p:cNvPr id="924" name="Freeform 58"/>
                <p:cNvSpPr>
                  <a:spLocks/>
                </p:cNvSpPr>
                <p:nvPr/>
              </p:nvSpPr>
              <p:spPr bwMode="auto">
                <a:xfrm>
                  <a:off x="1555" y="1484"/>
                  <a:ext cx="1331" cy="112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5 w 1331"/>
                    <a:gd name="T13" fmla="*/ 97 h 112"/>
                    <a:gd name="T14" fmla="*/ 1037 w 1331"/>
                    <a:gd name="T15" fmla="*/ 1 h 112"/>
                    <a:gd name="T16" fmla="*/ 1235 w 1331"/>
                    <a:gd name="T17" fmla="*/ 100 h 112"/>
                    <a:gd name="T18" fmla="*/ 1331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25" name="Freeform 59"/>
                <p:cNvSpPr>
                  <a:spLocks/>
                </p:cNvSpPr>
                <p:nvPr/>
              </p:nvSpPr>
              <p:spPr bwMode="auto">
                <a:xfrm flipV="1">
                  <a:off x="1548" y="1476"/>
                  <a:ext cx="1331" cy="112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5 w 1331"/>
                    <a:gd name="T13" fmla="*/ 97 h 112"/>
                    <a:gd name="T14" fmla="*/ 1037 w 1331"/>
                    <a:gd name="T15" fmla="*/ 1 h 112"/>
                    <a:gd name="T16" fmla="*/ 1235 w 1331"/>
                    <a:gd name="T17" fmla="*/ 100 h 112"/>
                    <a:gd name="T18" fmla="*/ 1331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08" name="Group 3"/>
              <p:cNvGrpSpPr>
                <a:grpSpLocks/>
              </p:cNvGrpSpPr>
              <p:nvPr/>
            </p:nvGrpSpPr>
            <p:grpSpPr bwMode="auto">
              <a:xfrm rot="18501533">
                <a:off x="5643478" y="4636083"/>
                <a:ext cx="585369" cy="52026"/>
                <a:chOff x="1548" y="1476"/>
                <a:chExt cx="1338" cy="120"/>
              </a:xfrm>
            </p:grpSpPr>
            <p:sp>
              <p:nvSpPr>
                <p:cNvPr id="922" name="Freeform 4"/>
                <p:cNvSpPr>
                  <a:spLocks/>
                </p:cNvSpPr>
                <p:nvPr/>
              </p:nvSpPr>
              <p:spPr bwMode="auto">
                <a:xfrm>
                  <a:off x="1559" y="1433"/>
                  <a:ext cx="1330" cy="114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4 w 1331"/>
                    <a:gd name="T13" fmla="*/ 97 h 112"/>
                    <a:gd name="T14" fmla="*/ 1036 w 1331"/>
                    <a:gd name="T15" fmla="*/ 1 h 112"/>
                    <a:gd name="T16" fmla="*/ 1234 w 1331"/>
                    <a:gd name="T17" fmla="*/ 100 h 112"/>
                    <a:gd name="T18" fmla="*/ 1330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23" name="Freeform 5"/>
                <p:cNvSpPr>
                  <a:spLocks/>
                </p:cNvSpPr>
                <p:nvPr/>
              </p:nvSpPr>
              <p:spPr bwMode="auto">
                <a:xfrm flipV="1">
                  <a:off x="1538" y="1433"/>
                  <a:ext cx="1330" cy="118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4 w 1331"/>
                    <a:gd name="T13" fmla="*/ 97 h 112"/>
                    <a:gd name="T14" fmla="*/ 1036 w 1331"/>
                    <a:gd name="T15" fmla="*/ 1 h 112"/>
                    <a:gd name="T16" fmla="*/ 1234 w 1331"/>
                    <a:gd name="T17" fmla="*/ 100 h 112"/>
                    <a:gd name="T18" fmla="*/ 1330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15" name="Group 12"/>
              <p:cNvGrpSpPr>
                <a:grpSpLocks/>
              </p:cNvGrpSpPr>
              <p:nvPr/>
            </p:nvGrpSpPr>
            <p:grpSpPr bwMode="auto">
              <a:xfrm rot="3701259" flipH="1">
                <a:off x="8187439" y="4643503"/>
                <a:ext cx="520236" cy="52026"/>
                <a:chOff x="1548" y="1476"/>
                <a:chExt cx="1338" cy="120"/>
              </a:xfrm>
            </p:grpSpPr>
            <p:sp>
              <p:nvSpPr>
                <p:cNvPr id="920" name="Freeform 13"/>
                <p:cNvSpPr>
                  <a:spLocks/>
                </p:cNvSpPr>
                <p:nvPr/>
              </p:nvSpPr>
              <p:spPr bwMode="auto">
                <a:xfrm>
                  <a:off x="1555" y="1485"/>
                  <a:ext cx="1332" cy="112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7 h 112"/>
                    <a:gd name="T6" fmla="*/ 272 w 1331"/>
                    <a:gd name="T7" fmla="*/ 1 h 112"/>
                    <a:gd name="T8" fmla="*/ 461 w 1331"/>
                    <a:gd name="T9" fmla="*/ 100 h 112"/>
                    <a:gd name="T10" fmla="*/ 653 w 1331"/>
                    <a:gd name="T11" fmla="*/ 4 h 112"/>
                    <a:gd name="T12" fmla="*/ 846 w 1331"/>
                    <a:gd name="T13" fmla="*/ 97 h 112"/>
                    <a:gd name="T14" fmla="*/ 1038 w 1331"/>
                    <a:gd name="T15" fmla="*/ 1 h 112"/>
                    <a:gd name="T16" fmla="*/ 1236 w 1331"/>
                    <a:gd name="T17" fmla="*/ 100 h 112"/>
                    <a:gd name="T18" fmla="*/ 1332 w 1331"/>
                    <a:gd name="T19" fmla="*/ 73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21" name="Freeform 14"/>
                <p:cNvSpPr>
                  <a:spLocks/>
                </p:cNvSpPr>
                <p:nvPr/>
              </p:nvSpPr>
              <p:spPr bwMode="auto">
                <a:xfrm flipV="1">
                  <a:off x="1587" y="1445"/>
                  <a:ext cx="1338" cy="122"/>
                </a:xfrm>
                <a:custGeom>
                  <a:avLst/>
                  <a:gdLst>
                    <a:gd name="T0" fmla="*/ 29 w 1331"/>
                    <a:gd name="T1" fmla="*/ 53 h 112"/>
                    <a:gd name="T2" fmla="*/ 8 w 1331"/>
                    <a:gd name="T3" fmla="*/ 38 h 112"/>
                    <a:gd name="T4" fmla="*/ 77 w 1331"/>
                    <a:gd name="T5" fmla="*/ 99 h 112"/>
                    <a:gd name="T6" fmla="*/ 273 w 1331"/>
                    <a:gd name="T7" fmla="*/ 1 h 112"/>
                    <a:gd name="T8" fmla="*/ 462 w 1331"/>
                    <a:gd name="T9" fmla="*/ 102 h 112"/>
                    <a:gd name="T10" fmla="*/ 654 w 1331"/>
                    <a:gd name="T11" fmla="*/ 4 h 112"/>
                    <a:gd name="T12" fmla="*/ 847 w 1331"/>
                    <a:gd name="T13" fmla="*/ 99 h 112"/>
                    <a:gd name="T14" fmla="*/ 1039 w 1331"/>
                    <a:gd name="T15" fmla="*/ 1 h 112"/>
                    <a:gd name="T16" fmla="*/ 1238 w 1331"/>
                    <a:gd name="T17" fmla="*/ 102 h 112"/>
                    <a:gd name="T18" fmla="*/ 1334 w 1331"/>
                    <a:gd name="T19" fmla="*/ 74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grpSp>
            <p:nvGrpSpPr>
              <p:cNvPr id="916" name="Group 9"/>
              <p:cNvGrpSpPr>
                <a:grpSpLocks/>
              </p:cNvGrpSpPr>
              <p:nvPr/>
            </p:nvGrpSpPr>
            <p:grpSpPr bwMode="auto">
              <a:xfrm rot="3701259" flipH="1">
                <a:off x="7909018" y="4644415"/>
                <a:ext cx="575120" cy="69289"/>
                <a:chOff x="1548" y="1476"/>
                <a:chExt cx="1338" cy="120"/>
              </a:xfrm>
            </p:grpSpPr>
            <p:sp>
              <p:nvSpPr>
                <p:cNvPr id="918" name="Freeform 10"/>
                <p:cNvSpPr>
                  <a:spLocks/>
                </p:cNvSpPr>
                <p:nvPr/>
              </p:nvSpPr>
              <p:spPr bwMode="auto">
                <a:xfrm>
                  <a:off x="1606" y="1486"/>
                  <a:ext cx="1338" cy="107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6 h 112"/>
                    <a:gd name="T6" fmla="*/ 272 w 1331"/>
                    <a:gd name="T7" fmla="*/ 1 h 112"/>
                    <a:gd name="T8" fmla="*/ 461 w 1331"/>
                    <a:gd name="T9" fmla="*/ 99 h 112"/>
                    <a:gd name="T10" fmla="*/ 653 w 1331"/>
                    <a:gd name="T11" fmla="*/ 4 h 112"/>
                    <a:gd name="T12" fmla="*/ 846 w 1331"/>
                    <a:gd name="T13" fmla="*/ 96 h 112"/>
                    <a:gd name="T14" fmla="*/ 1038 w 1331"/>
                    <a:gd name="T15" fmla="*/ 1 h 112"/>
                    <a:gd name="T16" fmla="*/ 1236 w 1331"/>
                    <a:gd name="T17" fmla="*/ 99 h 112"/>
                    <a:gd name="T18" fmla="*/ 1332 w 1331"/>
                    <a:gd name="T19" fmla="*/ 72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rot="10800000"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  <p:sp>
              <p:nvSpPr>
                <p:cNvPr id="919" name="Freeform 11"/>
                <p:cNvSpPr>
                  <a:spLocks/>
                </p:cNvSpPr>
                <p:nvPr/>
              </p:nvSpPr>
              <p:spPr bwMode="auto">
                <a:xfrm flipV="1">
                  <a:off x="1604" y="1492"/>
                  <a:ext cx="1336" cy="105"/>
                </a:xfrm>
                <a:custGeom>
                  <a:avLst/>
                  <a:gdLst>
                    <a:gd name="T0" fmla="*/ 29 w 1331"/>
                    <a:gd name="T1" fmla="*/ 52 h 112"/>
                    <a:gd name="T2" fmla="*/ 8 w 1331"/>
                    <a:gd name="T3" fmla="*/ 37 h 112"/>
                    <a:gd name="T4" fmla="*/ 77 w 1331"/>
                    <a:gd name="T5" fmla="*/ 96 h 112"/>
                    <a:gd name="T6" fmla="*/ 273 w 1331"/>
                    <a:gd name="T7" fmla="*/ 1 h 112"/>
                    <a:gd name="T8" fmla="*/ 462 w 1331"/>
                    <a:gd name="T9" fmla="*/ 99 h 112"/>
                    <a:gd name="T10" fmla="*/ 654 w 1331"/>
                    <a:gd name="T11" fmla="*/ 4 h 112"/>
                    <a:gd name="T12" fmla="*/ 847 w 1331"/>
                    <a:gd name="T13" fmla="*/ 96 h 112"/>
                    <a:gd name="T14" fmla="*/ 1039 w 1331"/>
                    <a:gd name="T15" fmla="*/ 1 h 112"/>
                    <a:gd name="T16" fmla="*/ 1238 w 1331"/>
                    <a:gd name="T17" fmla="*/ 99 h 112"/>
                    <a:gd name="T18" fmla="*/ 1334 w 1331"/>
                    <a:gd name="T19" fmla="*/ 72 h 112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w 1331"/>
                    <a:gd name="T31" fmla="*/ 0 h 112"/>
                    <a:gd name="T32" fmla="*/ 1331 w 1331"/>
                    <a:gd name="T33" fmla="*/ 112 h 112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1331" h="112">
                      <a:moveTo>
                        <a:pt x="29" y="52"/>
                      </a:moveTo>
                      <a:cubicBezTo>
                        <a:pt x="14" y="41"/>
                        <a:pt x="0" y="30"/>
                        <a:pt x="8" y="37"/>
                      </a:cubicBezTo>
                      <a:cubicBezTo>
                        <a:pt x="16" y="44"/>
                        <a:pt x="33" y="103"/>
                        <a:pt x="77" y="97"/>
                      </a:cubicBezTo>
                      <a:cubicBezTo>
                        <a:pt x="121" y="91"/>
                        <a:pt x="208" y="0"/>
                        <a:pt x="272" y="1"/>
                      </a:cubicBezTo>
                      <a:cubicBezTo>
                        <a:pt x="336" y="2"/>
                        <a:pt x="398" y="100"/>
                        <a:pt x="461" y="100"/>
                      </a:cubicBezTo>
                      <a:cubicBezTo>
                        <a:pt x="524" y="100"/>
                        <a:pt x="589" y="4"/>
                        <a:pt x="653" y="4"/>
                      </a:cubicBezTo>
                      <a:cubicBezTo>
                        <a:pt x="717" y="4"/>
                        <a:pt x="781" y="98"/>
                        <a:pt x="845" y="97"/>
                      </a:cubicBezTo>
                      <a:cubicBezTo>
                        <a:pt x="909" y="96"/>
                        <a:pt x="972" y="0"/>
                        <a:pt x="1037" y="1"/>
                      </a:cubicBezTo>
                      <a:cubicBezTo>
                        <a:pt x="1102" y="2"/>
                        <a:pt x="1186" y="88"/>
                        <a:pt x="1235" y="100"/>
                      </a:cubicBezTo>
                      <a:cubicBezTo>
                        <a:pt x="1284" y="112"/>
                        <a:pt x="1307" y="92"/>
                        <a:pt x="1331" y="73"/>
                      </a:cubicBezTo>
                    </a:path>
                  </a:pathLst>
                </a:cu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vert="eaVert" wrap="none" anchor="ctr"/>
                <a:lstStyle/>
                <a:p>
                  <a:pPr>
                    <a:defRPr/>
                  </a:pPr>
                  <a:endParaRPr lang="zh-CN" altLang="en-US" sz="2400">
                    <a:latin typeface="+mn-ea"/>
                    <a:ea typeface="+mn-ea"/>
                  </a:endParaRPr>
                </a:p>
              </p:txBody>
            </p:sp>
          </p:grpSp>
          <p:sp>
            <p:nvSpPr>
              <p:cNvPr id="917" name="Line 52"/>
              <p:cNvSpPr>
                <a:spLocks noChangeShapeType="1"/>
              </p:cNvSpPr>
              <p:nvPr/>
            </p:nvSpPr>
            <p:spPr bwMode="auto">
              <a:xfrm>
                <a:off x="8242648" y="4477827"/>
                <a:ext cx="220692" cy="35699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sm" len="med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 sz="2400">
                  <a:latin typeface="+mn-ea"/>
                </a:endParaRPr>
              </a:p>
            </p:txBody>
          </p:sp>
          <p:sp>
            <p:nvSpPr>
              <p:cNvPr id="930" name="Line 49"/>
              <p:cNvSpPr>
                <a:spLocks noChangeShapeType="1"/>
              </p:cNvSpPr>
              <p:nvPr/>
            </p:nvSpPr>
            <p:spPr bwMode="auto">
              <a:xfrm rot="236364" flipH="1">
                <a:off x="6023291" y="4574411"/>
                <a:ext cx="301044" cy="381427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none" w="sm" len="med"/>
                <a:tailEnd type="triangle" w="sm" len="lg"/>
              </a:ln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 sz="2400">
                  <a:latin typeface="+mn-ea"/>
                  <a:ea typeface="+mn-ea"/>
                </a:endParaRPr>
              </a:p>
            </p:txBody>
          </p:sp>
          <p:grpSp>
            <p:nvGrpSpPr>
              <p:cNvPr id="8" name="组合 7"/>
              <p:cNvGrpSpPr/>
              <p:nvPr/>
            </p:nvGrpSpPr>
            <p:grpSpPr>
              <a:xfrm>
                <a:off x="5491074" y="4962420"/>
                <a:ext cx="813967" cy="918047"/>
                <a:chOff x="5491074" y="4889268"/>
                <a:chExt cx="813967" cy="918047"/>
              </a:xfrm>
            </p:grpSpPr>
            <p:pic>
              <p:nvPicPr>
                <p:cNvPr id="935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074" y="5176348"/>
                  <a:ext cx="813967" cy="6309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936" name="Group 4"/>
                <p:cNvGrpSpPr>
                  <a:grpSpLocks/>
                </p:cNvGrpSpPr>
                <p:nvPr/>
              </p:nvGrpSpPr>
              <p:grpSpPr bwMode="auto">
                <a:xfrm>
                  <a:off x="5541913" y="4889268"/>
                  <a:ext cx="539456" cy="298449"/>
                  <a:chOff x="2801" y="2891"/>
                  <a:chExt cx="412" cy="210"/>
                </a:xfrm>
              </p:grpSpPr>
              <p:sp>
                <p:nvSpPr>
                  <p:cNvPr id="937" name="Freeform 5"/>
                  <p:cNvSpPr>
                    <a:spLocks/>
                  </p:cNvSpPr>
                  <p:nvPr/>
                </p:nvSpPr>
                <p:spPr bwMode="auto">
                  <a:xfrm>
                    <a:off x="2904" y="3063"/>
                    <a:ext cx="215" cy="27"/>
                  </a:xfrm>
                  <a:custGeom>
                    <a:avLst/>
                    <a:gdLst>
                      <a:gd name="T0" fmla="*/ 214 w 215"/>
                      <a:gd name="T1" fmla="*/ 0 h 27"/>
                      <a:gd name="T2" fmla="*/ 0 w 215"/>
                      <a:gd name="T3" fmla="*/ 0 h 27"/>
                      <a:gd name="T4" fmla="*/ 0 w 215"/>
                      <a:gd name="T5" fmla="*/ 26 h 27"/>
                      <a:gd name="T6" fmla="*/ 214 w 215"/>
                      <a:gd name="T7" fmla="*/ 26 h 27"/>
                      <a:gd name="T8" fmla="*/ 214 w 215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5" h="27">
                        <a:moveTo>
                          <a:pt x="214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214" y="26"/>
                        </a:lnTo>
                        <a:lnTo>
                          <a:pt x="214" y="0"/>
                        </a:lnTo>
                      </a:path>
                    </a:pathLst>
                  </a:custGeom>
                  <a:solidFill>
                    <a:srgbClr val="FFCC33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938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922" y="3067"/>
                    <a:ext cx="189" cy="18"/>
                    <a:chOff x="2922" y="3067"/>
                    <a:chExt cx="189" cy="18"/>
                  </a:xfrm>
                </p:grpSpPr>
                <p:sp>
                  <p:nvSpPr>
                    <p:cNvPr id="980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1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2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86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3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4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5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4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6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35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7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8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89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0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1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2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3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7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4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95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2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93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845" y="2891"/>
                    <a:ext cx="368" cy="172"/>
                  </a:xfrm>
                  <a:prstGeom prst="rect">
                    <a:avLst/>
                  </a:prstGeom>
                  <a:solidFill>
                    <a:srgbClr val="ADD6A5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940" name="Freeform 24"/>
                  <p:cNvSpPr>
                    <a:spLocks/>
                  </p:cNvSpPr>
                  <p:nvPr/>
                </p:nvSpPr>
                <p:spPr bwMode="auto">
                  <a:xfrm>
                    <a:off x="2813" y="2895"/>
                    <a:ext cx="25" cy="206"/>
                  </a:xfrm>
                  <a:custGeom>
                    <a:avLst/>
                    <a:gdLst>
                      <a:gd name="T0" fmla="*/ 0 w 25"/>
                      <a:gd name="T1" fmla="*/ 0 h 206"/>
                      <a:gd name="T2" fmla="*/ 24 w 25"/>
                      <a:gd name="T3" fmla="*/ 0 h 206"/>
                      <a:gd name="T4" fmla="*/ 24 w 25"/>
                      <a:gd name="T5" fmla="*/ 205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" h="206">
                        <a:moveTo>
                          <a:pt x="0" y="0"/>
                        </a:moveTo>
                        <a:lnTo>
                          <a:pt x="24" y="0"/>
                        </a:lnTo>
                        <a:lnTo>
                          <a:pt x="24" y="205"/>
                        </a:lnTo>
                      </a:path>
                    </a:pathLst>
                  </a:custGeom>
                  <a:noFill/>
                  <a:ln w="25399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941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801" y="2935"/>
                    <a:ext cx="32" cy="23"/>
                    <a:chOff x="2801" y="2935"/>
                    <a:chExt cx="32" cy="23"/>
                  </a:xfrm>
                </p:grpSpPr>
                <p:sp>
                  <p:nvSpPr>
                    <p:cNvPr id="978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2801" y="2940"/>
                      <a:ext cx="23" cy="17"/>
                    </a:xfrm>
                    <a:custGeom>
                      <a:avLst/>
                      <a:gdLst>
                        <a:gd name="T0" fmla="*/ 22 w 23"/>
                        <a:gd name="T1" fmla="*/ 0 h 17"/>
                        <a:gd name="T2" fmla="*/ 0 w 23"/>
                        <a:gd name="T3" fmla="*/ 0 h 17"/>
                        <a:gd name="T4" fmla="*/ 0 w 23"/>
                        <a:gd name="T5" fmla="*/ 16 h 17"/>
                        <a:gd name="T6" fmla="*/ 22 w 23"/>
                        <a:gd name="T7" fmla="*/ 16 h 17"/>
                        <a:gd name="T8" fmla="*/ 22 w 23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17">
                          <a:moveTo>
                            <a:pt x="22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2" y="16"/>
                          </a:lnTo>
                          <a:lnTo>
                            <a:pt x="22" y="0"/>
                          </a:lnTo>
                        </a:path>
                      </a:pathLst>
                    </a:custGeom>
                    <a:solidFill>
                      <a:srgbClr val="E9E7D1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79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816" y="2935"/>
                      <a:ext cx="17" cy="23"/>
                    </a:xfrm>
                    <a:custGeom>
                      <a:avLst/>
                      <a:gdLst>
                        <a:gd name="T0" fmla="*/ 16 w 17"/>
                        <a:gd name="T1" fmla="*/ 0 h 23"/>
                        <a:gd name="T2" fmla="*/ 0 w 17"/>
                        <a:gd name="T3" fmla="*/ 0 h 23"/>
                        <a:gd name="T4" fmla="*/ 0 w 17"/>
                        <a:gd name="T5" fmla="*/ 22 h 23"/>
                        <a:gd name="T6" fmla="*/ 16 w 17"/>
                        <a:gd name="T7" fmla="*/ 22 h 23"/>
                        <a:gd name="T8" fmla="*/ 16 w 17"/>
                        <a:gd name="T9" fmla="*/ 0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3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2"/>
                          </a:lnTo>
                          <a:lnTo>
                            <a:pt x="16" y="22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52493E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2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048" y="2940"/>
                    <a:ext cx="62" cy="54"/>
                    <a:chOff x="3048" y="2940"/>
                    <a:chExt cx="62" cy="54"/>
                  </a:xfrm>
                </p:grpSpPr>
                <p:sp>
                  <p:nvSpPr>
                    <p:cNvPr id="976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3048" y="2944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77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3050" y="2940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3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2939" y="2989"/>
                    <a:ext cx="79" cy="70"/>
                    <a:chOff x="2939" y="2989"/>
                    <a:chExt cx="79" cy="70"/>
                  </a:xfrm>
                </p:grpSpPr>
                <p:sp>
                  <p:nvSpPr>
                    <p:cNvPr id="974" name="Freeform 32"/>
                    <p:cNvSpPr>
                      <a:spLocks/>
                    </p:cNvSpPr>
                    <p:nvPr/>
                  </p:nvSpPr>
                  <p:spPr bwMode="auto">
                    <a:xfrm>
                      <a:off x="2939" y="2993"/>
                      <a:ext cx="76" cy="66"/>
                    </a:xfrm>
                    <a:custGeom>
                      <a:avLst/>
                      <a:gdLst>
                        <a:gd name="T0" fmla="*/ 75 w 76"/>
                        <a:gd name="T1" fmla="*/ 0 h 66"/>
                        <a:gd name="T2" fmla="*/ 0 w 76"/>
                        <a:gd name="T3" fmla="*/ 0 h 66"/>
                        <a:gd name="T4" fmla="*/ 0 w 76"/>
                        <a:gd name="T5" fmla="*/ 65 h 66"/>
                        <a:gd name="T6" fmla="*/ 75 w 76"/>
                        <a:gd name="T7" fmla="*/ 65 h 66"/>
                        <a:gd name="T8" fmla="*/ 75 w 76"/>
                        <a:gd name="T9" fmla="*/ 0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6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5"/>
                          </a:lnTo>
                          <a:lnTo>
                            <a:pt x="75" y="65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75" name="Freeform 33"/>
                    <p:cNvSpPr>
                      <a:spLocks/>
                    </p:cNvSpPr>
                    <p:nvPr/>
                  </p:nvSpPr>
                  <p:spPr bwMode="auto">
                    <a:xfrm>
                      <a:off x="2942" y="2989"/>
                      <a:ext cx="76" cy="67"/>
                    </a:xfrm>
                    <a:custGeom>
                      <a:avLst/>
                      <a:gdLst>
                        <a:gd name="T0" fmla="*/ 75 w 76"/>
                        <a:gd name="T1" fmla="*/ 0 h 67"/>
                        <a:gd name="T2" fmla="*/ 0 w 76"/>
                        <a:gd name="T3" fmla="*/ 0 h 67"/>
                        <a:gd name="T4" fmla="*/ 0 w 76"/>
                        <a:gd name="T5" fmla="*/ 66 h 67"/>
                        <a:gd name="T6" fmla="*/ 75 w 76"/>
                        <a:gd name="T7" fmla="*/ 66 h 67"/>
                        <a:gd name="T8" fmla="*/ 75 w 76"/>
                        <a:gd name="T9" fmla="*/ 0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7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6"/>
                          </a:lnTo>
                          <a:lnTo>
                            <a:pt x="75" y="66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4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186" y="2940"/>
                    <a:ext cx="20" cy="82"/>
                    <a:chOff x="3186" y="2940"/>
                    <a:chExt cx="20" cy="82"/>
                  </a:xfrm>
                </p:grpSpPr>
                <p:sp>
                  <p:nvSpPr>
                    <p:cNvPr id="972" name="Freeform 35"/>
                    <p:cNvSpPr>
                      <a:spLocks/>
                    </p:cNvSpPr>
                    <p:nvPr/>
                  </p:nvSpPr>
                  <p:spPr bwMode="auto">
                    <a:xfrm>
                      <a:off x="3186" y="2944"/>
                      <a:ext cx="17" cy="78"/>
                    </a:xfrm>
                    <a:custGeom>
                      <a:avLst/>
                      <a:gdLst>
                        <a:gd name="T0" fmla="*/ 16 w 17"/>
                        <a:gd name="T1" fmla="*/ 0 h 78"/>
                        <a:gd name="T2" fmla="*/ 0 w 17"/>
                        <a:gd name="T3" fmla="*/ 0 h 78"/>
                        <a:gd name="T4" fmla="*/ 0 w 17"/>
                        <a:gd name="T5" fmla="*/ 77 h 78"/>
                        <a:gd name="T6" fmla="*/ 16 w 17"/>
                        <a:gd name="T7" fmla="*/ 77 h 78"/>
                        <a:gd name="T8" fmla="*/ 16 w 17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6" y="7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73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3188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5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168" y="3028"/>
                    <a:ext cx="28" cy="21"/>
                    <a:chOff x="3168" y="3028"/>
                    <a:chExt cx="28" cy="21"/>
                  </a:xfrm>
                </p:grpSpPr>
                <p:sp>
                  <p:nvSpPr>
                    <p:cNvPr id="970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3168" y="3032"/>
                      <a:ext cx="26" cy="17"/>
                    </a:xfrm>
                    <a:custGeom>
                      <a:avLst/>
                      <a:gdLst>
                        <a:gd name="T0" fmla="*/ 25 w 26"/>
                        <a:gd name="T1" fmla="*/ 0 h 17"/>
                        <a:gd name="T2" fmla="*/ 0 w 26"/>
                        <a:gd name="T3" fmla="*/ 0 h 17"/>
                        <a:gd name="T4" fmla="*/ 0 w 26"/>
                        <a:gd name="T5" fmla="*/ 16 h 17"/>
                        <a:gd name="T6" fmla="*/ 25 w 26"/>
                        <a:gd name="T7" fmla="*/ 16 h 17"/>
                        <a:gd name="T8" fmla="*/ 25 w 26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7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5" y="16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71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3170" y="3028"/>
                      <a:ext cx="26" cy="18"/>
                    </a:xfrm>
                    <a:custGeom>
                      <a:avLst/>
                      <a:gdLst>
                        <a:gd name="T0" fmla="*/ 25 w 26"/>
                        <a:gd name="T1" fmla="*/ 0 h 18"/>
                        <a:gd name="T2" fmla="*/ 0 w 26"/>
                        <a:gd name="T3" fmla="*/ 0 h 18"/>
                        <a:gd name="T4" fmla="*/ 0 w 26"/>
                        <a:gd name="T5" fmla="*/ 17 h 18"/>
                        <a:gd name="T6" fmla="*/ 25 w 26"/>
                        <a:gd name="T7" fmla="*/ 17 h 18"/>
                        <a:gd name="T8" fmla="*/ 25 w 26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8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5" y="17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6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126" y="2942"/>
                    <a:ext cx="20" cy="37"/>
                    <a:chOff x="3126" y="2942"/>
                    <a:chExt cx="20" cy="37"/>
                  </a:xfrm>
                </p:grpSpPr>
                <p:sp>
                  <p:nvSpPr>
                    <p:cNvPr id="968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3126" y="2945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69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3128" y="2942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7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125" y="2978"/>
                    <a:ext cx="20" cy="37"/>
                    <a:chOff x="3125" y="2978"/>
                    <a:chExt cx="20" cy="37"/>
                  </a:xfrm>
                </p:grpSpPr>
                <p:sp>
                  <p:nvSpPr>
                    <p:cNvPr id="966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3125" y="2981"/>
                      <a:ext cx="17" cy="34"/>
                    </a:xfrm>
                    <a:custGeom>
                      <a:avLst/>
                      <a:gdLst>
                        <a:gd name="T0" fmla="*/ 16 w 17"/>
                        <a:gd name="T1" fmla="*/ 0 h 34"/>
                        <a:gd name="T2" fmla="*/ 0 w 17"/>
                        <a:gd name="T3" fmla="*/ 0 h 34"/>
                        <a:gd name="T4" fmla="*/ 0 w 17"/>
                        <a:gd name="T5" fmla="*/ 33 h 34"/>
                        <a:gd name="T6" fmla="*/ 16 w 17"/>
                        <a:gd name="T7" fmla="*/ 33 h 34"/>
                        <a:gd name="T8" fmla="*/ 16 w 17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34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6" y="3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67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3127" y="2978"/>
                      <a:ext cx="18" cy="35"/>
                    </a:xfrm>
                    <a:custGeom>
                      <a:avLst/>
                      <a:gdLst>
                        <a:gd name="T0" fmla="*/ 17 w 18"/>
                        <a:gd name="T1" fmla="*/ 0 h 35"/>
                        <a:gd name="T2" fmla="*/ 0 w 18"/>
                        <a:gd name="T3" fmla="*/ 0 h 35"/>
                        <a:gd name="T4" fmla="*/ 0 w 18"/>
                        <a:gd name="T5" fmla="*/ 34 h 35"/>
                        <a:gd name="T6" fmla="*/ 17 w 18"/>
                        <a:gd name="T7" fmla="*/ 34 h 35"/>
                        <a:gd name="T8" fmla="*/ 17 w 18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5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4"/>
                          </a:lnTo>
                          <a:lnTo>
                            <a:pt x="17" y="34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8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025" y="2940"/>
                    <a:ext cx="19" cy="31"/>
                    <a:chOff x="3025" y="2940"/>
                    <a:chExt cx="19" cy="31"/>
                  </a:xfrm>
                </p:grpSpPr>
                <p:sp>
                  <p:nvSpPr>
                    <p:cNvPr id="964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3025" y="2944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0 h 27"/>
                        <a:gd name="T2" fmla="*/ 0 w 17"/>
                        <a:gd name="T3" fmla="*/ 0 h 27"/>
                        <a:gd name="T4" fmla="*/ 0 w 17"/>
                        <a:gd name="T5" fmla="*/ 26 h 27"/>
                        <a:gd name="T6" fmla="*/ 16 w 17"/>
                        <a:gd name="T7" fmla="*/ 26 h 27"/>
                        <a:gd name="T8" fmla="*/ 16 w 17"/>
                        <a:gd name="T9" fmla="*/ 0 h 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7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16" y="2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65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3027" y="2940"/>
                      <a:ext cx="17" cy="28"/>
                    </a:xfrm>
                    <a:custGeom>
                      <a:avLst/>
                      <a:gdLst>
                        <a:gd name="T0" fmla="*/ 16 w 17"/>
                        <a:gd name="T1" fmla="*/ 0 h 28"/>
                        <a:gd name="T2" fmla="*/ 0 w 17"/>
                        <a:gd name="T3" fmla="*/ 0 h 28"/>
                        <a:gd name="T4" fmla="*/ 0 w 17"/>
                        <a:gd name="T5" fmla="*/ 27 h 28"/>
                        <a:gd name="T6" fmla="*/ 16 w 17"/>
                        <a:gd name="T7" fmla="*/ 27 h 28"/>
                        <a:gd name="T8" fmla="*/ 16 w 17"/>
                        <a:gd name="T9" fmla="*/ 0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7"/>
                          </a:lnTo>
                          <a:lnTo>
                            <a:pt x="16" y="2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49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161" y="2940"/>
                    <a:ext cx="19" cy="82"/>
                    <a:chOff x="3161" y="2940"/>
                    <a:chExt cx="19" cy="82"/>
                  </a:xfrm>
                </p:grpSpPr>
                <p:sp>
                  <p:nvSpPr>
                    <p:cNvPr id="962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161" y="2944"/>
                      <a:ext cx="18" cy="78"/>
                    </a:xfrm>
                    <a:custGeom>
                      <a:avLst/>
                      <a:gdLst>
                        <a:gd name="T0" fmla="*/ 17 w 18"/>
                        <a:gd name="T1" fmla="*/ 0 h 78"/>
                        <a:gd name="T2" fmla="*/ 0 w 18"/>
                        <a:gd name="T3" fmla="*/ 0 h 78"/>
                        <a:gd name="T4" fmla="*/ 0 w 18"/>
                        <a:gd name="T5" fmla="*/ 77 h 78"/>
                        <a:gd name="T6" fmla="*/ 17 w 18"/>
                        <a:gd name="T7" fmla="*/ 77 h 78"/>
                        <a:gd name="T8" fmla="*/ 17 w 18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8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7" y="7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63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162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50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085" y="2907"/>
                    <a:ext cx="21" cy="21"/>
                    <a:chOff x="3085" y="2907"/>
                    <a:chExt cx="21" cy="21"/>
                  </a:xfrm>
                </p:grpSpPr>
                <p:sp>
                  <p:nvSpPr>
                    <p:cNvPr id="960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3085" y="2911"/>
                      <a:ext cx="20" cy="17"/>
                    </a:xfrm>
                    <a:custGeom>
                      <a:avLst/>
                      <a:gdLst>
                        <a:gd name="T0" fmla="*/ 19 w 20"/>
                        <a:gd name="T1" fmla="*/ 0 h 17"/>
                        <a:gd name="T2" fmla="*/ 0 w 20"/>
                        <a:gd name="T3" fmla="*/ 0 h 17"/>
                        <a:gd name="T4" fmla="*/ 0 w 20"/>
                        <a:gd name="T5" fmla="*/ 16 h 17"/>
                        <a:gd name="T6" fmla="*/ 19 w 20"/>
                        <a:gd name="T7" fmla="*/ 16 h 17"/>
                        <a:gd name="T8" fmla="*/ 19 w 2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" h="17">
                          <a:moveTo>
                            <a:pt x="1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9" y="16"/>
                          </a:lnTo>
                          <a:lnTo>
                            <a:pt x="1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61" name="Freeform 54"/>
                    <p:cNvSpPr>
                      <a:spLocks/>
                    </p:cNvSpPr>
                    <p:nvPr/>
                  </p:nvSpPr>
                  <p:spPr bwMode="auto">
                    <a:xfrm>
                      <a:off x="3087" y="2907"/>
                      <a:ext cx="19" cy="19"/>
                    </a:xfrm>
                    <a:custGeom>
                      <a:avLst/>
                      <a:gdLst>
                        <a:gd name="T0" fmla="*/ 18 w 19"/>
                        <a:gd name="T1" fmla="*/ 0 h 19"/>
                        <a:gd name="T2" fmla="*/ 0 w 19"/>
                        <a:gd name="T3" fmla="*/ 0 h 19"/>
                        <a:gd name="T4" fmla="*/ 0 w 19"/>
                        <a:gd name="T5" fmla="*/ 18 h 19"/>
                        <a:gd name="T6" fmla="*/ 18 w 19"/>
                        <a:gd name="T7" fmla="*/ 18 h 19"/>
                        <a:gd name="T8" fmla="*/ 18 w 19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19">
                          <a:moveTo>
                            <a:pt x="18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18" y="18"/>
                          </a:lnTo>
                          <a:lnTo>
                            <a:pt x="18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51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2904" y="2924"/>
                    <a:ext cx="24" cy="21"/>
                    <a:chOff x="2904" y="2924"/>
                    <a:chExt cx="24" cy="21"/>
                  </a:xfrm>
                </p:grpSpPr>
                <p:sp>
                  <p:nvSpPr>
                    <p:cNvPr id="958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2904" y="2926"/>
                      <a:ext cx="21" cy="19"/>
                    </a:xfrm>
                    <a:custGeom>
                      <a:avLst/>
                      <a:gdLst>
                        <a:gd name="T0" fmla="*/ 20 w 21"/>
                        <a:gd name="T1" fmla="*/ 0 h 19"/>
                        <a:gd name="T2" fmla="*/ 0 w 21"/>
                        <a:gd name="T3" fmla="*/ 0 h 19"/>
                        <a:gd name="T4" fmla="*/ 0 w 21"/>
                        <a:gd name="T5" fmla="*/ 18 h 19"/>
                        <a:gd name="T6" fmla="*/ 20 w 21"/>
                        <a:gd name="T7" fmla="*/ 18 h 19"/>
                        <a:gd name="T8" fmla="*/ 20 w 21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" h="19">
                          <a:moveTo>
                            <a:pt x="20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20" y="1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59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906" y="2924"/>
                      <a:ext cx="22" cy="18"/>
                    </a:xfrm>
                    <a:custGeom>
                      <a:avLst/>
                      <a:gdLst>
                        <a:gd name="T0" fmla="*/ 21 w 22"/>
                        <a:gd name="T1" fmla="*/ 0 h 18"/>
                        <a:gd name="T2" fmla="*/ 0 w 22"/>
                        <a:gd name="T3" fmla="*/ 0 h 18"/>
                        <a:gd name="T4" fmla="*/ 0 w 22"/>
                        <a:gd name="T5" fmla="*/ 17 h 18"/>
                        <a:gd name="T6" fmla="*/ 21 w 22"/>
                        <a:gd name="T7" fmla="*/ 17 h 18"/>
                        <a:gd name="T8" fmla="*/ 21 w 22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1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1" y="17"/>
                          </a:lnTo>
                          <a:lnTo>
                            <a:pt x="21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52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2854" y="2979"/>
                    <a:ext cx="34" cy="20"/>
                    <a:chOff x="2854" y="2979"/>
                    <a:chExt cx="34" cy="20"/>
                  </a:xfrm>
                </p:grpSpPr>
                <p:sp>
                  <p:nvSpPr>
                    <p:cNvPr id="956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2854" y="2982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57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857" y="2979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953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854" y="3003"/>
                    <a:ext cx="34" cy="20"/>
                    <a:chOff x="2854" y="3003"/>
                    <a:chExt cx="34" cy="20"/>
                  </a:xfrm>
                </p:grpSpPr>
                <p:sp>
                  <p:nvSpPr>
                    <p:cNvPr id="954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2854" y="3006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955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2857" y="3003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996" name="组合 995"/>
              <p:cNvGrpSpPr/>
              <p:nvPr/>
            </p:nvGrpSpPr>
            <p:grpSpPr>
              <a:xfrm>
                <a:off x="6862822" y="4918194"/>
                <a:ext cx="813967" cy="918047"/>
                <a:chOff x="5491074" y="4889268"/>
                <a:chExt cx="813967" cy="918047"/>
              </a:xfrm>
            </p:grpSpPr>
            <p:pic>
              <p:nvPicPr>
                <p:cNvPr id="997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074" y="5176348"/>
                  <a:ext cx="813967" cy="6309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998" name="Group 4"/>
                <p:cNvGrpSpPr>
                  <a:grpSpLocks/>
                </p:cNvGrpSpPr>
                <p:nvPr/>
              </p:nvGrpSpPr>
              <p:grpSpPr bwMode="auto">
                <a:xfrm>
                  <a:off x="5541913" y="4889268"/>
                  <a:ext cx="539456" cy="298449"/>
                  <a:chOff x="2801" y="2891"/>
                  <a:chExt cx="412" cy="210"/>
                </a:xfrm>
              </p:grpSpPr>
              <p:sp>
                <p:nvSpPr>
                  <p:cNvPr id="999" name="Freeform 5"/>
                  <p:cNvSpPr>
                    <a:spLocks/>
                  </p:cNvSpPr>
                  <p:nvPr/>
                </p:nvSpPr>
                <p:spPr bwMode="auto">
                  <a:xfrm>
                    <a:off x="2904" y="3063"/>
                    <a:ext cx="215" cy="27"/>
                  </a:xfrm>
                  <a:custGeom>
                    <a:avLst/>
                    <a:gdLst>
                      <a:gd name="T0" fmla="*/ 214 w 215"/>
                      <a:gd name="T1" fmla="*/ 0 h 27"/>
                      <a:gd name="T2" fmla="*/ 0 w 215"/>
                      <a:gd name="T3" fmla="*/ 0 h 27"/>
                      <a:gd name="T4" fmla="*/ 0 w 215"/>
                      <a:gd name="T5" fmla="*/ 26 h 27"/>
                      <a:gd name="T6" fmla="*/ 214 w 215"/>
                      <a:gd name="T7" fmla="*/ 26 h 27"/>
                      <a:gd name="T8" fmla="*/ 214 w 215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5" h="27">
                        <a:moveTo>
                          <a:pt x="214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214" y="26"/>
                        </a:lnTo>
                        <a:lnTo>
                          <a:pt x="214" y="0"/>
                        </a:lnTo>
                      </a:path>
                    </a:pathLst>
                  </a:custGeom>
                  <a:solidFill>
                    <a:srgbClr val="FFCC33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1000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922" y="3067"/>
                    <a:ext cx="189" cy="18"/>
                    <a:chOff x="2922" y="3067"/>
                    <a:chExt cx="189" cy="18"/>
                  </a:xfrm>
                </p:grpSpPr>
                <p:sp>
                  <p:nvSpPr>
                    <p:cNvPr id="1042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3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4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86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5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6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7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4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8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35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9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0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1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2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3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4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5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7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6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57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2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1001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845" y="2891"/>
                    <a:ext cx="368" cy="172"/>
                  </a:xfrm>
                  <a:prstGeom prst="rect">
                    <a:avLst/>
                  </a:prstGeom>
                  <a:solidFill>
                    <a:srgbClr val="ADD6A5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002" name="Freeform 24"/>
                  <p:cNvSpPr>
                    <a:spLocks/>
                  </p:cNvSpPr>
                  <p:nvPr/>
                </p:nvSpPr>
                <p:spPr bwMode="auto">
                  <a:xfrm>
                    <a:off x="2813" y="2895"/>
                    <a:ext cx="25" cy="206"/>
                  </a:xfrm>
                  <a:custGeom>
                    <a:avLst/>
                    <a:gdLst>
                      <a:gd name="T0" fmla="*/ 0 w 25"/>
                      <a:gd name="T1" fmla="*/ 0 h 206"/>
                      <a:gd name="T2" fmla="*/ 24 w 25"/>
                      <a:gd name="T3" fmla="*/ 0 h 206"/>
                      <a:gd name="T4" fmla="*/ 24 w 25"/>
                      <a:gd name="T5" fmla="*/ 205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" h="206">
                        <a:moveTo>
                          <a:pt x="0" y="0"/>
                        </a:moveTo>
                        <a:lnTo>
                          <a:pt x="24" y="0"/>
                        </a:lnTo>
                        <a:lnTo>
                          <a:pt x="24" y="205"/>
                        </a:lnTo>
                      </a:path>
                    </a:pathLst>
                  </a:custGeom>
                  <a:noFill/>
                  <a:ln w="25399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1pPr>
                    <a:lvl2pPr marL="4572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2pPr>
                    <a:lvl3pPr marL="9144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3pPr>
                    <a:lvl4pPr marL="13716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4pPr>
                    <a:lvl5pPr marL="1828800" algn="l" rtl="0" fontAlgn="base">
                      <a:spcBef>
                        <a:spcPct val="0"/>
                      </a:spcBef>
                      <a:spcAft>
                        <a:spcPct val="0"/>
                      </a:spcAft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5pPr>
                    <a:lvl6pPr marL="22860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6pPr>
                    <a:lvl7pPr marL="27432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7pPr>
                    <a:lvl8pPr marL="32004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8pPr>
                    <a:lvl9pPr marL="3657600" algn="l" defTabSz="914400" rtl="0" eaLnBrk="1" latinLnBrk="0" hangingPunct="1">
                      <a:defRPr kern="12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1003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801" y="2935"/>
                    <a:ext cx="32" cy="23"/>
                    <a:chOff x="2801" y="2935"/>
                    <a:chExt cx="32" cy="23"/>
                  </a:xfrm>
                </p:grpSpPr>
                <p:sp>
                  <p:nvSpPr>
                    <p:cNvPr id="1040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2801" y="2940"/>
                      <a:ext cx="23" cy="17"/>
                    </a:xfrm>
                    <a:custGeom>
                      <a:avLst/>
                      <a:gdLst>
                        <a:gd name="T0" fmla="*/ 22 w 23"/>
                        <a:gd name="T1" fmla="*/ 0 h 17"/>
                        <a:gd name="T2" fmla="*/ 0 w 23"/>
                        <a:gd name="T3" fmla="*/ 0 h 17"/>
                        <a:gd name="T4" fmla="*/ 0 w 23"/>
                        <a:gd name="T5" fmla="*/ 16 h 17"/>
                        <a:gd name="T6" fmla="*/ 22 w 23"/>
                        <a:gd name="T7" fmla="*/ 16 h 17"/>
                        <a:gd name="T8" fmla="*/ 22 w 23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17">
                          <a:moveTo>
                            <a:pt x="22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2" y="16"/>
                          </a:lnTo>
                          <a:lnTo>
                            <a:pt x="22" y="0"/>
                          </a:lnTo>
                        </a:path>
                      </a:pathLst>
                    </a:custGeom>
                    <a:solidFill>
                      <a:srgbClr val="E9E7D1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41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816" y="2935"/>
                      <a:ext cx="17" cy="23"/>
                    </a:xfrm>
                    <a:custGeom>
                      <a:avLst/>
                      <a:gdLst>
                        <a:gd name="T0" fmla="*/ 16 w 17"/>
                        <a:gd name="T1" fmla="*/ 0 h 23"/>
                        <a:gd name="T2" fmla="*/ 0 w 17"/>
                        <a:gd name="T3" fmla="*/ 0 h 23"/>
                        <a:gd name="T4" fmla="*/ 0 w 17"/>
                        <a:gd name="T5" fmla="*/ 22 h 23"/>
                        <a:gd name="T6" fmla="*/ 16 w 17"/>
                        <a:gd name="T7" fmla="*/ 22 h 23"/>
                        <a:gd name="T8" fmla="*/ 16 w 17"/>
                        <a:gd name="T9" fmla="*/ 0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3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2"/>
                          </a:lnTo>
                          <a:lnTo>
                            <a:pt x="16" y="22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52493E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4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048" y="2940"/>
                    <a:ext cx="62" cy="54"/>
                    <a:chOff x="3048" y="2940"/>
                    <a:chExt cx="62" cy="54"/>
                  </a:xfrm>
                </p:grpSpPr>
                <p:sp>
                  <p:nvSpPr>
                    <p:cNvPr id="1038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3048" y="2944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39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3050" y="2940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5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2939" y="2989"/>
                    <a:ext cx="79" cy="70"/>
                    <a:chOff x="2939" y="2989"/>
                    <a:chExt cx="79" cy="70"/>
                  </a:xfrm>
                </p:grpSpPr>
                <p:sp>
                  <p:nvSpPr>
                    <p:cNvPr id="1036" name="Freeform 32"/>
                    <p:cNvSpPr>
                      <a:spLocks/>
                    </p:cNvSpPr>
                    <p:nvPr/>
                  </p:nvSpPr>
                  <p:spPr bwMode="auto">
                    <a:xfrm>
                      <a:off x="2939" y="2993"/>
                      <a:ext cx="76" cy="66"/>
                    </a:xfrm>
                    <a:custGeom>
                      <a:avLst/>
                      <a:gdLst>
                        <a:gd name="T0" fmla="*/ 75 w 76"/>
                        <a:gd name="T1" fmla="*/ 0 h 66"/>
                        <a:gd name="T2" fmla="*/ 0 w 76"/>
                        <a:gd name="T3" fmla="*/ 0 h 66"/>
                        <a:gd name="T4" fmla="*/ 0 w 76"/>
                        <a:gd name="T5" fmla="*/ 65 h 66"/>
                        <a:gd name="T6" fmla="*/ 75 w 76"/>
                        <a:gd name="T7" fmla="*/ 65 h 66"/>
                        <a:gd name="T8" fmla="*/ 75 w 76"/>
                        <a:gd name="T9" fmla="*/ 0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6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5"/>
                          </a:lnTo>
                          <a:lnTo>
                            <a:pt x="75" y="65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37" name="Freeform 33"/>
                    <p:cNvSpPr>
                      <a:spLocks/>
                    </p:cNvSpPr>
                    <p:nvPr/>
                  </p:nvSpPr>
                  <p:spPr bwMode="auto">
                    <a:xfrm>
                      <a:off x="2942" y="2989"/>
                      <a:ext cx="76" cy="67"/>
                    </a:xfrm>
                    <a:custGeom>
                      <a:avLst/>
                      <a:gdLst>
                        <a:gd name="T0" fmla="*/ 75 w 76"/>
                        <a:gd name="T1" fmla="*/ 0 h 67"/>
                        <a:gd name="T2" fmla="*/ 0 w 76"/>
                        <a:gd name="T3" fmla="*/ 0 h 67"/>
                        <a:gd name="T4" fmla="*/ 0 w 76"/>
                        <a:gd name="T5" fmla="*/ 66 h 67"/>
                        <a:gd name="T6" fmla="*/ 75 w 76"/>
                        <a:gd name="T7" fmla="*/ 66 h 67"/>
                        <a:gd name="T8" fmla="*/ 75 w 76"/>
                        <a:gd name="T9" fmla="*/ 0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7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6"/>
                          </a:lnTo>
                          <a:lnTo>
                            <a:pt x="75" y="66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6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186" y="2940"/>
                    <a:ext cx="20" cy="82"/>
                    <a:chOff x="3186" y="2940"/>
                    <a:chExt cx="20" cy="82"/>
                  </a:xfrm>
                </p:grpSpPr>
                <p:sp>
                  <p:nvSpPr>
                    <p:cNvPr id="1034" name="Freeform 35"/>
                    <p:cNvSpPr>
                      <a:spLocks/>
                    </p:cNvSpPr>
                    <p:nvPr/>
                  </p:nvSpPr>
                  <p:spPr bwMode="auto">
                    <a:xfrm>
                      <a:off x="3186" y="2944"/>
                      <a:ext cx="17" cy="78"/>
                    </a:xfrm>
                    <a:custGeom>
                      <a:avLst/>
                      <a:gdLst>
                        <a:gd name="T0" fmla="*/ 16 w 17"/>
                        <a:gd name="T1" fmla="*/ 0 h 78"/>
                        <a:gd name="T2" fmla="*/ 0 w 17"/>
                        <a:gd name="T3" fmla="*/ 0 h 78"/>
                        <a:gd name="T4" fmla="*/ 0 w 17"/>
                        <a:gd name="T5" fmla="*/ 77 h 78"/>
                        <a:gd name="T6" fmla="*/ 16 w 17"/>
                        <a:gd name="T7" fmla="*/ 77 h 78"/>
                        <a:gd name="T8" fmla="*/ 16 w 17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6" y="7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35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3188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7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168" y="3028"/>
                    <a:ext cx="28" cy="21"/>
                    <a:chOff x="3168" y="3028"/>
                    <a:chExt cx="28" cy="21"/>
                  </a:xfrm>
                </p:grpSpPr>
                <p:sp>
                  <p:nvSpPr>
                    <p:cNvPr id="1032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3168" y="3032"/>
                      <a:ext cx="26" cy="17"/>
                    </a:xfrm>
                    <a:custGeom>
                      <a:avLst/>
                      <a:gdLst>
                        <a:gd name="T0" fmla="*/ 25 w 26"/>
                        <a:gd name="T1" fmla="*/ 0 h 17"/>
                        <a:gd name="T2" fmla="*/ 0 w 26"/>
                        <a:gd name="T3" fmla="*/ 0 h 17"/>
                        <a:gd name="T4" fmla="*/ 0 w 26"/>
                        <a:gd name="T5" fmla="*/ 16 h 17"/>
                        <a:gd name="T6" fmla="*/ 25 w 26"/>
                        <a:gd name="T7" fmla="*/ 16 h 17"/>
                        <a:gd name="T8" fmla="*/ 25 w 26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7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5" y="16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33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3170" y="3028"/>
                      <a:ext cx="26" cy="18"/>
                    </a:xfrm>
                    <a:custGeom>
                      <a:avLst/>
                      <a:gdLst>
                        <a:gd name="T0" fmla="*/ 25 w 26"/>
                        <a:gd name="T1" fmla="*/ 0 h 18"/>
                        <a:gd name="T2" fmla="*/ 0 w 26"/>
                        <a:gd name="T3" fmla="*/ 0 h 18"/>
                        <a:gd name="T4" fmla="*/ 0 w 26"/>
                        <a:gd name="T5" fmla="*/ 17 h 18"/>
                        <a:gd name="T6" fmla="*/ 25 w 26"/>
                        <a:gd name="T7" fmla="*/ 17 h 18"/>
                        <a:gd name="T8" fmla="*/ 25 w 26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8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5" y="17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8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126" y="2942"/>
                    <a:ext cx="20" cy="37"/>
                    <a:chOff x="3126" y="2942"/>
                    <a:chExt cx="20" cy="37"/>
                  </a:xfrm>
                </p:grpSpPr>
                <p:sp>
                  <p:nvSpPr>
                    <p:cNvPr id="1030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3126" y="2945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31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3128" y="2942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09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125" y="2978"/>
                    <a:ext cx="20" cy="37"/>
                    <a:chOff x="3125" y="2978"/>
                    <a:chExt cx="20" cy="37"/>
                  </a:xfrm>
                </p:grpSpPr>
                <p:sp>
                  <p:nvSpPr>
                    <p:cNvPr id="1028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3125" y="2981"/>
                      <a:ext cx="17" cy="34"/>
                    </a:xfrm>
                    <a:custGeom>
                      <a:avLst/>
                      <a:gdLst>
                        <a:gd name="T0" fmla="*/ 16 w 17"/>
                        <a:gd name="T1" fmla="*/ 0 h 34"/>
                        <a:gd name="T2" fmla="*/ 0 w 17"/>
                        <a:gd name="T3" fmla="*/ 0 h 34"/>
                        <a:gd name="T4" fmla="*/ 0 w 17"/>
                        <a:gd name="T5" fmla="*/ 33 h 34"/>
                        <a:gd name="T6" fmla="*/ 16 w 17"/>
                        <a:gd name="T7" fmla="*/ 33 h 34"/>
                        <a:gd name="T8" fmla="*/ 16 w 17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34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6" y="3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29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3127" y="2978"/>
                      <a:ext cx="18" cy="35"/>
                    </a:xfrm>
                    <a:custGeom>
                      <a:avLst/>
                      <a:gdLst>
                        <a:gd name="T0" fmla="*/ 17 w 18"/>
                        <a:gd name="T1" fmla="*/ 0 h 35"/>
                        <a:gd name="T2" fmla="*/ 0 w 18"/>
                        <a:gd name="T3" fmla="*/ 0 h 35"/>
                        <a:gd name="T4" fmla="*/ 0 w 18"/>
                        <a:gd name="T5" fmla="*/ 34 h 35"/>
                        <a:gd name="T6" fmla="*/ 17 w 18"/>
                        <a:gd name="T7" fmla="*/ 34 h 35"/>
                        <a:gd name="T8" fmla="*/ 17 w 18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5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4"/>
                          </a:lnTo>
                          <a:lnTo>
                            <a:pt x="17" y="34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0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025" y="2940"/>
                    <a:ext cx="19" cy="31"/>
                    <a:chOff x="3025" y="2940"/>
                    <a:chExt cx="19" cy="31"/>
                  </a:xfrm>
                </p:grpSpPr>
                <p:sp>
                  <p:nvSpPr>
                    <p:cNvPr id="1026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3025" y="2944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0 h 27"/>
                        <a:gd name="T2" fmla="*/ 0 w 17"/>
                        <a:gd name="T3" fmla="*/ 0 h 27"/>
                        <a:gd name="T4" fmla="*/ 0 w 17"/>
                        <a:gd name="T5" fmla="*/ 26 h 27"/>
                        <a:gd name="T6" fmla="*/ 16 w 17"/>
                        <a:gd name="T7" fmla="*/ 26 h 27"/>
                        <a:gd name="T8" fmla="*/ 16 w 17"/>
                        <a:gd name="T9" fmla="*/ 0 h 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7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16" y="2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27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3027" y="2940"/>
                      <a:ext cx="17" cy="28"/>
                    </a:xfrm>
                    <a:custGeom>
                      <a:avLst/>
                      <a:gdLst>
                        <a:gd name="T0" fmla="*/ 16 w 17"/>
                        <a:gd name="T1" fmla="*/ 0 h 28"/>
                        <a:gd name="T2" fmla="*/ 0 w 17"/>
                        <a:gd name="T3" fmla="*/ 0 h 28"/>
                        <a:gd name="T4" fmla="*/ 0 w 17"/>
                        <a:gd name="T5" fmla="*/ 27 h 28"/>
                        <a:gd name="T6" fmla="*/ 16 w 17"/>
                        <a:gd name="T7" fmla="*/ 27 h 28"/>
                        <a:gd name="T8" fmla="*/ 16 w 17"/>
                        <a:gd name="T9" fmla="*/ 0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7"/>
                          </a:lnTo>
                          <a:lnTo>
                            <a:pt x="16" y="2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1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161" y="2940"/>
                    <a:ext cx="19" cy="82"/>
                    <a:chOff x="3161" y="2940"/>
                    <a:chExt cx="19" cy="82"/>
                  </a:xfrm>
                </p:grpSpPr>
                <p:sp>
                  <p:nvSpPr>
                    <p:cNvPr id="1024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161" y="2944"/>
                      <a:ext cx="18" cy="78"/>
                    </a:xfrm>
                    <a:custGeom>
                      <a:avLst/>
                      <a:gdLst>
                        <a:gd name="T0" fmla="*/ 17 w 18"/>
                        <a:gd name="T1" fmla="*/ 0 h 78"/>
                        <a:gd name="T2" fmla="*/ 0 w 18"/>
                        <a:gd name="T3" fmla="*/ 0 h 78"/>
                        <a:gd name="T4" fmla="*/ 0 w 18"/>
                        <a:gd name="T5" fmla="*/ 77 h 78"/>
                        <a:gd name="T6" fmla="*/ 17 w 18"/>
                        <a:gd name="T7" fmla="*/ 77 h 78"/>
                        <a:gd name="T8" fmla="*/ 17 w 18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8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7" y="7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25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162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2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085" y="2907"/>
                    <a:ext cx="21" cy="21"/>
                    <a:chOff x="3085" y="2907"/>
                    <a:chExt cx="21" cy="21"/>
                  </a:xfrm>
                </p:grpSpPr>
                <p:sp>
                  <p:nvSpPr>
                    <p:cNvPr id="1022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3085" y="2911"/>
                      <a:ext cx="20" cy="17"/>
                    </a:xfrm>
                    <a:custGeom>
                      <a:avLst/>
                      <a:gdLst>
                        <a:gd name="T0" fmla="*/ 19 w 20"/>
                        <a:gd name="T1" fmla="*/ 0 h 17"/>
                        <a:gd name="T2" fmla="*/ 0 w 20"/>
                        <a:gd name="T3" fmla="*/ 0 h 17"/>
                        <a:gd name="T4" fmla="*/ 0 w 20"/>
                        <a:gd name="T5" fmla="*/ 16 h 17"/>
                        <a:gd name="T6" fmla="*/ 19 w 20"/>
                        <a:gd name="T7" fmla="*/ 16 h 17"/>
                        <a:gd name="T8" fmla="*/ 19 w 2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" h="17">
                          <a:moveTo>
                            <a:pt x="1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9" y="16"/>
                          </a:lnTo>
                          <a:lnTo>
                            <a:pt x="1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23" name="Freeform 54"/>
                    <p:cNvSpPr>
                      <a:spLocks/>
                    </p:cNvSpPr>
                    <p:nvPr/>
                  </p:nvSpPr>
                  <p:spPr bwMode="auto">
                    <a:xfrm>
                      <a:off x="3087" y="2907"/>
                      <a:ext cx="19" cy="19"/>
                    </a:xfrm>
                    <a:custGeom>
                      <a:avLst/>
                      <a:gdLst>
                        <a:gd name="T0" fmla="*/ 18 w 19"/>
                        <a:gd name="T1" fmla="*/ 0 h 19"/>
                        <a:gd name="T2" fmla="*/ 0 w 19"/>
                        <a:gd name="T3" fmla="*/ 0 h 19"/>
                        <a:gd name="T4" fmla="*/ 0 w 19"/>
                        <a:gd name="T5" fmla="*/ 18 h 19"/>
                        <a:gd name="T6" fmla="*/ 18 w 19"/>
                        <a:gd name="T7" fmla="*/ 18 h 19"/>
                        <a:gd name="T8" fmla="*/ 18 w 19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19">
                          <a:moveTo>
                            <a:pt x="18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18" y="18"/>
                          </a:lnTo>
                          <a:lnTo>
                            <a:pt x="18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3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2904" y="2924"/>
                    <a:ext cx="24" cy="21"/>
                    <a:chOff x="2904" y="2924"/>
                    <a:chExt cx="24" cy="21"/>
                  </a:xfrm>
                </p:grpSpPr>
                <p:sp>
                  <p:nvSpPr>
                    <p:cNvPr id="1020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2904" y="2926"/>
                      <a:ext cx="21" cy="19"/>
                    </a:xfrm>
                    <a:custGeom>
                      <a:avLst/>
                      <a:gdLst>
                        <a:gd name="T0" fmla="*/ 20 w 21"/>
                        <a:gd name="T1" fmla="*/ 0 h 19"/>
                        <a:gd name="T2" fmla="*/ 0 w 21"/>
                        <a:gd name="T3" fmla="*/ 0 h 19"/>
                        <a:gd name="T4" fmla="*/ 0 w 21"/>
                        <a:gd name="T5" fmla="*/ 18 h 19"/>
                        <a:gd name="T6" fmla="*/ 20 w 21"/>
                        <a:gd name="T7" fmla="*/ 18 h 19"/>
                        <a:gd name="T8" fmla="*/ 20 w 21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" h="19">
                          <a:moveTo>
                            <a:pt x="20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20" y="1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21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906" y="2924"/>
                      <a:ext cx="22" cy="18"/>
                    </a:xfrm>
                    <a:custGeom>
                      <a:avLst/>
                      <a:gdLst>
                        <a:gd name="T0" fmla="*/ 21 w 22"/>
                        <a:gd name="T1" fmla="*/ 0 h 18"/>
                        <a:gd name="T2" fmla="*/ 0 w 22"/>
                        <a:gd name="T3" fmla="*/ 0 h 18"/>
                        <a:gd name="T4" fmla="*/ 0 w 22"/>
                        <a:gd name="T5" fmla="*/ 17 h 18"/>
                        <a:gd name="T6" fmla="*/ 21 w 22"/>
                        <a:gd name="T7" fmla="*/ 17 h 18"/>
                        <a:gd name="T8" fmla="*/ 21 w 22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1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1" y="17"/>
                          </a:lnTo>
                          <a:lnTo>
                            <a:pt x="21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4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2854" y="2979"/>
                    <a:ext cx="34" cy="20"/>
                    <a:chOff x="2854" y="2979"/>
                    <a:chExt cx="34" cy="20"/>
                  </a:xfrm>
                </p:grpSpPr>
                <p:sp>
                  <p:nvSpPr>
                    <p:cNvPr id="1018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2854" y="2982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19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857" y="2979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15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854" y="3003"/>
                    <a:ext cx="34" cy="20"/>
                    <a:chOff x="2854" y="3003"/>
                    <a:chExt cx="34" cy="20"/>
                  </a:xfrm>
                </p:grpSpPr>
                <p:sp>
                  <p:nvSpPr>
                    <p:cNvPr id="1016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2854" y="3006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17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2857" y="3003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1pPr>
                      <a:lvl2pPr marL="4572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2pPr>
                      <a:lvl3pPr marL="9144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3pPr>
                      <a:lvl4pPr marL="13716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4pPr>
                      <a:lvl5pPr marL="1828800" algn="l" rtl="0" fontAlgn="base">
                        <a:spcBef>
                          <a:spcPct val="0"/>
                        </a:spcBef>
                        <a:spcAft>
                          <a:spcPct val="0"/>
                        </a:spcAft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kern="1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</p:grpSp>
          </p:grpSp>
          <p:grpSp>
            <p:nvGrpSpPr>
              <p:cNvPr id="1058" name="组合 1057"/>
              <p:cNvGrpSpPr/>
              <p:nvPr/>
            </p:nvGrpSpPr>
            <p:grpSpPr>
              <a:xfrm>
                <a:off x="8070202" y="4960011"/>
                <a:ext cx="813967" cy="918048"/>
                <a:chOff x="5491074" y="4889267"/>
                <a:chExt cx="813967" cy="918048"/>
              </a:xfrm>
            </p:grpSpPr>
            <p:pic>
              <p:nvPicPr>
                <p:cNvPr id="1059" name="Picture 36"/>
                <p:cNvPicPr>
                  <a:picLocks noChangeArrowheads="1"/>
                </p:cNvPicPr>
                <p:nvPr/>
              </p:nvPicPr>
              <p:blipFill>
                <a:blip r:embed="rId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491074" y="5176348"/>
                  <a:ext cx="813967" cy="63096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1060" name="Group 4"/>
                <p:cNvGrpSpPr>
                  <a:grpSpLocks/>
                </p:cNvGrpSpPr>
                <p:nvPr/>
              </p:nvGrpSpPr>
              <p:grpSpPr bwMode="auto">
                <a:xfrm>
                  <a:off x="5541906" y="4889267"/>
                  <a:ext cx="539455" cy="298449"/>
                  <a:chOff x="2801" y="2891"/>
                  <a:chExt cx="412" cy="210"/>
                </a:xfrm>
              </p:grpSpPr>
              <p:sp>
                <p:nvSpPr>
                  <p:cNvPr id="1061" name="Freeform 5"/>
                  <p:cNvSpPr>
                    <a:spLocks/>
                  </p:cNvSpPr>
                  <p:nvPr/>
                </p:nvSpPr>
                <p:spPr bwMode="auto">
                  <a:xfrm>
                    <a:off x="2904" y="3063"/>
                    <a:ext cx="215" cy="27"/>
                  </a:xfrm>
                  <a:custGeom>
                    <a:avLst/>
                    <a:gdLst>
                      <a:gd name="T0" fmla="*/ 214 w 215"/>
                      <a:gd name="T1" fmla="*/ 0 h 27"/>
                      <a:gd name="T2" fmla="*/ 0 w 215"/>
                      <a:gd name="T3" fmla="*/ 0 h 27"/>
                      <a:gd name="T4" fmla="*/ 0 w 215"/>
                      <a:gd name="T5" fmla="*/ 26 h 27"/>
                      <a:gd name="T6" fmla="*/ 214 w 215"/>
                      <a:gd name="T7" fmla="*/ 26 h 27"/>
                      <a:gd name="T8" fmla="*/ 214 w 215"/>
                      <a:gd name="T9" fmla="*/ 0 h 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5" h="27">
                        <a:moveTo>
                          <a:pt x="214" y="0"/>
                        </a:moveTo>
                        <a:lnTo>
                          <a:pt x="0" y="0"/>
                        </a:lnTo>
                        <a:lnTo>
                          <a:pt x="0" y="26"/>
                        </a:lnTo>
                        <a:lnTo>
                          <a:pt x="214" y="26"/>
                        </a:lnTo>
                        <a:lnTo>
                          <a:pt x="214" y="0"/>
                        </a:lnTo>
                      </a:path>
                    </a:pathLst>
                  </a:custGeom>
                  <a:solidFill>
                    <a:srgbClr val="FFCC33"/>
                  </a:solidFill>
                  <a:ln w="9525" cap="rnd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1062" name="Group 6"/>
                  <p:cNvGrpSpPr>
                    <a:grpSpLocks/>
                  </p:cNvGrpSpPr>
                  <p:nvPr/>
                </p:nvGrpSpPr>
                <p:grpSpPr bwMode="auto">
                  <a:xfrm>
                    <a:off x="2922" y="3067"/>
                    <a:ext cx="189" cy="18"/>
                    <a:chOff x="2922" y="3067"/>
                    <a:chExt cx="189" cy="18"/>
                  </a:xfrm>
                </p:grpSpPr>
                <p:sp>
                  <p:nvSpPr>
                    <p:cNvPr id="1104" name="Line 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1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5" name="Line 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6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86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7" name="Line 1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7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8" name="Line 1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9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4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0" name="Line 1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35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1" name="Line 1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23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2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011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3" name="Line 1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98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4" name="Line 1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8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5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7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6" name="Line 1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60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7" name="Line 2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47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8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34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19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922" y="3067"/>
                      <a:ext cx="0" cy="18"/>
                    </a:xfrm>
                    <a:prstGeom prst="line">
                      <a:avLst/>
                    </a:prstGeom>
                    <a:noFill/>
                    <a:ln w="12699">
                      <a:solidFill>
                        <a:schemeClr val="tx1"/>
                      </a:solidFill>
                      <a:round/>
                      <a:headEnd type="none" w="sm" len="sm"/>
                      <a:tailEnd type="none" w="sm" len="sm"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sp>
                <p:nvSpPr>
                  <p:cNvPr id="1063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2845" y="2891"/>
                    <a:ext cx="368" cy="172"/>
                  </a:xfrm>
                  <a:prstGeom prst="rect">
                    <a:avLst/>
                  </a:prstGeom>
                  <a:solidFill>
                    <a:srgbClr val="ADD6A5"/>
                  </a:solidFill>
                  <a:ln w="12699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sp>
                <p:nvSpPr>
                  <p:cNvPr id="1064" name="Freeform 24"/>
                  <p:cNvSpPr>
                    <a:spLocks/>
                  </p:cNvSpPr>
                  <p:nvPr/>
                </p:nvSpPr>
                <p:spPr bwMode="auto">
                  <a:xfrm>
                    <a:off x="2813" y="2895"/>
                    <a:ext cx="25" cy="206"/>
                  </a:xfrm>
                  <a:custGeom>
                    <a:avLst/>
                    <a:gdLst>
                      <a:gd name="T0" fmla="*/ 0 w 25"/>
                      <a:gd name="T1" fmla="*/ 0 h 206"/>
                      <a:gd name="T2" fmla="*/ 24 w 25"/>
                      <a:gd name="T3" fmla="*/ 0 h 206"/>
                      <a:gd name="T4" fmla="*/ 24 w 25"/>
                      <a:gd name="T5" fmla="*/ 205 h 206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5" h="206">
                        <a:moveTo>
                          <a:pt x="0" y="0"/>
                        </a:moveTo>
                        <a:lnTo>
                          <a:pt x="24" y="0"/>
                        </a:lnTo>
                        <a:lnTo>
                          <a:pt x="24" y="205"/>
                        </a:lnTo>
                      </a:path>
                    </a:pathLst>
                  </a:custGeom>
                  <a:noFill/>
                  <a:ln w="25399" cap="rnd" cmpd="sng">
                    <a:solidFill>
                      <a:schemeClr val="tx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defPPr>
                      <a:defRPr lang="zh-CN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endParaRPr lang="zh-CN" altLang="en-US" sz="1600">
                      <a:latin typeface="Calibri" panose="020F0502020204030204" pitchFamily="34" charset="0"/>
                      <a:ea typeface="华文楷体" panose="02010600040101010101" pitchFamily="2" charset="-122"/>
                    </a:endParaRPr>
                  </a:p>
                </p:txBody>
              </p:sp>
              <p:grpSp>
                <p:nvGrpSpPr>
                  <p:cNvPr id="1065" name="Group 25"/>
                  <p:cNvGrpSpPr>
                    <a:grpSpLocks/>
                  </p:cNvGrpSpPr>
                  <p:nvPr/>
                </p:nvGrpSpPr>
                <p:grpSpPr bwMode="auto">
                  <a:xfrm>
                    <a:off x="2801" y="2935"/>
                    <a:ext cx="32" cy="23"/>
                    <a:chOff x="2801" y="2935"/>
                    <a:chExt cx="32" cy="23"/>
                  </a:xfrm>
                </p:grpSpPr>
                <p:sp>
                  <p:nvSpPr>
                    <p:cNvPr id="1102" name="Freeform 26"/>
                    <p:cNvSpPr>
                      <a:spLocks/>
                    </p:cNvSpPr>
                    <p:nvPr/>
                  </p:nvSpPr>
                  <p:spPr bwMode="auto">
                    <a:xfrm>
                      <a:off x="2801" y="2940"/>
                      <a:ext cx="23" cy="17"/>
                    </a:xfrm>
                    <a:custGeom>
                      <a:avLst/>
                      <a:gdLst>
                        <a:gd name="T0" fmla="*/ 22 w 23"/>
                        <a:gd name="T1" fmla="*/ 0 h 17"/>
                        <a:gd name="T2" fmla="*/ 0 w 23"/>
                        <a:gd name="T3" fmla="*/ 0 h 17"/>
                        <a:gd name="T4" fmla="*/ 0 w 23"/>
                        <a:gd name="T5" fmla="*/ 16 h 17"/>
                        <a:gd name="T6" fmla="*/ 22 w 23"/>
                        <a:gd name="T7" fmla="*/ 16 h 17"/>
                        <a:gd name="T8" fmla="*/ 22 w 23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3" h="17">
                          <a:moveTo>
                            <a:pt x="22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2" y="16"/>
                          </a:lnTo>
                          <a:lnTo>
                            <a:pt x="22" y="0"/>
                          </a:lnTo>
                        </a:path>
                      </a:pathLst>
                    </a:custGeom>
                    <a:solidFill>
                      <a:srgbClr val="E9E7D1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3" name="Freeform 27"/>
                    <p:cNvSpPr>
                      <a:spLocks/>
                    </p:cNvSpPr>
                    <p:nvPr/>
                  </p:nvSpPr>
                  <p:spPr bwMode="auto">
                    <a:xfrm>
                      <a:off x="2816" y="2935"/>
                      <a:ext cx="17" cy="23"/>
                    </a:xfrm>
                    <a:custGeom>
                      <a:avLst/>
                      <a:gdLst>
                        <a:gd name="T0" fmla="*/ 16 w 17"/>
                        <a:gd name="T1" fmla="*/ 0 h 23"/>
                        <a:gd name="T2" fmla="*/ 0 w 17"/>
                        <a:gd name="T3" fmla="*/ 0 h 23"/>
                        <a:gd name="T4" fmla="*/ 0 w 17"/>
                        <a:gd name="T5" fmla="*/ 22 h 23"/>
                        <a:gd name="T6" fmla="*/ 16 w 17"/>
                        <a:gd name="T7" fmla="*/ 22 h 23"/>
                        <a:gd name="T8" fmla="*/ 16 w 17"/>
                        <a:gd name="T9" fmla="*/ 0 h 23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3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2"/>
                          </a:lnTo>
                          <a:lnTo>
                            <a:pt x="16" y="22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52493E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66" name="Group 28"/>
                  <p:cNvGrpSpPr>
                    <a:grpSpLocks/>
                  </p:cNvGrpSpPr>
                  <p:nvPr/>
                </p:nvGrpSpPr>
                <p:grpSpPr bwMode="auto">
                  <a:xfrm>
                    <a:off x="3048" y="2940"/>
                    <a:ext cx="62" cy="54"/>
                    <a:chOff x="3048" y="2940"/>
                    <a:chExt cx="62" cy="54"/>
                  </a:xfrm>
                </p:grpSpPr>
                <p:sp>
                  <p:nvSpPr>
                    <p:cNvPr id="1100" name="Freeform 29"/>
                    <p:cNvSpPr>
                      <a:spLocks/>
                    </p:cNvSpPr>
                    <p:nvPr/>
                  </p:nvSpPr>
                  <p:spPr bwMode="auto">
                    <a:xfrm>
                      <a:off x="3048" y="2944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101" name="Freeform 30"/>
                    <p:cNvSpPr>
                      <a:spLocks/>
                    </p:cNvSpPr>
                    <p:nvPr/>
                  </p:nvSpPr>
                  <p:spPr bwMode="auto">
                    <a:xfrm>
                      <a:off x="3050" y="2940"/>
                      <a:ext cx="60" cy="50"/>
                    </a:xfrm>
                    <a:custGeom>
                      <a:avLst/>
                      <a:gdLst>
                        <a:gd name="T0" fmla="*/ 59 w 60"/>
                        <a:gd name="T1" fmla="*/ 0 h 50"/>
                        <a:gd name="T2" fmla="*/ 0 w 60"/>
                        <a:gd name="T3" fmla="*/ 0 h 50"/>
                        <a:gd name="T4" fmla="*/ 0 w 60"/>
                        <a:gd name="T5" fmla="*/ 49 h 50"/>
                        <a:gd name="T6" fmla="*/ 59 w 60"/>
                        <a:gd name="T7" fmla="*/ 49 h 50"/>
                        <a:gd name="T8" fmla="*/ 59 w 60"/>
                        <a:gd name="T9" fmla="*/ 0 h 50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60" h="50">
                          <a:moveTo>
                            <a:pt x="59" y="0"/>
                          </a:moveTo>
                          <a:lnTo>
                            <a:pt x="0" y="0"/>
                          </a:lnTo>
                          <a:lnTo>
                            <a:pt x="0" y="49"/>
                          </a:lnTo>
                          <a:lnTo>
                            <a:pt x="59" y="49"/>
                          </a:lnTo>
                          <a:lnTo>
                            <a:pt x="59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67" name="Group 31"/>
                  <p:cNvGrpSpPr>
                    <a:grpSpLocks/>
                  </p:cNvGrpSpPr>
                  <p:nvPr/>
                </p:nvGrpSpPr>
                <p:grpSpPr bwMode="auto">
                  <a:xfrm>
                    <a:off x="2939" y="2989"/>
                    <a:ext cx="79" cy="70"/>
                    <a:chOff x="2939" y="2989"/>
                    <a:chExt cx="79" cy="70"/>
                  </a:xfrm>
                </p:grpSpPr>
                <p:sp>
                  <p:nvSpPr>
                    <p:cNvPr id="1098" name="Freeform 32"/>
                    <p:cNvSpPr>
                      <a:spLocks/>
                    </p:cNvSpPr>
                    <p:nvPr/>
                  </p:nvSpPr>
                  <p:spPr bwMode="auto">
                    <a:xfrm>
                      <a:off x="2939" y="2993"/>
                      <a:ext cx="76" cy="66"/>
                    </a:xfrm>
                    <a:custGeom>
                      <a:avLst/>
                      <a:gdLst>
                        <a:gd name="T0" fmla="*/ 75 w 76"/>
                        <a:gd name="T1" fmla="*/ 0 h 66"/>
                        <a:gd name="T2" fmla="*/ 0 w 76"/>
                        <a:gd name="T3" fmla="*/ 0 h 66"/>
                        <a:gd name="T4" fmla="*/ 0 w 76"/>
                        <a:gd name="T5" fmla="*/ 65 h 66"/>
                        <a:gd name="T6" fmla="*/ 75 w 76"/>
                        <a:gd name="T7" fmla="*/ 65 h 66"/>
                        <a:gd name="T8" fmla="*/ 75 w 76"/>
                        <a:gd name="T9" fmla="*/ 0 h 6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6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5"/>
                          </a:lnTo>
                          <a:lnTo>
                            <a:pt x="75" y="65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99" name="Freeform 33"/>
                    <p:cNvSpPr>
                      <a:spLocks/>
                    </p:cNvSpPr>
                    <p:nvPr/>
                  </p:nvSpPr>
                  <p:spPr bwMode="auto">
                    <a:xfrm>
                      <a:off x="2942" y="2989"/>
                      <a:ext cx="76" cy="67"/>
                    </a:xfrm>
                    <a:custGeom>
                      <a:avLst/>
                      <a:gdLst>
                        <a:gd name="T0" fmla="*/ 75 w 76"/>
                        <a:gd name="T1" fmla="*/ 0 h 67"/>
                        <a:gd name="T2" fmla="*/ 0 w 76"/>
                        <a:gd name="T3" fmla="*/ 0 h 67"/>
                        <a:gd name="T4" fmla="*/ 0 w 76"/>
                        <a:gd name="T5" fmla="*/ 66 h 67"/>
                        <a:gd name="T6" fmla="*/ 75 w 76"/>
                        <a:gd name="T7" fmla="*/ 66 h 67"/>
                        <a:gd name="T8" fmla="*/ 75 w 76"/>
                        <a:gd name="T9" fmla="*/ 0 h 6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76" h="67">
                          <a:moveTo>
                            <a:pt x="75" y="0"/>
                          </a:moveTo>
                          <a:lnTo>
                            <a:pt x="0" y="0"/>
                          </a:lnTo>
                          <a:lnTo>
                            <a:pt x="0" y="66"/>
                          </a:lnTo>
                          <a:lnTo>
                            <a:pt x="75" y="66"/>
                          </a:lnTo>
                          <a:lnTo>
                            <a:pt x="7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68" name="Group 34"/>
                  <p:cNvGrpSpPr>
                    <a:grpSpLocks/>
                  </p:cNvGrpSpPr>
                  <p:nvPr/>
                </p:nvGrpSpPr>
                <p:grpSpPr bwMode="auto">
                  <a:xfrm>
                    <a:off x="3186" y="2940"/>
                    <a:ext cx="20" cy="82"/>
                    <a:chOff x="3186" y="2940"/>
                    <a:chExt cx="20" cy="82"/>
                  </a:xfrm>
                </p:grpSpPr>
                <p:sp>
                  <p:nvSpPr>
                    <p:cNvPr id="1096" name="Freeform 35"/>
                    <p:cNvSpPr>
                      <a:spLocks/>
                    </p:cNvSpPr>
                    <p:nvPr/>
                  </p:nvSpPr>
                  <p:spPr bwMode="auto">
                    <a:xfrm>
                      <a:off x="3186" y="2944"/>
                      <a:ext cx="17" cy="78"/>
                    </a:xfrm>
                    <a:custGeom>
                      <a:avLst/>
                      <a:gdLst>
                        <a:gd name="T0" fmla="*/ 16 w 17"/>
                        <a:gd name="T1" fmla="*/ 0 h 78"/>
                        <a:gd name="T2" fmla="*/ 0 w 17"/>
                        <a:gd name="T3" fmla="*/ 0 h 78"/>
                        <a:gd name="T4" fmla="*/ 0 w 17"/>
                        <a:gd name="T5" fmla="*/ 77 h 78"/>
                        <a:gd name="T6" fmla="*/ 16 w 17"/>
                        <a:gd name="T7" fmla="*/ 77 h 78"/>
                        <a:gd name="T8" fmla="*/ 16 w 17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7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6" y="7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97" name="Freeform 36"/>
                    <p:cNvSpPr>
                      <a:spLocks/>
                    </p:cNvSpPr>
                    <p:nvPr/>
                  </p:nvSpPr>
                  <p:spPr bwMode="auto">
                    <a:xfrm>
                      <a:off x="3188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69" name="Group 37"/>
                  <p:cNvGrpSpPr>
                    <a:grpSpLocks/>
                  </p:cNvGrpSpPr>
                  <p:nvPr/>
                </p:nvGrpSpPr>
                <p:grpSpPr bwMode="auto">
                  <a:xfrm>
                    <a:off x="3168" y="3028"/>
                    <a:ext cx="28" cy="21"/>
                    <a:chOff x="3168" y="3028"/>
                    <a:chExt cx="28" cy="21"/>
                  </a:xfrm>
                </p:grpSpPr>
                <p:sp>
                  <p:nvSpPr>
                    <p:cNvPr id="1094" name="Freeform 38"/>
                    <p:cNvSpPr>
                      <a:spLocks/>
                    </p:cNvSpPr>
                    <p:nvPr/>
                  </p:nvSpPr>
                  <p:spPr bwMode="auto">
                    <a:xfrm>
                      <a:off x="3168" y="3032"/>
                      <a:ext cx="26" cy="17"/>
                    </a:xfrm>
                    <a:custGeom>
                      <a:avLst/>
                      <a:gdLst>
                        <a:gd name="T0" fmla="*/ 25 w 26"/>
                        <a:gd name="T1" fmla="*/ 0 h 17"/>
                        <a:gd name="T2" fmla="*/ 0 w 26"/>
                        <a:gd name="T3" fmla="*/ 0 h 17"/>
                        <a:gd name="T4" fmla="*/ 0 w 26"/>
                        <a:gd name="T5" fmla="*/ 16 h 17"/>
                        <a:gd name="T6" fmla="*/ 25 w 26"/>
                        <a:gd name="T7" fmla="*/ 16 h 17"/>
                        <a:gd name="T8" fmla="*/ 25 w 26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7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5" y="16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95" name="Freeform 39"/>
                    <p:cNvSpPr>
                      <a:spLocks/>
                    </p:cNvSpPr>
                    <p:nvPr/>
                  </p:nvSpPr>
                  <p:spPr bwMode="auto">
                    <a:xfrm>
                      <a:off x="3170" y="3028"/>
                      <a:ext cx="26" cy="18"/>
                    </a:xfrm>
                    <a:custGeom>
                      <a:avLst/>
                      <a:gdLst>
                        <a:gd name="T0" fmla="*/ 25 w 26"/>
                        <a:gd name="T1" fmla="*/ 0 h 18"/>
                        <a:gd name="T2" fmla="*/ 0 w 26"/>
                        <a:gd name="T3" fmla="*/ 0 h 18"/>
                        <a:gd name="T4" fmla="*/ 0 w 26"/>
                        <a:gd name="T5" fmla="*/ 17 h 18"/>
                        <a:gd name="T6" fmla="*/ 25 w 26"/>
                        <a:gd name="T7" fmla="*/ 17 h 18"/>
                        <a:gd name="T8" fmla="*/ 25 w 26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6" h="18">
                          <a:moveTo>
                            <a:pt x="25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5" y="17"/>
                          </a:lnTo>
                          <a:lnTo>
                            <a:pt x="25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0" name="Group 40"/>
                  <p:cNvGrpSpPr>
                    <a:grpSpLocks/>
                  </p:cNvGrpSpPr>
                  <p:nvPr/>
                </p:nvGrpSpPr>
                <p:grpSpPr bwMode="auto">
                  <a:xfrm>
                    <a:off x="3126" y="2942"/>
                    <a:ext cx="20" cy="37"/>
                    <a:chOff x="3126" y="2942"/>
                    <a:chExt cx="20" cy="37"/>
                  </a:xfrm>
                </p:grpSpPr>
                <p:sp>
                  <p:nvSpPr>
                    <p:cNvPr id="1092" name="Freeform 41"/>
                    <p:cNvSpPr>
                      <a:spLocks/>
                    </p:cNvSpPr>
                    <p:nvPr/>
                  </p:nvSpPr>
                  <p:spPr bwMode="auto">
                    <a:xfrm>
                      <a:off x="3126" y="2945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93" name="Freeform 42"/>
                    <p:cNvSpPr>
                      <a:spLocks/>
                    </p:cNvSpPr>
                    <p:nvPr/>
                  </p:nvSpPr>
                  <p:spPr bwMode="auto">
                    <a:xfrm>
                      <a:off x="3128" y="2942"/>
                      <a:ext cx="18" cy="34"/>
                    </a:xfrm>
                    <a:custGeom>
                      <a:avLst/>
                      <a:gdLst>
                        <a:gd name="T0" fmla="*/ 17 w 18"/>
                        <a:gd name="T1" fmla="*/ 0 h 34"/>
                        <a:gd name="T2" fmla="*/ 0 w 18"/>
                        <a:gd name="T3" fmla="*/ 0 h 34"/>
                        <a:gd name="T4" fmla="*/ 0 w 18"/>
                        <a:gd name="T5" fmla="*/ 33 h 34"/>
                        <a:gd name="T6" fmla="*/ 17 w 18"/>
                        <a:gd name="T7" fmla="*/ 33 h 34"/>
                        <a:gd name="T8" fmla="*/ 17 w 18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4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7" y="33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1" name="Group 43"/>
                  <p:cNvGrpSpPr>
                    <a:grpSpLocks/>
                  </p:cNvGrpSpPr>
                  <p:nvPr/>
                </p:nvGrpSpPr>
                <p:grpSpPr bwMode="auto">
                  <a:xfrm>
                    <a:off x="3125" y="2978"/>
                    <a:ext cx="20" cy="37"/>
                    <a:chOff x="3125" y="2978"/>
                    <a:chExt cx="20" cy="37"/>
                  </a:xfrm>
                </p:grpSpPr>
                <p:sp>
                  <p:nvSpPr>
                    <p:cNvPr id="1090" name="Freeform 44"/>
                    <p:cNvSpPr>
                      <a:spLocks/>
                    </p:cNvSpPr>
                    <p:nvPr/>
                  </p:nvSpPr>
                  <p:spPr bwMode="auto">
                    <a:xfrm>
                      <a:off x="3125" y="2981"/>
                      <a:ext cx="17" cy="34"/>
                    </a:xfrm>
                    <a:custGeom>
                      <a:avLst/>
                      <a:gdLst>
                        <a:gd name="T0" fmla="*/ 16 w 17"/>
                        <a:gd name="T1" fmla="*/ 0 h 34"/>
                        <a:gd name="T2" fmla="*/ 0 w 17"/>
                        <a:gd name="T3" fmla="*/ 0 h 34"/>
                        <a:gd name="T4" fmla="*/ 0 w 17"/>
                        <a:gd name="T5" fmla="*/ 33 h 34"/>
                        <a:gd name="T6" fmla="*/ 16 w 17"/>
                        <a:gd name="T7" fmla="*/ 33 h 34"/>
                        <a:gd name="T8" fmla="*/ 16 w 17"/>
                        <a:gd name="T9" fmla="*/ 0 h 3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34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33"/>
                          </a:lnTo>
                          <a:lnTo>
                            <a:pt x="16" y="33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91" name="Freeform 45"/>
                    <p:cNvSpPr>
                      <a:spLocks/>
                    </p:cNvSpPr>
                    <p:nvPr/>
                  </p:nvSpPr>
                  <p:spPr bwMode="auto">
                    <a:xfrm>
                      <a:off x="3127" y="2978"/>
                      <a:ext cx="18" cy="35"/>
                    </a:xfrm>
                    <a:custGeom>
                      <a:avLst/>
                      <a:gdLst>
                        <a:gd name="T0" fmla="*/ 17 w 18"/>
                        <a:gd name="T1" fmla="*/ 0 h 35"/>
                        <a:gd name="T2" fmla="*/ 0 w 18"/>
                        <a:gd name="T3" fmla="*/ 0 h 35"/>
                        <a:gd name="T4" fmla="*/ 0 w 18"/>
                        <a:gd name="T5" fmla="*/ 34 h 35"/>
                        <a:gd name="T6" fmla="*/ 17 w 18"/>
                        <a:gd name="T7" fmla="*/ 34 h 35"/>
                        <a:gd name="T8" fmla="*/ 17 w 18"/>
                        <a:gd name="T9" fmla="*/ 0 h 3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35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34"/>
                          </a:lnTo>
                          <a:lnTo>
                            <a:pt x="17" y="34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2" name="Group 46"/>
                  <p:cNvGrpSpPr>
                    <a:grpSpLocks/>
                  </p:cNvGrpSpPr>
                  <p:nvPr/>
                </p:nvGrpSpPr>
                <p:grpSpPr bwMode="auto">
                  <a:xfrm>
                    <a:off x="3025" y="2940"/>
                    <a:ext cx="19" cy="31"/>
                    <a:chOff x="3025" y="2940"/>
                    <a:chExt cx="19" cy="31"/>
                  </a:xfrm>
                </p:grpSpPr>
                <p:sp>
                  <p:nvSpPr>
                    <p:cNvPr id="1088" name="Freeform 47"/>
                    <p:cNvSpPr>
                      <a:spLocks/>
                    </p:cNvSpPr>
                    <p:nvPr/>
                  </p:nvSpPr>
                  <p:spPr bwMode="auto">
                    <a:xfrm>
                      <a:off x="3025" y="2944"/>
                      <a:ext cx="17" cy="27"/>
                    </a:xfrm>
                    <a:custGeom>
                      <a:avLst/>
                      <a:gdLst>
                        <a:gd name="T0" fmla="*/ 16 w 17"/>
                        <a:gd name="T1" fmla="*/ 0 h 27"/>
                        <a:gd name="T2" fmla="*/ 0 w 17"/>
                        <a:gd name="T3" fmla="*/ 0 h 27"/>
                        <a:gd name="T4" fmla="*/ 0 w 17"/>
                        <a:gd name="T5" fmla="*/ 26 h 27"/>
                        <a:gd name="T6" fmla="*/ 16 w 17"/>
                        <a:gd name="T7" fmla="*/ 26 h 27"/>
                        <a:gd name="T8" fmla="*/ 16 w 17"/>
                        <a:gd name="T9" fmla="*/ 0 h 2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7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6"/>
                          </a:lnTo>
                          <a:lnTo>
                            <a:pt x="16" y="26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89" name="Freeform 48"/>
                    <p:cNvSpPr>
                      <a:spLocks/>
                    </p:cNvSpPr>
                    <p:nvPr/>
                  </p:nvSpPr>
                  <p:spPr bwMode="auto">
                    <a:xfrm>
                      <a:off x="3027" y="2940"/>
                      <a:ext cx="17" cy="28"/>
                    </a:xfrm>
                    <a:custGeom>
                      <a:avLst/>
                      <a:gdLst>
                        <a:gd name="T0" fmla="*/ 16 w 17"/>
                        <a:gd name="T1" fmla="*/ 0 h 28"/>
                        <a:gd name="T2" fmla="*/ 0 w 17"/>
                        <a:gd name="T3" fmla="*/ 0 h 28"/>
                        <a:gd name="T4" fmla="*/ 0 w 17"/>
                        <a:gd name="T5" fmla="*/ 27 h 28"/>
                        <a:gd name="T6" fmla="*/ 16 w 17"/>
                        <a:gd name="T7" fmla="*/ 27 h 28"/>
                        <a:gd name="T8" fmla="*/ 16 w 17"/>
                        <a:gd name="T9" fmla="*/ 0 h 2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7" h="28">
                          <a:moveTo>
                            <a:pt x="16" y="0"/>
                          </a:moveTo>
                          <a:lnTo>
                            <a:pt x="0" y="0"/>
                          </a:lnTo>
                          <a:lnTo>
                            <a:pt x="0" y="27"/>
                          </a:lnTo>
                          <a:lnTo>
                            <a:pt x="16" y="27"/>
                          </a:lnTo>
                          <a:lnTo>
                            <a:pt x="16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3" name="Group 49"/>
                  <p:cNvGrpSpPr>
                    <a:grpSpLocks/>
                  </p:cNvGrpSpPr>
                  <p:nvPr/>
                </p:nvGrpSpPr>
                <p:grpSpPr bwMode="auto">
                  <a:xfrm>
                    <a:off x="3161" y="2940"/>
                    <a:ext cx="19" cy="82"/>
                    <a:chOff x="3161" y="2940"/>
                    <a:chExt cx="19" cy="82"/>
                  </a:xfrm>
                </p:grpSpPr>
                <p:sp>
                  <p:nvSpPr>
                    <p:cNvPr id="1086" name="Freeform 50"/>
                    <p:cNvSpPr>
                      <a:spLocks/>
                    </p:cNvSpPr>
                    <p:nvPr/>
                  </p:nvSpPr>
                  <p:spPr bwMode="auto">
                    <a:xfrm>
                      <a:off x="3161" y="2944"/>
                      <a:ext cx="18" cy="78"/>
                    </a:xfrm>
                    <a:custGeom>
                      <a:avLst/>
                      <a:gdLst>
                        <a:gd name="T0" fmla="*/ 17 w 18"/>
                        <a:gd name="T1" fmla="*/ 0 h 78"/>
                        <a:gd name="T2" fmla="*/ 0 w 18"/>
                        <a:gd name="T3" fmla="*/ 0 h 78"/>
                        <a:gd name="T4" fmla="*/ 0 w 18"/>
                        <a:gd name="T5" fmla="*/ 77 h 78"/>
                        <a:gd name="T6" fmla="*/ 17 w 18"/>
                        <a:gd name="T7" fmla="*/ 77 h 78"/>
                        <a:gd name="T8" fmla="*/ 17 w 18"/>
                        <a:gd name="T9" fmla="*/ 0 h 7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8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7"/>
                          </a:lnTo>
                          <a:lnTo>
                            <a:pt x="17" y="77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87" name="Freeform 51"/>
                    <p:cNvSpPr>
                      <a:spLocks/>
                    </p:cNvSpPr>
                    <p:nvPr/>
                  </p:nvSpPr>
                  <p:spPr bwMode="auto">
                    <a:xfrm>
                      <a:off x="3162" y="2940"/>
                      <a:ext cx="18" cy="79"/>
                    </a:xfrm>
                    <a:custGeom>
                      <a:avLst/>
                      <a:gdLst>
                        <a:gd name="T0" fmla="*/ 17 w 18"/>
                        <a:gd name="T1" fmla="*/ 0 h 79"/>
                        <a:gd name="T2" fmla="*/ 0 w 18"/>
                        <a:gd name="T3" fmla="*/ 0 h 79"/>
                        <a:gd name="T4" fmla="*/ 0 w 18"/>
                        <a:gd name="T5" fmla="*/ 78 h 79"/>
                        <a:gd name="T6" fmla="*/ 17 w 18"/>
                        <a:gd name="T7" fmla="*/ 78 h 79"/>
                        <a:gd name="T8" fmla="*/ 17 w 18"/>
                        <a:gd name="T9" fmla="*/ 0 h 7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8" h="79">
                          <a:moveTo>
                            <a:pt x="17" y="0"/>
                          </a:moveTo>
                          <a:lnTo>
                            <a:pt x="0" y="0"/>
                          </a:lnTo>
                          <a:lnTo>
                            <a:pt x="0" y="78"/>
                          </a:lnTo>
                          <a:lnTo>
                            <a:pt x="17" y="78"/>
                          </a:lnTo>
                          <a:lnTo>
                            <a:pt x="17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4" name="Group 52"/>
                  <p:cNvGrpSpPr>
                    <a:grpSpLocks/>
                  </p:cNvGrpSpPr>
                  <p:nvPr/>
                </p:nvGrpSpPr>
                <p:grpSpPr bwMode="auto">
                  <a:xfrm>
                    <a:off x="3085" y="2907"/>
                    <a:ext cx="21" cy="21"/>
                    <a:chOff x="3085" y="2907"/>
                    <a:chExt cx="21" cy="21"/>
                  </a:xfrm>
                </p:grpSpPr>
                <p:sp>
                  <p:nvSpPr>
                    <p:cNvPr id="1084" name="Freeform 53"/>
                    <p:cNvSpPr>
                      <a:spLocks/>
                    </p:cNvSpPr>
                    <p:nvPr/>
                  </p:nvSpPr>
                  <p:spPr bwMode="auto">
                    <a:xfrm>
                      <a:off x="3085" y="2911"/>
                      <a:ext cx="20" cy="17"/>
                    </a:xfrm>
                    <a:custGeom>
                      <a:avLst/>
                      <a:gdLst>
                        <a:gd name="T0" fmla="*/ 19 w 20"/>
                        <a:gd name="T1" fmla="*/ 0 h 17"/>
                        <a:gd name="T2" fmla="*/ 0 w 20"/>
                        <a:gd name="T3" fmla="*/ 0 h 17"/>
                        <a:gd name="T4" fmla="*/ 0 w 20"/>
                        <a:gd name="T5" fmla="*/ 16 h 17"/>
                        <a:gd name="T6" fmla="*/ 19 w 20"/>
                        <a:gd name="T7" fmla="*/ 16 h 17"/>
                        <a:gd name="T8" fmla="*/ 19 w 2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0" h="17">
                          <a:moveTo>
                            <a:pt x="1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19" y="16"/>
                          </a:lnTo>
                          <a:lnTo>
                            <a:pt x="1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85" name="Freeform 54"/>
                    <p:cNvSpPr>
                      <a:spLocks/>
                    </p:cNvSpPr>
                    <p:nvPr/>
                  </p:nvSpPr>
                  <p:spPr bwMode="auto">
                    <a:xfrm>
                      <a:off x="3087" y="2907"/>
                      <a:ext cx="19" cy="19"/>
                    </a:xfrm>
                    <a:custGeom>
                      <a:avLst/>
                      <a:gdLst>
                        <a:gd name="T0" fmla="*/ 18 w 19"/>
                        <a:gd name="T1" fmla="*/ 0 h 19"/>
                        <a:gd name="T2" fmla="*/ 0 w 19"/>
                        <a:gd name="T3" fmla="*/ 0 h 19"/>
                        <a:gd name="T4" fmla="*/ 0 w 19"/>
                        <a:gd name="T5" fmla="*/ 18 h 19"/>
                        <a:gd name="T6" fmla="*/ 18 w 19"/>
                        <a:gd name="T7" fmla="*/ 18 h 19"/>
                        <a:gd name="T8" fmla="*/ 18 w 19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19" h="19">
                          <a:moveTo>
                            <a:pt x="18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18" y="18"/>
                          </a:lnTo>
                          <a:lnTo>
                            <a:pt x="18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5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2904" y="2924"/>
                    <a:ext cx="24" cy="21"/>
                    <a:chOff x="2904" y="2924"/>
                    <a:chExt cx="24" cy="21"/>
                  </a:xfrm>
                </p:grpSpPr>
                <p:sp>
                  <p:nvSpPr>
                    <p:cNvPr id="1082" name="Freeform 56"/>
                    <p:cNvSpPr>
                      <a:spLocks/>
                    </p:cNvSpPr>
                    <p:nvPr/>
                  </p:nvSpPr>
                  <p:spPr bwMode="auto">
                    <a:xfrm>
                      <a:off x="2904" y="2926"/>
                      <a:ext cx="21" cy="19"/>
                    </a:xfrm>
                    <a:custGeom>
                      <a:avLst/>
                      <a:gdLst>
                        <a:gd name="T0" fmla="*/ 20 w 21"/>
                        <a:gd name="T1" fmla="*/ 0 h 19"/>
                        <a:gd name="T2" fmla="*/ 0 w 21"/>
                        <a:gd name="T3" fmla="*/ 0 h 19"/>
                        <a:gd name="T4" fmla="*/ 0 w 21"/>
                        <a:gd name="T5" fmla="*/ 18 h 19"/>
                        <a:gd name="T6" fmla="*/ 20 w 21"/>
                        <a:gd name="T7" fmla="*/ 18 h 19"/>
                        <a:gd name="T8" fmla="*/ 20 w 21"/>
                        <a:gd name="T9" fmla="*/ 0 h 1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1" h="19">
                          <a:moveTo>
                            <a:pt x="20" y="0"/>
                          </a:moveTo>
                          <a:lnTo>
                            <a:pt x="0" y="0"/>
                          </a:lnTo>
                          <a:lnTo>
                            <a:pt x="0" y="18"/>
                          </a:lnTo>
                          <a:lnTo>
                            <a:pt x="20" y="1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83" name="Freeform 57"/>
                    <p:cNvSpPr>
                      <a:spLocks/>
                    </p:cNvSpPr>
                    <p:nvPr/>
                  </p:nvSpPr>
                  <p:spPr bwMode="auto">
                    <a:xfrm>
                      <a:off x="2906" y="2924"/>
                      <a:ext cx="22" cy="18"/>
                    </a:xfrm>
                    <a:custGeom>
                      <a:avLst/>
                      <a:gdLst>
                        <a:gd name="T0" fmla="*/ 21 w 22"/>
                        <a:gd name="T1" fmla="*/ 0 h 18"/>
                        <a:gd name="T2" fmla="*/ 0 w 22"/>
                        <a:gd name="T3" fmla="*/ 0 h 18"/>
                        <a:gd name="T4" fmla="*/ 0 w 22"/>
                        <a:gd name="T5" fmla="*/ 17 h 18"/>
                        <a:gd name="T6" fmla="*/ 21 w 22"/>
                        <a:gd name="T7" fmla="*/ 17 h 18"/>
                        <a:gd name="T8" fmla="*/ 21 w 22"/>
                        <a:gd name="T9" fmla="*/ 0 h 18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22" h="18">
                          <a:moveTo>
                            <a:pt x="21" y="0"/>
                          </a:moveTo>
                          <a:lnTo>
                            <a:pt x="0" y="0"/>
                          </a:lnTo>
                          <a:lnTo>
                            <a:pt x="0" y="17"/>
                          </a:lnTo>
                          <a:lnTo>
                            <a:pt x="21" y="17"/>
                          </a:lnTo>
                          <a:lnTo>
                            <a:pt x="21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6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2854" y="2979"/>
                    <a:ext cx="34" cy="20"/>
                    <a:chOff x="2854" y="2979"/>
                    <a:chExt cx="34" cy="20"/>
                  </a:xfrm>
                </p:grpSpPr>
                <p:sp>
                  <p:nvSpPr>
                    <p:cNvPr id="1080" name="Freeform 59"/>
                    <p:cNvSpPr>
                      <a:spLocks/>
                    </p:cNvSpPr>
                    <p:nvPr/>
                  </p:nvSpPr>
                  <p:spPr bwMode="auto">
                    <a:xfrm>
                      <a:off x="2854" y="2982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81" name="Freeform 60"/>
                    <p:cNvSpPr>
                      <a:spLocks/>
                    </p:cNvSpPr>
                    <p:nvPr/>
                  </p:nvSpPr>
                  <p:spPr bwMode="auto">
                    <a:xfrm>
                      <a:off x="2857" y="2979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  <p:grpSp>
                <p:nvGrpSpPr>
                  <p:cNvPr id="1077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2854" y="3003"/>
                    <a:ext cx="34" cy="20"/>
                    <a:chOff x="2854" y="3003"/>
                    <a:chExt cx="34" cy="20"/>
                  </a:xfrm>
                </p:grpSpPr>
                <p:sp>
                  <p:nvSpPr>
                    <p:cNvPr id="1078" name="Freeform 62"/>
                    <p:cNvSpPr>
                      <a:spLocks/>
                    </p:cNvSpPr>
                    <p:nvPr/>
                  </p:nvSpPr>
                  <p:spPr bwMode="auto">
                    <a:xfrm>
                      <a:off x="2854" y="3006"/>
                      <a:ext cx="30" cy="17"/>
                    </a:xfrm>
                    <a:custGeom>
                      <a:avLst/>
                      <a:gdLst>
                        <a:gd name="T0" fmla="*/ 29 w 30"/>
                        <a:gd name="T1" fmla="*/ 0 h 17"/>
                        <a:gd name="T2" fmla="*/ 0 w 30"/>
                        <a:gd name="T3" fmla="*/ 0 h 17"/>
                        <a:gd name="T4" fmla="*/ 0 w 30"/>
                        <a:gd name="T5" fmla="*/ 16 h 17"/>
                        <a:gd name="T6" fmla="*/ 29 w 30"/>
                        <a:gd name="T7" fmla="*/ 16 h 17"/>
                        <a:gd name="T8" fmla="*/ 29 w 30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0" h="17">
                          <a:moveTo>
                            <a:pt x="29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29" y="16"/>
                          </a:lnTo>
                          <a:lnTo>
                            <a:pt x="29" y="0"/>
                          </a:lnTo>
                        </a:path>
                      </a:pathLst>
                    </a:custGeom>
                    <a:solidFill>
                      <a:srgbClr val="000000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  <p:sp>
                  <p:nvSpPr>
                    <p:cNvPr id="1079" name="Freeform 63"/>
                    <p:cNvSpPr>
                      <a:spLocks/>
                    </p:cNvSpPr>
                    <p:nvPr/>
                  </p:nvSpPr>
                  <p:spPr bwMode="auto">
                    <a:xfrm>
                      <a:off x="2857" y="3003"/>
                      <a:ext cx="31" cy="17"/>
                    </a:xfrm>
                    <a:custGeom>
                      <a:avLst/>
                      <a:gdLst>
                        <a:gd name="T0" fmla="*/ 30 w 31"/>
                        <a:gd name="T1" fmla="*/ 0 h 17"/>
                        <a:gd name="T2" fmla="*/ 0 w 31"/>
                        <a:gd name="T3" fmla="*/ 0 h 17"/>
                        <a:gd name="T4" fmla="*/ 0 w 31"/>
                        <a:gd name="T5" fmla="*/ 16 h 17"/>
                        <a:gd name="T6" fmla="*/ 30 w 31"/>
                        <a:gd name="T7" fmla="*/ 16 h 17"/>
                        <a:gd name="T8" fmla="*/ 30 w 31"/>
                        <a:gd name="T9" fmla="*/ 0 h 1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</a:cxnLst>
                      <a:rect l="0" t="0" r="r" b="b"/>
                      <a:pathLst>
                        <a:path w="31" h="17">
                          <a:moveTo>
                            <a:pt x="30" y="0"/>
                          </a:moveTo>
                          <a:lnTo>
                            <a:pt x="0" y="0"/>
                          </a:lnTo>
                          <a:lnTo>
                            <a:pt x="0" y="16"/>
                          </a:lnTo>
                          <a:lnTo>
                            <a:pt x="30" y="16"/>
                          </a:lnTo>
                          <a:lnTo>
                            <a:pt x="30" y="0"/>
                          </a:lnTo>
                        </a:path>
                      </a:pathLst>
                    </a:custGeom>
                    <a:solidFill>
                      <a:srgbClr val="716759"/>
                    </a:solidFill>
                    <a:ln w="9525" cap="rnd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>
                      <a:defPPr>
                        <a:defRPr lang="zh-CN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zh-CN" altLang="en-US" sz="1600">
                        <a:latin typeface="Calibri" panose="020F0502020204030204" pitchFamily="34" charset="0"/>
                        <a:ea typeface="华文楷体" panose="02010600040101010101" pitchFamily="2" charset="-122"/>
                      </a:endParaRPr>
                    </a:p>
                  </p:txBody>
                </p:sp>
              </p:grpSp>
            </p:grpSp>
          </p:grpSp>
          <p:sp>
            <p:nvSpPr>
              <p:cNvPr id="1120" name="Rectangle 191"/>
              <p:cNvSpPr>
                <a:spLocks noChangeArrowheads="1"/>
              </p:cNvSpPr>
              <p:nvPr/>
            </p:nvSpPr>
            <p:spPr bwMode="auto">
              <a:xfrm>
                <a:off x="6901122" y="3412830"/>
                <a:ext cx="578685" cy="36997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2075" tIns="46038" rIns="92075" bIns="46038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0" hangingPunct="0"/>
                <a:r>
                  <a:rPr kumimoji="1" lang="en-US" altLang="zh-CN" b="1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Hub</a:t>
                </a:r>
              </a:p>
            </p:txBody>
          </p:sp>
          <p:sp>
            <p:nvSpPr>
              <p:cNvPr id="1121" name="Rectangle 192"/>
              <p:cNvSpPr>
                <a:spLocks noChangeArrowheads="1"/>
              </p:cNvSpPr>
              <p:nvPr/>
            </p:nvSpPr>
            <p:spPr bwMode="auto">
              <a:xfrm>
                <a:off x="6127842" y="4595380"/>
                <a:ext cx="863681" cy="3391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square" lIns="0" tIns="46038" rIns="0" bIns="46038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algn="ctr"/>
                <a:r>
                  <a:rPr kumimoji="1" lang="zh-CN" altLang="en-US" sz="1600" b="1" dirty="0">
                    <a:solidFill>
                      <a:schemeClr val="accent5">
                        <a:lumMod val="50000"/>
                      </a:schemeClr>
                    </a:solidFill>
                    <a:latin typeface="Calibri" panose="020F0502020204030204" pitchFamily="34" charset="0"/>
                    <a:ea typeface="华文楷体" panose="02010600040101010101" pitchFamily="2" charset="-122"/>
                  </a:rPr>
                  <a:t>双绞线</a:t>
                </a:r>
                <a:endParaRPr kumimoji="1" lang="en-US" altLang="zh-CN" sz="1600" b="1" dirty="0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1125" name="Text Box 20"/>
            <p:cNvSpPr txBox="1">
              <a:spLocks noChangeArrowheads="1"/>
            </p:cNvSpPr>
            <p:nvPr/>
          </p:nvSpPr>
          <p:spPr bwMode="auto">
            <a:xfrm>
              <a:off x="7709473" y="6246694"/>
              <a:ext cx="1095172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46038" rIns="0" bIns="46038">
              <a:spAutoFit/>
            </a:bodyPr>
            <a:lstStyle>
              <a:defPPr>
                <a:defRPr lang="zh-CN"/>
              </a:defPPr>
              <a:lvl1pPr algn="ctr" fontAlgn="base">
                <a:spcBef>
                  <a:spcPct val="0"/>
                </a:spcBef>
                <a:spcAft>
                  <a:spcPct val="0"/>
                </a:spcAft>
                <a:defRPr kumimoji="1" sz="1600" b="1">
                  <a:solidFill>
                    <a:schemeClr val="accent5">
                      <a:lumMod val="50000"/>
                    </a:schemeClr>
                  </a:solidFill>
                  <a:latin typeface="Calibri" panose="020F0502020204030204" pitchFamily="34" charset="0"/>
                  <a:ea typeface="华文楷体" panose="02010600040101010101" pitchFamily="2" charset="-122"/>
                </a:defRPr>
              </a:lvl1pPr>
              <a:lvl2pPr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fontAlgn="base">
                <a:spcBef>
                  <a:spcPct val="0"/>
                </a:spcBef>
                <a:spcAft>
                  <a:spcPct val="0"/>
                </a:spcAft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>
                <a:defRPr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dirty="0"/>
                <a:t>RJ-45 </a:t>
              </a:r>
              <a:r>
                <a:rPr lang="zh-CN" altLang="en-US" dirty="0"/>
                <a:t>插头</a:t>
              </a:r>
            </a:p>
          </p:txBody>
        </p:sp>
        <p:sp>
          <p:nvSpPr>
            <p:cNvPr id="1127" name="Line 22"/>
            <p:cNvSpPr>
              <a:spLocks noChangeShapeType="1"/>
            </p:cNvSpPr>
            <p:nvPr/>
          </p:nvSpPr>
          <p:spPr bwMode="auto">
            <a:xfrm>
              <a:off x="7302391" y="4789506"/>
              <a:ext cx="758237" cy="1520797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1128" name="Line 22"/>
            <p:cNvSpPr>
              <a:spLocks noChangeShapeType="1"/>
            </p:cNvSpPr>
            <p:nvPr/>
          </p:nvSpPr>
          <p:spPr bwMode="auto">
            <a:xfrm>
              <a:off x="7306941" y="5246633"/>
              <a:ext cx="645039" cy="1043175"/>
            </a:xfrm>
            <a:prstGeom prst="line">
              <a:avLst/>
            </a:prstGeom>
            <a:noFill/>
            <a:ln w="12700">
              <a:solidFill>
                <a:srgbClr val="3333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77888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54</a:t>
            </a:fld>
            <a:endParaRPr lang="zh-CN" altLang="en-US" dirty="0"/>
          </a:p>
        </p:txBody>
      </p:sp>
      <p:sp>
        <p:nvSpPr>
          <p:cNvPr id="5" name="Line 3"/>
          <p:cNvSpPr>
            <a:spLocks noChangeShapeType="1"/>
          </p:cNvSpPr>
          <p:nvPr/>
        </p:nvSpPr>
        <p:spPr bwMode="auto">
          <a:xfrm>
            <a:off x="152400" y="3848100"/>
            <a:ext cx="8915400" cy="0"/>
          </a:xfrm>
          <a:prstGeom prst="line">
            <a:avLst/>
          </a:prstGeom>
          <a:noFill/>
          <a:ln w="38100" cmpd="dbl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554163" y="40830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547813" y="4083050"/>
            <a:ext cx="6419850" cy="488950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3965575" y="4149725"/>
            <a:ext cx="157415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以太网 </a:t>
            </a:r>
            <a:r>
              <a:rPr kumimoji="1" lang="en-US" altLang="zh-CN" sz="1600">
                <a:solidFill>
                  <a:srgbClr val="333399"/>
                </a:solidFill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8075613" y="41671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10" name="Rectangle 26"/>
          <p:cNvSpPr>
            <a:spLocks noChangeArrowheads="1"/>
          </p:cNvSpPr>
          <p:nvPr/>
        </p:nvSpPr>
        <p:spPr bwMode="auto">
          <a:xfrm>
            <a:off x="8035925" y="3213100"/>
            <a:ext cx="8431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ea typeface="黑体" panose="02010609060101010101" pitchFamily="49" charset="-122"/>
              </a:rPr>
              <a:t>MAC</a:t>
            </a:r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11" name="Line 27"/>
          <p:cNvSpPr>
            <a:spLocks noChangeShapeType="1"/>
          </p:cNvSpPr>
          <p:nvPr/>
        </p:nvSpPr>
        <p:spPr bwMode="auto">
          <a:xfrm flipH="1">
            <a:off x="1546225" y="35734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12" name="Line 28"/>
          <p:cNvSpPr>
            <a:spLocks noChangeShapeType="1"/>
          </p:cNvSpPr>
          <p:nvPr/>
        </p:nvSpPr>
        <p:spPr bwMode="auto">
          <a:xfrm>
            <a:off x="7956550" y="36449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195263" y="5076825"/>
            <a:ext cx="4086225" cy="415925"/>
          </a:xfrm>
          <a:prstGeom prst="rect">
            <a:avLst/>
          </a:prstGeom>
          <a:solidFill>
            <a:srgbClr val="FFFF99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14" name="Rectangle 30"/>
          <p:cNvSpPr>
            <a:spLocks noChangeArrowheads="1"/>
          </p:cNvSpPr>
          <p:nvPr/>
        </p:nvSpPr>
        <p:spPr bwMode="auto">
          <a:xfrm>
            <a:off x="217073" y="5119688"/>
            <a:ext cx="4042774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 dirty="0">
                <a:solidFill>
                  <a:srgbClr val="3333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10101010101010        101010101010 10101011</a:t>
            </a:r>
          </a:p>
        </p:txBody>
      </p:sp>
      <p:sp>
        <p:nvSpPr>
          <p:cNvPr id="15" name="Line 31"/>
          <p:cNvSpPr>
            <a:spLocks noChangeShapeType="1"/>
          </p:cNvSpPr>
          <p:nvPr/>
        </p:nvSpPr>
        <p:spPr bwMode="auto">
          <a:xfrm>
            <a:off x="3373438" y="5073650"/>
            <a:ext cx="0" cy="431800"/>
          </a:xfrm>
          <a:prstGeom prst="line">
            <a:avLst/>
          </a:prstGeom>
          <a:noFill/>
          <a:ln w="12700">
            <a:solidFill>
              <a:schemeClr val="folHlink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16" name="Rectangle 32"/>
          <p:cNvSpPr>
            <a:spLocks noChangeArrowheads="1"/>
          </p:cNvSpPr>
          <p:nvPr/>
        </p:nvSpPr>
        <p:spPr bwMode="auto">
          <a:xfrm>
            <a:off x="1335088" y="5530850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前同步码</a:t>
            </a:r>
          </a:p>
        </p:txBody>
      </p:sp>
      <p:sp>
        <p:nvSpPr>
          <p:cNvPr id="17" name="Rectangle 33"/>
          <p:cNvSpPr>
            <a:spLocks noChangeArrowheads="1"/>
          </p:cNvSpPr>
          <p:nvPr/>
        </p:nvSpPr>
        <p:spPr bwMode="auto">
          <a:xfrm>
            <a:off x="3348038" y="5502275"/>
            <a:ext cx="798296" cy="4837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80000"/>
              </a:lnSpc>
            </a:pPr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帧开始</a:t>
            </a:r>
          </a:p>
          <a:p>
            <a:pPr eaLnBrk="0" hangingPunct="0">
              <a:lnSpc>
                <a:spcPct val="80000"/>
              </a:lnSpc>
            </a:pPr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定界符</a:t>
            </a:r>
          </a:p>
        </p:txBody>
      </p:sp>
      <p:sp>
        <p:nvSpPr>
          <p:cNvPr id="18" name="Rectangle 34"/>
          <p:cNvSpPr>
            <a:spLocks noChangeArrowheads="1"/>
          </p:cNvSpPr>
          <p:nvPr/>
        </p:nvSpPr>
        <p:spPr bwMode="auto">
          <a:xfrm>
            <a:off x="1403350" y="4740275"/>
            <a:ext cx="6908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7 </a:t>
            </a:r>
            <a:r>
              <a:rPr kumimoji="1" lang="zh-CN" altLang="en-US" sz="1400">
                <a:solidFill>
                  <a:srgbClr val="333399"/>
                </a:solidFill>
                <a:ea typeface="黑体" panose="02010609060101010101" pitchFamily="49" charset="-122"/>
              </a:rPr>
              <a:t>字节</a:t>
            </a:r>
          </a:p>
        </p:txBody>
      </p:sp>
      <p:sp>
        <p:nvSpPr>
          <p:cNvPr id="19" name="Rectangle 35"/>
          <p:cNvSpPr>
            <a:spLocks noChangeArrowheads="1"/>
          </p:cNvSpPr>
          <p:nvPr/>
        </p:nvSpPr>
        <p:spPr bwMode="auto">
          <a:xfrm>
            <a:off x="3424238" y="4740275"/>
            <a:ext cx="6908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1 </a:t>
            </a:r>
            <a:r>
              <a:rPr kumimoji="1" lang="zh-CN" altLang="en-US" sz="1400">
                <a:solidFill>
                  <a:srgbClr val="333399"/>
                </a:solidFill>
                <a:ea typeface="黑体" panose="02010609060101010101" pitchFamily="49" charset="-122"/>
              </a:rPr>
              <a:t>字节</a:t>
            </a:r>
          </a:p>
        </p:txBody>
      </p:sp>
      <p:sp>
        <p:nvSpPr>
          <p:cNvPr id="20" name="Line 36"/>
          <p:cNvSpPr>
            <a:spLocks noChangeShapeType="1"/>
          </p:cNvSpPr>
          <p:nvPr/>
        </p:nvSpPr>
        <p:spPr bwMode="auto">
          <a:xfrm flipV="1">
            <a:off x="207963" y="4581525"/>
            <a:ext cx="292100" cy="492125"/>
          </a:xfrm>
          <a:prstGeom prst="line">
            <a:avLst/>
          </a:prstGeom>
          <a:noFill/>
          <a:ln w="127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21" name="Line 37"/>
          <p:cNvSpPr>
            <a:spLocks noChangeShapeType="1"/>
          </p:cNvSpPr>
          <p:nvPr/>
        </p:nvSpPr>
        <p:spPr bwMode="auto">
          <a:xfrm>
            <a:off x="1538288" y="4594225"/>
            <a:ext cx="2722562" cy="474663"/>
          </a:xfrm>
          <a:prstGeom prst="line">
            <a:avLst/>
          </a:prstGeom>
          <a:noFill/>
          <a:ln w="12700">
            <a:solidFill>
              <a:schemeClr val="folHlink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22" name="Text Box 38"/>
          <p:cNvSpPr txBox="1">
            <a:spLocks noChangeArrowheads="1"/>
          </p:cNvSpPr>
          <p:nvPr/>
        </p:nvSpPr>
        <p:spPr bwMode="auto">
          <a:xfrm>
            <a:off x="1746250" y="5084763"/>
            <a:ext cx="3898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ea typeface="黑体" panose="02010609060101010101" pitchFamily="49" charset="-122"/>
              </a:rPr>
              <a:t>…</a:t>
            </a:r>
          </a:p>
        </p:txBody>
      </p:sp>
      <p:sp>
        <p:nvSpPr>
          <p:cNvPr id="23" name="Rectangle 41"/>
          <p:cNvSpPr>
            <a:spLocks noChangeArrowheads="1"/>
          </p:cNvSpPr>
          <p:nvPr/>
        </p:nvSpPr>
        <p:spPr bwMode="auto">
          <a:xfrm>
            <a:off x="528638" y="4076700"/>
            <a:ext cx="1019175" cy="488950"/>
          </a:xfrm>
          <a:prstGeom prst="rect">
            <a:avLst/>
          </a:prstGeom>
          <a:solidFill>
            <a:srgbClr val="FFFF99"/>
          </a:solidFill>
          <a:ln w="9525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4" name="Rectangle 42"/>
          <p:cNvSpPr>
            <a:spLocks noChangeArrowheads="1"/>
          </p:cNvSpPr>
          <p:nvPr/>
        </p:nvSpPr>
        <p:spPr bwMode="auto">
          <a:xfrm>
            <a:off x="665163" y="4168775"/>
            <a:ext cx="69089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8 </a:t>
            </a:r>
            <a:r>
              <a:rPr kumimoji="1" lang="zh-CN" altLang="en-US" sz="1400">
                <a:solidFill>
                  <a:srgbClr val="333399"/>
                </a:solidFill>
                <a:ea typeface="黑体" panose="02010609060101010101" pitchFamily="49" charset="-122"/>
              </a:rPr>
              <a:t>字节</a:t>
            </a:r>
          </a:p>
        </p:txBody>
      </p:sp>
      <p:sp>
        <p:nvSpPr>
          <p:cNvPr id="25" name="AutoShape 43"/>
          <p:cNvSpPr>
            <a:spLocks noChangeArrowheads="1"/>
          </p:cNvSpPr>
          <p:nvPr/>
        </p:nvSpPr>
        <p:spPr bwMode="auto">
          <a:xfrm>
            <a:off x="271463" y="3721100"/>
            <a:ext cx="635000" cy="266700"/>
          </a:xfrm>
          <a:prstGeom prst="wedgeRoundRectCallout">
            <a:avLst>
              <a:gd name="adj1" fmla="val 48000"/>
              <a:gd name="adj2" fmla="val 139880"/>
              <a:gd name="adj3" fmla="val 16667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endParaRPr kumimoji="1" lang="zh-CN" altLang="zh-CN" sz="1400">
              <a:solidFill>
                <a:srgbClr val="333399"/>
              </a:solidFill>
              <a:ea typeface="黑体" panose="02010609060101010101" pitchFamily="49" charset="-122"/>
            </a:endParaRPr>
          </a:p>
        </p:txBody>
      </p:sp>
      <p:sp>
        <p:nvSpPr>
          <p:cNvPr id="26" name="Rectangle 44"/>
          <p:cNvSpPr>
            <a:spLocks noChangeArrowheads="1"/>
          </p:cNvSpPr>
          <p:nvPr/>
        </p:nvSpPr>
        <p:spPr bwMode="auto">
          <a:xfrm>
            <a:off x="296863" y="3695700"/>
            <a:ext cx="587375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400">
                <a:solidFill>
                  <a:srgbClr val="333399"/>
                </a:solidFill>
                <a:ea typeface="黑体" panose="02010609060101010101" pitchFamily="49" charset="-122"/>
              </a:rPr>
              <a:t>插入</a:t>
            </a:r>
          </a:p>
        </p:txBody>
      </p:sp>
      <p:sp>
        <p:nvSpPr>
          <p:cNvPr id="27" name="Rectangle 47"/>
          <p:cNvSpPr>
            <a:spLocks noChangeArrowheads="1"/>
          </p:cNvSpPr>
          <p:nvPr/>
        </p:nvSpPr>
        <p:spPr bwMode="auto">
          <a:xfrm>
            <a:off x="8180388" y="2324100"/>
            <a:ext cx="58189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ea typeface="黑体" panose="02010609060101010101" pitchFamily="49" charset="-122"/>
              </a:rPr>
              <a:t>IP</a:t>
            </a:r>
            <a:r>
              <a:rPr kumimoji="1" lang="zh-CN" altLang="en-US" sz="1600" dirty="0">
                <a:solidFill>
                  <a:srgbClr val="333399"/>
                </a:solidFill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28" name="Line 48"/>
          <p:cNvSpPr>
            <a:spLocks noChangeShapeType="1"/>
          </p:cNvSpPr>
          <p:nvPr/>
        </p:nvSpPr>
        <p:spPr bwMode="auto">
          <a:xfrm>
            <a:off x="8027988" y="28575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29" name="AutoShape 64"/>
          <p:cNvSpPr>
            <a:spLocks noChangeArrowheads="1"/>
          </p:cNvSpPr>
          <p:nvPr/>
        </p:nvSpPr>
        <p:spPr bwMode="auto">
          <a:xfrm rot="5400000" flipH="1">
            <a:off x="4491832" y="3809206"/>
            <a:ext cx="609600" cy="230187"/>
          </a:xfrm>
          <a:prstGeom prst="rightArrow">
            <a:avLst>
              <a:gd name="adj1" fmla="val 50000"/>
              <a:gd name="adj2" fmla="val 132426"/>
            </a:avLst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0" name="Rectangle 66"/>
          <p:cNvSpPr>
            <a:spLocks noChangeArrowheads="1"/>
          </p:cNvSpPr>
          <p:nvPr/>
        </p:nvSpPr>
        <p:spPr bwMode="auto">
          <a:xfrm>
            <a:off x="1546225" y="3141663"/>
            <a:ext cx="6421438" cy="457200"/>
          </a:xfrm>
          <a:prstGeom prst="rect">
            <a:avLst/>
          </a:prstGeom>
          <a:solidFill>
            <a:srgbClr val="FFCCFF"/>
          </a:solidFill>
          <a:ln w="12700" algn="ctr">
            <a:solidFill>
              <a:schemeClr val="folHlink"/>
            </a:solidFill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1" name="Line 67"/>
          <p:cNvSpPr>
            <a:spLocks noChangeShapeType="1"/>
          </p:cNvSpPr>
          <p:nvPr/>
        </p:nvSpPr>
        <p:spPr bwMode="auto">
          <a:xfrm>
            <a:off x="2481263" y="314166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2" name="Line 68"/>
          <p:cNvSpPr>
            <a:spLocks noChangeShapeType="1"/>
          </p:cNvSpPr>
          <p:nvPr/>
        </p:nvSpPr>
        <p:spPr bwMode="auto">
          <a:xfrm>
            <a:off x="3395663" y="314166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3" name="Line 69"/>
          <p:cNvSpPr>
            <a:spLocks noChangeShapeType="1"/>
          </p:cNvSpPr>
          <p:nvPr/>
        </p:nvSpPr>
        <p:spPr bwMode="auto">
          <a:xfrm>
            <a:off x="4310063" y="314166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4" name="Line 70"/>
          <p:cNvSpPr>
            <a:spLocks noChangeShapeType="1"/>
          </p:cNvSpPr>
          <p:nvPr/>
        </p:nvSpPr>
        <p:spPr bwMode="auto">
          <a:xfrm>
            <a:off x="7434263" y="3141663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00"/>
          </a:p>
        </p:txBody>
      </p:sp>
      <p:sp>
        <p:nvSpPr>
          <p:cNvPr id="35" name="Rectangle 71"/>
          <p:cNvSpPr>
            <a:spLocks noChangeArrowheads="1"/>
          </p:cNvSpPr>
          <p:nvPr/>
        </p:nvSpPr>
        <p:spPr bwMode="auto">
          <a:xfrm>
            <a:off x="1476375" y="3187700"/>
            <a:ext cx="1003481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目的地址</a:t>
            </a:r>
          </a:p>
        </p:txBody>
      </p:sp>
      <p:sp>
        <p:nvSpPr>
          <p:cNvPr id="36" name="Rectangle 72"/>
          <p:cNvSpPr>
            <a:spLocks noChangeArrowheads="1"/>
          </p:cNvSpPr>
          <p:nvPr/>
        </p:nvSpPr>
        <p:spPr bwMode="auto">
          <a:xfrm>
            <a:off x="2484438" y="3187700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 dirty="0">
                <a:solidFill>
                  <a:srgbClr val="333399"/>
                </a:solidFill>
                <a:ea typeface="黑体" panose="02010609060101010101" pitchFamily="49" charset="-122"/>
              </a:rPr>
              <a:t>源地址</a:t>
            </a:r>
          </a:p>
        </p:txBody>
      </p:sp>
      <p:sp>
        <p:nvSpPr>
          <p:cNvPr id="37" name="Rectangle 73"/>
          <p:cNvSpPr>
            <a:spLocks noChangeArrowheads="1"/>
          </p:cNvSpPr>
          <p:nvPr/>
        </p:nvSpPr>
        <p:spPr bwMode="auto">
          <a:xfrm>
            <a:off x="3557588" y="3187700"/>
            <a:ext cx="59311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类型</a:t>
            </a:r>
          </a:p>
        </p:txBody>
      </p:sp>
      <p:sp>
        <p:nvSpPr>
          <p:cNvPr id="38" name="Rectangle 74"/>
          <p:cNvSpPr>
            <a:spLocks noChangeArrowheads="1"/>
          </p:cNvSpPr>
          <p:nvPr/>
        </p:nvSpPr>
        <p:spPr bwMode="auto">
          <a:xfrm>
            <a:off x="5407025" y="3187700"/>
            <a:ext cx="1054777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ea typeface="黑体" panose="02010609060101010101" pitchFamily="49" charset="-122"/>
              </a:rPr>
              <a:t>数        据</a:t>
            </a:r>
          </a:p>
        </p:txBody>
      </p:sp>
      <p:sp>
        <p:nvSpPr>
          <p:cNvPr id="39" name="Rectangle 75"/>
          <p:cNvSpPr>
            <a:spLocks noChangeArrowheads="1"/>
          </p:cNvSpPr>
          <p:nvPr/>
        </p:nvSpPr>
        <p:spPr bwMode="auto">
          <a:xfrm>
            <a:off x="7380288" y="3187700"/>
            <a:ext cx="625172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ea typeface="黑体" panose="02010609060101010101" pitchFamily="49" charset="-122"/>
              </a:rPr>
              <a:t>CRC</a:t>
            </a:r>
          </a:p>
        </p:txBody>
      </p:sp>
      <p:sp>
        <p:nvSpPr>
          <p:cNvPr id="40" name="Rectangle 76"/>
          <p:cNvSpPr>
            <a:spLocks noChangeArrowheads="1"/>
          </p:cNvSpPr>
          <p:nvPr/>
        </p:nvSpPr>
        <p:spPr bwMode="auto">
          <a:xfrm>
            <a:off x="1893888" y="285273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6</a:t>
            </a:r>
          </a:p>
        </p:txBody>
      </p:sp>
      <p:sp>
        <p:nvSpPr>
          <p:cNvPr id="41" name="Rectangle 77"/>
          <p:cNvSpPr>
            <a:spLocks noChangeArrowheads="1"/>
          </p:cNvSpPr>
          <p:nvPr/>
        </p:nvSpPr>
        <p:spPr bwMode="auto">
          <a:xfrm>
            <a:off x="2873375" y="285273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6</a:t>
            </a:r>
          </a:p>
        </p:txBody>
      </p:sp>
      <p:sp>
        <p:nvSpPr>
          <p:cNvPr id="42" name="Rectangle 78"/>
          <p:cNvSpPr>
            <a:spLocks noChangeArrowheads="1"/>
          </p:cNvSpPr>
          <p:nvPr/>
        </p:nvSpPr>
        <p:spPr bwMode="auto">
          <a:xfrm>
            <a:off x="3776663" y="285273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2</a:t>
            </a:r>
          </a:p>
        </p:txBody>
      </p:sp>
      <p:sp>
        <p:nvSpPr>
          <p:cNvPr id="43" name="Rectangle 79"/>
          <p:cNvSpPr>
            <a:spLocks noChangeArrowheads="1"/>
          </p:cNvSpPr>
          <p:nvPr/>
        </p:nvSpPr>
        <p:spPr bwMode="auto">
          <a:xfrm>
            <a:off x="7597775" y="2852738"/>
            <a:ext cx="282130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4</a:t>
            </a:r>
          </a:p>
        </p:txBody>
      </p:sp>
      <p:sp>
        <p:nvSpPr>
          <p:cNvPr id="44" name="Rectangle 80"/>
          <p:cNvSpPr>
            <a:spLocks noChangeArrowheads="1"/>
          </p:cNvSpPr>
          <p:nvPr/>
        </p:nvSpPr>
        <p:spPr bwMode="auto">
          <a:xfrm>
            <a:off x="1046163" y="2816225"/>
            <a:ext cx="541816" cy="305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400">
                <a:solidFill>
                  <a:srgbClr val="333399"/>
                </a:solidFill>
                <a:ea typeface="黑体" panose="02010609060101010101" pitchFamily="49" charset="-122"/>
              </a:rPr>
              <a:t>字节</a:t>
            </a:r>
          </a:p>
        </p:txBody>
      </p:sp>
      <p:sp>
        <p:nvSpPr>
          <p:cNvPr id="45" name="Text Box 81"/>
          <p:cNvSpPr txBox="1">
            <a:spLocks noChangeArrowheads="1"/>
          </p:cNvSpPr>
          <p:nvPr/>
        </p:nvSpPr>
        <p:spPr bwMode="auto">
          <a:xfrm>
            <a:off x="5995988" y="2819400"/>
            <a:ext cx="98456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400">
                <a:solidFill>
                  <a:srgbClr val="333399"/>
                </a:solidFill>
                <a:ea typeface="黑体" panose="02010609060101010101" pitchFamily="49" charset="-122"/>
              </a:rPr>
              <a:t>46 ~ 1500</a:t>
            </a:r>
          </a:p>
        </p:txBody>
      </p:sp>
      <p:sp>
        <p:nvSpPr>
          <p:cNvPr id="46" name="Line 107"/>
          <p:cNvSpPr>
            <a:spLocks noChangeShapeType="1"/>
          </p:cNvSpPr>
          <p:nvPr/>
        </p:nvSpPr>
        <p:spPr bwMode="auto">
          <a:xfrm flipH="1">
            <a:off x="1547813" y="1989138"/>
            <a:ext cx="0" cy="11620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sp>
        <p:nvSpPr>
          <p:cNvPr id="47" name="Line 108"/>
          <p:cNvSpPr>
            <a:spLocks noChangeShapeType="1"/>
          </p:cNvSpPr>
          <p:nvPr/>
        </p:nvSpPr>
        <p:spPr bwMode="auto">
          <a:xfrm>
            <a:off x="7956550" y="1989138"/>
            <a:ext cx="11113" cy="11525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600"/>
          </a:p>
        </p:txBody>
      </p:sp>
      <p:grpSp>
        <p:nvGrpSpPr>
          <p:cNvPr id="48" name="Group 109"/>
          <p:cNvGrpSpPr>
            <a:grpSpLocks/>
          </p:cNvGrpSpPr>
          <p:nvPr/>
        </p:nvGrpSpPr>
        <p:grpSpPr bwMode="auto">
          <a:xfrm>
            <a:off x="4310063" y="2324100"/>
            <a:ext cx="3124200" cy="990600"/>
            <a:chOff x="2715" y="1872"/>
            <a:chExt cx="1968" cy="624"/>
          </a:xfrm>
        </p:grpSpPr>
        <p:sp>
          <p:nvSpPr>
            <p:cNvPr id="49" name="AutoShape 110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/>
            </a:p>
          </p:txBody>
        </p:sp>
        <p:sp>
          <p:nvSpPr>
            <p:cNvPr id="50" name="Rectangle 111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9525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51" name="Rectangle 112"/>
          <p:cNvSpPr>
            <a:spLocks noChangeArrowheads="1"/>
          </p:cNvSpPr>
          <p:nvPr/>
        </p:nvSpPr>
        <p:spPr bwMode="auto">
          <a:xfrm>
            <a:off x="468313" y="3179763"/>
            <a:ext cx="900889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anose="02010609060101010101" pitchFamily="49" charset="-122"/>
              </a:rPr>
              <a:t>帧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6029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5" presetClass="emph" presetSubtype="0" repeatCount="4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55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2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81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2843213" y="2133600"/>
            <a:ext cx="3384550" cy="504825"/>
          </a:xfrm>
          <a:prstGeom prst="wedgeRoundRectCallout">
            <a:avLst>
              <a:gd name="adj1" fmla="val -75375"/>
              <a:gd name="adj2" fmla="val 306917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88000"/>
            <a:r>
              <a:rPr lang="zh-CN" altLang="en-US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目的地址字段 </a:t>
            </a:r>
            <a:r>
              <a:rPr lang="en-US" altLang="zh-CN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 </a:t>
            </a:r>
            <a:r>
              <a:rPr lang="zh-CN" altLang="en-US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2771742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56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2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81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3623988" y="2097088"/>
            <a:ext cx="2749204" cy="504825"/>
          </a:xfrm>
          <a:prstGeom prst="wedgeRoundRectCallout">
            <a:avLst>
              <a:gd name="adj1" fmla="val -75375"/>
              <a:gd name="adj2" fmla="val 306917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88000"/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源</a:t>
            </a:r>
            <a:r>
              <a:rPr lang="zh-CN" altLang="en-US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地址字段 </a:t>
            </a:r>
            <a:r>
              <a:rPr lang="en-US" altLang="zh-CN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6 </a:t>
            </a:r>
            <a:r>
              <a:rPr lang="zh-CN" altLang="en-US" sz="2000" dirty="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rPr>
              <a:t>字节</a:t>
            </a:r>
          </a:p>
        </p:txBody>
      </p:sp>
    </p:spTree>
    <p:extLst>
      <p:ext uri="{BB962C8B-B14F-4D97-AF65-F5344CB8AC3E}">
        <p14:creationId xmlns:p14="http://schemas.microsoft.com/office/powerpoint/2010/main" val="1795731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57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2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81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1046163" y="1488751"/>
            <a:ext cx="7197725" cy="876747"/>
          </a:xfrm>
          <a:prstGeom prst="wedgeRoundRectCallout">
            <a:avLst>
              <a:gd name="adj1" fmla="val -13878"/>
              <a:gd name="adj2" fmla="val 221636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类型字段用作多路分解，标志上一层使用的是什么协议，以把收到的 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MAC 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帧的数据上交给上一层的这个协议，如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(IP: 0x0800)</a:t>
            </a:r>
          </a:p>
        </p:txBody>
      </p:sp>
    </p:spTree>
    <p:extLst>
      <p:ext uri="{BB962C8B-B14F-4D97-AF65-F5344CB8AC3E}">
        <p14:creationId xmlns:p14="http://schemas.microsoft.com/office/powerpoint/2010/main" val="2310522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58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1311965" y="1488751"/>
            <a:ext cx="7182677" cy="876747"/>
          </a:xfrm>
          <a:prstGeom prst="wedgeRoundRectCallout">
            <a:avLst>
              <a:gd name="adj1" fmla="val 3010"/>
              <a:gd name="adj2" fmla="val 230706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数据字段最小长度：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46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字节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=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64 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字节 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—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 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18 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字节的首部和尾部</a:t>
            </a:r>
            <a:endParaRPr lang="zh-CN" altLang="en-US" sz="2000" dirty="0">
              <a:solidFill>
                <a:schemeClr val="lt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28017" y="5642043"/>
            <a:ext cx="8424153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为什么最小帧长</a:t>
            </a:r>
            <a:r>
              <a:rPr lang="en-US" altLang="zh-CN" sz="2000" dirty="0"/>
              <a:t>64</a:t>
            </a:r>
            <a:r>
              <a:rPr lang="zh-CN" altLang="en-US" sz="2000" dirty="0"/>
              <a:t>字节？</a:t>
            </a:r>
            <a:endParaRPr lang="en-US" altLang="zh-CN" sz="2000" dirty="0"/>
          </a:p>
          <a:p>
            <a:r>
              <a:rPr lang="zh-CN" altLang="en-US" sz="2000" dirty="0"/>
              <a:t>为了冲突检测：以太网最大长度</a:t>
            </a:r>
            <a:r>
              <a:rPr lang="en-US" altLang="zh-CN" sz="2000" dirty="0"/>
              <a:t>2500m</a:t>
            </a:r>
            <a:r>
              <a:rPr lang="zh-CN" altLang="en-US" sz="2000" dirty="0"/>
              <a:t>，往返时延</a:t>
            </a:r>
            <a:r>
              <a:rPr lang="en-US" altLang="zh-CN" sz="2000" dirty="0"/>
              <a:t>51.21</a:t>
            </a:r>
            <a:r>
              <a:rPr lang="zh-CN" altLang="en-US" sz="2000" dirty="0"/>
              <a:t>微秒，</a:t>
            </a:r>
            <a:r>
              <a:rPr lang="en-US" altLang="zh-CN" sz="2000" dirty="0"/>
              <a:t>10Mbps</a:t>
            </a:r>
            <a:r>
              <a:rPr lang="zh-CN" altLang="en-US" sz="2000" dirty="0"/>
              <a:t>，</a:t>
            </a:r>
            <a:r>
              <a:rPr lang="en-US" altLang="zh-CN" sz="2000" dirty="0"/>
              <a:t>512bits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41977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  <p:bldP spid="39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59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2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81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5217839" y="2059782"/>
            <a:ext cx="1783038" cy="504825"/>
          </a:xfrm>
          <a:prstGeom prst="wedgeRoundRectCallout">
            <a:avLst>
              <a:gd name="adj1" fmla="val 84421"/>
              <a:gd name="adj2" fmla="val 312167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288000"/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32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位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CRC</a:t>
            </a:r>
            <a:endParaRPr lang="zh-CN" altLang="en-US" sz="2000" dirty="0">
              <a:solidFill>
                <a:schemeClr val="lt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647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以太网帧结构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60</a:t>
            </a:fld>
            <a:endParaRPr lang="zh-CN" altLang="en-US" dirty="0"/>
          </a:p>
        </p:txBody>
      </p:sp>
      <p:sp>
        <p:nvSpPr>
          <p:cNvPr id="52" name="Line 2"/>
          <p:cNvSpPr>
            <a:spLocks noChangeShapeType="1"/>
          </p:cNvSpPr>
          <p:nvPr/>
        </p:nvSpPr>
        <p:spPr bwMode="auto">
          <a:xfrm>
            <a:off x="152400" y="4495800"/>
            <a:ext cx="8915400" cy="0"/>
          </a:xfrm>
          <a:prstGeom prst="line">
            <a:avLst/>
          </a:prstGeom>
          <a:noFill/>
          <a:ln w="38100" cmpd="dbl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3" name="Rectangle 3"/>
          <p:cNvSpPr>
            <a:spLocks noChangeArrowheads="1"/>
          </p:cNvSpPr>
          <p:nvPr/>
        </p:nvSpPr>
        <p:spPr bwMode="auto">
          <a:xfrm>
            <a:off x="1554163" y="4730750"/>
            <a:ext cx="6413500" cy="495300"/>
          </a:xfrm>
          <a:prstGeom prst="rect">
            <a:avLst/>
          </a:prstGeom>
          <a:solidFill>
            <a:srgbClr val="FF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4" name="Rectangle 4"/>
          <p:cNvSpPr>
            <a:spLocks noChangeArrowheads="1"/>
          </p:cNvSpPr>
          <p:nvPr/>
        </p:nvSpPr>
        <p:spPr bwMode="auto">
          <a:xfrm>
            <a:off x="1547813" y="4730750"/>
            <a:ext cx="6419850" cy="488950"/>
          </a:xfrm>
          <a:prstGeom prst="rect">
            <a:avLst/>
          </a:prstGeom>
          <a:noFill/>
          <a:ln w="28575">
            <a:solidFill>
              <a:schemeClr val="folHlink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5" name="Rectangle 5"/>
          <p:cNvSpPr>
            <a:spLocks noChangeArrowheads="1"/>
          </p:cNvSpPr>
          <p:nvPr/>
        </p:nvSpPr>
        <p:spPr bwMode="auto">
          <a:xfrm>
            <a:off x="4256088" y="4835525"/>
            <a:ext cx="835294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帧</a:t>
            </a:r>
          </a:p>
        </p:txBody>
      </p:sp>
      <p:sp>
        <p:nvSpPr>
          <p:cNvPr id="56" name="Rectangle 6"/>
          <p:cNvSpPr>
            <a:spLocks noChangeArrowheads="1"/>
          </p:cNvSpPr>
          <p:nvPr/>
        </p:nvSpPr>
        <p:spPr bwMode="auto">
          <a:xfrm>
            <a:off x="8243888" y="4814888"/>
            <a:ext cx="798296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60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物理层</a:t>
            </a: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8213725" y="3886200"/>
            <a:ext cx="835294" cy="33598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MAC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58" name="Line 8"/>
          <p:cNvSpPr>
            <a:spLocks noChangeShapeType="1"/>
          </p:cNvSpPr>
          <p:nvPr/>
        </p:nvSpPr>
        <p:spPr bwMode="auto">
          <a:xfrm flipH="1">
            <a:off x="1546225" y="4221163"/>
            <a:ext cx="1588" cy="5143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59" name="Line 9"/>
          <p:cNvSpPr>
            <a:spLocks noChangeShapeType="1"/>
          </p:cNvSpPr>
          <p:nvPr/>
        </p:nvSpPr>
        <p:spPr bwMode="auto">
          <a:xfrm>
            <a:off x="7956550" y="4292600"/>
            <a:ext cx="11113" cy="4318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sp>
        <p:nvSpPr>
          <p:cNvPr id="60" name="Rectangle 10"/>
          <p:cNvSpPr>
            <a:spLocks noChangeArrowheads="1"/>
          </p:cNvSpPr>
          <p:nvPr/>
        </p:nvSpPr>
        <p:spPr bwMode="auto">
          <a:xfrm>
            <a:off x="8348663" y="2971800"/>
            <a:ext cx="591510" cy="335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IP </a:t>
            </a:r>
            <a:r>
              <a:rPr kumimoji="1" lang="zh-CN" altLang="en-US" sz="1600" dirty="0">
                <a:solidFill>
                  <a:srgbClr val="333399"/>
                </a:solidFill>
                <a:latin typeface="Calibri" panose="020F0502020204030204" pitchFamily="34" charset="0"/>
                <a:ea typeface="黑体" panose="02010609060101010101" pitchFamily="49" charset="-122"/>
              </a:rPr>
              <a:t>层</a:t>
            </a:r>
          </a:p>
        </p:txBody>
      </p:sp>
      <p:sp>
        <p:nvSpPr>
          <p:cNvPr id="61" name="Line 11"/>
          <p:cNvSpPr>
            <a:spLocks noChangeShapeType="1"/>
          </p:cNvSpPr>
          <p:nvPr/>
        </p:nvSpPr>
        <p:spPr bwMode="auto">
          <a:xfrm>
            <a:off x="8196263" y="3505200"/>
            <a:ext cx="820737" cy="111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Calibri" panose="020F0502020204030204" pitchFamily="34" charset="0"/>
              <a:ea typeface="黑体" panose="02010609060101010101" pitchFamily="49" charset="-122"/>
            </a:endParaRPr>
          </a:p>
        </p:txBody>
      </p:sp>
      <p:grpSp>
        <p:nvGrpSpPr>
          <p:cNvPr id="62" name="Group 15"/>
          <p:cNvGrpSpPr>
            <a:grpSpLocks/>
          </p:cNvGrpSpPr>
          <p:nvPr/>
        </p:nvGrpSpPr>
        <p:grpSpPr bwMode="auto">
          <a:xfrm>
            <a:off x="1046163" y="3463925"/>
            <a:ext cx="6921501" cy="1412875"/>
            <a:chOff x="659" y="2182"/>
            <a:chExt cx="4360" cy="890"/>
          </a:xfrm>
        </p:grpSpPr>
        <p:sp>
          <p:nvSpPr>
            <p:cNvPr id="63" name="AutoShape 16"/>
            <p:cNvSpPr>
              <a:spLocks noChangeArrowheads="1"/>
            </p:cNvSpPr>
            <p:nvPr/>
          </p:nvSpPr>
          <p:spPr bwMode="auto">
            <a:xfrm rot="5400000" flipH="1">
              <a:off x="2830" y="2807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64" name="Group 17"/>
            <p:cNvGrpSpPr>
              <a:grpSpLocks/>
            </p:cNvGrpSpPr>
            <p:nvPr/>
          </p:nvGrpSpPr>
          <p:grpSpPr bwMode="auto">
            <a:xfrm>
              <a:off x="659" y="2182"/>
              <a:ext cx="4360" cy="506"/>
              <a:chOff x="659" y="2182"/>
              <a:chExt cx="4360" cy="506"/>
            </a:xfrm>
          </p:grpSpPr>
          <p:sp>
            <p:nvSpPr>
              <p:cNvPr id="65" name="Rectangle 18"/>
              <p:cNvSpPr>
                <a:spLocks noChangeArrowheads="1"/>
              </p:cNvSpPr>
              <p:nvPr/>
            </p:nvSpPr>
            <p:spPr bwMode="auto">
              <a:xfrm>
                <a:off x="974" y="2400"/>
                <a:ext cx="4045" cy="288"/>
              </a:xfrm>
              <a:prstGeom prst="rect">
                <a:avLst/>
              </a:prstGeom>
              <a:solidFill>
                <a:srgbClr val="FFCCFF"/>
              </a:solidFill>
              <a:ln w="19050">
                <a:solidFill>
                  <a:schemeClr val="folHlink"/>
                </a:solidFill>
                <a:miter lim="800000"/>
                <a:headEnd/>
                <a:tailEnd/>
              </a:ln>
              <a:effectLst>
                <a:outerShdw dist="35921" dir="2700000" algn="ctr" rotWithShape="0">
                  <a:schemeClr val="bg2"/>
                </a:outerShdw>
              </a:effec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6" name="Line 19"/>
              <p:cNvSpPr>
                <a:spLocks noChangeShapeType="1"/>
              </p:cNvSpPr>
              <p:nvPr/>
            </p:nvSpPr>
            <p:spPr bwMode="auto">
              <a:xfrm>
                <a:off x="156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7" name="Line 20"/>
              <p:cNvSpPr>
                <a:spLocks noChangeShapeType="1"/>
              </p:cNvSpPr>
              <p:nvPr/>
            </p:nvSpPr>
            <p:spPr bwMode="auto">
              <a:xfrm>
                <a:off x="2139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8" name="Line 21"/>
              <p:cNvSpPr>
                <a:spLocks noChangeShapeType="1"/>
              </p:cNvSpPr>
              <p:nvPr/>
            </p:nvSpPr>
            <p:spPr bwMode="auto">
              <a:xfrm>
                <a:off x="2715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69" name="Line 22"/>
              <p:cNvSpPr>
                <a:spLocks noChangeShapeType="1"/>
              </p:cNvSpPr>
              <p:nvPr/>
            </p:nvSpPr>
            <p:spPr bwMode="auto">
              <a:xfrm>
                <a:off x="4683" y="2400"/>
                <a:ext cx="0" cy="28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Calibri" panose="020F050202020403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0" name="Rectangle 23"/>
              <p:cNvSpPr>
                <a:spLocks noChangeArrowheads="1"/>
              </p:cNvSpPr>
              <p:nvPr/>
            </p:nvSpPr>
            <p:spPr bwMode="auto">
              <a:xfrm>
                <a:off x="963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目的地址</a:t>
                </a:r>
              </a:p>
            </p:txBody>
          </p:sp>
          <p:sp>
            <p:nvSpPr>
              <p:cNvPr id="71" name="Rectangle 24"/>
              <p:cNvSpPr>
                <a:spLocks noChangeArrowheads="1"/>
              </p:cNvSpPr>
              <p:nvPr/>
            </p:nvSpPr>
            <p:spPr bwMode="auto">
              <a:xfrm>
                <a:off x="1609" y="2445"/>
                <a:ext cx="50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源地址</a:t>
                </a:r>
              </a:p>
            </p:txBody>
          </p:sp>
          <p:sp>
            <p:nvSpPr>
              <p:cNvPr id="72" name="Rectangle 25"/>
              <p:cNvSpPr>
                <a:spLocks noChangeArrowheads="1"/>
              </p:cNvSpPr>
              <p:nvPr/>
            </p:nvSpPr>
            <p:spPr bwMode="auto">
              <a:xfrm>
                <a:off x="2241" y="2445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类型</a:t>
                </a:r>
              </a:p>
            </p:txBody>
          </p:sp>
          <p:sp>
            <p:nvSpPr>
              <p:cNvPr id="73" name="Rectangle 26"/>
              <p:cNvSpPr>
                <a:spLocks noChangeArrowheads="1"/>
              </p:cNvSpPr>
              <p:nvPr/>
            </p:nvSpPr>
            <p:spPr bwMode="auto">
              <a:xfrm>
                <a:off x="3406" y="2445"/>
                <a:ext cx="63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数        据</a:t>
                </a:r>
              </a:p>
            </p:txBody>
          </p:sp>
          <p:sp>
            <p:nvSpPr>
              <p:cNvPr id="74" name="Rectangle 27"/>
              <p:cNvSpPr>
                <a:spLocks noChangeArrowheads="1"/>
              </p:cNvSpPr>
              <p:nvPr/>
            </p:nvSpPr>
            <p:spPr bwMode="auto">
              <a:xfrm>
                <a:off x="4683" y="2445"/>
                <a:ext cx="322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 dirty="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CRC</a:t>
                </a:r>
              </a:p>
            </p:txBody>
          </p:sp>
          <p:sp>
            <p:nvSpPr>
              <p:cNvPr id="75" name="Rectangle 28"/>
              <p:cNvSpPr>
                <a:spLocks noChangeArrowheads="1"/>
              </p:cNvSpPr>
              <p:nvPr/>
            </p:nvSpPr>
            <p:spPr bwMode="auto">
              <a:xfrm>
                <a:off x="1193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6" name="Rectangle 29"/>
              <p:cNvSpPr>
                <a:spLocks noChangeArrowheads="1"/>
              </p:cNvSpPr>
              <p:nvPr/>
            </p:nvSpPr>
            <p:spPr bwMode="auto">
              <a:xfrm>
                <a:off x="1810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6</a:t>
                </a:r>
              </a:p>
            </p:txBody>
          </p:sp>
          <p:sp>
            <p:nvSpPr>
              <p:cNvPr id="77" name="Rectangle 30"/>
              <p:cNvSpPr>
                <a:spLocks noChangeArrowheads="1"/>
              </p:cNvSpPr>
              <p:nvPr/>
            </p:nvSpPr>
            <p:spPr bwMode="auto">
              <a:xfrm>
                <a:off x="2379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2</a:t>
                </a:r>
              </a:p>
            </p:txBody>
          </p:sp>
          <p:sp>
            <p:nvSpPr>
              <p:cNvPr id="78" name="Rectangle 31"/>
              <p:cNvSpPr>
                <a:spLocks noChangeArrowheads="1"/>
              </p:cNvSpPr>
              <p:nvPr/>
            </p:nvSpPr>
            <p:spPr bwMode="auto">
              <a:xfrm>
                <a:off x="4786" y="2205"/>
                <a:ext cx="180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</a:t>
                </a:r>
              </a:p>
            </p:txBody>
          </p:sp>
          <p:sp>
            <p:nvSpPr>
              <p:cNvPr id="79" name="Rectangle 32"/>
              <p:cNvSpPr>
                <a:spLocks noChangeArrowheads="1"/>
              </p:cNvSpPr>
              <p:nvPr/>
            </p:nvSpPr>
            <p:spPr bwMode="auto">
              <a:xfrm>
                <a:off x="659" y="2182"/>
                <a:ext cx="374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488" tIns="44450" rIns="90488" bIns="44450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字节</a:t>
                </a:r>
              </a:p>
            </p:txBody>
          </p:sp>
          <p:sp>
            <p:nvSpPr>
              <p:cNvPr id="80" name="Text Box 33"/>
              <p:cNvSpPr txBox="1">
                <a:spLocks noChangeArrowheads="1"/>
              </p:cNvSpPr>
              <p:nvPr/>
            </p:nvSpPr>
            <p:spPr bwMode="auto">
              <a:xfrm>
                <a:off x="3777" y="2185"/>
                <a:ext cx="633" cy="2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600">
                    <a:solidFill>
                      <a:srgbClr val="333399"/>
                    </a:solidFill>
                    <a:latin typeface="Calibri" panose="020F0502020204030204" pitchFamily="34" charset="0"/>
                    <a:ea typeface="黑体" panose="02010609060101010101" pitchFamily="49" charset="-122"/>
                  </a:rPr>
                  <a:t>46 ~ 1500</a:t>
                </a:r>
              </a:p>
            </p:txBody>
          </p:sp>
        </p:grpSp>
      </p:grpSp>
      <p:grpSp>
        <p:nvGrpSpPr>
          <p:cNvPr id="81" name="Group 34"/>
          <p:cNvGrpSpPr>
            <a:grpSpLocks/>
          </p:cNvGrpSpPr>
          <p:nvPr/>
        </p:nvGrpSpPr>
        <p:grpSpPr bwMode="auto">
          <a:xfrm>
            <a:off x="4310063" y="2971800"/>
            <a:ext cx="3124200" cy="990600"/>
            <a:chOff x="2715" y="1872"/>
            <a:chExt cx="1968" cy="624"/>
          </a:xfrm>
        </p:grpSpPr>
        <p:sp>
          <p:nvSpPr>
            <p:cNvPr id="82" name="AutoShape 35"/>
            <p:cNvSpPr>
              <a:spLocks noChangeArrowheads="1"/>
            </p:cNvSpPr>
            <p:nvPr/>
          </p:nvSpPr>
          <p:spPr bwMode="auto">
            <a:xfrm rot="16200000" flipH="1">
              <a:off x="3508" y="2231"/>
              <a:ext cx="384" cy="145"/>
            </a:xfrm>
            <a:prstGeom prst="rightArrow">
              <a:avLst>
                <a:gd name="adj1" fmla="val 50000"/>
                <a:gd name="adj2" fmla="val 132426"/>
              </a:avLst>
            </a:prstGeom>
            <a:solidFill>
              <a:schemeClr val="accent1"/>
            </a:solidFill>
            <a:ln w="12700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83" name="Rectangle 36"/>
            <p:cNvSpPr>
              <a:spLocks noChangeArrowheads="1"/>
            </p:cNvSpPr>
            <p:nvPr/>
          </p:nvSpPr>
          <p:spPr bwMode="auto">
            <a:xfrm>
              <a:off x="2715" y="1872"/>
              <a:ext cx="1968" cy="240"/>
            </a:xfrm>
            <a:prstGeom prst="rect">
              <a:avLst/>
            </a:prstGeom>
            <a:solidFill>
              <a:srgbClr val="CCECFF"/>
            </a:solidFill>
            <a:ln w="19050">
              <a:solidFill>
                <a:schemeClr val="folHlink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IP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数据报</a:t>
              </a:r>
            </a:p>
          </p:txBody>
        </p:sp>
      </p:grpSp>
      <p:grpSp>
        <p:nvGrpSpPr>
          <p:cNvPr id="37" name="Group 38"/>
          <p:cNvGrpSpPr>
            <a:grpSpLocks/>
          </p:cNvGrpSpPr>
          <p:nvPr/>
        </p:nvGrpSpPr>
        <p:grpSpPr bwMode="auto">
          <a:xfrm>
            <a:off x="176213" y="4226478"/>
            <a:ext cx="4143375" cy="2420938"/>
            <a:chOff x="111" y="2654"/>
            <a:chExt cx="2610" cy="1525"/>
          </a:xfrm>
        </p:grpSpPr>
        <p:sp>
          <p:nvSpPr>
            <p:cNvPr id="38" name="Rectangle 39"/>
            <p:cNvSpPr>
              <a:spLocks noChangeArrowheads="1"/>
            </p:cNvSpPr>
            <p:nvPr/>
          </p:nvSpPr>
          <p:spPr bwMode="auto">
            <a:xfrm>
              <a:off x="123" y="3606"/>
              <a:ext cx="2526" cy="262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0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9" name="Rectangle 40"/>
            <p:cNvSpPr>
              <a:spLocks noChangeArrowheads="1"/>
            </p:cNvSpPr>
            <p:nvPr/>
          </p:nvSpPr>
          <p:spPr bwMode="auto">
            <a:xfrm>
              <a:off x="111" y="3633"/>
              <a:ext cx="2610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10101010101010         10101010101010101011</a:t>
              </a:r>
            </a:p>
          </p:txBody>
        </p:sp>
        <p:sp>
          <p:nvSpPr>
            <p:cNvPr id="40" name="Line 41"/>
            <p:cNvSpPr>
              <a:spLocks noChangeShapeType="1"/>
            </p:cNvSpPr>
            <p:nvPr/>
          </p:nvSpPr>
          <p:spPr bwMode="auto">
            <a:xfrm>
              <a:off x="2125" y="3604"/>
              <a:ext cx="0" cy="2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1" name="Rectangle 42"/>
            <p:cNvSpPr>
              <a:spLocks noChangeArrowheads="1"/>
            </p:cNvSpPr>
            <p:nvPr/>
          </p:nvSpPr>
          <p:spPr bwMode="auto">
            <a:xfrm>
              <a:off x="841" y="3892"/>
              <a:ext cx="63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前同步码</a:t>
              </a:r>
            </a:p>
          </p:txBody>
        </p:sp>
        <p:sp>
          <p:nvSpPr>
            <p:cNvPr id="42" name="Rectangle 43"/>
            <p:cNvSpPr>
              <a:spLocks noChangeArrowheads="1"/>
            </p:cNvSpPr>
            <p:nvPr/>
          </p:nvSpPr>
          <p:spPr bwMode="auto">
            <a:xfrm>
              <a:off x="2169" y="3874"/>
              <a:ext cx="503" cy="3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80000"/>
                </a:lnSpc>
              </a:pP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帧开始</a:t>
              </a:r>
            </a:p>
            <a:p>
              <a:pPr eaLnBrk="0" hangingPunct="0">
                <a:lnSpc>
                  <a:spcPct val="80000"/>
                </a:lnSpc>
              </a:pP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定界符</a:t>
              </a:r>
            </a:p>
          </p:txBody>
        </p:sp>
        <p:sp>
          <p:nvSpPr>
            <p:cNvPr id="43" name="Rectangle 44"/>
            <p:cNvSpPr>
              <a:spLocks noChangeArrowheads="1"/>
            </p:cNvSpPr>
            <p:nvPr/>
          </p:nvSpPr>
          <p:spPr bwMode="auto">
            <a:xfrm>
              <a:off x="884" y="3394"/>
              <a:ext cx="46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7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2157" y="3394"/>
              <a:ext cx="466" cy="2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1 </a:t>
              </a:r>
              <a:r>
                <a:rPr kumimoji="1" lang="zh-CN" altLang="en-US" sz="160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字节</a:t>
              </a:r>
            </a:p>
          </p:txBody>
        </p:sp>
        <p:sp>
          <p:nvSpPr>
            <p:cNvPr id="45" name="Line 46"/>
            <p:cNvSpPr>
              <a:spLocks noChangeShapeType="1"/>
            </p:cNvSpPr>
            <p:nvPr/>
          </p:nvSpPr>
          <p:spPr bwMode="auto">
            <a:xfrm flipV="1">
              <a:off x="131" y="3294"/>
              <a:ext cx="184" cy="3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6" name="Line 47"/>
            <p:cNvSpPr>
              <a:spLocks noChangeShapeType="1"/>
            </p:cNvSpPr>
            <p:nvPr/>
          </p:nvSpPr>
          <p:spPr bwMode="auto">
            <a:xfrm>
              <a:off x="969" y="3302"/>
              <a:ext cx="1680" cy="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600">
                <a:latin typeface="Calibri" panose="020F050202020403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47" name="Text Box 48"/>
            <p:cNvSpPr txBox="1">
              <a:spLocks noChangeArrowheads="1"/>
            </p:cNvSpPr>
            <p:nvPr/>
          </p:nvSpPr>
          <p:spPr bwMode="auto">
            <a:xfrm>
              <a:off x="1100" y="3613"/>
              <a:ext cx="205" cy="2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600" dirty="0">
                  <a:solidFill>
                    <a:srgbClr val="333399"/>
                  </a:solidFill>
                  <a:latin typeface="Calibri" panose="020F0502020204030204" pitchFamily="34" charset="0"/>
                  <a:ea typeface="黑体" panose="02010609060101010101" pitchFamily="49" charset="-122"/>
                </a:rPr>
                <a:t>…</a:t>
              </a:r>
            </a:p>
          </p:txBody>
        </p:sp>
        <p:grpSp>
          <p:nvGrpSpPr>
            <p:cNvPr id="48" name="Group 49"/>
            <p:cNvGrpSpPr>
              <a:grpSpLocks/>
            </p:cNvGrpSpPr>
            <p:nvPr/>
          </p:nvGrpSpPr>
          <p:grpSpPr bwMode="auto">
            <a:xfrm>
              <a:off x="171" y="2654"/>
              <a:ext cx="804" cy="630"/>
              <a:chOff x="171" y="2654"/>
              <a:chExt cx="804" cy="630"/>
            </a:xfrm>
          </p:grpSpPr>
          <p:grpSp>
            <p:nvGrpSpPr>
              <p:cNvPr id="49" name="Group 50"/>
              <p:cNvGrpSpPr>
                <a:grpSpLocks/>
              </p:cNvGrpSpPr>
              <p:nvPr/>
            </p:nvGrpSpPr>
            <p:grpSpPr bwMode="auto">
              <a:xfrm>
                <a:off x="333" y="2976"/>
                <a:ext cx="642" cy="308"/>
                <a:chOff x="333" y="2976"/>
                <a:chExt cx="642" cy="308"/>
              </a:xfrm>
            </p:grpSpPr>
            <p:sp>
              <p:nvSpPr>
                <p:cNvPr id="85" name="Rectangle 51"/>
                <p:cNvSpPr>
                  <a:spLocks noChangeArrowheads="1"/>
                </p:cNvSpPr>
                <p:nvPr/>
              </p:nvSpPr>
              <p:spPr bwMode="auto">
                <a:xfrm>
                  <a:off x="333" y="2976"/>
                  <a:ext cx="642" cy="308"/>
                </a:xfrm>
                <a:prstGeom prst="rect">
                  <a:avLst/>
                </a:prstGeom>
                <a:solidFill>
                  <a:srgbClr val="FFFF99"/>
                </a:solidFill>
                <a:ln w="28575">
                  <a:solidFill>
                    <a:schemeClr val="folHlink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 sz="1600">
                    <a:latin typeface="Calibri" panose="020F0502020204030204" pitchFamily="34" charset="0"/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86" name="Rectangle 52"/>
                <p:cNvSpPr>
                  <a:spLocks noChangeArrowheads="1"/>
                </p:cNvSpPr>
                <p:nvPr/>
              </p:nvSpPr>
              <p:spPr bwMode="auto">
                <a:xfrm>
                  <a:off x="419" y="3034"/>
                  <a:ext cx="466" cy="21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lIns="90488" tIns="44450" rIns="90488" bIns="44450">
                  <a:spAutoFit/>
                </a:bodyPr>
                <a:lstStyle>
                  <a:lvl1pPr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571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7145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286000" defTabSz="7620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7432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32004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6576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4114800" defTabSz="762000" fontAlgn="base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0" hangingPunct="0"/>
                  <a:r>
                    <a:rPr kumimoji="1" lang="en-US" altLang="zh-CN" sz="1600">
                      <a:solidFill>
                        <a:srgbClr val="333399"/>
                      </a:solidFill>
                      <a:latin typeface="Calibri" panose="020F0502020204030204" pitchFamily="34" charset="0"/>
                      <a:ea typeface="黑体" panose="02010609060101010101" pitchFamily="49" charset="-122"/>
                    </a:rPr>
                    <a:t>8 </a:t>
                  </a:r>
                  <a:r>
                    <a:rPr kumimoji="1" lang="zh-CN" altLang="en-US" sz="1600">
                      <a:solidFill>
                        <a:srgbClr val="333399"/>
                      </a:solidFill>
                      <a:latin typeface="Calibri" panose="020F0502020204030204" pitchFamily="34" charset="0"/>
                      <a:ea typeface="黑体" panose="02010609060101010101" pitchFamily="49" charset="-122"/>
                    </a:rPr>
                    <a:t>字节</a:t>
                  </a:r>
                </a:p>
              </p:txBody>
            </p:sp>
          </p:grpSp>
          <p:sp>
            <p:nvSpPr>
              <p:cNvPr id="50" name="AutoShape 53"/>
              <p:cNvSpPr>
                <a:spLocks noChangeArrowheads="1"/>
              </p:cNvSpPr>
              <p:nvPr/>
            </p:nvSpPr>
            <p:spPr bwMode="auto">
              <a:xfrm>
                <a:off x="171" y="2654"/>
                <a:ext cx="563" cy="266"/>
              </a:xfrm>
              <a:prstGeom prst="wedgeRoundRectCallout">
                <a:avLst>
                  <a:gd name="adj1" fmla="val 56896"/>
                  <a:gd name="adj2" fmla="val 99082"/>
                  <a:gd name="adj3" fmla="val 16667"/>
                </a:avLst>
              </a:prstGeom>
              <a:solidFill>
                <a:schemeClr val="accent5">
                  <a:lumMod val="50000"/>
                </a:schemeClr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bIns="0" anchor="ctr" anchorCtr="1"/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2000" dirty="0">
                    <a:solidFill>
                      <a:schemeClr val="bg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插入</a:t>
                </a:r>
                <a:endParaRPr kumimoji="1" lang="zh-CN" altLang="zh-CN" sz="2000" dirty="0">
                  <a:solidFill>
                    <a:schemeClr val="bg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87" name="Text Box 55"/>
          <p:cNvSpPr txBox="1">
            <a:spLocks noChangeArrowheads="1"/>
          </p:cNvSpPr>
          <p:nvPr/>
        </p:nvSpPr>
        <p:spPr bwMode="auto">
          <a:xfrm>
            <a:off x="616898" y="1477067"/>
            <a:ext cx="7851241" cy="1015663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indent="288000">
              <a:defRPr sz="2000">
                <a:solidFill>
                  <a:schemeClr val="lt1"/>
                </a:solidFill>
                <a:latin typeface="Calibri" panose="020F0502020204030204" pitchFamily="34" charset="0"/>
                <a:ea typeface="华文楷体" panose="02010600040101010101" pitchFamily="2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dirty="0"/>
              <a:t>在帧的前面插入</a:t>
            </a:r>
            <a:r>
              <a:rPr lang="en-US" altLang="zh-CN" dirty="0"/>
              <a:t>7 </a:t>
            </a:r>
            <a:r>
              <a:rPr lang="zh-CN" altLang="en-US" dirty="0"/>
              <a:t>字节前同步码，用来实现 </a:t>
            </a:r>
            <a:r>
              <a:rPr lang="en-US" altLang="zh-CN" dirty="0"/>
              <a:t>MAC </a:t>
            </a:r>
            <a:r>
              <a:rPr lang="zh-CN" altLang="en-US" dirty="0"/>
              <a:t>帧的比特同步；</a:t>
            </a:r>
          </a:p>
          <a:p>
            <a:r>
              <a:rPr lang="en-US" altLang="zh-CN" dirty="0"/>
              <a:t>1</a:t>
            </a:r>
            <a:r>
              <a:rPr lang="zh-CN" altLang="en-US" dirty="0"/>
              <a:t>个字节的帧开始定界符，表示后面的信息就是</a:t>
            </a:r>
            <a:r>
              <a:rPr lang="en-US" altLang="zh-CN" dirty="0"/>
              <a:t>MAC </a:t>
            </a:r>
            <a:r>
              <a:rPr lang="zh-CN" altLang="en-US" dirty="0"/>
              <a:t>帧 </a:t>
            </a:r>
          </a:p>
        </p:txBody>
      </p:sp>
      <p:sp>
        <p:nvSpPr>
          <p:cNvPr id="84" name="AutoShape 38"/>
          <p:cNvSpPr>
            <a:spLocks noChangeArrowheads="1"/>
          </p:cNvSpPr>
          <p:nvPr/>
        </p:nvSpPr>
        <p:spPr bwMode="auto">
          <a:xfrm>
            <a:off x="1674813" y="2857491"/>
            <a:ext cx="6538912" cy="1682526"/>
          </a:xfrm>
          <a:prstGeom prst="wedgeRoundRectCallout">
            <a:avLst>
              <a:gd name="adj1" fmla="val 45952"/>
              <a:gd name="adj2" fmla="val 75987"/>
              <a:gd name="adj3" fmla="val 16667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判断帧结束：</a:t>
            </a:r>
            <a:endParaRPr lang="en-US" altLang="zh-CN" sz="2000" dirty="0">
              <a:latin typeface="Calibri" panose="020F0502020204030204" pitchFamily="34" charset="0"/>
              <a:ea typeface="华文楷体" panose="02010600040101010101" pitchFamily="2" charset="-122"/>
            </a:endParaRPr>
          </a:p>
          <a:p>
            <a:pPr marL="342900" indent="-342900">
              <a:buFont typeface="Wingdings 3" panose="05040102010807070707" pitchFamily="18" charset="2"/>
              <a:buChar char="ª"/>
            </a:pP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对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100M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以太网，物理层设备会自动在帧尾加上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4B5B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编码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ESD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字段（长度为两个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5bits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）表示帧发送结束</a:t>
            </a:r>
            <a:endParaRPr lang="en-US" altLang="zh-CN" sz="2000" dirty="0">
              <a:latin typeface="Calibri" panose="020F0502020204030204" pitchFamily="34" charset="0"/>
              <a:ea typeface="华文楷体" panose="02010600040101010101" pitchFamily="2" charset="-122"/>
            </a:endParaRPr>
          </a:p>
          <a:p>
            <a:pPr marL="342900" indent="-342900">
              <a:buFont typeface="Wingdings 3" panose="05040102010807070707" pitchFamily="18" charset="2"/>
              <a:buChar char="ª"/>
            </a:pP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对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10M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以太网，物理层设备在帧发送结束时，会以一个特殊宽脉冲</a:t>
            </a:r>
            <a:r>
              <a:rPr lang="en-US" altLang="zh-CN" sz="2000" dirty="0">
                <a:latin typeface="Calibri" panose="020F0502020204030204" pitchFamily="34" charset="0"/>
                <a:ea typeface="华文楷体" panose="02010600040101010101" pitchFamily="2" charset="-122"/>
              </a:rPr>
              <a:t>SOI</a:t>
            </a:r>
            <a:r>
              <a:rPr lang="zh-CN" altLang="en-US" sz="2000" dirty="0">
                <a:latin typeface="Calibri" panose="020F0502020204030204" pitchFamily="34" charset="0"/>
                <a:ea typeface="华文楷体" panose="02010600040101010101" pitchFamily="2" charset="-122"/>
              </a:rPr>
              <a:t>来表示链路开始空闲</a:t>
            </a:r>
            <a:endParaRPr lang="zh-CN" altLang="en-US" sz="2000" dirty="0">
              <a:solidFill>
                <a:schemeClr val="lt1"/>
              </a:solidFill>
              <a:latin typeface="Calibri" panose="020F0502020204030204" pitchFamily="34" charset="0"/>
              <a:ea typeface="华文楷体" panose="0201060004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9528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地址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260621"/>
          </a:xfrm>
        </p:spPr>
        <p:txBody>
          <a:bodyPr/>
          <a:lstStyle/>
          <a:p>
            <a:r>
              <a:rPr lang="zh-CN" altLang="en-US" dirty="0"/>
              <a:t>每个适配器有一个唯一的以太网地址，通常固化在</a:t>
            </a:r>
            <a:r>
              <a:rPr lang="en-US" altLang="zh-CN" dirty="0"/>
              <a:t>ROM</a:t>
            </a:r>
            <a:r>
              <a:rPr lang="zh-CN" altLang="en-US" dirty="0"/>
              <a:t>中</a:t>
            </a:r>
            <a:endParaRPr lang="en-US" altLang="zh-CN" dirty="0"/>
          </a:p>
          <a:p>
            <a:pPr lvl="1"/>
            <a:r>
              <a:rPr lang="zh-CN" altLang="en-US" sz="1800" dirty="0"/>
              <a:t>称为硬件地址、网卡的物理地址、</a:t>
            </a:r>
            <a:r>
              <a:rPr lang="en-US" altLang="zh-CN" sz="1800" dirty="0"/>
              <a:t>MAC </a:t>
            </a:r>
            <a:r>
              <a:rPr lang="zh-CN" altLang="en-US" sz="1800" dirty="0"/>
              <a:t>地址 </a:t>
            </a:r>
          </a:p>
          <a:p>
            <a:pPr lvl="1"/>
            <a:r>
              <a:rPr lang="zh-CN" altLang="en-US" sz="1800" dirty="0"/>
              <a:t>严格地讲应当是每一个站的“名字”或标识符，而非地址</a:t>
            </a:r>
            <a:endParaRPr lang="en-US" altLang="zh-CN" sz="1800" dirty="0"/>
          </a:p>
          <a:p>
            <a:pPr>
              <a:spcBef>
                <a:spcPts val="1200"/>
              </a:spcBef>
            </a:pPr>
            <a:r>
              <a:rPr lang="zh-CN" altLang="en-US" dirty="0"/>
              <a:t>以可读的方式显示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 err="1"/>
              <a:t>ipconfig</a:t>
            </a:r>
            <a:r>
              <a:rPr lang="zh-CN" altLang="en-US" dirty="0"/>
              <a:t>命令</a:t>
            </a:r>
            <a:r>
              <a:rPr lang="en-US" altLang="zh-CN" dirty="0"/>
              <a:t>)</a:t>
            </a:r>
            <a:r>
              <a:rPr lang="zh-CN" altLang="en-US" dirty="0"/>
              <a:t>，即由冒号分隔的</a:t>
            </a:r>
            <a:r>
              <a:rPr lang="en-US" altLang="zh-CN" dirty="0"/>
              <a:t>6</a:t>
            </a:r>
            <a:r>
              <a:rPr lang="zh-CN" altLang="en-US" dirty="0"/>
              <a:t>个数</a:t>
            </a:r>
            <a:endParaRPr lang="en-US" altLang="zh-CN" dirty="0"/>
          </a:p>
          <a:p>
            <a:pPr lvl="1"/>
            <a:r>
              <a:rPr lang="zh-CN" altLang="en-US" sz="1800" dirty="0"/>
              <a:t>每个数对应于</a:t>
            </a:r>
            <a:r>
              <a:rPr lang="en-US" altLang="zh-CN" sz="1800" dirty="0"/>
              <a:t>6</a:t>
            </a:r>
            <a:r>
              <a:rPr lang="zh-CN" altLang="en-US" sz="1800" dirty="0"/>
              <a:t>字节地址的</a:t>
            </a:r>
            <a:r>
              <a:rPr lang="en-US" altLang="zh-CN" sz="1800" dirty="0"/>
              <a:t>1</a:t>
            </a:r>
            <a:r>
              <a:rPr lang="zh-CN" altLang="en-US" sz="1800" dirty="0"/>
              <a:t>个字节，由一对</a:t>
            </a:r>
            <a:r>
              <a:rPr lang="en-US" altLang="zh-CN" sz="1800" dirty="0"/>
              <a:t>16</a:t>
            </a:r>
            <a:r>
              <a:rPr lang="zh-CN" altLang="en-US" sz="1800" dirty="0"/>
              <a:t>进制数给出，每个</a:t>
            </a:r>
            <a:r>
              <a:rPr lang="en-US" altLang="zh-CN" sz="1800" dirty="0"/>
              <a:t>16</a:t>
            </a:r>
            <a:r>
              <a:rPr lang="zh-CN" altLang="en-US" sz="1800" dirty="0"/>
              <a:t>进制数对应</a:t>
            </a:r>
            <a:r>
              <a:rPr lang="en-US" altLang="zh-CN" sz="1800" dirty="0"/>
              <a:t>4</a:t>
            </a:r>
            <a:r>
              <a:rPr lang="zh-CN" altLang="en-US" sz="1800" dirty="0"/>
              <a:t>比特，而且去掉前导</a:t>
            </a:r>
            <a:r>
              <a:rPr lang="en-US" altLang="zh-CN" sz="1800" dirty="0"/>
              <a:t>0</a:t>
            </a:r>
            <a:endParaRPr lang="zh-CN" altLang="en-US" sz="1800" dirty="0"/>
          </a:p>
          <a:p>
            <a:pPr lvl="1"/>
            <a:r>
              <a:rPr lang="zh-CN" altLang="en-US" sz="1800" dirty="0"/>
              <a:t>例，</a:t>
            </a:r>
            <a:r>
              <a:rPr lang="en-US" altLang="zh-CN" sz="1800" dirty="0"/>
              <a:t>8:0:2b:e4:b1:2</a:t>
            </a:r>
            <a:r>
              <a:rPr lang="zh-CN" altLang="en-US" sz="1800" dirty="0"/>
              <a:t>是可读的一个以太网地址，表示：</a:t>
            </a:r>
          </a:p>
          <a:p>
            <a:pPr marL="457188" lvl="1" indent="0"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0000</a:t>
            </a:r>
            <a:r>
              <a:rPr lang="en-US" altLang="zh-CN" sz="1800" dirty="0"/>
              <a:t>1000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0000</a:t>
            </a:r>
            <a:r>
              <a:rPr lang="en-US" altLang="zh-CN" sz="1800" dirty="0"/>
              <a:t>0000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0010</a:t>
            </a:r>
            <a:r>
              <a:rPr lang="en-US" altLang="zh-CN" sz="1800" dirty="0"/>
              <a:t>1011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1110</a:t>
            </a:r>
            <a:r>
              <a:rPr lang="en-US" altLang="zh-CN" sz="1800" dirty="0"/>
              <a:t>0100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1011</a:t>
            </a:r>
            <a:r>
              <a:rPr lang="en-US" altLang="zh-CN" sz="1800" dirty="0"/>
              <a:t>0001  </a:t>
            </a:r>
            <a:r>
              <a:rPr lang="en-US" altLang="zh-CN" sz="1800" dirty="0">
                <a:solidFill>
                  <a:schemeClr val="accent5">
                    <a:lumMod val="50000"/>
                  </a:schemeClr>
                </a:solidFill>
              </a:rPr>
              <a:t>0000</a:t>
            </a:r>
            <a:r>
              <a:rPr lang="en-US" altLang="zh-CN" sz="1800" dirty="0"/>
              <a:t>0010</a:t>
            </a:r>
          </a:p>
          <a:p>
            <a:pPr>
              <a:spcBef>
                <a:spcPts val="1200"/>
              </a:spcBef>
            </a:pPr>
            <a:r>
              <a:rPr lang="en-US" altLang="zh-CN" dirty="0"/>
              <a:t>MAC</a:t>
            </a:r>
            <a:r>
              <a:rPr lang="zh-CN" altLang="en-US" dirty="0"/>
              <a:t>地址分配</a:t>
            </a:r>
            <a:endParaRPr lang="en-US" altLang="zh-CN" dirty="0"/>
          </a:p>
          <a:p>
            <a:pPr lvl="1"/>
            <a:r>
              <a:rPr lang="en-US" altLang="zh-CN" sz="1800" dirty="0"/>
              <a:t>IEEE </a:t>
            </a:r>
            <a:r>
              <a:rPr lang="zh-CN" altLang="en-US" sz="1800" dirty="0"/>
              <a:t>的注册管理机构 </a:t>
            </a:r>
            <a:r>
              <a:rPr lang="en-US" altLang="zh-CN" sz="1800" dirty="0"/>
              <a:t>RA </a:t>
            </a:r>
            <a:r>
              <a:rPr lang="zh-CN" altLang="en-US" sz="1800" dirty="0"/>
              <a:t>负责向厂家分配地址字段的前</a:t>
            </a:r>
            <a:r>
              <a:rPr lang="en-US" altLang="zh-CN" sz="1800" dirty="0"/>
              <a:t>3</a:t>
            </a:r>
            <a:r>
              <a:rPr lang="zh-CN" altLang="en-US" sz="1800" dirty="0"/>
              <a:t>个字节</a:t>
            </a:r>
            <a:r>
              <a:rPr lang="en-US" altLang="zh-CN" sz="1800" dirty="0"/>
              <a:t>(</a:t>
            </a:r>
            <a:r>
              <a:rPr lang="zh-CN" altLang="en-US" sz="1800" dirty="0"/>
              <a:t>即高位 </a:t>
            </a:r>
            <a:r>
              <a:rPr lang="en-US" altLang="zh-CN" sz="1800" dirty="0"/>
              <a:t>23 </a:t>
            </a:r>
            <a:r>
              <a:rPr lang="zh-CN" altLang="en-US" sz="1800" dirty="0"/>
              <a:t>位，其中第一字节的最低位表示单播</a:t>
            </a:r>
            <a:r>
              <a:rPr lang="en-US" altLang="zh-CN" sz="1800" dirty="0"/>
              <a:t>/</a:t>
            </a:r>
            <a:r>
              <a:rPr lang="zh-CN" altLang="en-US" sz="1800" dirty="0"/>
              <a:t>组播地址，单播“</a:t>
            </a:r>
            <a:r>
              <a:rPr lang="en-US" altLang="zh-CN" sz="1800" dirty="0"/>
              <a:t>0</a:t>
            </a:r>
            <a:r>
              <a:rPr lang="zh-CN" altLang="en-US" sz="1800" dirty="0"/>
              <a:t>”</a:t>
            </a:r>
            <a:r>
              <a:rPr lang="en-US" altLang="zh-CN" sz="1800" dirty="0"/>
              <a:t>)</a:t>
            </a:r>
          </a:p>
          <a:p>
            <a:pPr lvl="1"/>
            <a:r>
              <a:rPr lang="zh-CN" altLang="en-US" sz="1800" dirty="0"/>
              <a:t>后</a:t>
            </a:r>
            <a:r>
              <a:rPr lang="en-US" altLang="zh-CN" sz="1800" dirty="0"/>
              <a:t>3</a:t>
            </a:r>
            <a:r>
              <a:rPr lang="zh-CN" altLang="en-US" sz="1800" dirty="0"/>
              <a:t>个字节</a:t>
            </a:r>
            <a:r>
              <a:rPr lang="en-US" altLang="zh-CN" sz="1800" dirty="0"/>
              <a:t>(</a:t>
            </a:r>
            <a:r>
              <a:rPr lang="zh-CN" altLang="en-US" sz="1800" dirty="0"/>
              <a:t>即低位 </a:t>
            </a:r>
            <a:r>
              <a:rPr lang="en-US" altLang="zh-CN" sz="1800" dirty="0"/>
              <a:t>24 </a:t>
            </a:r>
            <a:r>
              <a:rPr lang="zh-CN" altLang="en-US" sz="1800" dirty="0"/>
              <a:t>位</a:t>
            </a:r>
            <a:r>
              <a:rPr lang="en-US" altLang="zh-CN" sz="1800" dirty="0"/>
              <a:t>)</a:t>
            </a:r>
            <a:r>
              <a:rPr lang="zh-CN" altLang="en-US" sz="1800" dirty="0"/>
              <a:t>由厂家自行指派，称为扩展标识符，必须保证生产出的适配器没有重复地址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61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3305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以太网主机接收数据方式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以太网适配器接收</a:t>
            </a:r>
            <a:r>
              <a:rPr lang="en-US" altLang="zh-CN" dirty="0"/>
              <a:t>(receive)</a:t>
            </a:r>
            <a:r>
              <a:rPr lang="zh-CN" altLang="en-US" dirty="0"/>
              <a:t>所有帧</a:t>
            </a:r>
            <a:endParaRPr lang="en-US" altLang="zh-CN" dirty="0"/>
          </a:p>
          <a:p>
            <a:pPr lvl="1"/>
            <a:r>
              <a:rPr lang="zh-CN" altLang="en-US" dirty="0"/>
              <a:t>广播信道，所有主机在一个广播域</a:t>
            </a:r>
            <a:endParaRPr lang="en-US" altLang="zh-CN" dirty="0"/>
          </a:p>
          <a:p>
            <a:pPr>
              <a:spcBef>
                <a:spcPts val="1200"/>
              </a:spcBef>
            </a:pPr>
            <a:r>
              <a:rPr lang="zh-CN" altLang="en-US" dirty="0"/>
              <a:t>但以太网适配器只接受</a:t>
            </a:r>
            <a:r>
              <a:rPr lang="en-US" altLang="zh-CN" dirty="0"/>
              <a:t>(accept)</a:t>
            </a:r>
            <a:endParaRPr lang="zh-CN" altLang="en-US" dirty="0"/>
          </a:p>
          <a:p>
            <a:pPr lvl="1">
              <a:spcBef>
                <a:spcPts val="600"/>
              </a:spcBef>
            </a:pPr>
            <a:r>
              <a:rPr lang="zh-CN" altLang="en-US" dirty="0"/>
              <a:t>编址到它自己地址的帧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编址到广播地址的帧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编址到多点播送地址的帧，如果适配器在监听那个地址</a:t>
            </a:r>
          </a:p>
          <a:p>
            <a:pPr lvl="1">
              <a:spcBef>
                <a:spcPts val="600"/>
              </a:spcBef>
            </a:pPr>
            <a:r>
              <a:rPr lang="zh-CN" altLang="en-US" dirty="0"/>
              <a:t>所有帧，如果适配器处于混杂模式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以太网适配器只向主机传递它接受的帧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62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24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以太网主机接收数据方式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63</a:t>
            </a:fld>
            <a:endParaRPr lang="zh-CN" altLang="en-US" dirty="0"/>
          </a:p>
        </p:txBody>
      </p:sp>
      <p:grpSp>
        <p:nvGrpSpPr>
          <p:cNvPr id="48" name="Group 4"/>
          <p:cNvGrpSpPr>
            <a:grpSpLocks/>
          </p:cNvGrpSpPr>
          <p:nvPr/>
        </p:nvGrpSpPr>
        <p:grpSpPr bwMode="auto">
          <a:xfrm>
            <a:off x="4337050" y="2471188"/>
            <a:ext cx="471488" cy="1406525"/>
            <a:chOff x="1177" y="1994"/>
            <a:chExt cx="258" cy="714"/>
          </a:xfrm>
        </p:grpSpPr>
        <p:sp>
          <p:nvSpPr>
            <p:cNvPr id="49" name="Line 5"/>
            <p:cNvSpPr>
              <a:spLocks noChangeShapeType="1"/>
            </p:cNvSpPr>
            <p:nvPr/>
          </p:nvSpPr>
          <p:spPr bwMode="auto">
            <a:xfrm rot="16200000" flipV="1">
              <a:off x="1043" y="2261"/>
              <a:ext cx="537" cy="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50" name="Picture 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" y="244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1" name="Line 7"/>
          <p:cNvSpPr>
            <a:spLocks noChangeShapeType="1"/>
          </p:cNvSpPr>
          <p:nvPr/>
        </p:nvSpPr>
        <p:spPr bwMode="auto">
          <a:xfrm flipV="1">
            <a:off x="642938" y="2460075"/>
            <a:ext cx="7816850" cy="0"/>
          </a:xfrm>
          <a:prstGeom prst="line">
            <a:avLst/>
          </a:prstGeom>
          <a:noFill/>
          <a:ln w="38100">
            <a:solidFill>
              <a:srgbClr val="33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2" name="Rectangle 8"/>
          <p:cNvSpPr>
            <a:spLocks noChangeArrowheads="1"/>
          </p:cNvSpPr>
          <p:nvPr/>
        </p:nvSpPr>
        <p:spPr bwMode="auto">
          <a:xfrm>
            <a:off x="8342313" y="2393400"/>
            <a:ext cx="117475" cy="125413"/>
          </a:xfrm>
          <a:prstGeom prst="rect">
            <a:avLst/>
          </a:prstGeom>
          <a:solidFill>
            <a:srgbClr val="333399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sp>
        <p:nvSpPr>
          <p:cNvPr id="53" name="Rectangle 9"/>
          <p:cNvSpPr>
            <a:spLocks noChangeArrowheads="1"/>
          </p:cNvSpPr>
          <p:nvPr/>
        </p:nvSpPr>
        <p:spPr bwMode="auto">
          <a:xfrm>
            <a:off x="539750" y="2393400"/>
            <a:ext cx="117475" cy="125413"/>
          </a:xfrm>
          <a:prstGeom prst="rect">
            <a:avLst/>
          </a:prstGeom>
          <a:solidFill>
            <a:srgbClr val="333399"/>
          </a:solidFill>
          <a:ln w="127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grpSp>
        <p:nvGrpSpPr>
          <p:cNvPr id="54" name="Group 11"/>
          <p:cNvGrpSpPr>
            <a:grpSpLocks/>
          </p:cNvGrpSpPr>
          <p:nvPr/>
        </p:nvGrpSpPr>
        <p:grpSpPr bwMode="auto">
          <a:xfrm>
            <a:off x="1390650" y="2471188"/>
            <a:ext cx="471488" cy="1406525"/>
            <a:chOff x="1177" y="1994"/>
            <a:chExt cx="258" cy="714"/>
          </a:xfrm>
        </p:grpSpPr>
        <p:sp>
          <p:nvSpPr>
            <p:cNvPr id="55" name="Line 12"/>
            <p:cNvSpPr>
              <a:spLocks noChangeShapeType="1"/>
            </p:cNvSpPr>
            <p:nvPr/>
          </p:nvSpPr>
          <p:spPr bwMode="auto">
            <a:xfrm rot="16200000" flipV="1">
              <a:off x="1043" y="2261"/>
              <a:ext cx="537" cy="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56" name="Picture 13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" y="244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57" name="Freeform 14"/>
          <p:cNvSpPr>
            <a:spLocks/>
          </p:cNvSpPr>
          <p:nvPr/>
        </p:nvSpPr>
        <p:spPr bwMode="auto">
          <a:xfrm>
            <a:off x="3101975" y="2472775"/>
            <a:ext cx="3175" cy="1027113"/>
          </a:xfrm>
          <a:custGeom>
            <a:avLst/>
            <a:gdLst>
              <a:gd name="T0" fmla="*/ 0 w 2"/>
              <a:gd name="T1" fmla="*/ 521 h 521"/>
              <a:gd name="T2" fmla="*/ 2 w 2"/>
              <a:gd name="T3" fmla="*/ 0 h 521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21">
                <a:moveTo>
                  <a:pt x="0" y="521"/>
                </a:moveTo>
                <a:lnTo>
                  <a:pt x="2" y="0"/>
                </a:lnTo>
              </a:path>
            </a:pathLst>
          </a:custGeom>
          <a:solidFill>
            <a:srgbClr val="333399"/>
          </a:solidFill>
          <a:ln w="38100" cmpd="sng">
            <a:solidFill>
              <a:srgbClr val="33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58" name="Picture 15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3850" y="3364950"/>
            <a:ext cx="4714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9" name="Group 16"/>
          <p:cNvGrpSpPr>
            <a:grpSpLocks/>
          </p:cNvGrpSpPr>
          <p:nvPr/>
        </p:nvGrpSpPr>
        <p:grpSpPr bwMode="auto">
          <a:xfrm>
            <a:off x="5810250" y="2471188"/>
            <a:ext cx="471488" cy="1406525"/>
            <a:chOff x="1177" y="1994"/>
            <a:chExt cx="258" cy="714"/>
          </a:xfrm>
        </p:grpSpPr>
        <p:sp>
          <p:nvSpPr>
            <p:cNvPr id="60" name="Line 17"/>
            <p:cNvSpPr>
              <a:spLocks noChangeShapeType="1"/>
            </p:cNvSpPr>
            <p:nvPr/>
          </p:nvSpPr>
          <p:spPr bwMode="auto">
            <a:xfrm rot="16200000" flipV="1">
              <a:off x="1043" y="2261"/>
              <a:ext cx="537" cy="4"/>
            </a:xfrm>
            <a:prstGeom prst="line">
              <a:avLst/>
            </a:prstGeom>
            <a:noFill/>
            <a:ln w="381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61" name="Picture 1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77" y="2448"/>
              <a:ext cx="258" cy="2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333399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333399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62" name="Freeform 19"/>
          <p:cNvSpPr>
            <a:spLocks/>
          </p:cNvSpPr>
          <p:nvPr/>
        </p:nvSpPr>
        <p:spPr bwMode="auto">
          <a:xfrm>
            <a:off x="7523163" y="2472775"/>
            <a:ext cx="3175" cy="1042988"/>
          </a:xfrm>
          <a:custGeom>
            <a:avLst/>
            <a:gdLst>
              <a:gd name="T0" fmla="*/ 0 w 2"/>
              <a:gd name="T1" fmla="*/ 529 h 529"/>
              <a:gd name="T2" fmla="*/ 2 w 2"/>
              <a:gd name="T3" fmla="*/ 0 h 5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" h="529">
                <a:moveTo>
                  <a:pt x="0" y="529"/>
                </a:moveTo>
                <a:lnTo>
                  <a:pt x="2" y="0"/>
                </a:lnTo>
              </a:path>
            </a:pathLst>
          </a:custGeom>
          <a:solidFill>
            <a:srgbClr val="333399"/>
          </a:solidFill>
          <a:ln w="38100" cmpd="sng">
            <a:solidFill>
              <a:srgbClr val="333399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zh-CN" altLang="en-US" sz="2000">
              <a:solidFill>
                <a:srgbClr val="000000"/>
              </a:solidFill>
              <a:latin typeface="Tahoma" panose="020B0604030504040204" pitchFamily="34" charset="0"/>
            </a:endParaRPr>
          </a:p>
        </p:txBody>
      </p:sp>
      <p:pic>
        <p:nvPicPr>
          <p:cNvPr id="63" name="Picture 20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5038" y="3364950"/>
            <a:ext cx="4714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" name="Text Box 21"/>
          <p:cNvSpPr txBox="1">
            <a:spLocks noChangeArrowheads="1"/>
          </p:cNvSpPr>
          <p:nvPr/>
        </p:nvSpPr>
        <p:spPr bwMode="auto">
          <a:xfrm>
            <a:off x="2508250" y="4196800"/>
            <a:ext cx="12001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B</a:t>
            </a:r>
            <a:r>
              <a:rPr kumimoji="1" lang="zh-CN" altLang="en-US" sz="2000">
                <a:solidFill>
                  <a:srgbClr val="333399"/>
                </a:solidFill>
                <a:ea typeface="黑体"/>
              </a:rPr>
              <a:t>向</a:t>
            </a:r>
            <a:r>
              <a:rPr kumimoji="1" lang="zh-CN" altLang="en-US" sz="1200">
                <a:solidFill>
                  <a:srgbClr val="333399"/>
                </a:solidFill>
                <a:ea typeface="黑体"/>
              </a:rPr>
              <a:t> </a:t>
            </a: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D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2000">
                <a:solidFill>
                  <a:srgbClr val="333399"/>
                </a:solidFill>
                <a:ea typeface="黑体"/>
              </a:rPr>
              <a:t>发送数据</a:t>
            </a:r>
          </a:p>
        </p:txBody>
      </p:sp>
      <p:sp>
        <p:nvSpPr>
          <p:cNvPr id="65" name="Text Box 22"/>
          <p:cNvSpPr txBox="1">
            <a:spLocks noChangeArrowheads="1"/>
          </p:cNvSpPr>
          <p:nvPr/>
        </p:nvSpPr>
        <p:spPr bwMode="auto">
          <a:xfrm>
            <a:off x="4125913" y="3871363"/>
            <a:ext cx="6477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    C</a:t>
            </a:r>
          </a:p>
        </p:txBody>
      </p:sp>
      <p:sp>
        <p:nvSpPr>
          <p:cNvPr id="66" name="Text Box 23"/>
          <p:cNvSpPr txBox="1">
            <a:spLocks noChangeArrowheads="1"/>
          </p:cNvSpPr>
          <p:nvPr/>
        </p:nvSpPr>
        <p:spPr bwMode="auto">
          <a:xfrm>
            <a:off x="5667375" y="3857075"/>
            <a:ext cx="577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   D</a:t>
            </a:r>
          </a:p>
        </p:txBody>
      </p:sp>
      <p:sp>
        <p:nvSpPr>
          <p:cNvPr id="67" name="Text Box 24"/>
          <p:cNvSpPr txBox="1">
            <a:spLocks noChangeArrowheads="1"/>
          </p:cNvSpPr>
          <p:nvPr/>
        </p:nvSpPr>
        <p:spPr bwMode="auto">
          <a:xfrm>
            <a:off x="1187450" y="3857075"/>
            <a:ext cx="6334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    A</a:t>
            </a:r>
          </a:p>
        </p:txBody>
      </p:sp>
      <p:sp>
        <p:nvSpPr>
          <p:cNvPr id="68" name="Text Box 25"/>
          <p:cNvSpPr txBox="1">
            <a:spLocks noChangeArrowheads="1"/>
          </p:cNvSpPr>
          <p:nvPr/>
        </p:nvSpPr>
        <p:spPr bwMode="auto">
          <a:xfrm>
            <a:off x="7046913" y="3853900"/>
            <a:ext cx="6334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    E</a:t>
            </a:r>
          </a:p>
        </p:txBody>
      </p:sp>
      <p:sp>
        <p:nvSpPr>
          <p:cNvPr id="69" name="Freeform 29"/>
          <p:cNvSpPr>
            <a:spLocks/>
          </p:cNvSpPr>
          <p:nvPr/>
        </p:nvSpPr>
        <p:spPr bwMode="auto">
          <a:xfrm>
            <a:off x="3016250" y="2560088"/>
            <a:ext cx="1582738" cy="915987"/>
          </a:xfrm>
          <a:custGeom>
            <a:avLst/>
            <a:gdLst>
              <a:gd name="T0" fmla="*/ 27 w 997"/>
              <a:gd name="T1" fmla="*/ 577 h 577"/>
              <a:gd name="T2" fmla="*/ 139 w 997"/>
              <a:gd name="T3" fmla="*/ 80 h 577"/>
              <a:gd name="T4" fmla="*/ 861 w 997"/>
              <a:gd name="T5" fmla="*/ 98 h 577"/>
              <a:gd name="T6" fmla="*/ 953 w 997"/>
              <a:gd name="T7" fmla="*/ 573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7" h="577">
                <a:moveTo>
                  <a:pt x="27" y="577"/>
                </a:moveTo>
                <a:cubicBezTo>
                  <a:pt x="46" y="494"/>
                  <a:pt x="0" y="160"/>
                  <a:pt x="139" y="80"/>
                </a:cubicBezTo>
                <a:cubicBezTo>
                  <a:pt x="278" y="0"/>
                  <a:pt x="725" y="16"/>
                  <a:pt x="861" y="98"/>
                </a:cubicBezTo>
                <a:cubicBezTo>
                  <a:pt x="997" y="180"/>
                  <a:pt x="934" y="474"/>
                  <a:pt x="953" y="573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0" name="Freeform 30"/>
          <p:cNvSpPr>
            <a:spLocks/>
          </p:cNvSpPr>
          <p:nvPr/>
        </p:nvSpPr>
        <p:spPr bwMode="auto">
          <a:xfrm>
            <a:off x="3059113" y="2572788"/>
            <a:ext cx="3082925" cy="998537"/>
          </a:xfrm>
          <a:custGeom>
            <a:avLst/>
            <a:gdLst>
              <a:gd name="T0" fmla="*/ 26 w 1895"/>
              <a:gd name="T1" fmla="*/ 556 h 629"/>
              <a:gd name="T2" fmla="*/ 147 w 1895"/>
              <a:gd name="T3" fmla="*/ 108 h 629"/>
              <a:gd name="T4" fmla="*/ 906 w 1895"/>
              <a:gd name="T5" fmla="*/ 35 h 629"/>
              <a:gd name="T6" fmla="*/ 1738 w 1895"/>
              <a:gd name="T7" fmla="*/ 99 h 629"/>
              <a:gd name="T8" fmla="*/ 1848 w 1895"/>
              <a:gd name="T9" fmla="*/ 629 h 62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895" h="629">
                <a:moveTo>
                  <a:pt x="26" y="556"/>
                </a:moveTo>
                <a:cubicBezTo>
                  <a:pt x="46" y="481"/>
                  <a:pt x="0" y="195"/>
                  <a:pt x="147" y="108"/>
                </a:cubicBezTo>
                <a:cubicBezTo>
                  <a:pt x="294" y="21"/>
                  <a:pt x="641" y="36"/>
                  <a:pt x="906" y="35"/>
                </a:cubicBezTo>
                <a:cubicBezTo>
                  <a:pt x="1171" y="34"/>
                  <a:pt x="1581" y="0"/>
                  <a:pt x="1738" y="99"/>
                </a:cubicBezTo>
                <a:cubicBezTo>
                  <a:pt x="1895" y="198"/>
                  <a:pt x="1825" y="519"/>
                  <a:pt x="1848" y="629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1" name="Freeform 31"/>
          <p:cNvSpPr>
            <a:spLocks/>
          </p:cNvSpPr>
          <p:nvPr/>
        </p:nvSpPr>
        <p:spPr bwMode="auto">
          <a:xfrm>
            <a:off x="3059113" y="2575963"/>
            <a:ext cx="4432300" cy="962025"/>
          </a:xfrm>
          <a:custGeom>
            <a:avLst/>
            <a:gdLst>
              <a:gd name="T0" fmla="*/ 29 w 2601"/>
              <a:gd name="T1" fmla="*/ 533 h 606"/>
              <a:gd name="T2" fmla="*/ 200 w 2601"/>
              <a:gd name="T3" fmla="*/ 85 h 606"/>
              <a:gd name="T4" fmla="*/ 1228 w 2601"/>
              <a:gd name="T5" fmla="*/ 24 h 606"/>
              <a:gd name="T6" fmla="*/ 2362 w 2601"/>
              <a:gd name="T7" fmla="*/ 106 h 606"/>
              <a:gd name="T8" fmla="*/ 2601 w 2601"/>
              <a:gd name="T9" fmla="*/ 606 h 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601" h="606">
                <a:moveTo>
                  <a:pt x="29" y="533"/>
                </a:moveTo>
                <a:cubicBezTo>
                  <a:pt x="57" y="458"/>
                  <a:pt x="0" y="170"/>
                  <a:pt x="200" y="85"/>
                </a:cubicBezTo>
                <a:cubicBezTo>
                  <a:pt x="400" y="0"/>
                  <a:pt x="868" y="21"/>
                  <a:pt x="1228" y="24"/>
                </a:cubicBezTo>
                <a:cubicBezTo>
                  <a:pt x="1588" y="27"/>
                  <a:pt x="2133" y="9"/>
                  <a:pt x="2362" y="106"/>
                </a:cubicBezTo>
                <a:cubicBezTo>
                  <a:pt x="2591" y="203"/>
                  <a:pt x="2551" y="502"/>
                  <a:pt x="2601" y="606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2" name="Freeform 32"/>
          <p:cNvSpPr>
            <a:spLocks/>
          </p:cNvSpPr>
          <p:nvPr/>
        </p:nvSpPr>
        <p:spPr bwMode="auto">
          <a:xfrm>
            <a:off x="3059113" y="2539450"/>
            <a:ext cx="5157787" cy="846138"/>
          </a:xfrm>
          <a:custGeom>
            <a:avLst/>
            <a:gdLst>
              <a:gd name="T0" fmla="*/ 31 w 3249"/>
              <a:gd name="T1" fmla="*/ 533 h 533"/>
              <a:gd name="T2" fmla="*/ 215 w 3249"/>
              <a:gd name="T3" fmla="*/ 85 h 533"/>
              <a:gd name="T4" fmla="*/ 1318 w 3249"/>
              <a:gd name="T5" fmla="*/ 24 h 533"/>
              <a:gd name="T6" fmla="*/ 2527 w 3249"/>
              <a:gd name="T7" fmla="*/ 29 h 533"/>
              <a:gd name="T8" fmla="*/ 3249 w 3249"/>
              <a:gd name="T9" fmla="*/ 47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249" h="533">
                <a:moveTo>
                  <a:pt x="31" y="533"/>
                </a:moveTo>
                <a:cubicBezTo>
                  <a:pt x="61" y="458"/>
                  <a:pt x="0" y="170"/>
                  <a:pt x="215" y="85"/>
                </a:cubicBezTo>
                <a:cubicBezTo>
                  <a:pt x="429" y="0"/>
                  <a:pt x="933" y="33"/>
                  <a:pt x="1318" y="24"/>
                </a:cubicBezTo>
                <a:cubicBezTo>
                  <a:pt x="1703" y="15"/>
                  <a:pt x="2205" y="25"/>
                  <a:pt x="2527" y="29"/>
                </a:cubicBezTo>
                <a:cubicBezTo>
                  <a:pt x="2849" y="33"/>
                  <a:pt x="3099" y="43"/>
                  <a:pt x="3249" y="47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3" name="Freeform 33"/>
          <p:cNvSpPr>
            <a:spLocks/>
          </p:cNvSpPr>
          <p:nvPr/>
        </p:nvSpPr>
        <p:spPr bwMode="auto">
          <a:xfrm>
            <a:off x="539750" y="2539450"/>
            <a:ext cx="2609850" cy="846138"/>
          </a:xfrm>
          <a:custGeom>
            <a:avLst/>
            <a:gdLst>
              <a:gd name="T0" fmla="*/ 1628 w 1644"/>
              <a:gd name="T1" fmla="*/ 533 h 533"/>
              <a:gd name="T2" fmla="*/ 1536 w 1644"/>
              <a:gd name="T3" fmla="*/ 85 h 533"/>
              <a:gd name="T4" fmla="*/ 982 w 1644"/>
              <a:gd name="T5" fmla="*/ 24 h 533"/>
              <a:gd name="T6" fmla="*/ 374 w 1644"/>
              <a:gd name="T7" fmla="*/ 29 h 533"/>
              <a:gd name="T8" fmla="*/ 0 w 1644"/>
              <a:gd name="T9" fmla="*/ 19 h 5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44" h="533">
                <a:moveTo>
                  <a:pt x="1628" y="533"/>
                </a:moveTo>
                <a:cubicBezTo>
                  <a:pt x="1613" y="458"/>
                  <a:pt x="1644" y="170"/>
                  <a:pt x="1536" y="85"/>
                </a:cubicBezTo>
                <a:cubicBezTo>
                  <a:pt x="1428" y="0"/>
                  <a:pt x="1175" y="33"/>
                  <a:pt x="982" y="24"/>
                </a:cubicBezTo>
                <a:cubicBezTo>
                  <a:pt x="788" y="15"/>
                  <a:pt x="538" y="30"/>
                  <a:pt x="374" y="29"/>
                </a:cubicBezTo>
                <a:cubicBezTo>
                  <a:pt x="210" y="28"/>
                  <a:pt x="78" y="21"/>
                  <a:pt x="0" y="19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sp>
        <p:nvSpPr>
          <p:cNvPr id="74" name="Freeform 34"/>
          <p:cNvSpPr>
            <a:spLocks/>
          </p:cNvSpPr>
          <p:nvPr/>
        </p:nvSpPr>
        <p:spPr bwMode="auto">
          <a:xfrm flipH="1">
            <a:off x="1476375" y="2539450"/>
            <a:ext cx="1582738" cy="915988"/>
          </a:xfrm>
          <a:custGeom>
            <a:avLst/>
            <a:gdLst>
              <a:gd name="T0" fmla="*/ 27 w 997"/>
              <a:gd name="T1" fmla="*/ 577 h 577"/>
              <a:gd name="T2" fmla="*/ 139 w 997"/>
              <a:gd name="T3" fmla="*/ 80 h 577"/>
              <a:gd name="T4" fmla="*/ 861 w 997"/>
              <a:gd name="T5" fmla="*/ 98 h 577"/>
              <a:gd name="T6" fmla="*/ 953 w 997"/>
              <a:gd name="T7" fmla="*/ 573 h 5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97" h="577">
                <a:moveTo>
                  <a:pt x="27" y="577"/>
                </a:moveTo>
                <a:cubicBezTo>
                  <a:pt x="46" y="494"/>
                  <a:pt x="0" y="160"/>
                  <a:pt x="139" y="80"/>
                </a:cubicBezTo>
                <a:cubicBezTo>
                  <a:pt x="278" y="0"/>
                  <a:pt x="725" y="16"/>
                  <a:pt x="861" y="98"/>
                </a:cubicBezTo>
                <a:cubicBezTo>
                  <a:pt x="997" y="180"/>
                  <a:pt x="934" y="474"/>
                  <a:pt x="953" y="573"/>
                </a:cubicBezTo>
              </a:path>
            </a:pathLst>
          </a:custGeom>
          <a:noFill/>
          <a:ln w="76200" cmpd="sng">
            <a:solidFill>
              <a:srgbClr val="FF0000"/>
            </a:solidFill>
            <a:round/>
            <a:headEnd type="none" w="med" len="med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</a:endParaRPr>
          </a:p>
        </p:txBody>
      </p:sp>
      <p:grpSp>
        <p:nvGrpSpPr>
          <p:cNvPr id="75" name="Group 35"/>
          <p:cNvGrpSpPr>
            <a:grpSpLocks/>
          </p:cNvGrpSpPr>
          <p:nvPr/>
        </p:nvGrpSpPr>
        <p:grpSpPr bwMode="auto">
          <a:xfrm>
            <a:off x="7261225" y="3480838"/>
            <a:ext cx="249238" cy="268287"/>
            <a:chOff x="1474" y="3430"/>
            <a:chExt cx="136" cy="136"/>
          </a:xfrm>
        </p:grpSpPr>
        <p:sp>
          <p:nvSpPr>
            <p:cNvPr id="76" name="Line 36"/>
            <p:cNvSpPr>
              <a:spLocks noChangeShapeType="1"/>
            </p:cNvSpPr>
            <p:nvPr/>
          </p:nvSpPr>
          <p:spPr bwMode="auto">
            <a:xfrm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77" name="Line 37"/>
            <p:cNvSpPr>
              <a:spLocks noChangeShapeType="1"/>
            </p:cNvSpPr>
            <p:nvPr/>
          </p:nvSpPr>
          <p:spPr bwMode="auto">
            <a:xfrm flipH="1"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78" name="AutoShape 38"/>
          <p:cNvSpPr>
            <a:spLocks noChangeArrowheads="1"/>
          </p:cNvSpPr>
          <p:nvPr/>
        </p:nvSpPr>
        <p:spPr bwMode="auto">
          <a:xfrm>
            <a:off x="7078663" y="4250775"/>
            <a:ext cx="877887" cy="377825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黑体"/>
              </a:rPr>
              <a:t>不接受</a:t>
            </a:r>
          </a:p>
        </p:txBody>
      </p:sp>
      <p:grpSp>
        <p:nvGrpSpPr>
          <p:cNvPr id="79" name="Group 39"/>
          <p:cNvGrpSpPr>
            <a:grpSpLocks/>
          </p:cNvGrpSpPr>
          <p:nvPr/>
        </p:nvGrpSpPr>
        <p:grpSpPr bwMode="auto">
          <a:xfrm>
            <a:off x="4322763" y="3480838"/>
            <a:ext cx="249237" cy="268287"/>
            <a:chOff x="1474" y="3430"/>
            <a:chExt cx="136" cy="136"/>
          </a:xfrm>
        </p:grpSpPr>
        <p:sp>
          <p:nvSpPr>
            <p:cNvPr id="80" name="Line 40"/>
            <p:cNvSpPr>
              <a:spLocks noChangeShapeType="1"/>
            </p:cNvSpPr>
            <p:nvPr/>
          </p:nvSpPr>
          <p:spPr bwMode="auto">
            <a:xfrm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1" name="Line 41"/>
            <p:cNvSpPr>
              <a:spLocks noChangeShapeType="1"/>
            </p:cNvSpPr>
            <p:nvPr/>
          </p:nvSpPr>
          <p:spPr bwMode="auto">
            <a:xfrm flipH="1"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82" name="AutoShape 42"/>
          <p:cNvSpPr>
            <a:spLocks noChangeArrowheads="1"/>
          </p:cNvSpPr>
          <p:nvPr/>
        </p:nvSpPr>
        <p:spPr bwMode="auto">
          <a:xfrm>
            <a:off x="4140200" y="4250775"/>
            <a:ext cx="877888" cy="377825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黑体"/>
              </a:rPr>
              <a:t>不接受</a:t>
            </a:r>
          </a:p>
        </p:txBody>
      </p:sp>
      <p:grpSp>
        <p:nvGrpSpPr>
          <p:cNvPr id="83" name="Group 43"/>
          <p:cNvGrpSpPr>
            <a:grpSpLocks/>
          </p:cNvGrpSpPr>
          <p:nvPr/>
        </p:nvGrpSpPr>
        <p:grpSpPr bwMode="auto">
          <a:xfrm>
            <a:off x="1370013" y="3480838"/>
            <a:ext cx="249237" cy="268287"/>
            <a:chOff x="1474" y="3430"/>
            <a:chExt cx="136" cy="136"/>
          </a:xfrm>
        </p:grpSpPr>
        <p:sp>
          <p:nvSpPr>
            <p:cNvPr id="84" name="Line 44"/>
            <p:cNvSpPr>
              <a:spLocks noChangeShapeType="1"/>
            </p:cNvSpPr>
            <p:nvPr/>
          </p:nvSpPr>
          <p:spPr bwMode="auto">
            <a:xfrm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  <p:sp>
          <p:nvSpPr>
            <p:cNvPr id="85" name="Line 45"/>
            <p:cNvSpPr>
              <a:spLocks noChangeShapeType="1"/>
            </p:cNvSpPr>
            <p:nvPr/>
          </p:nvSpPr>
          <p:spPr bwMode="auto">
            <a:xfrm flipH="1">
              <a:off x="1474" y="3430"/>
              <a:ext cx="136" cy="136"/>
            </a:xfrm>
            <a:prstGeom prst="line">
              <a:avLst/>
            </a:prstGeom>
            <a:noFill/>
            <a:ln w="76200">
              <a:solidFill>
                <a:srgbClr val="3333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</a:endParaRPr>
            </a:p>
          </p:txBody>
        </p:sp>
      </p:grpSp>
      <p:sp>
        <p:nvSpPr>
          <p:cNvPr id="86" name="AutoShape 46"/>
          <p:cNvSpPr>
            <a:spLocks noChangeArrowheads="1"/>
          </p:cNvSpPr>
          <p:nvPr/>
        </p:nvSpPr>
        <p:spPr bwMode="auto">
          <a:xfrm>
            <a:off x="1187450" y="4250775"/>
            <a:ext cx="877888" cy="377825"/>
          </a:xfrm>
          <a:prstGeom prst="roundRect">
            <a:avLst>
              <a:gd name="adj" fmla="val 16667"/>
            </a:avLst>
          </a:prstGeom>
          <a:solidFill>
            <a:srgbClr val="FFFF66"/>
          </a:solidFill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黑体"/>
              </a:rPr>
              <a:t>不接受</a:t>
            </a:r>
          </a:p>
        </p:txBody>
      </p:sp>
      <p:sp>
        <p:nvSpPr>
          <p:cNvPr id="87" name="Text Box 47"/>
          <p:cNvSpPr txBox="1">
            <a:spLocks noChangeArrowheads="1"/>
          </p:cNvSpPr>
          <p:nvPr/>
        </p:nvSpPr>
        <p:spPr bwMode="auto">
          <a:xfrm>
            <a:off x="5724525" y="4268238"/>
            <a:ext cx="701675" cy="406400"/>
          </a:xfrm>
          <a:prstGeom prst="rect">
            <a:avLst/>
          </a:prstGeom>
          <a:solidFill>
            <a:srgbClr val="FFCCFF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000" b="0" i="0" u="none" strike="noStrike" kern="0" cap="none" spc="0" normalizeH="0" baseline="0" noProof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ea typeface="黑体"/>
              </a:rPr>
              <a:t>接受</a:t>
            </a:r>
          </a:p>
        </p:txBody>
      </p:sp>
      <p:sp>
        <p:nvSpPr>
          <p:cNvPr id="88" name="Text Box 48"/>
          <p:cNvSpPr txBox="1">
            <a:spLocks noChangeArrowheads="1"/>
          </p:cNvSpPr>
          <p:nvPr/>
        </p:nvSpPr>
        <p:spPr bwMode="auto">
          <a:xfrm>
            <a:off x="2922588" y="3857075"/>
            <a:ext cx="3540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>
                <a:solidFill>
                  <a:srgbClr val="333399"/>
                </a:solidFill>
                <a:ea typeface="黑体"/>
              </a:rPr>
              <a:t>B</a:t>
            </a:r>
          </a:p>
        </p:txBody>
      </p:sp>
      <p:sp>
        <p:nvSpPr>
          <p:cNvPr id="89" name="Text Box 49"/>
          <p:cNvSpPr txBox="1">
            <a:spLocks noChangeArrowheads="1"/>
          </p:cNvSpPr>
          <p:nvPr/>
        </p:nvSpPr>
        <p:spPr bwMode="auto">
          <a:xfrm>
            <a:off x="5221334" y="2707726"/>
            <a:ext cx="1703388" cy="711200"/>
          </a:xfrm>
          <a:prstGeom prst="rect">
            <a:avLst/>
          </a:prstGeom>
          <a:solidFill>
            <a:srgbClr val="FFFF99"/>
          </a:solidFill>
          <a:ln w="9525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333399"/>
                </a:solidFill>
                <a:ea typeface="黑体"/>
              </a:rPr>
              <a:t>只有 </a:t>
            </a:r>
            <a:r>
              <a:rPr lang="en-US" altLang="zh-CN" sz="2000" dirty="0">
                <a:solidFill>
                  <a:srgbClr val="333399"/>
                </a:solidFill>
                <a:ea typeface="黑体"/>
              </a:rPr>
              <a:t>D </a:t>
            </a:r>
            <a:r>
              <a:rPr lang="zh-CN" altLang="en-US" sz="2000" dirty="0">
                <a:solidFill>
                  <a:srgbClr val="333399"/>
                </a:solidFill>
                <a:ea typeface="黑体"/>
              </a:rPr>
              <a:t>接受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000" dirty="0">
                <a:solidFill>
                  <a:srgbClr val="333399"/>
                </a:solidFill>
                <a:ea typeface="黑体"/>
              </a:rPr>
              <a:t>B </a:t>
            </a:r>
            <a:r>
              <a:rPr lang="zh-CN" altLang="en-US" sz="2000" dirty="0">
                <a:solidFill>
                  <a:srgbClr val="333399"/>
                </a:solidFill>
                <a:ea typeface="黑体"/>
              </a:rPr>
              <a:t>发送的数据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4084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4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40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35" presetClass="emph" presetSubtype="0" repeatCount="5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6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4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0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5" presetClass="emph" presetSubtype="0" repeatCount="5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6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5" presetClass="emph" presetSubtype="0" repeatCount="5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6500"/>
                            </p:stCondLst>
                            <p:childTnLst>
                              <p:par>
                                <p:cTn id="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500"/>
                            </p:stCondLst>
                            <p:childTnLst>
                              <p:par>
                                <p:cTn id="88" presetID="35" presetClass="emph" presetSubtype="0" repeatCount="3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9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  <p:bldP spid="64" grpId="1"/>
      <p:bldP spid="69" grpId="0" animBg="1"/>
      <p:bldP spid="69" grpId="1" animBg="1"/>
      <p:bldP spid="70" grpId="0" animBg="1"/>
      <p:bldP spid="71" grpId="0" animBg="1"/>
      <p:bldP spid="71" grpId="1" animBg="1"/>
      <p:bldP spid="72" grpId="0" animBg="1"/>
      <p:bldP spid="72" grpId="1" animBg="1"/>
      <p:bldP spid="73" grpId="0" animBg="1"/>
      <p:bldP spid="73" grpId="1" animBg="1"/>
      <p:bldP spid="74" grpId="0" animBg="1"/>
      <p:bldP spid="74" grpId="1" animBg="1"/>
      <p:bldP spid="78" grpId="0" animBg="1"/>
      <p:bldP spid="78" grpId="1" animBg="1"/>
      <p:bldP spid="82" grpId="0" animBg="1"/>
      <p:bldP spid="82" grpId="1" animBg="1"/>
      <p:bldP spid="86" grpId="0" animBg="1"/>
      <p:bldP spid="86" grpId="1" animBg="1"/>
      <p:bldP spid="87" grpId="0" animBg="1"/>
      <p:bldP spid="87" grpId="1" animBg="1"/>
      <p:bldP spid="89" grpId="0" animBg="1"/>
      <p:bldP spid="89" grpId="1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以太网不提供可靠传输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444978"/>
            <a:ext cx="8370711" cy="5034843"/>
          </a:xfrm>
        </p:spPr>
        <p:txBody>
          <a:bodyPr/>
          <a:lstStyle/>
          <a:p>
            <a:r>
              <a:rPr lang="zh-CN" altLang="en-US" dirty="0"/>
              <a:t>提供的服务是尽最大努力的交付，即不可靠的交付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对发送的数据帧不进行编号，也不要求对方发回确认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当目的站收到有差错的数据帧时丢弃，差错的纠正由高层决定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如果高层进行重传，以太网并不知道这是重传帧，当作新的帧发送</a:t>
            </a:r>
            <a:endParaRPr lang="en-US" altLang="zh-CN" sz="1800" dirty="0"/>
          </a:p>
          <a:p>
            <a:pPr>
              <a:spcBef>
                <a:spcPts val="1200"/>
              </a:spcBef>
            </a:pPr>
            <a:r>
              <a:rPr lang="zh-CN" altLang="en-US" dirty="0"/>
              <a:t>无效帧</a:t>
            </a:r>
            <a:endParaRPr lang="en-US" altLang="zh-CN" dirty="0"/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帧的长度不是整数个字节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用收到的帧检验序列 </a:t>
            </a:r>
            <a:r>
              <a:rPr lang="en-US" altLang="zh-CN" sz="1800" dirty="0"/>
              <a:t>CRC</a:t>
            </a:r>
            <a:r>
              <a:rPr lang="zh-CN" altLang="en-US" sz="1800" dirty="0"/>
              <a:t>查出有差错</a:t>
            </a:r>
          </a:p>
          <a:p>
            <a:pPr lvl="1">
              <a:spcBef>
                <a:spcPts val="600"/>
              </a:spcBef>
            </a:pPr>
            <a:r>
              <a:rPr lang="zh-CN" altLang="en-US" sz="1800" dirty="0"/>
              <a:t>数据字段的长度不在 </a:t>
            </a:r>
            <a:r>
              <a:rPr lang="en-US" altLang="zh-CN" sz="1800" dirty="0"/>
              <a:t>46 ~ 1500 </a:t>
            </a:r>
            <a:r>
              <a:rPr lang="zh-CN" altLang="en-US" sz="1800" dirty="0"/>
              <a:t>字节之间</a:t>
            </a:r>
            <a:endParaRPr lang="en-US" altLang="zh-CN" sz="1800" dirty="0"/>
          </a:p>
          <a:p>
            <a:pPr lvl="2">
              <a:spcBef>
                <a:spcPts val="600"/>
              </a:spcBef>
            </a:pPr>
            <a:r>
              <a:rPr lang="zh-CN" altLang="en-US" dirty="0"/>
              <a:t>有效的 </a:t>
            </a:r>
            <a:r>
              <a:rPr lang="en-US" altLang="zh-CN" dirty="0"/>
              <a:t>MAC </a:t>
            </a:r>
            <a:r>
              <a:rPr lang="zh-CN" altLang="en-US" dirty="0"/>
              <a:t>帧长度为 </a:t>
            </a:r>
            <a:r>
              <a:rPr lang="en-US" altLang="zh-CN" dirty="0"/>
              <a:t>64 ~ 1518 </a:t>
            </a:r>
            <a:r>
              <a:rPr lang="zh-CN" altLang="en-US" dirty="0"/>
              <a:t>字节之间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64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559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五个问题的解决方案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编码</a:t>
            </a:r>
            <a:endParaRPr lang="en-US" altLang="zh-CN" dirty="0"/>
          </a:p>
          <a:p>
            <a:pPr lvl="1"/>
            <a:r>
              <a:rPr lang="zh-CN" altLang="en-US" dirty="0"/>
              <a:t>曼彻斯特码</a:t>
            </a:r>
            <a:r>
              <a:rPr lang="zh-CN" altLang="en-US"/>
              <a:t>、</a:t>
            </a:r>
            <a:r>
              <a:rPr lang="en-US" altLang="zh-CN"/>
              <a:t>4B/5B</a:t>
            </a:r>
            <a:endParaRPr lang="en-US" altLang="zh-CN" dirty="0"/>
          </a:p>
          <a:p>
            <a:r>
              <a:rPr lang="zh-CN" altLang="en-US" dirty="0"/>
              <a:t>组帧</a:t>
            </a:r>
            <a:endParaRPr lang="en-US" altLang="zh-CN" dirty="0"/>
          </a:p>
          <a:p>
            <a:pPr lvl="1"/>
            <a:r>
              <a:rPr lang="zh-CN" altLang="en-US" dirty="0"/>
              <a:t>面向比特</a:t>
            </a:r>
            <a:endParaRPr lang="en-US" altLang="zh-CN" dirty="0"/>
          </a:p>
          <a:p>
            <a:r>
              <a:rPr lang="zh-CN" altLang="en-US" dirty="0"/>
              <a:t>差错检测</a:t>
            </a:r>
            <a:endParaRPr lang="en-US" altLang="zh-CN" dirty="0"/>
          </a:p>
          <a:p>
            <a:pPr lvl="1"/>
            <a:r>
              <a:rPr lang="en-US" altLang="zh-CN" dirty="0"/>
              <a:t>CRC</a:t>
            </a:r>
          </a:p>
          <a:p>
            <a:r>
              <a:rPr lang="zh-CN" altLang="en-US" dirty="0"/>
              <a:t>可靠传输</a:t>
            </a:r>
            <a:endParaRPr lang="en-US" altLang="zh-CN" dirty="0"/>
          </a:p>
          <a:p>
            <a:pPr lvl="1"/>
            <a:r>
              <a:rPr lang="zh-CN" altLang="en-US" dirty="0"/>
              <a:t>不提供，尽力交付</a:t>
            </a:r>
            <a:endParaRPr lang="en-US" altLang="zh-CN" dirty="0"/>
          </a:p>
          <a:p>
            <a:r>
              <a:rPr lang="zh-CN" altLang="en-US" dirty="0"/>
              <a:t>媒体共享</a:t>
            </a:r>
            <a:endParaRPr lang="en-US" altLang="zh-CN" dirty="0"/>
          </a:p>
          <a:p>
            <a:pPr lvl="1"/>
            <a:r>
              <a:rPr lang="en-US" altLang="zh-CN" dirty="0"/>
              <a:t>CSMA/CD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65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4699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8"/>
            <a:ext cx="8229600" cy="5034843"/>
          </a:xfrm>
        </p:spPr>
        <p:txBody>
          <a:bodyPr/>
          <a:lstStyle/>
          <a:p>
            <a:r>
              <a:rPr lang="zh-CN" altLang="en-US" dirty="0"/>
              <a:t>在物理层扩展</a:t>
            </a:r>
            <a:endParaRPr lang="en-US" altLang="zh-CN" dirty="0"/>
          </a:p>
          <a:p>
            <a:pPr lvl="1"/>
            <a:r>
              <a:rPr lang="zh-CN" altLang="en-US" dirty="0"/>
              <a:t>光纤：扩展主机与</a:t>
            </a:r>
            <a:r>
              <a:rPr lang="en-US" altLang="zh-CN" dirty="0"/>
              <a:t>Hub</a:t>
            </a:r>
            <a:r>
              <a:rPr lang="zh-CN" altLang="en-US" dirty="0"/>
              <a:t>、</a:t>
            </a:r>
            <a:r>
              <a:rPr lang="en-US" altLang="zh-CN" dirty="0"/>
              <a:t>Hub</a:t>
            </a:r>
            <a:r>
              <a:rPr lang="zh-CN" altLang="en-US" dirty="0"/>
              <a:t>与</a:t>
            </a:r>
            <a:r>
              <a:rPr lang="en-US" altLang="zh-CN" dirty="0"/>
              <a:t>Hub</a:t>
            </a:r>
            <a:r>
              <a:rPr lang="zh-CN" altLang="en-US" dirty="0"/>
              <a:t>距离</a:t>
            </a:r>
            <a:endParaRPr lang="en-US" altLang="zh-CN" dirty="0"/>
          </a:p>
          <a:p>
            <a:pPr lvl="1"/>
            <a:r>
              <a:rPr lang="zh-CN" altLang="en-US" dirty="0"/>
              <a:t>多个</a:t>
            </a:r>
            <a:r>
              <a:rPr lang="en-US" altLang="zh-CN" dirty="0"/>
              <a:t>Hub</a:t>
            </a:r>
            <a:r>
              <a:rPr lang="zh-CN" altLang="en-US" dirty="0"/>
              <a:t>：扩展为覆盖范围更广、连接结点更多的多级星形结构 </a:t>
            </a:r>
            <a:r>
              <a:rPr lang="en-US" altLang="zh-CN" dirty="0"/>
              <a:t>(</a:t>
            </a:r>
            <a:r>
              <a:rPr lang="zh-CN" altLang="en-US" dirty="0"/>
              <a:t>树形</a:t>
            </a:r>
            <a:r>
              <a:rPr lang="en-US" altLang="zh-CN" dirty="0"/>
              <a:t>)</a:t>
            </a:r>
          </a:p>
          <a:p>
            <a:pPr>
              <a:spcBef>
                <a:spcPts val="3000"/>
              </a:spcBef>
            </a:pPr>
            <a:r>
              <a:rPr lang="zh-CN" altLang="en-US" dirty="0"/>
              <a:t>在数据链路层扩展</a:t>
            </a:r>
            <a:endParaRPr lang="en-US" altLang="zh-CN" dirty="0"/>
          </a:p>
          <a:p>
            <a:pPr lvl="1"/>
            <a:r>
              <a:rPr lang="zh-CN" altLang="en-US" dirty="0"/>
              <a:t>网桥 </a:t>
            </a:r>
            <a:r>
              <a:rPr lang="en-US" altLang="zh-CN" dirty="0"/>
              <a:t>(Bridge)</a:t>
            </a:r>
            <a:r>
              <a:rPr lang="zh-CN" altLang="en-US" dirty="0"/>
              <a:t>、二层交换机 </a:t>
            </a:r>
            <a:r>
              <a:rPr lang="en-US" altLang="zh-CN" dirty="0"/>
              <a:t>(Switch)</a:t>
            </a:r>
          </a:p>
          <a:p>
            <a:pPr lvl="1"/>
            <a:r>
              <a:rPr lang="zh-CN" altLang="en-US" dirty="0"/>
              <a:t>演变为交换网络，不再是</a:t>
            </a:r>
            <a:r>
              <a:rPr lang="zh-CN" altLang="en-US"/>
              <a:t>广播域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66</a:t>
            </a:fld>
            <a:endParaRPr lang="zh-CN" altLang="en-US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96581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1031846"/>
          </a:xfrm>
        </p:spPr>
        <p:txBody>
          <a:bodyPr/>
          <a:lstStyle/>
          <a:p>
            <a:r>
              <a:rPr lang="zh-CN" altLang="en-US" dirty="0"/>
              <a:t>主机使用光纤和一对光纤调制解调器连接到集线器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67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60386" y="3121749"/>
            <a:ext cx="8424863" cy="1619323"/>
            <a:chOff x="360386" y="3121749"/>
            <a:chExt cx="8424863" cy="1619323"/>
          </a:xfrm>
        </p:grpSpPr>
        <p:pic>
          <p:nvPicPr>
            <p:cNvPr id="14" name="Picture 5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151086">
              <a:off x="7589861" y="3442116"/>
              <a:ext cx="1195388" cy="7334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 Box 7"/>
            <p:cNvSpPr txBox="1">
              <a:spLocks noChangeArrowheads="1"/>
            </p:cNvSpPr>
            <p:nvPr/>
          </p:nvSpPr>
          <p:spPr bwMode="auto">
            <a:xfrm>
              <a:off x="7805031" y="3121749"/>
              <a:ext cx="572593" cy="341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Hub</a:t>
              </a:r>
              <a:endParaRPr lang="zh-CN" altLang="en-US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6" name="Line 8"/>
            <p:cNvSpPr>
              <a:spLocks noChangeShapeType="1"/>
            </p:cNvSpPr>
            <p:nvPr/>
          </p:nvSpPr>
          <p:spPr bwMode="auto">
            <a:xfrm>
              <a:off x="827111" y="3916779"/>
              <a:ext cx="7062788" cy="0"/>
            </a:xfrm>
            <a:prstGeom prst="line">
              <a:avLst/>
            </a:prstGeom>
            <a:noFill/>
            <a:ln w="28575">
              <a:solidFill>
                <a:srgbClr val="3333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kern="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>
              <a:off x="4137478" y="3533675"/>
              <a:ext cx="646331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光纤</a:t>
              </a:r>
            </a:p>
          </p:txBody>
        </p: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6448960" y="4150141"/>
              <a:ext cx="133882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光纤</a:t>
              </a:r>
            </a:p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调制解调器</a:t>
              </a:r>
            </a:p>
          </p:txBody>
        </p:sp>
        <p:pic>
          <p:nvPicPr>
            <p:cNvPr id="19" name="Picture 1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386" y="3345279"/>
              <a:ext cx="665163" cy="7254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" name="Picture 12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2224" y="3718341"/>
              <a:ext cx="601662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21" name="Picture 13"/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92949" y="3718341"/>
              <a:ext cx="600075" cy="422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22" name="Text Box 14"/>
            <p:cNvSpPr txBox="1">
              <a:spLocks noChangeArrowheads="1"/>
            </p:cNvSpPr>
            <p:nvPr/>
          </p:nvSpPr>
          <p:spPr bwMode="auto">
            <a:xfrm>
              <a:off x="689510" y="4107279"/>
              <a:ext cx="1338828" cy="5909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光纤</a:t>
              </a:r>
            </a:p>
            <a:p>
              <a:pPr algn="ctr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zh-CN" altLang="en-US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调制解调器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269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229600" cy="893487"/>
          </a:xfrm>
        </p:spPr>
        <p:txBody>
          <a:bodyPr/>
          <a:lstStyle/>
          <a:p>
            <a:r>
              <a:rPr lang="zh-CN" altLang="en-US" dirty="0"/>
              <a:t>多个</a:t>
            </a:r>
            <a:r>
              <a:rPr lang="en-US" altLang="zh-CN" dirty="0"/>
              <a:t>Hub——</a:t>
            </a:r>
            <a:r>
              <a:rPr lang="zh-CN" altLang="en-US" dirty="0"/>
              <a:t>三个部门，各自有一个局域网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68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57200" y="2221694"/>
            <a:ext cx="7983538" cy="3770312"/>
            <a:chOff x="476250" y="2611438"/>
            <a:chExt cx="7983538" cy="3770312"/>
          </a:xfrm>
        </p:grpSpPr>
        <p:sp>
          <p:nvSpPr>
            <p:cNvPr id="24" name="Text Box 43"/>
            <p:cNvSpPr txBox="1">
              <a:spLocks noChangeArrowheads="1"/>
            </p:cNvSpPr>
            <p:nvPr/>
          </p:nvSpPr>
          <p:spPr bwMode="auto">
            <a:xfrm>
              <a:off x="3175000" y="2611438"/>
              <a:ext cx="264687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三个独立的碰撞域</a:t>
              </a:r>
            </a:p>
          </p:txBody>
        </p:sp>
        <p:sp>
          <p:nvSpPr>
            <p:cNvPr id="25" name="AutoShape 44"/>
            <p:cNvSpPr>
              <a:spLocks noChangeArrowheads="1"/>
            </p:cNvSpPr>
            <p:nvPr/>
          </p:nvSpPr>
          <p:spPr bwMode="auto">
            <a:xfrm>
              <a:off x="476250" y="3409950"/>
              <a:ext cx="2560638" cy="2971800"/>
            </a:xfrm>
            <a:prstGeom prst="roundRect">
              <a:avLst>
                <a:gd name="adj" fmla="val 16667"/>
              </a:avLst>
            </a:prstGeom>
            <a:solidFill>
              <a:srgbClr val="FF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6" name="Line 45"/>
            <p:cNvSpPr>
              <a:spLocks noChangeShapeType="1"/>
            </p:cNvSpPr>
            <p:nvPr/>
          </p:nvSpPr>
          <p:spPr bwMode="auto">
            <a:xfrm flipH="1">
              <a:off x="877888" y="4706108"/>
              <a:ext cx="639762" cy="736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27" name="Picture 46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063" y="5253795"/>
              <a:ext cx="481012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28" name="Line 47"/>
            <p:cNvSpPr>
              <a:spLocks noChangeShapeType="1"/>
            </p:cNvSpPr>
            <p:nvPr/>
          </p:nvSpPr>
          <p:spPr bwMode="auto">
            <a:xfrm>
              <a:off x="1879600" y="4844220"/>
              <a:ext cx="177800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29" name="Line 48"/>
            <p:cNvSpPr>
              <a:spLocks noChangeShapeType="1"/>
            </p:cNvSpPr>
            <p:nvPr/>
          </p:nvSpPr>
          <p:spPr bwMode="auto">
            <a:xfrm>
              <a:off x="2057400" y="4820408"/>
              <a:ext cx="630238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0" name="Line 49"/>
            <p:cNvSpPr>
              <a:spLocks noChangeShapeType="1"/>
            </p:cNvSpPr>
            <p:nvPr/>
          </p:nvSpPr>
          <p:spPr bwMode="auto">
            <a:xfrm flipH="1">
              <a:off x="1474788" y="4717220"/>
              <a:ext cx="171450" cy="742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31" name="Picture 50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0313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2" name="Picture 5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31975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3" name="Picture 5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3638" y="5253795"/>
              <a:ext cx="481012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35" name="Picture 54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1279525" y="4345745"/>
              <a:ext cx="1108075" cy="614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6" name="AutoShape 55"/>
            <p:cNvSpPr>
              <a:spLocks noChangeArrowheads="1"/>
            </p:cNvSpPr>
            <p:nvPr/>
          </p:nvSpPr>
          <p:spPr bwMode="auto">
            <a:xfrm>
              <a:off x="3187700" y="3409950"/>
              <a:ext cx="2559050" cy="2971800"/>
            </a:xfrm>
            <a:prstGeom prst="roundRect">
              <a:avLst>
                <a:gd name="adj" fmla="val 16667"/>
              </a:avLst>
            </a:prstGeom>
            <a:solidFill>
              <a:srgbClr val="FFFF66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37" name="Line 56"/>
            <p:cNvSpPr>
              <a:spLocks noChangeShapeType="1"/>
            </p:cNvSpPr>
            <p:nvPr/>
          </p:nvSpPr>
          <p:spPr bwMode="auto">
            <a:xfrm flipH="1">
              <a:off x="3587750" y="4706108"/>
              <a:ext cx="641350" cy="736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38" name="Picture 57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6925" y="5253795"/>
              <a:ext cx="481013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39" name="Line 58"/>
            <p:cNvSpPr>
              <a:spLocks noChangeShapeType="1"/>
            </p:cNvSpPr>
            <p:nvPr/>
          </p:nvSpPr>
          <p:spPr bwMode="auto">
            <a:xfrm>
              <a:off x="4589463" y="4844220"/>
              <a:ext cx="177800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0" name="Line 59"/>
            <p:cNvSpPr>
              <a:spLocks noChangeShapeType="1"/>
            </p:cNvSpPr>
            <p:nvPr/>
          </p:nvSpPr>
          <p:spPr bwMode="auto">
            <a:xfrm>
              <a:off x="4767263" y="4820408"/>
              <a:ext cx="631825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1" name="Line 60"/>
            <p:cNvSpPr>
              <a:spLocks noChangeShapeType="1"/>
            </p:cNvSpPr>
            <p:nvPr/>
          </p:nvSpPr>
          <p:spPr bwMode="auto">
            <a:xfrm flipH="1">
              <a:off x="4184650" y="4717220"/>
              <a:ext cx="173038" cy="742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42" name="Picture 61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40175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3" name="Picture 6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41838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4" name="Picture 6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3500" y="5253795"/>
              <a:ext cx="481013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46" name="Picture 6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3989388" y="4345745"/>
              <a:ext cx="1108075" cy="614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47" name="AutoShape 66"/>
            <p:cNvSpPr>
              <a:spLocks noChangeArrowheads="1"/>
            </p:cNvSpPr>
            <p:nvPr/>
          </p:nvSpPr>
          <p:spPr bwMode="auto">
            <a:xfrm>
              <a:off x="5900738" y="3409950"/>
              <a:ext cx="2559050" cy="2971800"/>
            </a:xfrm>
            <a:prstGeom prst="roundRect">
              <a:avLst>
                <a:gd name="adj" fmla="val 16667"/>
              </a:avLst>
            </a:prstGeom>
            <a:solidFill>
              <a:srgbClr val="FFCC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CC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48" name="Line 67"/>
            <p:cNvSpPr>
              <a:spLocks noChangeShapeType="1"/>
            </p:cNvSpPr>
            <p:nvPr/>
          </p:nvSpPr>
          <p:spPr bwMode="auto">
            <a:xfrm flipH="1">
              <a:off x="6302375" y="4706108"/>
              <a:ext cx="639763" cy="7366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49" name="Picture 68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1550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50" name="Line 69"/>
            <p:cNvSpPr>
              <a:spLocks noChangeShapeType="1"/>
            </p:cNvSpPr>
            <p:nvPr/>
          </p:nvSpPr>
          <p:spPr bwMode="auto">
            <a:xfrm>
              <a:off x="7302500" y="4844220"/>
              <a:ext cx="179388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1" name="Line 70"/>
            <p:cNvSpPr>
              <a:spLocks noChangeShapeType="1"/>
            </p:cNvSpPr>
            <p:nvPr/>
          </p:nvSpPr>
          <p:spPr bwMode="auto">
            <a:xfrm>
              <a:off x="7481888" y="4820408"/>
              <a:ext cx="630237" cy="574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2" name="Line 71"/>
            <p:cNvSpPr>
              <a:spLocks noChangeShapeType="1"/>
            </p:cNvSpPr>
            <p:nvPr/>
          </p:nvSpPr>
          <p:spPr bwMode="auto">
            <a:xfrm flipH="1">
              <a:off x="6897688" y="4717220"/>
              <a:ext cx="173037" cy="7429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53" name="Picture 72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53213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4" name="Picture 73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54875" y="5253795"/>
              <a:ext cx="481013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5" name="Picture 74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8125" y="5253795"/>
              <a:ext cx="479425" cy="51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57" name="Picture 76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6704013" y="4345745"/>
              <a:ext cx="1106487" cy="6143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8" name="AutoShape 77"/>
            <p:cNvSpPr>
              <a:spLocks/>
            </p:cNvSpPr>
            <p:nvPr/>
          </p:nvSpPr>
          <p:spPr bwMode="auto">
            <a:xfrm rot="5400000" flipV="1">
              <a:off x="4314825" y="376238"/>
              <a:ext cx="415925" cy="5689600"/>
            </a:xfrm>
            <a:prstGeom prst="leftBrace">
              <a:avLst>
                <a:gd name="adj1" fmla="val 113995"/>
                <a:gd name="adj2" fmla="val 50000"/>
              </a:avLst>
            </a:prstGeom>
            <a:noFill/>
            <a:ln w="19050">
              <a:solidFill>
                <a:srgbClr val="9898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9" name="Text Box 78"/>
            <p:cNvSpPr txBox="1">
              <a:spLocks noChangeArrowheads="1"/>
            </p:cNvSpPr>
            <p:nvPr/>
          </p:nvSpPr>
          <p:spPr bwMode="auto">
            <a:xfrm>
              <a:off x="1231535" y="3476625"/>
              <a:ext cx="108395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  <a:r>
                <a:rPr kumimoji="1" lang="en-US" altLang="zh-CN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1</a:t>
              </a:r>
              <a:endPara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0" name="Text Box 79"/>
            <p:cNvSpPr txBox="1">
              <a:spLocks noChangeArrowheads="1"/>
            </p:cNvSpPr>
            <p:nvPr/>
          </p:nvSpPr>
          <p:spPr bwMode="auto">
            <a:xfrm>
              <a:off x="4009843" y="3476625"/>
              <a:ext cx="108395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  <a:r>
                <a:rPr kumimoji="1" lang="en-US" altLang="zh-CN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2</a:t>
              </a:r>
              <a:endPara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1" name="Text Box 80"/>
            <p:cNvSpPr txBox="1">
              <a:spLocks noChangeArrowheads="1"/>
            </p:cNvSpPr>
            <p:nvPr/>
          </p:nvSpPr>
          <p:spPr bwMode="auto">
            <a:xfrm>
              <a:off x="6702060" y="3476625"/>
              <a:ext cx="1083951" cy="4001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碰撞域</a:t>
              </a:r>
              <a:r>
                <a:rPr kumimoji="1" lang="en-US" altLang="zh-CN" sz="2000" dirty="0">
                  <a:solidFill>
                    <a:srgbClr val="333399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3</a:t>
              </a:r>
              <a:endParaRPr kumimoji="1" lang="zh-CN" altLang="en-US" sz="2000" dirty="0">
                <a:solidFill>
                  <a:srgbClr val="333399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859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扩展以太网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444979"/>
            <a:ext cx="8579554" cy="1984646"/>
          </a:xfrm>
        </p:spPr>
        <p:txBody>
          <a:bodyPr/>
          <a:lstStyle/>
          <a:p>
            <a:r>
              <a:rPr lang="zh-CN" altLang="en-US" dirty="0"/>
              <a:t>多个</a:t>
            </a:r>
            <a:r>
              <a:rPr lang="en-US" altLang="zh-CN" dirty="0"/>
              <a:t>Hub——</a:t>
            </a:r>
            <a:r>
              <a:rPr lang="zh-CN" altLang="en-US" dirty="0"/>
              <a:t>三个部门，组成更大的局域网 </a:t>
            </a:r>
            <a:r>
              <a:rPr lang="en-US" altLang="zh-CN" dirty="0"/>
              <a:t>(</a:t>
            </a:r>
            <a:r>
              <a:rPr lang="zh-CN" altLang="en-US" dirty="0"/>
              <a:t>同一碰撞域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扩大了局域网覆盖的地理范围，原来属于不同碰撞域的主机直接相连</a:t>
            </a:r>
          </a:p>
          <a:p>
            <a:pPr lvl="1"/>
            <a:r>
              <a:rPr lang="zh-CN" altLang="en-US" dirty="0"/>
              <a:t>碰撞域增大了，总的吞吐量并未提高</a:t>
            </a:r>
          </a:p>
          <a:p>
            <a:pPr lvl="1"/>
            <a:r>
              <a:rPr lang="zh-CN" altLang="en-US" dirty="0"/>
              <a:t>若不同的碰撞域使用不同的数据率，不能用集线器将它们互连起来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>
                <a:solidFill>
                  <a:srgbClr val="000000"/>
                </a:solidFill>
              </a:rPr>
              <a:pPr/>
              <a:t>69</a:t>
            </a:fld>
            <a:endParaRPr lang="zh-CN" altLang="en-US" dirty="0">
              <a:solidFill>
                <a:srgbClr val="000000"/>
              </a:solidFill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457200" y="3429625"/>
            <a:ext cx="8370712" cy="2887793"/>
            <a:chOff x="457200" y="2871656"/>
            <a:chExt cx="8370712" cy="2887793"/>
          </a:xfrm>
        </p:grpSpPr>
        <p:sp>
          <p:nvSpPr>
            <p:cNvPr id="45" name="AutoShape 42"/>
            <p:cNvSpPr>
              <a:spLocks noChangeArrowheads="1"/>
            </p:cNvSpPr>
            <p:nvPr/>
          </p:nvSpPr>
          <p:spPr bwMode="auto">
            <a:xfrm>
              <a:off x="457200" y="2871656"/>
              <a:ext cx="8370712" cy="2887793"/>
            </a:xfrm>
            <a:prstGeom prst="roundRect">
              <a:avLst>
                <a:gd name="adj" fmla="val 8875"/>
              </a:avLst>
            </a:prstGeom>
            <a:solidFill>
              <a:srgbClr val="CCE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56" name="Line 43"/>
            <p:cNvSpPr>
              <a:spLocks noChangeShapeType="1"/>
            </p:cNvSpPr>
            <p:nvPr/>
          </p:nvSpPr>
          <p:spPr bwMode="auto">
            <a:xfrm flipH="1">
              <a:off x="1971675" y="3687261"/>
              <a:ext cx="2336800" cy="62597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2" name="Line 44"/>
            <p:cNvSpPr>
              <a:spLocks noChangeShapeType="1"/>
            </p:cNvSpPr>
            <p:nvPr/>
          </p:nvSpPr>
          <p:spPr bwMode="auto">
            <a:xfrm>
              <a:off x="4729164" y="3664015"/>
              <a:ext cx="2749550" cy="61429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3" name="Line 45"/>
            <p:cNvSpPr>
              <a:spLocks noChangeShapeType="1"/>
            </p:cNvSpPr>
            <p:nvPr/>
          </p:nvSpPr>
          <p:spPr bwMode="auto">
            <a:xfrm>
              <a:off x="4454525" y="3406775"/>
              <a:ext cx="209550" cy="892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7" name="Text Box 49"/>
            <p:cNvSpPr txBox="1">
              <a:spLocks noChangeArrowheads="1"/>
            </p:cNvSpPr>
            <p:nvPr/>
          </p:nvSpPr>
          <p:spPr bwMode="auto">
            <a:xfrm>
              <a:off x="2611089" y="3202350"/>
              <a:ext cx="1316386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主干</a:t>
              </a:r>
              <a:r>
                <a:rPr kumimoji="1" lang="en-US" altLang="zh-CN" sz="24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Hub</a:t>
              </a:r>
              <a:endParaRPr kumimoji="1" lang="zh-CN" altLang="en-US" sz="2400" dirty="0">
                <a:solidFill>
                  <a:srgbClr val="3333CC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5553405" y="3106661"/>
              <a:ext cx="2622550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2400" dirty="0">
                  <a:solidFill>
                    <a:srgbClr val="3333CC"/>
                  </a:solidFill>
                  <a:latin typeface="Calibri" panose="020F0502020204030204" pitchFamily="34" charset="0"/>
                  <a:ea typeface="华文楷体" panose="02010600040101010101" pitchFamily="2" charset="-122"/>
                </a:rPr>
                <a:t>一个更大的碰撞域</a:t>
              </a:r>
            </a:p>
          </p:txBody>
        </p:sp>
        <p:sp>
          <p:nvSpPr>
            <p:cNvPr id="69" name="Line 51"/>
            <p:cNvSpPr>
              <a:spLocks noChangeShapeType="1"/>
            </p:cNvSpPr>
            <p:nvPr/>
          </p:nvSpPr>
          <p:spPr bwMode="auto">
            <a:xfrm flipH="1">
              <a:off x="873125" y="4446588"/>
              <a:ext cx="665163" cy="681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70" name="Picture 52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775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71" name="Line 53"/>
            <p:cNvSpPr>
              <a:spLocks noChangeShapeType="1"/>
            </p:cNvSpPr>
            <p:nvPr/>
          </p:nvSpPr>
          <p:spPr bwMode="auto">
            <a:xfrm>
              <a:off x="1912938" y="4575175"/>
              <a:ext cx="185737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2" name="Line 54"/>
            <p:cNvSpPr>
              <a:spLocks noChangeShapeType="1"/>
            </p:cNvSpPr>
            <p:nvPr/>
          </p:nvSpPr>
          <p:spPr bwMode="auto">
            <a:xfrm>
              <a:off x="2098675" y="4552950"/>
              <a:ext cx="655638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73" name="Line 55"/>
            <p:cNvSpPr>
              <a:spLocks noChangeShapeType="1"/>
            </p:cNvSpPr>
            <p:nvPr/>
          </p:nvSpPr>
          <p:spPr bwMode="auto">
            <a:xfrm flipH="1">
              <a:off x="1492250" y="4457700"/>
              <a:ext cx="179388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74" name="Picture 5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8250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5" name="Picture 5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3725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6" name="Picture 58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89200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77" name="Picture 5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1290638" y="4114800"/>
              <a:ext cx="1150937" cy="566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8" name="Line 60"/>
            <p:cNvSpPr>
              <a:spLocks noChangeShapeType="1"/>
            </p:cNvSpPr>
            <p:nvPr/>
          </p:nvSpPr>
          <p:spPr bwMode="auto">
            <a:xfrm flipH="1">
              <a:off x="3689350" y="4446588"/>
              <a:ext cx="665163" cy="681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79" name="Picture 61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29000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0" name="Line 62"/>
            <p:cNvSpPr>
              <a:spLocks noChangeShapeType="1"/>
            </p:cNvSpPr>
            <p:nvPr/>
          </p:nvSpPr>
          <p:spPr bwMode="auto">
            <a:xfrm>
              <a:off x="4729163" y="4575175"/>
              <a:ext cx="185737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1" name="Line 63"/>
            <p:cNvSpPr>
              <a:spLocks noChangeShapeType="1"/>
            </p:cNvSpPr>
            <p:nvPr/>
          </p:nvSpPr>
          <p:spPr bwMode="auto">
            <a:xfrm>
              <a:off x="4914900" y="4552950"/>
              <a:ext cx="654050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82" name="Line 64"/>
            <p:cNvSpPr>
              <a:spLocks noChangeShapeType="1"/>
            </p:cNvSpPr>
            <p:nvPr/>
          </p:nvSpPr>
          <p:spPr bwMode="auto">
            <a:xfrm flipH="1">
              <a:off x="4308475" y="4457700"/>
              <a:ext cx="179388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3" name="Picture 6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4475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84" name="Picture 6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79950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85" name="Picture 67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5425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86" name="Picture 6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4106863" y="4114800"/>
              <a:ext cx="1149350" cy="566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87" name="Line 69"/>
            <p:cNvSpPr>
              <a:spLocks noChangeShapeType="1"/>
            </p:cNvSpPr>
            <p:nvPr/>
          </p:nvSpPr>
          <p:spPr bwMode="auto">
            <a:xfrm flipH="1">
              <a:off x="6507163" y="4446588"/>
              <a:ext cx="665162" cy="6810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88" name="Picture 70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46813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sp>
          <p:nvSpPr>
            <p:cNvPr id="89" name="Line 71"/>
            <p:cNvSpPr>
              <a:spLocks noChangeShapeType="1"/>
            </p:cNvSpPr>
            <p:nvPr/>
          </p:nvSpPr>
          <p:spPr bwMode="auto">
            <a:xfrm>
              <a:off x="7546975" y="4575175"/>
              <a:ext cx="185738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0" name="Line 72"/>
            <p:cNvSpPr>
              <a:spLocks noChangeShapeType="1"/>
            </p:cNvSpPr>
            <p:nvPr/>
          </p:nvSpPr>
          <p:spPr bwMode="auto">
            <a:xfrm>
              <a:off x="7732713" y="4552950"/>
              <a:ext cx="655637" cy="5302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sp>
          <p:nvSpPr>
            <p:cNvPr id="91" name="Line 73"/>
            <p:cNvSpPr>
              <a:spLocks noChangeShapeType="1"/>
            </p:cNvSpPr>
            <p:nvPr/>
          </p:nvSpPr>
          <p:spPr bwMode="auto">
            <a:xfrm flipH="1">
              <a:off x="7126288" y="4457700"/>
              <a:ext cx="179387" cy="6858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000">
                <a:solidFill>
                  <a:srgbClr val="000000"/>
                </a:solidFill>
                <a:latin typeface="Calibri" panose="020F0502020204030204" pitchFamily="34" charset="0"/>
                <a:ea typeface="华文楷体" panose="02010600040101010101" pitchFamily="2" charset="-122"/>
              </a:endParaRPr>
            </a:p>
          </p:txBody>
        </p:sp>
        <p:pic>
          <p:nvPicPr>
            <p:cNvPr id="92" name="Picture 74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72288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3" name="Picture 75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97763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4" name="Picture 76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23238" y="4953000"/>
              <a:ext cx="498475" cy="4714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tx1"/>
                    </a:outerShdw>
                  </a:effectLst>
                </a14:hiddenEffects>
              </a:ext>
            </a:extLst>
          </p:spPr>
        </p:pic>
        <p:pic>
          <p:nvPicPr>
            <p:cNvPr id="95" name="Picture 7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-1102812">
              <a:off x="6924675" y="4114800"/>
              <a:ext cx="1150938" cy="5667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6" name="Picture 7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0497188">
              <a:off x="3767138" y="3094868"/>
              <a:ext cx="1538287" cy="7572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504921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以太网评价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以太网基本上统治了有线局域网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以太网的优点</a:t>
            </a:r>
          </a:p>
          <a:p>
            <a:pPr lvl="1">
              <a:lnSpc>
                <a:spcPct val="150000"/>
              </a:lnSpc>
            </a:pPr>
            <a:r>
              <a:rPr lang="zh-CN" altLang="en-US" dirty="0"/>
              <a:t>便宜，高速，易于使用、管理和扩展</a:t>
            </a:r>
          </a:p>
          <a:p>
            <a:pPr>
              <a:spcBef>
                <a:spcPts val="1200"/>
              </a:spcBef>
            </a:pPr>
            <a:r>
              <a:rPr lang="zh-CN" altLang="en-US" dirty="0"/>
              <a:t>总线型以太网的缺点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数据包越小，传输单位数据的代价越大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用户数增加时，更容易发生碰撞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链路变长时，需要更长时间来检测碰撞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zh-CN" altLang="en-US" dirty="0"/>
              <a:t>网络负载越大，传输性能越低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A7A0873-376A-4A4E-91BA-7081C35D808C}" type="slidenum">
              <a:rPr lang="zh-CN" altLang="en-US" smtClean="0"/>
              <a:pPr/>
              <a:t>70</a:t>
            </a:fld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9451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1397726" y="2084840"/>
            <a:ext cx="3418110" cy="171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Any </a:t>
            </a:r>
          </a:p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4800" b="1" i="1" dirty="0">
                <a:solidFill>
                  <a:srgbClr val="69008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方正舒体" panose="02010601030101010101" pitchFamily="2" charset="-122"/>
              </a:rPr>
              <a:t>Questions</a:t>
            </a:r>
            <a:endParaRPr lang="zh-CN" altLang="en-US" sz="4800" b="1" i="1" dirty="0">
              <a:solidFill>
                <a:srgbClr val="69008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mic Sans MS" panose="030F0702030302020204" pitchFamily="66" charset="0"/>
              <a:ea typeface="方正舒体" panose="02010601030101010101" pitchFamily="2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3518257" y="4850361"/>
            <a:ext cx="176784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>
            <a:spAutoFit/>
          </a:bodyPr>
          <a:lstStyle>
            <a:lvl1pPr marL="342900" indent="-342900"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spcBef>
                <a:spcPct val="0"/>
              </a:spcBef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4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新魏" panose="02010800040101010101" pitchFamily="2" charset="-122"/>
                <a:ea typeface="华文新魏" panose="02010800040101010101" pitchFamily="2" charset="-122"/>
              </a:rPr>
              <a:t>谢谢！</a:t>
            </a:r>
          </a:p>
        </p:txBody>
      </p:sp>
      <p:pic>
        <p:nvPicPr>
          <p:cNvPr id="7" name="图片 1" descr="问号13.jpg"/>
          <p:cNvPicPr>
            <a:picLocks noGrp="1" noChangeAspect="1"/>
          </p:cNvPicPr>
          <p:nvPr isPhoto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3480" y="1551990"/>
            <a:ext cx="3298371" cy="3298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42038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7|56.6|36.9|108.1|32.9|17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30.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4|15.2|11.8|18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8|118.2|15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4|50.1|105.8|35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100.6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36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4|12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8|29.1|60.3|7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25.6|47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6|3.3|8.1|77.6|22.7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|9.4|1.2|13.7|5.5|13.3|19.4|1.5|11.6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3|26.3|1.1|21.8|24.1|9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5|28|2.8|6|5.5|3.8|5.2|2.7|1.9|6.3|83|6.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7|3|22.8|22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.6|7|7.2|15.6|18|25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|7.6|3.1|5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4|51.8|45.8|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9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2|18.2|47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7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2.3|89.7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3.3|75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3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8|3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6|1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8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1|38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9.9|23.3|44.8|16.7|45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9.6|69.7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9.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|30.8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2.5|8.7|7.9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2|7.3"/>
</p:tagLst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4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5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6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7.xml><?xml version="1.0" encoding="utf-8"?>
<a:theme xmlns:a="http://schemas.openxmlformats.org/drawingml/2006/main" name="5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8.xml><?xml version="1.0" encoding="utf-8"?>
<a:theme xmlns:a="http://schemas.openxmlformats.org/drawingml/2006/main" name="6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F935A313-AA73-40DA-9A7E-280E38D4ACF7}" vid="{2C9FAF92-E915-4571-AAA6-F0001F18E262}"/>
    </a:ext>
  </a:extLst>
</a:theme>
</file>

<file path=ppt/theme/theme9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第一章概述</Template>
  <TotalTime>25536</TotalTime>
  <Words>4861</Words>
  <Application>Microsoft Office PowerPoint</Application>
  <PresentationFormat>全屏显示(4:3)</PresentationFormat>
  <Paragraphs>988</Paragraphs>
  <Slides>71</Slides>
  <Notes>34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8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71</vt:i4>
      </vt:variant>
    </vt:vector>
  </HeadingPairs>
  <TitlesOfParts>
    <vt:vector size="96" baseType="lpstr">
      <vt:lpstr>Myriad Roman</vt:lpstr>
      <vt:lpstr>黑体</vt:lpstr>
      <vt:lpstr>华文楷体</vt:lpstr>
      <vt:lpstr>华文新魏</vt:lpstr>
      <vt:lpstr>楷体</vt:lpstr>
      <vt:lpstr>楷体_GB2312</vt:lpstr>
      <vt:lpstr>宋体</vt:lpstr>
      <vt:lpstr>Arial</vt:lpstr>
      <vt:lpstr>Arial Black</vt:lpstr>
      <vt:lpstr>Calibri</vt:lpstr>
      <vt:lpstr>Cambria Math</vt:lpstr>
      <vt:lpstr>Comic Sans MS</vt:lpstr>
      <vt:lpstr>Tahoma</vt:lpstr>
      <vt:lpstr>Times New Roman</vt:lpstr>
      <vt:lpstr>Wingdings</vt:lpstr>
      <vt:lpstr>Wingdings 3</vt:lpstr>
      <vt:lpstr>Pixel</vt:lpstr>
      <vt:lpstr>自定义设计方案</vt:lpstr>
      <vt:lpstr>1_自定义设计方案</vt:lpstr>
      <vt:lpstr>2_自定义设计方案</vt:lpstr>
      <vt:lpstr>3_自定义设计方案</vt:lpstr>
      <vt:lpstr>4_自定义设计方案</vt:lpstr>
      <vt:lpstr>5_自定义设计方案</vt:lpstr>
      <vt:lpstr>6_自定义设计方案</vt:lpstr>
      <vt:lpstr>Visio</vt:lpstr>
      <vt:lpstr>第二章 直连网络(3)     </vt:lpstr>
      <vt:lpstr>提纲</vt:lpstr>
      <vt:lpstr>媒体共享技术</vt:lpstr>
      <vt:lpstr>频分复用(Frequency Division Multiplexing, FDM)</vt:lpstr>
      <vt:lpstr>时分复用(Time Division Multiplexing, TDM)</vt:lpstr>
      <vt:lpstr>时分复用(Time Division Multiplexing, TDM)</vt:lpstr>
      <vt:lpstr>时分复用(Time Division Multiplexing, TDM)</vt:lpstr>
      <vt:lpstr>时分复用(Time Division Multiplexing, TDM)</vt:lpstr>
      <vt:lpstr>时分复用(Time Division Multiplexing, TDM)</vt:lpstr>
      <vt:lpstr>统计时分复用(Statistic TDM, STDM)</vt:lpstr>
      <vt:lpstr>波分复用(Wavelength Division Multiplexing, WDM)</vt:lpstr>
      <vt:lpstr>码分复用(Code Division Multiplexing, CDM)</vt:lpstr>
      <vt:lpstr>码分复用(Code Division Multiplexing, CDM)</vt:lpstr>
      <vt:lpstr>码分复用(Code Division Multiplexing, CDM)</vt:lpstr>
      <vt:lpstr>码分复用(Code Division Multiplexing, CDM)</vt:lpstr>
      <vt:lpstr>码分复用(Code Division Multiplexing, CDM)</vt:lpstr>
      <vt:lpstr>码分复用(Code Division Multiplexing, CDM)</vt:lpstr>
      <vt:lpstr>媒体共享技术</vt:lpstr>
      <vt:lpstr>动态媒体接入控制</vt:lpstr>
      <vt:lpstr>（一）ALOHA</vt:lpstr>
      <vt:lpstr>（一） ALOHA</vt:lpstr>
      <vt:lpstr>（二）时隙ALOHA</vt:lpstr>
      <vt:lpstr>（三）载波侦听多点接入(Carrier Sense Multiple Access, CSMA)</vt:lpstr>
      <vt:lpstr>（三）载波侦听多点接入(CSMA)</vt:lpstr>
      <vt:lpstr>（三）载波侦听多点接入(CSMA)</vt:lpstr>
      <vt:lpstr>（三）载波侦听多点接入(CSMA)</vt:lpstr>
      <vt:lpstr>（四）带碰撞检测的CSMA (CSMA/CD)</vt:lpstr>
      <vt:lpstr>（四）带碰撞检测的CSMA (CSMA/CD)</vt:lpstr>
      <vt:lpstr>（四）带碰撞检测的CSMA (CSMA/CD)</vt:lpstr>
      <vt:lpstr>（四）带碰撞检测的CSMA (CSMA/CD)</vt:lpstr>
      <vt:lpstr>（四）带碰撞检测的CSMA (CSMA/CD)</vt:lpstr>
      <vt:lpstr>（四）带碰撞检测的CSMA (CSMA/CD)</vt:lpstr>
      <vt:lpstr>（五）带碰撞避免的CSMA (CSMA/CA)</vt:lpstr>
      <vt:lpstr>（五）带碰撞避免的CSMA (CSMA/CA)</vt:lpstr>
      <vt:lpstr>（五）带碰撞避免的CSMA (CSMA/CA)</vt:lpstr>
      <vt:lpstr>（五）带碰撞避免的CSMA (CSMA/CA)</vt:lpstr>
      <vt:lpstr>两类媒体共享技术对比</vt:lpstr>
      <vt:lpstr>提纲</vt:lpstr>
      <vt:lpstr>两种链路类型</vt:lpstr>
      <vt:lpstr>网络分类(不同作用范围)</vt:lpstr>
      <vt:lpstr>局域网(LAN)</vt:lpstr>
      <vt:lpstr>局域网(LAN)</vt:lpstr>
      <vt:lpstr>局域网(LAN)</vt:lpstr>
      <vt:lpstr>以太网发展历史</vt:lpstr>
      <vt:lpstr>以太网基本组成</vt:lpstr>
      <vt:lpstr>以太网规范</vt:lpstr>
      <vt:lpstr>IEEE 802.3 规范</vt:lpstr>
      <vt:lpstr>以太网传输介质标准</vt:lpstr>
      <vt:lpstr>总线型以太网</vt:lpstr>
      <vt:lpstr>总线型以太网</vt:lpstr>
      <vt:lpstr>总线型以太网</vt:lpstr>
      <vt:lpstr>总线型以太网</vt:lpstr>
      <vt:lpstr>星形以太网</vt:lpstr>
      <vt:lpstr>以太网帧结构</vt:lpstr>
      <vt:lpstr>以太网帧结构</vt:lpstr>
      <vt:lpstr>以太网帧结构</vt:lpstr>
      <vt:lpstr>以太网帧结构</vt:lpstr>
      <vt:lpstr>以太网帧结构</vt:lpstr>
      <vt:lpstr>以太网帧结构</vt:lpstr>
      <vt:lpstr>以太网帧结构</vt:lpstr>
      <vt:lpstr>地址</vt:lpstr>
      <vt:lpstr>以太网主机接收数据方式</vt:lpstr>
      <vt:lpstr>以太网主机接收数据方式</vt:lpstr>
      <vt:lpstr>以太网不提供可靠传输</vt:lpstr>
      <vt:lpstr>五个问题的解决方案</vt:lpstr>
      <vt:lpstr>扩展以太网</vt:lpstr>
      <vt:lpstr>扩展以太网</vt:lpstr>
      <vt:lpstr>扩展以太网</vt:lpstr>
      <vt:lpstr>扩展以太网</vt:lpstr>
      <vt:lpstr>以太网评价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计算机网络概述</dc:title>
  <dc:creator>zhw</dc:creator>
  <cp:lastModifiedBy>Yujun Zhang</cp:lastModifiedBy>
  <cp:revision>1207</cp:revision>
  <cp:lastPrinted>2023-03-12T13:49:55Z</cp:lastPrinted>
  <dcterms:created xsi:type="dcterms:W3CDTF">2017-02-02T15:53:23Z</dcterms:created>
  <dcterms:modified xsi:type="dcterms:W3CDTF">2026-09-15T13:56:49Z</dcterms:modified>
</cp:coreProperties>
</file>