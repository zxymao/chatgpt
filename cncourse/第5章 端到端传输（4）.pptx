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notesSlides/notesSlide8.xml" ContentType="application/vnd.openxmlformats-officedocument.presentationml.notesSlide+xml"/>
  <Override PartName="/ppt/tags/tag8.xml" ContentType="application/vnd.openxmlformats-officedocument.presentationml.tags+xml"/>
  <Override PartName="/ppt/notesSlides/notesSlide9.xml" ContentType="application/vnd.openxmlformats-officedocument.presentationml.notesSlide+xml"/>
  <Override PartName="/ppt/tags/tag9.xml" ContentType="application/vnd.openxmlformats-officedocument.presentationml.tags+xml"/>
  <Override PartName="/ppt/notesSlides/notesSlide10.xml" ContentType="application/vnd.openxmlformats-officedocument.presentationml.notesSlide+xml"/>
  <Override PartName="/ppt/tags/tag10.xml" ContentType="application/vnd.openxmlformats-officedocument.presentationml.tags+xml"/>
  <Override PartName="/ppt/notesSlides/notesSlide11.xml" ContentType="application/vnd.openxmlformats-officedocument.presentationml.notesSlide+xml"/>
  <Override PartName="/ppt/tags/tag11.xml" ContentType="application/vnd.openxmlformats-officedocument.presentationml.tags+xml"/>
  <Override PartName="/ppt/notesSlides/notesSlide12.xml" ContentType="application/vnd.openxmlformats-officedocument.presentationml.notesSlide+xml"/>
  <Override PartName="/ppt/tags/tag12.xml" ContentType="application/vnd.openxmlformats-officedocument.presentationml.tags+xml"/>
  <Override PartName="/ppt/notesSlides/notesSlide13.xml" ContentType="application/vnd.openxmlformats-officedocument.presentationml.notesSlide+xml"/>
  <Override PartName="/ppt/tags/tag13.xml" ContentType="application/vnd.openxmlformats-officedocument.presentationml.tags+xml"/>
  <Override PartName="/ppt/notesSlides/notesSlide14.xml" ContentType="application/vnd.openxmlformats-officedocument.presentationml.notesSlide+xml"/>
  <Override PartName="/ppt/tags/tag14.xml" ContentType="application/vnd.openxmlformats-officedocument.presentationml.tags+xml"/>
  <Override PartName="/ppt/notesSlides/notesSlide15.xml" ContentType="application/vnd.openxmlformats-officedocument.presentationml.notesSlide+xml"/>
  <Override PartName="/ppt/tags/tag15.xml" ContentType="application/vnd.openxmlformats-officedocument.presentationml.tags+xml"/>
  <Override PartName="/ppt/notesSlides/notesSlide16.xml" ContentType="application/vnd.openxmlformats-officedocument.presentationml.notesSlide+xml"/>
  <Override PartName="/ppt/tags/tag16.xml" ContentType="application/vnd.openxmlformats-officedocument.presentationml.tags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tags/tag18.xml" ContentType="application/vnd.openxmlformats-officedocument.presentationml.tags+xml"/>
  <Override PartName="/ppt/notesSlides/notesSlide19.xml" ContentType="application/vnd.openxmlformats-officedocument.presentationml.notesSlide+xml"/>
  <Override PartName="/ppt/tags/tag19.xml" ContentType="application/vnd.openxmlformats-officedocument.presentationml.tags+xml"/>
  <Override PartName="/ppt/notesSlides/notesSlide20.xml" ContentType="application/vnd.openxmlformats-officedocument.presentationml.notesSlide+xml"/>
  <Override PartName="/ppt/tags/tag20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21.xml" ContentType="application/vnd.openxmlformats-officedocument.presentationml.tags+xml"/>
  <Override PartName="/ppt/notesSlides/notesSlide23.xml" ContentType="application/vnd.openxmlformats-officedocument.presentationml.notesSlide+xml"/>
  <Override PartName="/ppt/tags/tag22.xml" ContentType="application/vnd.openxmlformats-officedocument.presentationml.tags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711" r:id="rId3"/>
    <p:sldMasterId id="2147483736" r:id="rId4"/>
    <p:sldMasterId id="2147483865" r:id="rId5"/>
  </p:sldMasterIdLst>
  <p:notesMasterIdLst>
    <p:notesMasterId r:id="rId31"/>
  </p:notesMasterIdLst>
  <p:sldIdLst>
    <p:sldId id="256" r:id="rId6"/>
    <p:sldId id="671" r:id="rId7"/>
    <p:sldId id="679" r:id="rId8"/>
    <p:sldId id="688" r:id="rId9"/>
    <p:sldId id="719" r:id="rId10"/>
    <p:sldId id="692" r:id="rId11"/>
    <p:sldId id="690" r:id="rId12"/>
    <p:sldId id="811" r:id="rId13"/>
    <p:sldId id="672" r:id="rId14"/>
    <p:sldId id="694" r:id="rId15"/>
    <p:sldId id="693" r:id="rId16"/>
    <p:sldId id="696" r:id="rId17"/>
    <p:sldId id="697" r:id="rId18"/>
    <p:sldId id="698" r:id="rId19"/>
    <p:sldId id="699" r:id="rId20"/>
    <p:sldId id="700" r:id="rId21"/>
    <p:sldId id="721" r:id="rId22"/>
    <p:sldId id="799" r:id="rId23"/>
    <p:sldId id="800" r:id="rId24"/>
    <p:sldId id="801" r:id="rId25"/>
    <p:sldId id="802" r:id="rId26"/>
    <p:sldId id="803" r:id="rId27"/>
    <p:sldId id="804" r:id="rId28"/>
    <p:sldId id="805" r:id="rId29"/>
    <p:sldId id="798" r:id="rId30"/>
  </p:sldIdLst>
  <p:sldSz cx="9144000" cy="6858000" type="screen4x3"/>
  <p:notesSz cx="6858000" cy="994568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9A1DB3"/>
    <a:srgbClr val="CC0099"/>
    <a:srgbClr val="336600"/>
    <a:srgbClr val="FF5050"/>
    <a:srgbClr val="EFEFFF"/>
    <a:srgbClr val="FF0066"/>
    <a:srgbClr val="6666FF"/>
    <a:srgbClr val="99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88" autoAdjust="0"/>
    <p:restoredTop sz="79622" autoAdjust="0"/>
  </p:normalViewPr>
  <p:slideViewPr>
    <p:cSldViewPr snapToGrid="0">
      <p:cViewPr varScale="1">
        <p:scale>
          <a:sx n="59" d="100"/>
          <a:sy n="59" d="100"/>
        </p:scale>
        <p:origin x="991" y="31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34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tableStyles" Target="tableStyle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2026/5/19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4772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448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491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721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2530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707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16397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4864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360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7594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103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434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8564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7276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52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32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altLang="zh-CN" sz="1200" smtClean="0"/>
                  <a:t>RFC </a:t>
                </a:r>
                <a:r>
                  <a:rPr lang="en-US" altLang="zh-CN" sz="1200" dirty="0" smtClean="0"/>
                  <a:t>2988 </a:t>
                </a:r>
                <a:r>
                  <a:rPr lang="zh-CN" altLang="en-US" sz="1200" dirty="0" smtClean="0"/>
                  <a:t>推荐</a:t>
                </a:r>
                <a:r>
                  <a:rPr lang="zh-CN" altLang="en-US" i="0" smtClean="0">
                    <a:latin typeface="Cambria Math" panose="02040503050406030204" pitchFamily="18" charset="0"/>
                  </a:rPr>
                  <a:t>𝛼</a:t>
                </a:r>
                <a:r>
                  <a:rPr lang="zh-CN" altLang="en-US" sz="1200" dirty="0" smtClean="0"/>
                  <a:t>值为 </a:t>
                </a:r>
                <a:r>
                  <a:rPr lang="en-US" altLang="zh-CN" sz="1200" dirty="0" smtClean="0"/>
                  <a:t>1/8</a:t>
                </a:r>
                <a:r>
                  <a:rPr lang="zh-CN" altLang="en-US" sz="1200" dirty="0" smtClean="0"/>
                  <a:t>，即 </a:t>
                </a:r>
                <a:r>
                  <a:rPr lang="en-US" altLang="zh-CN" sz="1200" dirty="0" smtClean="0"/>
                  <a:t>0.125</a:t>
                </a:r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4879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02541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0909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5712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963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89402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8351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27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FCC745EF-EC24-43F9-80E4-7372CB14086C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 baseline="0">
                <a:effectLst/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008000"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296000"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1548000"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37683-96CB-41A2-BE88-7BF13C1F3C1A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B091-023F-45B1-A7EF-0082478B6218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4C2806A-7225-4D82-B25C-B3111FF3C302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C90F08D-750C-4C87-AE2E-AF1E248393D5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8864F2B-1CE5-4413-A61A-DF21FE09A6BF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682807-4757-43D3-9D77-060738FB30BD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91DC6E-A819-46A5-9261-35302D6EAEC9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0EBD28-52BD-4E87-AB0D-4B099216D196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4A9C1D6-B1AC-4107-85F4-0B37E9E54158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E08951F-BD81-4828-8548-DCD08FEF7C39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DE57-FDAB-40AC-8925-95B849B3B6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8AC7F-B4B1-41E3-868D-DBE217AD94C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3E94F-B4F1-4DE1-908D-CEACF8CB800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25F06-B3B4-4655-804C-D394DD67999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F1F85-50A7-44FC-95BF-43C37294BFC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5FFE-7E6B-44BE-A882-3634B1327DC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8D21-BAF7-4EF0-8A0C-993EE79555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F66B1-89B0-40CC-94E2-E9D3887B83A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B1A90-C562-4D68-86C7-E7441F36241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C4571-7D90-460D-894B-09F7FBD46BD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BDA58-CE66-4C52-9493-113D5A37819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6F8C3-9C32-4B40-86DC-0E711BA02D6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85DC2A9D-A769-45C9-BED6-A6F8A36648D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25525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44D4E714-D3F9-44D4-A3DA-3C3C9E0ABB5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22328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674586DD-1963-4A27-AD4D-F032308DAC8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943873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4D19B-4F08-4375-9B90-FFCD8B1EE9F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1695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2515D-DCBE-426A-A0C2-13DDDEBDF4A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864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C5FE3-7E3F-4154-AD04-C19D8812C7C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8793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70593-83C9-4A98-85F6-3D46126747D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563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A1BE4-536E-493A-82F8-C82B8897096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95662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9DEC9-49C8-4829-818A-BBF575230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1387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1AE69-686A-44FC-A21C-69B494465EC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7942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106F5-8A5C-47EE-811E-18B3B28111C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92639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C1FA8-CA50-4D02-8540-2D265FC513D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55354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 baseline="0">
                <a:ea typeface="黑体" panose="02010609060101010101" pitchFamily="49" charset="-122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65D1D5F-2B53-4699-8A8F-5C7A556E6251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4223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1pPr>
            <a:lvl2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2pPr>
            <a:lvl3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3pPr>
            <a:lvl4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4pPr>
            <a:lvl5pPr>
              <a:lnSpc>
                <a:spcPct val="130000"/>
              </a:lnSpc>
              <a:defRPr baseline="0"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94D2C994-3656-4DD1-A38B-AB94400642A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00650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 baseline="0"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 baseline="0">
                <a:solidFill>
                  <a:schemeClr val="tx1">
                    <a:tint val="75000"/>
                  </a:schemeClr>
                </a:solidFill>
                <a:ea typeface="黑体" panose="02010609060101010101" pitchFamily="49" charset="-122"/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53F0A94D-E498-4F83-AE68-1FF5ED47E2B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aseline="0"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4874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3954CB-2221-4F90-87F7-0C8F70187FF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396152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E74C5-CD20-4965-91EB-972769F80F1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49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245F2F-EB1A-48BA-9A8C-9F9069A5010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99555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E537-D00F-4E31-AFF3-1A3499AC4E5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68334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CCE77-0B6B-4987-9C06-44CDBF66D7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86733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04349-9568-40C1-922A-FF241DC2199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30561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6E02-0602-4538-9D12-864DF9919E3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8185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6F5952-E16D-464C-AC52-D5BD393891D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6541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1D958-CFED-47D1-B4BA-3B58F83A582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BF2481-23C4-4A03-8BBE-49BC24E6799B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772773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6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7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F829-52EF-4074-A107-F8881F8716C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277934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A802-95DD-4CE3-8AF3-752C760C2D7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76178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275D1-D6C4-4934-9D21-D10D5948A67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40989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433C-782A-4771-B34E-7091D46568B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2998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ACA42-A131-4FAE-8529-3DBC908D5D1D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1250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12823-15B9-4C11-9C35-388C2A90666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326988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D1A06-6458-45A2-82D8-6A2310F218E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863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lnSpc>
                <a:spcPct val="130000"/>
              </a:lnSpc>
              <a:defRPr sz="2400"/>
            </a:lvl1pPr>
            <a:lvl2pPr>
              <a:lnSpc>
                <a:spcPct val="130000"/>
              </a:lnSpc>
              <a:defRPr sz="2100"/>
            </a:lvl2pPr>
            <a:lvl3pPr>
              <a:lnSpc>
                <a:spcPct val="130000"/>
              </a:lnSpc>
              <a:defRPr sz="1800"/>
            </a:lvl3pPr>
            <a:lvl4pPr>
              <a:lnSpc>
                <a:spcPct val="130000"/>
              </a:lnSpc>
              <a:defRPr sz="1500"/>
            </a:lvl4pPr>
            <a:lvl5pPr>
              <a:lnSpc>
                <a:spcPct val="13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B54DA-A7D1-414C-A710-6F282611289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42540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0429D-CC07-4124-8CD2-3AA86E27DB2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08741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81D96-F31E-4539-85CF-8D9A21CC238E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83299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BEE43-BBC2-46E2-B532-690A5CF1E15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732045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42CEA-81F4-49E5-AC6E-9FC2EFD633F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7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30000"/>
              </a:lnSpc>
              <a:defRPr/>
            </a:lvl1pPr>
            <a:lvl2pPr>
              <a:lnSpc>
                <a:spcPct val="130000"/>
              </a:lnSpc>
              <a:defRPr/>
            </a:lvl2pPr>
            <a:lvl3pPr>
              <a:lnSpc>
                <a:spcPct val="130000"/>
              </a:lnSpc>
              <a:defRPr/>
            </a:lvl3pPr>
            <a:lvl4pPr>
              <a:lnSpc>
                <a:spcPct val="130000"/>
              </a:lnSpc>
              <a:defRPr/>
            </a:lvl4pPr>
            <a:lvl5pPr>
              <a:lnSpc>
                <a:spcPct val="13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96009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F925A4C-1434-4E60-B118-CFB175DDF0B9}" type="datetime1">
              <a:rPr lang="zh-CN" altLang="en-US" smtClean="0"/>
              <a:pPr/>
              <a:t>2026/5/19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178BFB4-2B10-4FBE-B6AE-36B145E8EC8A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A42C2A16-C986-443B-94DB-9385F6B98110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390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4571013C-02B7-472A-8C8B-98FC67774C8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1pPr>
          </a:lstStyle>
          <a:p>
            <a:fld id="{7D9D34A7-6962-48C3-985A-4607A23522D7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13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</p:sldLayoutIdLst>
  <p:hf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5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426EC3D6-A884-4FAF-A2A7-E28466A46A35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2026/5/19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6BF8562A-31DC-42C9-AD3D-7B97F8E73AE9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140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</p:sldLayoutIdLst>
  <p:hf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130000"/>
        </a:lnSpc>
        <a:spcBef>
          <a:spcPts val="75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1pPr>
      <a:lvl2pPr marL="514337" indent="-171446" algn="l" defTabSz="685783" rtl="0" eaLnBrk="1" latinLnBrk="0" hangingPunct="1">
        <a:lnSpc>
          <a:spcPct val="130000"/>
        </a:lnSpc>
        <a:spcBef>
          <a:spcPts val="375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2pPr>
      <a:lvl3pPr marL="857228" indent="-171446" algn="l" defTabSz="685783" rtl="0" eaLnBrk="1" latinLnBrk="0" hangingPunct="1">
        <a:lnSpc>
          <a:spcPct val="130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3pPr>
      <a:lvl4pPr marL="1200120" indent="-171446" algn="l" defTabSz="685783" rtl="0" eaLnBrk="1" latinLnBrk="0" hangingPunct="1">
        <a:lnSpc>
          <a:spcPct val="130000"/>
        </a:lnSpc>
        <a:spcBef>
          <a:spcPts val="375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4pPr>
      <a:lvl5pPr marL="1543012" indent="-171446" algn="l" defTabSz="685783" rtl="0" eaLnBrk="1" latinLnBrk="0" hangingPunct="1">
        <a:lnSpc>
          <a:spcPct val="130000"/>
        </a:lnSpc>
        <a:spcBef>
          <a:spcPts val="375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9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4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第五章 端到端传输</a:t>
            </a:r>
            <a:r>
              <a:rPr lang="en-US" altLang="zh-CN"/>
              <a:t>(4)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9346"/>
            <a:ext cx="8229600" cy="55386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5.1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传输层协议概述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5.2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用户数据报协议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UDP</a:t>
            </a:r>
          </a:p>
          <a:p>
            <a:r>
              <a:rPr lang="en-US" altLang="zh-CN" dirty="0"/>
              <a:t>5.3  </a:t>
            </a:r>
            <a:r>
              <a:rPr lang="zh-CN" altLang="en-US" dirty="0"/>
              <a:t>传输控制协议 </a:t>
            </a:r>
            <a:r>
              <a:rPr lang="en-US" altLang="zh-CN" dirty="0"/>
              <a:t>TCP 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5.3.1  TCP</a:t>
            </a:r>
            <a:r>
              <a:rPr lang="zh-CN" altLang="en-US" dirty="0"/>
              <a:t>协议概述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5.3.2  TCP</a:t>
            </a:r>
            <a:r>
              <a:rPr lang="zh-CN" altLang="en-US" dirty="0"/>
              <a:t>报文段格式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5.3.3  </a:t>
            </a:r>
            <a:r>
              <a:rPr lang="zh-CN" altLang="en-US" dirty="0"/>
              <a:t>连接管理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5.3.4  </a:t>
            </a:r>
            <a:r>
              <a:rPr lang="zh-CN" altLang="en-US" dirty="0"/>
              <a:t>滑动窗口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5.3.5  </a:t>
            </a:r>
            <a:r>
              <a:rPr lang="zh-CN" altLang="en-US" dirty="0"/>
              <a:t>流量控制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5.3.6  </a:t>
            </a:r>
            <a:r>
              <a:rPr lang="zh-CN" altLang="en-US" dirty="0"/>
              <a:t>触发传输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5.3.7  </a:t>
            </a:r>
            <a:r>
              <a:rPr lang="zh-CN" altLang="en-US" dirty="0"/>
              <a:t>丢失恢复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5.3.8  </a:t>
            </a:r>
            <a:r>
              <a:rPr lang="zh-CN" altLang="en-US" dirty="0"/>
              <a:t>拥塞控制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3365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9376" y="1136224"/>
            <a:ext cx="8989252" cy="4616188"/>
          </a:xfrm>
        </p:spPr>
        <p:txBody>
          <a:bodyPr/>
          <a:lstStyle/>
          <a:p>
            <a:r>
              <a:rPr lang="en-US" altLang="zh-CN" dirty="0"/>
              <a:t>TCP</a:t>
            </a:r>
            <a:r>
              <a:rPr lang="zh-CN" altLang="en-US" dirty="0"/>
              <a:t>如何决定传输一个报文段？</a:t>
            </a:r>
            <a:endParaRPr lang="en-US" altLang="zh-CN" dirty="0"/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支持字节流抽象</a:t>
            </a:r>
            <a:endParaRPr lang="en-US" altLang="zh-CN" dirty="0"/>
          </a:p>
          <a:p>
            <a:pPr lvl="2"/>
            <a:r>
              <a:rPr lang="zh-CN" altLang="en-US" dirty="0"/>
              <a:t>应用程序把字节写到流里 </a:t>
            </a:r>
            <a:r>
              <a:rPr lang="en-US" altLang="zh-CN" dirty="0"/>
              <a:t>(</a:t>
            </a:r>
            <a:r>
              <a:rPr lang="zh-CN" altLang="en-US" dirty="0"/>
              <a:t>连接对应的发送缓存</a:t>
            </a:r>
            <a:r>
              <a:rPr lang="en-US" altLang="zh-CN" dirty="0"/>
              <a:t>)</a:t>
            </a:r>
          </a:p>
          <a:p>
            <a:pPr lvl="2"/>
            <a:r>
              <a:rPr lang="zh-CN" altLang="en-US" dirty="0"/>
              <a:t>由</a:t>
            </a:r>
            <a:r>
              <a:rPr lang="en-US" altLang="zh-CN" dirty="0"/>
              <a:t>TCP</a:t>
            </a:r>
            <a:r>
              <a:rPr lang="zh-CN" altLang="en-US" dirty="0"/>
              <a:t>决定何时从缓存中取出多少字节组成报文段发送</a:t>
            </a:r>
            <a:endParaRPr lang="en-US" altLang="zh-CN" dirty="0"/>
          </a:p>
          <a:p>
            <a:pPr>
              <a:spcBef>
                <a:spcPts val="1800"/>
              </a:spcBef>
            </a:pPr>
            <a:r>
              <a:rPr lang="zh-CN" altLang="en-US" dirty="0"/>
              <a:t>三种触发机制</a:t>
            </a:r>
            <a:endParaRPr lang="en-US" altLang="zh-CN" dirty="0"/>
          </a:p>
          <a:p>
            <a:pPr lvl="1"/>
            <a:r>
              <a:rPr lang="en-US" altLang="zh-CN" sz="1800" dirty="0"/>
              <a:t>TCP </a:t>
            </a:r>
            <a:r>
              <a:rPr lang="zh-CN" altLang="en-US" sz="1800" dirty="0"/>
              <a:t>维持一个变量，</a:t>
            </a:r>
            <a:r>
              <a:rPr lang="zh-CN" altLang="en-US" sz="1800" i="1" dirty="0">
                <a:solidFill>
                  <a:schemeClr val="accent5">
                    <a:lumMod val="50000"/>
                  </a:schemeClr>
                </a:solidFill>
              </a:rPr>
              <a:t>最大报文段长度 </a:t>
            </a:r>
            <a:r>
              <a:rPr lang="en-US" altLang="zh-CN" sz="1800" i="1" dirty="0">
                <a:solidFill>
                  <a:schemeClr val="accent5">
                    <a:lumMod val="50000"/>
                  </a:schemeClr>
                </a:solidFill>
              </a:rPr>
              <a:t>MSS</a:t>
            </a:r>
            <a:r>
              <a:rPr lang="zh-CN" altLang="en-US" sz="1800" dirty="0"/>
              <a:t>，只要缓存区中存放的数据达到 </a:t>
            </a:r>
            <a:r>
              <a:rPr lang="en-US" altLang="zh-CN" sz="1800" i="1" dirty="0">
                <a:solidFill>
                  <a:schemeClr val="accent5">
                    <a:lumMod val="50000"/>
                  </a:schemeClr>
                </a:solidFill>
              </a:rPr>
              <a:t>MSS</a:t>
            </a:r>
            <a:r>
              <a:rPr lang="en-US" altLang="zh-CN" sz="1800" dirty="0"/>
              <a:t> </a:t>
            </a:r>
            <a:r>
              <a:rPr lang="zh-CN" altLang="en-US" sz="1800" dirty="0"/>
              <a:t>字节时，就组装成一个 </a:t>
            </a:r>
            <a:r>
              <a:rPr lang="en-US" altLang="zh-CN" sz="1800" dirty="0"/>
              <a:t>TCP </a:t>
            </a:r>
            <a:r>
              <a:rPr lang="zh-CN" altLang="en-US" sz="1800" dirty="0"/>
              <a:t>报文段发送出去</a:t>
            </a:r>
            <a:r>
              <a:rPr lang="zh-CN" altLang="en-US" sz="1800" dirty="0">
                <a:solidFill>
                  <a:srgbClr val="FF0000"/>
                </a:solidFill>
              </a:rPr>
              <a:t>（空间驱动）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2"/>
            <a:r>
              <a:rPr lang="zh-CN" altLang="en-US" sz="1600" dirty="0"/>
              <a:t>通常把</a:t>
            </a:r>
            <a:r>
              <a:rPr lang="en-US" altLang="zh-CN" sz="1600" i="1" dirty="0">
                <a:solidFill>
                  <a:schemeClr val="accent5">
                    <a:lumMod val="50000"/>
                  </a:schemeClr>
                </a:solidFill>
              </a:rPr>
              <a:t>MSS</a:t>
            </a:r>
            <a:r>
              <a:rPr lang="zh-CN" altLang="en-US" sz="1600" dirty="0"/>
              <a:t>设置为</a:t>
            </a:r>
            <a:r>
              <a:rPr lang="en-US" altLang="zh-CN" sz="1600" dirty="0"/>
              <a:t>TCP</a:t>
            </a:r>
            <a:r>
              <a:rPr lang="zh-CN" altLang="en-US" sz="1600" dirty="0"/>
              <a:t>能发送而且不造成本地</a:t>
            </a:r>
            <a:r>
              <a:rPr lang="en-US" altLang="zh-CN" sz="1600" dirty="0"/>
              <a:t>IP</a:t>
            </a:r>
            <a:r>
              <a:rPr lang="zh-CN" altLang="en-US" sz="1600" dirty="0"/>
              <a:t>分段的最大报文长度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发送进程明确要求</a:t>
            </a:r>
            <a:r>
              <a:rPr lang="en-US" altLang="zh-CN" sz="1800" dirty="0"/>
              <a:t>TCP</a:t>
            </a:r>
            <a:r>
              <a:rPr lang="zh-CN" altLang="en-US" sz="1800" dirty="0"/>
              <a:t>发送一个报文段，即 </a:t>
            </a:r>
            <a:r>
              <a:rPr lang="en-US" altLang="zh-CN" sz="1800" dirty="0"/>
              <a:t>TCP </a:t>
            </a:r>
            <a:r>
              <a:rPr lang="zh-CN" altLang="en-US" sz="1800" dirty="0"/>
              <a:t>支持的推送 </a:t>
            </a:r>
            <a:r>
              <a:rPr lang="en-US" altLang="zh-CN" sz="1800" dirty="0"/>
              <a:t>(push)</a:t>
            </a:r>
            <a:r>
              <a:rPr lang="zh-CN" altLang="en-US" sz="1800" dirty="0"/>
              <a:t>操作</a:t>
            </a:r>
            <a:r>
              <a:rPr lang="zh-CN" altLang="en-US" sz="1800" dirty="0">
                <a:solidFill>
                  <a:srgbClr val="FF0000"/>
                </a:solidFill>
              </a:rPr>
              <a:t>（业务驱动）</a:t>
            </a:r>
            <a:endParaRPr lang="en-US" altLang="zh-CN" sz="1800" dirty="0">
              <a:solidFill>
                <a:srgbClr val="FF0000"/>
              </a:solidFill>
            </a:endParaRPr>
          </a:p>
          <a:p>
            <a:pPr lvl="2"/>
            <a:r>
              <a:rPr lang="zh-CN" altLang="en-US" sz="1600" dirty="0"/>
              <a:t>应用进程调用</a:t>
            </a:r>
            <a:r>
              <a:rPr lang="en-US" altLang="zh-CN" sz="1600" dirty="0"/>
              <a:t>push</a:t>
            </a:r>
            <a:r>
              <a:rPr lang="zh-CN" altLang="en-US" sz="1600" dirty="0"/>
              <a:t>操作，使</a:t>
            </a:r>
            <a:r>
              <a:rPr lang="en-US" altLang="zh-CN" sz="1600" dirty="0"/>
              <a:t>TCP</a:t>
            </a:r>
            <a:r>
              <a:rPr lang="zh-CN" altLang="en-US" sz="1600" dirty="0"/>
              <a:t>将发送缓存区中所有未发送字节发送出去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发送方的一个计时器到期，就把当前缓存区中所有数据装入报文段发送出去</a:t>
            </a:r>
            <a:r>
              <a:rPr lang="zh-CN" altLang="en-US" sz="1800" dirty="0">
                <a:solidFill>
                  <a:srgbClr val="FF0000"/>
                </a:solidFill>
              </a:rPr>
              <a:t>（时间驱动）</a:t>
            </a:r>
            <a:endParaRPr lang="en-US" altLang="zh-CN" sz="18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63820" y="6210795"/>
            <a:ext cx="8668512" cy="5660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/>
              <a:t>流量控制，窗口大小的限制，会使得问题更复杂</a:t>
            </a:r>
            <a:endParaRPr lang="en-US" altLang="zh-CN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6438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 mod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579553" cy="5260621"/>
          </a:xfrm>
        </p:spPr>
        <p:txBody>
          <a:bodyPr/>
          <a:lstStyle/>
          <a:p>
            <a:r>
              <a:rPr lang="zh-CN" altLang="en-US" dirty="0"/>
              <a:t>当有窗口大小的限制时</a:t>
            </a:r>
            <a:endParaRPr lang="en-US" altLang="zh-CN" dirty="0"/>
          </a:p>
          <a:p>
            <a:pPr lvl="1"/>
            <a:r>
              <a:rPr lang="zh-CN" altLang="en-US" dirty="0"/>
              <a:t>当发送缓存已经有</a:t>
            </a:r>
            <a:r>
              <a:rPr lang="en-US" altLang="zh-CN" dirty="0"/>
              <a:t>MSS</a:t>
            </a:r>
            <a:r>
              <a:rPr lang="zh-CN" altLang="en-US" dirty="0"/>
              <a:t>字节，但接收方允许的窗口小于</a:t>
            </a:r>
            <a:r>
              <a:rPr lang="en-US" altLang="zh-CN" dirty="0"/>
              <a:t>MSS</a:t>
            </a:r>
          </a:p>
          <a:p>
            <a:pPr lvl="1"/>
            <a:r>
              <a:rPr lang="zh-CN" altLang="en-US" dirty="0"/>
              <a:t>等待？还是发送？</a:t>
            </a:r>
            <a:endParaRPr lang="en-US" altLang="zh-CN" dirty="0"/>
          </a:p>
          <a:p>
            <a:pPr lvl="2"/>
            <a:r>
              <a:rPr lang="zh-CN" altLang="en-US" dirty="0"/>
              <a:t>等待，无法确定需等待多久窗口才能进一步打开</a:t>
            </a:r>
            <a:endParaRPr lang="en-US" altLang="zh-CN" dirty="0"/>
          </a:p>
          <a:p>
            <a:pPr lvl="2"/>
            <a:r>
              <a:rPr lang="zh-CN" altLang="en-US" dirty="0"/>
              <a:t>发送，一味利用任何可用窗口，会导致</a:t>
            </a:r>
            <a:r>
              <a:rPr lang="zh-CN" altLang="en-US" dirty="0">
                <a:solidFill>
                  <a:schemeClr val="accent5">
                    <a:lumMod val="50000"/>
                  </a:schemeClr>
                </a:solidFill>
              </a:rPr>
              <a:t>糊涂窗口综合症</a:t>
            </a:r>
            <a:endParaRPr lang="en-US" altLang="zh-CN" dirty="0">
              <a:solidFill>
                <a:schemeClr val="accent5">
                  <a:lumMod val="50000"/>
                </a:schemeClr>
              </a:solidFill>
            </a:endParaRPr>
          </a:p>
          <a:p>
            <a:pPr>
              <a:spcBef>
                <a:spcPts val="1800"/>
              </a:spcBef>
            </a:pPr>
            <a:r>
              <a:rPr lang="zh-CN" altLang="en-US" dirty="0"/>
              <a:t>糊涂窗口综合症 </a:t>
            </a:r>
            <a:r>
              <a:rPr lang="en-US" altLang="zh-CN" dirty="0"/>
              <a:t>(silly window syndrome)</a:t>
            </a:r>
          </a:p>
          <a:p>
            <a:pPr lvl="1"/>
            <a:r>
              <a:rPr lang="zh-CN" altLang="en-US" sz="1800" dirty="0"/>
              <a:t>接收进程读取数据速度较慢，接收缓存每当有少量空闲就向发送端确认，打开一个小窗口</a:t>
            </a:r>
            <a:endParaRPr lang="en-US" altLang="zh-CN" sz="1800" dirty="0"/>
          </a:p>
          <a:p>
            <a:pPr lvl="1"/>
            <a:r>
              <a:rPr lang="zh-CN" altLang="en-US" sz="1800" dirty="0"/>
              <a:t>发送方收到确认后，尽管窗口打开很小，也立刻将允许的窗口用完，发送包含数据很少的报文段</a:t>
            </a:r>
            <a:endParaRPr lang="en-US" altLang="zh-CN" sz="1800" dirty="0"/>
          </a:p>
          <a:p>
            <a:pPr lvl="1"/>
            <a:r>
              <a:rPr lang="zh-CN" altLang="en-US" sz="1800" dirty="0"/>
              <a:t>小报文段充满网络，传输效率低</a:t>
            </a:r>
            <a:endParaRPr lang="en-US" altLang="zh-CN" sz="1800" dirty="0"/>
          </a:p>
          <a:p>
            <a:pPr lvl="2"/>
            <a:r>
              <a:rPr lang="zh-CN" altLang="en-US" sz="1600" dirty="0"/>
              <a:t>极端的例子，接收端缓存已满，每读取一个</a:t>
            </a:r>
            <a:r>
              <a:rPr lang="en-US" altLang="zh-CN" sz="1600" dirty="0"/>
              <a:t>1</a:t>
            </a:r>
            <a:r>
              <a:rPr lang="zh-CN" altLang="en-US" sz="1600" dirty="0"/>
              <a:t>字节，确认并打开</a:t>
            </a:r>
            <a:r>
              <a:rPr lang="en-US" altLang="zh-CN" sz="1600" dirty="0"/>
              <a:t>1</a:t>
            </a:r>
            <a:r>
              <a:rPr lang="zh-CN" altLang="en-US" sz="1600" dirty="0"/>
              <a:t>字节窗口，发送方收到后再发送</a:t>
            </a:r>
            <a:r>
              <a:rPr lang="en-US" altLang="zh-CN" sz="1600" dirty="0"/>
              <a:t>1</a:t>
            </a:r>
            <a:r>
              <a:rPr lang="zh-CN" altLang="en-US" sz="1600" dirty="0"/>
              <a:t>字节，如此以往，每个报文段仅</a:t>
            </a:r>
            <a:r>
              <a:rPr lang="en-US" altLang="zh-CN" sz="1600" dirty="0"/>
              <a:t>1</a:t>
            </a:r>
            <a:r>
              <a:rPr lang="zh-CN" altLang="en-US" sz="1600" dirty="0"/>
              <a:t>字节数据，</a:t>
            </a:r>
            <a:r>
              <a:rPr lang="en-US" altLang="zh-CN" sz="1600" dirty="0"/>
              <a:t>TCP</a:t>
            </a:r>
            <a:r>
              <a:rPr lang="zh-CN" altLang="en-US" sz="1600" dirty="0"/>
              <a:t>及</a:t>
            </a:r>
            <a:r>
              <a:rPr lang="en-US" altLang="zh-CN" sz="1600" dirty="0"/>
              <a:t>IP</a:t>
            </a:r>
            <a:r>
              <a:rPr lang="zh-CN" altLang="en-US" sz="1600" dirty="0"/>
              <a:t>首部至少</a:t>
            </a:r>
            <a:r>
              <a:rPr lang="en-US" altLang="zh-CN" sz="1600" dirty="0"/>
              <a:t>40</a:t>
            </a:r>
            <a:r>
              <a:rPr lang="zh-CN" altLang="en-US" sz="1600" dirty="0"/>
              <a:t>字节，传输效率低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  <p:sp>
        <p:nvSpPr>
          <p:cNvPr id="8" name="矩形 7"/>
          <p:cNvSpPr/>
          <p:nvPr/>
        </p:nvSpPr>
        <p:spPr>
          <a:xfrm>
            <a:off x="6459393" y="1600595"/>
            <a:ext cx="2364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i="1" dirty="0">
                <a:solidFill>
                  <a:schemeClr val="accent5">
                    <a:lumMod val="50000"/>
                  </a:schemeClr>
                </a:solidFill>
              </a:rPr>
              <a:t>最大报文段长度 </a:t>
            </a:r>
            <a:r>
              <a:rPr lang="en-US" altLang="zh-CN" i="1" dirty="0">
                <a:solidFill>
                  <a:schemeClr val="accent5">
                    <a:lumMod val="50000"/>
                  </a:schemeClr>
                </a:solidFill>
              </a:rPr>
              <a:t>MSS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953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579553" cy="5260621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糊涂窗口综合症 </a:t>
            </a:r>
            <a:r>
              <a:rPr lang="en-US" altLang="zh-CN" dirty="0"/>
              <a:t>(silly window syndrome)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228398" y="2263235"/>
            <a:ext cx="8701476" cy="168728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bIns="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¥"/>
            </a:pPr>
            <a:r>
              <a:rPr lang="zh-CN" altLang="en-US" sz="2000" dirty="0"/>
              <a:t>根本原因</a:t>
            </a:r>
            <a:endParaRPr lang="en-US" altLang="zh-CN" sz="2000" dirty="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发送方传送小报文段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936000" lvl="2" indent="-216000">
              <a:buClr>
                <a:schemeClr val="bg1"/>
              </a:buClr>
              <a:buFont typeface="Wingdings 2" panose="05020102010507070707" pitchFamily="18" charset="2"/>
              <a:buChar char="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绝对禁止发送小报文段不可能，如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push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操作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接收方打开小窗口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28398" y="3961410"/>
            <a:ext cx="8701476" cy="21306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bIns="0" rtlCol="0" anchor="ctr"/>
          <a:lstStyle>
            <a:defPPr>
              <a:defRPr lang="zh-CN"/>
            </a:defPPr>
            <a:lvl1pPr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285750" lvl="0" indent="-285750">
              <a:buFont typeface="Wingdings" panose="05000000000000000000" pitchFamily="2" charset="2"/>
              <a:buChar char="¥"/>
            </a:pPr>
            <a:r>
              <a:rPr lang="zh-CN" altLang="en-US" sz="2000" dirty="0"/>
              <a:t>如何缓解</a:t>
            </a:r>
            <a:endParaRPr lang="en-US" altLang="zh-CN" sz="2000" dirty="0"/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rgbClr val="FFFFFF"/>
              </a:buClr>
              <a:buFont typeface="Wingdings 3" panose="05040102010807070707" pitchFamily="18" charset="2"/>
              <a:buChar char="ª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接收方等待一段时间，直到足够空间容纳</a:t>
            </a:r>
            <a:r>
              <a:rPr lang="en-US" altLang="zh-CN" dirty="0">
                <a:latin typeface="Calibri" panose="020F0502020204030204" pitchFamily="34" charset="0"/>
                <a:ea typeface="黑体" panose="02010609060101010101" pitchFamily="49" charset="-122"/>
              </a:rPr>
              <a:t>MSS</a:t>
            </a: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数据，或接收缓存达到一定比例空闲（可设置阈值），再向发送端发确认报文段，通知当前窗口大小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rgbClr val="FFFFFF"/>
              </a:buClr>
              <a:buFont typeface="Wingdings 3" panose="05040102010807070707" pitchFamily="18" charset="2"/>
              <a:buChar char="ª"/>
            </a:pPr>
            <a:r>
              <a:rPr lang="zh-CN" altLang="en-US" dirty="0">
                <a:latin typeface="Calibri" panose="020F0502020204030204" pitchFamily="34" charset="0"/>
                <a:ea typeface="黑体" panose="02010609060101010101" pitchFamily="49" charset="-122"/>
              </a:rPr>
              <a:t>等待时间太长，达不到条件怎么办？仍是一个难确定</a:t>
            </a:r>
            <a:r>
              <a:rPr lang="zh-CN" altLang="en-US">
                <a:latin typeface="Calibri" panose="020F0502020204030204" pitchFamily="34" charset="0"/>
                <a:ea typeface="黑体" panose="02010609060101010101" pitchFamily="49" charset="-122"/>
              </a:rPr>
              <a:t>的事情</a:t>
            </a:r>
            <a:endParaRPr lang="en-US" altLang="zh-CN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518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579553" cy="5260621"/>
          </a:xfrm>
        </p:spPr>
        <p:txBody>
          <a:bodyPr/>
          <a:lstStyle/>
          <a:p>
            <a:r>
              <a:rPr lang="en-US" altLang="zh-CN" dirty="0"/>
              <a:t>Nagle</a:t>
            </a:r>
            <a:r>
              <a:rPr lang="zh-CN" altLang="en-US" dirty="0"/>
              <a:t>算法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若发送方有数据要发送但打开的窗口小于</a:t>
            </a:r>
            <a:r>
              <a:rPr lang="en-US" altLang="zh-CN" dirty="0"/>
              <a:t>MSS</a:t>
            </a:r>
            <a:r>
              <a:rPr lang="zh-CN" altLang="en-US" dirty="0"/>
              <a:t>，等待一段时间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等待时间太长，不利于</a:t>
            </a:r>
            <a:r>
              <a:rPr lang="en-US" altLang="zh-CN" dirty="0"/>
              <a:t>telnet</a:t>
            </a:r>
            <a:r>
              <a:rPr lang="zh-CN" altLang="en-US" dirty="0"/>
              <a:t>等交互式应用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等待时间太短，发出很多小报文段，导致糊涂窗口综合症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引入一个定时器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非基于时钟的定时器</a:t>
            </a:r>
            <a:endParaRPr lang="en-US" altLang="zh-CN" dirty="0"/>
          </a:p>
          <a:p>
            <a:pPr lvl="2">
              <a:lnSpc>
                <a:spcPct val="150000"/>
              </a:lnSpc>
            </a:pPr>
            <a:r>
              <a:rPr lang="zh-CN" altLang="en-US" dirty="0"/>
              <a:t>引入自计时 </a:t>
            </a:r>
            <a:r>
              <a:rPr lang="en-US" altLang="zh-CN" dirty="0"/>
              <a:t>(self-clocking) </a:t>
            </a:r>
            <a:r>
              <a:rPr lang="zh-CN" altLang="en-US" dirty="0"/>
              <a:t>方案</a:t>
            </a:r>
            <a:endParaRPr lang="en-US" altLang="zh-CN" dirty="0"/>
          </a:p>
          <a:p>
            <a:pPr lvl="3">
              <a:lnSpc>
                <a:spcPct val="150000"/>
              </a:lnSpc>
            </a:pPr>
            <a:r>
              <a:rPr lang="zh-CN" altLang="en-US" dirty="0"/>
              <a:t>将接收方回复的</a:t>
            </a:r>
            <a:r>
              <a:rPr lang="en-US" altLang="zh-CN" dirty="0"/>
              <a:t>ACK</a:t>
            </a:r>
            <a:r>
              <a:rPr lang="zh-CN" altLang="en-US" dirty="0"/>
              <a:t>作为激活定时器的条件，触发传输下一个报文段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823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48097"/>
            <a:ext cx="8579553" cy="880211"/>
          </a:xfrm>
        </p:spPr>
        <p:txBody>
          <a:bodyPr/>
          <a:lstStyle/>
          <a:p>
            <a:r>
              <a:rPr lang="en-US" altLang="zh-CN" dirty="0"/>
              <a:t>Nagle</a:t>
            </a:r>
            <a:r>
              <a:rPr lang="zh-CN" altLang="en-US" dirty="0"/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399748" y="1676119"/>
                <a:ext cx="8344503" cy="32167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0" tIns="18000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1" fontAlgn="base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0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2pPr>
                <a:lvl3pPr marL="1008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18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3pPr>
                <a:lvl4pPr marL="1296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4pPr>
                <a:lvl5pPr marL="1548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ea typeface="华文楷体" panose="02010600040101010101" pitchFamily="2" charset="-122"/>
                  </a:rPr>
                  <a:t>当应用产生要发送的数据时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if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数据和发送窗口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kern="0" dirty="0">
                    <a:ea typeface="华文楷体" panose="02010600040101010101" pitchFamily="2" charset="-122"/>
                  </a:rPr>
                  <a:t>MSS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，或  数据已达到发送窗口大小的一半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  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 立即发送一个报文段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else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if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有报文段正在传输 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(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包括已传输未确认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)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     </a:t>
                </a:r>
                <a:r>
                  <a:rPr lang="zh-CN" altLang="zh-CN" kern="0" dirty="0">
                    <a:ea typeface="华文楷体" panose="02010600040101010101" pitchFamily="2" charset="-122"/>
                  </a:rPr>
                  <a:t>把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应用写入</a:t>
                </a:r>
                <a:r>
                  <a:rPr lang="zh-CN" altLang="zh-CN" kern="0" dirty="0">
                    <a:ea typeface="华文楷体" panose="02010600040101010101" pitchFamily="2" charset="-122"/>
                  </a:rPr>
                  <a:t>的数据字节都缓存起来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直到收到对端回复的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ACK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else  (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没有报文段正在传输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)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          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立即发送缓存中的所有数据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748" y="1676119"/>
                <a:ext cx="8344503" cy="32167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5"/>
          <p:cNvSpPr txBox="1"/>
          <p:nvPr/>
        </p:nvSpPr>
        <p:spPr>
          <a:xfrm>
            <a:off x="399748" y="4892916"/>
            <a:ext cx="8344503" cy="159200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¥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也就是说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sz="1600" dirty="0">
                <a:latin typeface="Calibri" panose="020F0502020204030204" pitchFamily="34" charset="0"/>
                <a:ea typeface="黑体" panose="02010609060101010101" pitchFamily="49" charset="-122"/>
              </a:rPr>
              <a:t>若窗口允许，发送满载报文段；否则：</a:t>
            </a:r>
            <a:endParaRPr lang="en-US" altLang="zh-CN" sz="1600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sz="1600" dirty="0">
                <a:latin typeface="Calibri" panose="020F0502020204030204" pitchFamily="34" charset="0"/>
                <a:ea typeface="黑体" panose="02010609060101010101" pitchFamily="49" charset="-122"/>
              </a:rPr>
              <a:t>若当前没有传输中的报文段，也可以立即发送一个小报文段</a:t>
            </a:r>
            <a:endParaRPr lang="en-US" altLang="zh-CN" sz="1600" dirty="0">
              <a:latin typeface="Calibri" panose="020F0502020204030204" pitchFamily="34" charset="0"/>
              <a:ea typeface="黑体" panose="02010609060101010101" pitchFamily="49" charset="-122"/>
            </a:endParaRPr>
          </a:p>
          <a:p>
            <a:pPr marL="648000" lvl="1" indent="-342900">
              <a:lnSpc>
                <a:spcPct val="150000"/>
              </a:lnSpc>
              <a:spcBef>
                <a:spcPts val="600"/>
              </a:spcBef>
              <a:buClr>
                <a:schemeClr val="bg1"/>
              </a:buClr>
              <a:buFont typeface="Wingdings 3" panose="05040102010807070707" pitchFamily="18" charset="2"/>
              <a:buChar char="ª"/>
            </a:pPr>
            <a:r>
              <a:rPr lang="zh-CN" altLang="en-US" sz="1600" dirty="0">
                <a:latin typeface="Calibri" panose="020F0502020204030204" pitchFamily="34" charset="0"/>
                <a:ea typeface="黑体" panose="02010609060101010101" pitchFamily="49" charset="-122"/>
              </a:rPr>
              <a:t>但如果有传输的报文段，发送方必须等到</a:t>
            </a:r>
            <a:r>
              <a:rPr lang="en-US" altLang="zh-CN" sz="1600" dirty="0">
                <a:latin typeface="Calibri" panose="020F0502020204030204" pitchFamily="34" charset="0"/>
                <a:ea typeface="黑体" panose="02010609060101010101" pitchFamily="49" charset="-122"/>
              </a:rPr>
              <a:t>ACK</a:t>
            </a:r>
            <a:r>
              <a:rPr lang="zh-CN" altLang="en-US" sz="1600" dirty="0">
                <a:latin typeface="Calibri" panose="020F0502020204030204" pitchFamily="34" charset="0"/>
                <a:ea typeface="黑体" panose="02010609060101010101" pitchFamily="49" charset="-122"/>
              </a:rPr>
              <a:t>到达才能发送下一个报文段</a:t>
            </a:r>
            <a:endParaRPr lang="en-US" altLang="zh-CN" sz="1600" dirty="0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377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  <p:extLst mod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触发传输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148097"/>
            <a:ext cx="8579553" cy="880211"/>
          </a:xfrm>
        </p:spPr>
        <p:txBody>
          <a:bodyPr/>
          <a:lstStyle/>
          <a:p>
            <a:r>
              <a:rPr lang="en-US" altLang="zh-CN" dirty="0"/>
              <a:t>Nagle</a:t>
            </a:r>
            <a:r>
              <a:rPr lang="zh-CN" altLang="en-US" dirty="0"/>
              <a:t>算法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184570" y="87868"/>
            <a:ext cx="185218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5.3.6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触发传输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399748" y="1676119"/>
                <a:ext cx="8344503" cy="321679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>
                <a:noFill/>
              </a:ln>
              <a:effectLst/>
              <a:extLst/>
            </p:spPr>
            <p:txBody>
              <a:bodyPr vert="horz" wrap="square" lIns="0" tIns="18000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1" fontAlgn="base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0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2pPr>
                <a:lvl3pPr marL="1008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18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3pPr>
                <a:lvl4pPr marL="1296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4pPr>
                <a:lvl5pPr marL="154800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zh-CN" altLang="en-US" kern="0" dirty="0">
                    <a:ea typeface="华文楷体" panose="02010600040101010101" pitchFamily="2" charset="-122"/>
                  </a:rPr>
                  <a:t>当应用产生要发送的数据时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if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数据和发送窗口</a:t>
                </a:r>
                <a14:m>
                  <m:oMath xmlns:m="http://schemas.openxmlformats.org/officeDocument/2006/math">
                    <m:r>
                      <a:rPr lang="zh-CN" altLang="en-US" i="1" kern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CN" kern="0" dirty="0">
                    <a:ea typeface="华文楷体" panose="02010600040101010101" pitchFamily="2" charset="-122"/>
                  </a:rPr>
                  <a:t>MSS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，或  数据已达到发送窗口大小的一半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  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 立即发送一个报文段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else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if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有报文段正在传输 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(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包括已传输未确认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)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     </a:t>
                </a:r>
                <a:r>
                  <a:rPr lang="zh-CN" altLang="zh-CN" kern="0" dirty="0">
                    <a:ea typeface="华文楷体" panose="02010600040101010101" pitchFamily="2" charset="-122"/>
                  </a:rPr>
                  <a:t>把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应用写入</a:t>
                </a:r>
                <a:r>
                  <a:rPr lang="zh-CN" altLang="zh-CN" kern="0" dirty="0">
                    <a:ea typeface="华文楷体" panose="02010600040101010101" pitchFamily="2" charset="-122"/>
                  </a:rPr>
                  <a:t>的数据字节都缓存起来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直到收到对端回复的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ACK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              else  (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没有报文段正在传输</a:t>
                </a:r>
                <a:r>
                  <a:rPr lang="en-US" altLang="zh-CN" kern="0" dirty="0">
                    <a:ea typeface="华文楷体" panose="02010600040101010101" pitchFamily="2" charset="-122"/>
                  </a:rPr>
                  <a:t>)</a:t>
                </a:r>
              </a:p>
              <a:p>
                <a:pPr marL="457188" lvl="1" indent="0">
                  <a:buFont typeface="Wingdings" panose="05000000000000000000" pitchFamily="2" charset="2"/>
                  <a:buNone/>
                </a:pPr>
                <a:r>
                  <a:rPr lang="en-US" altLang="zh-CN" kern="0" dirty="0">
                    <a:ea typeface="华文楷体" panose="02010600040101010101" pitchFamily="2" charset="-122"/>
                  </a:rPr>
                  <a:t>	            </a:t>
                </a:r>
                <a:r>
                  <a:rPr lang="zh-CN" altLang="en-US" kern="0" dirty="0">
                    <a:ea typeface="华文楷体" panose="02010600040101010101" pitchFamily="2" charset="-122"/>
                  </a:rPr>
                  <a:t>立即发送缓存中的所有数据</a:t>
                </a:r>
                <a:endParaRPr lang="en-US" altLang="zh-CN" kern="0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9748" y="1676119"/>
                <a:ext cx="8344503" cy="32167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5"/>
          <p:cNvSpPr txBox="1"/>
          <p:nvPr/>
        </p:nvSpPr>
        <p:spPr>
          <a:xfrm>
            <a:off x="399748" y="4892916"/>
            <a:ext cx="8344503" cy="1812683"/>
          </a:xfrm>
          <a:prstGeom prst="rect">
            <a:avLst/>
          </a:prstGeom>
          <a:solidFill>
            <a:srgbClr val="9A1DB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在任意时刻，</a:t>
            </a:r>
            <a:r>
              <a:rPr lang="en-US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TCP</a:t>
            </a:r>
            <a:r>
              <a:rPr lang="zh-CN" altLang="zh-CN" sz="20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连接中只有一个未被确认的小分组在传送，既使得小分组不至于一直等待下去得不到传输机会，又不至于使网络中存在大量的小分组浪费网络资源，是效率与公平性之间的一种平衡策略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968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  <p:extLst mod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19346"/>
            <a:ext cx="8229600" cy="5538654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5.1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传输层协议概述</a:t>
            </a:r>
            <a:endParaRPr lang="en-US" altLang="zh-CN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5.2  </a:t>
            </a:r>
            <a:r>
              <a:rPr lang="zh-CN" altLang="en-US" dirty="0">
                <a:solidFill>
                  <a:schemeClr val="bg1">
                    <a:lumMod val="75000"/>
                  </a:schemeClr>
                </a:solidFill>
              </a:rPr>
              <a:t>用户数据报协议 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UDP</a:t>
            </a:r>
          </a:p>
          <a:p>
            <a:r>
              <a:rPr lang="en-US" altLang="zh-CN" dirty="0"/>
              <a:t>5.3  </a:t>
            </a:r>
            <a:r>
              <a:rPr lang="zh-CN" altLang="en-US" dirty="0"/>
              <a:t>传输控制协议 </a:t>
            </a:r>
            <a:r>
              <a:rPr lang="en-US" altLang="zh-CN" dirty="0"/>
              <a:t>TCP </a:t>
            </a:r>
          </a:p>
          <a:p>
            <a:pPr lvl="1">
              <a:spcBef>
                <a:spcPts val="1200"/>
              </a:spcBef>
            </a:pPr>
            <a:r>
              <a:rPr lang="en-US" altLang="zh-CN" dirty="0"/>
              <a:t>5.3.1  TCP</a:t>
            </a:r>
            <a:r>
              <a:rPr lang="zh-CN" altLang="en-US" dirty="0"/>
              <a:t>协议概述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5.3.2  TCP</a:t>
            </a:r>
            <a:r>
              <a:rPr lang="zh-CN" altLang="en-US" dirty="0"/>
              <a:t>报文段格式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5.3.3  </a:t>
            </a:r>
            <a:r>
              <a:rPr lang="zh-CN" altLang="en-US" dirty="0"/>
              <a:t>连接管理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5.3.4  </a:t>
            </a:r>
            <a:r>
              <a:rPr lang="zh-CN" altLang="en-US" dirty="0"/>
              <a:t>滑动窗口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5.3.5  </a:t>
            </a:r>
            <a:r>
              <a:rPr lang="zh-CN" altLang="en-US" dirty="0"/>
              <a:t>流量控制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5.3.6  </a:t>
            </a:r>
            <a:r>
              <a:rPr lang="zh-CN" altLang="en-US" dirty="0"/>
              <a:t>触发传输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5.3.7  </a:t>
            </a:r>
            <a:r>
              <a:rPr lang="zh-CN" altLang="en-US" dirty="0"/>
              <a:t>丢失恢复</a:t>
            </a:r>
            <a:endParaRPr lang="en-US" altLang="zh-CN" dirty="0"/>
          </a:p>
          <a:p>
            <a:pPr lvl="1">
              <a:spcBef>
                <a:spcPts val="1200"/>
              </a:spcBef>
            </a:pPr>
            <a:r>
              <a:rPr lang="en-US" altLang="zh-CN" dirty="0"/>
              <a:t>5.3.8  </a:t>
            </a:r>
            <a:r>
              <a:rPr lang="zh-CN" altLang="en-US" dirty="0"/>
              <a:t>拥塞控制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75016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rctx="PPT">
                                        <p:cTn id="2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00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丢包检测和重传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2158047"/>
          </a:xfrm>
        </p:spPr>
        <p:txBody>
          <a:bodyPr/>
          <a:lstStyle/>
          <a:p>
            <a:r>
              <a:rPr lang="zh-CN" altLang="en-US" dirty="0"/>
              <a:t>丢包检测和重传机制是实现 </a:t>
            </a:r>
            <a:r>
              <a:rPr lang="en-US" altLang="zh-CN" dirty="0"/>
              <a:t>TCP</a:t>
            </a:r>
            <a:r>
              <a:rPr lang="zh-CN" altLang="en-US" dirty="0"/>
              <a:t>可靠传输的关键</a:t>
            </a: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TCP </a:t>
            </a:r>
            <a:r>
              <a:rPr lang="zh-CN" altLang="en-US" sz="1800" dirty="0"/>
              <a:t>每发送一个报文段，就对这个报文段设置一个定时器</a:t>
            </a:r>
            <a:endParaRPr lang="en-US" altLang="zh-CN" sz="1800" dirty="0"/>
          </a:p>
          <a:p>
            <a:pPr lvl="2"/>
            <a:r>
              <a:rPr lang="zh-CN" altLang="en-US" dirty="0"/>
              <a:t>超时重传时间 </a:t>
            </a:r>
            <a:r>
              <a:rPr lang="en-US" altLang="zh-CN" dirty="0"/>
              <a:t>RTO (Retransmission Time-Out) </a:t>
            </a:r>
            <a:endParaRPr lang="zh-CN" altLang="en-US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定时器到期，还没有收到确认，就重传该报文段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  <p:grpSp>
        <p:nvGrpSpPr>
          <p:cNvPr id="43" name="组合 42"/>
          <p:cNvGrpSpPr/>
          <p:nvPr/>
        </p:nvGrpSpPr>
        <p:grpSpPr>
          <a:xfrm>
            <a:off x="1304670" y="3444311"/>
            <a:ext cx="2701424" cy="3232481"/>
            <a:chOff x="4561526" y="3775167"/>
            <a:chExt cx="2701424" cy="3232481"/>
          </a:xfrm>
        </p:grpSpPr>
        <p:pic>
          <p:nvPicPr>
            <p:cNvPr id="20" name="图片 19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1526" y="3775167"/>
              <a:ext cx="2701424" cy="3232481"/>
            </a:xfrm>
            <a:prstGeom prst="rect">
              <a:avLst/>
            </a:prstGeom>
          </p:spPr>
        </p:pic>
        <p:sp>
          <p:nvSpPr>
            <p:cNvPr id="23" name="Line 7"/>
            <p:cNvSpPr>
              <a:spLocks noChangeShapeType="1"/>
            </p:cNvSpPr>
            <p:nvPr/>
          </p:nvSpPr>
          <p:spPr bwMode="auto">
            <a:xfrm flipH="1">
              <a:off x="5215757" y="4112054"/>
              <a:ext cx="12549" cy="2476303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4" name="Line 8"/>
            <p:cNvSpPr>
              <a:spLocks noChangeShapeType="1"/>
            </p:cNvSpPr>
            <p:nvPr/>
          </p:nvSpPr>
          <p:spPr bwMode="auto">
            <a:xfrm>
              <a:off x="6832529" y="4090228"/>
              <a:ext cx="0" cy="2498130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5228308" y="4273443"/>
              <a:ext cx="1234715" cy="3998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Text Box 14"/>
            <p:cNvSpPr txBox="1">
              <a:spLocks noChangeArrowheads="1"/>
            </p:cNvSpPr>
            <p:nvPr/>
          </p:nvSpPr>
          <p:spPr bwMode="auto">
            <a:xfrm rot="10800000">
              <a:off x="4606557" y="4438497"/>
              <a:ext cx="430887" cy="569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Text Box 17"/>
            <p:cNvSpPr txBox="1">
              <a:spLocks noChangeArrowheads="1"/>
            </p:cNvSpPr>
            <p:nvPr/>
          </p:nvSpPr>
          <p:spPr bwMode="auto">
            <a:xfrm rot="1127169">
              <a:off x="5406950" y="4247277"/>
              <a:ext cx="105607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Text Box 39"/>
            <p:cNvSpPr txBox="1">
              <a:spLocks noChangeArrowheads="1"/>
            </p:cNvSpPr>
            <p:nvPr/>
          </p:nvSpPr>
          <p:spPr bwMode="auto">
            <a:xfrm>
              <a:off x="5035889" y="6617684"/>
              <a:ext cx="18839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（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）</a:t>
              </a:r>
              <a:r>
                <a:rPr kumimoji="1" lang="zh-CN" altLang="en-US" sz="1600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报文段丢失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左大括号 30"/>
            <p:cNvSpPr/>
            <p:nvPr/>
          </p:nvSpPr>
          <p:spPr>
            <a:xfrm>
              <a:off x="4985990" y="4269868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Line 9"/>
            <p:cNvSpPr>
              <a:spLocks noChangeShapeType="1"/>
            </p:cNvSpPr>
            <p:nvPr/>
          </p:nvSpPr>
          <p:spPr bwMode="auto">
            <a:xfrm>
              <a:off x="5234404" y="5376819"/>
              <a:ext cx="1598125" cy="349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Line 10"/>
            <p:cNvSpPr>
              <a:spLocks noChangeShapeType="1"/>
            </p:cNvSpPr>
            <p:nvPr/>
          </p:nvSpPr>
          <p:spPr bwMode="auto">
            <a:xfrm flipH="1">
              <a:off x="5228308" y="5752153"/>
              <a:ext cx="1604220" cy="4137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Text Box 14"/>
            <p:cNvSpPr txBox="1">
              <a:spLocks noChangeArrowheads="1"/>
            </p:cNvSpPr>
            <p:nvPr/>
          </p:nvSpPr>
          <p:spPr bwMode="auto">
            <a:xfrm rot="10800000">
              <a:off x="4612653" y="5619859"/>
              <a:ext cx="430887" cy="48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5" name="Text Box 17"/>
            <p:cNvSpPr txBox="1">
              <a:spLocks noChangeArrowheads="1"/>
            </p:cNvSpPr>
            <p:nvPr/>
          </p:nvSpPr>
          <p:spPr bwMode="auto">
            <a:xfrm rot="854023">
              <a:off x="5267211" y="5248117"/>
              <a:ext cx="14213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重传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Text Box 18"/>
            <p:cNvSpPr txBox="1">
              <a:spLocks noChangeArrowheads="1"/>
            </p:cNvSpPr>
            <p:nvPr/>
          </p:nvSpPr>
          <p:spPr bwMode="auto">
            <a:xfrm>
              <a:off x="5621738" y="5731537"/>
              <a:ext cx="663816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</a:t>
              </a:r>
            </a:p>
          </p:txBody>
        </p:sp>
        <p:sp>
          <p:nvSpPr>
            <p:cNvPr id="37" name="左大括号 36"/>
            <p:cNvSpPr/>
            <p:nvPr/>
          </p:nvSpPr>
          <p:spPr>
            <a:xfrm>
              <a:off x="4992086" y="5373244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8" name="组合 37"/>
            <p:cNvGrpSpPr/>
            <p:nvPr/>
          </p:nvGrpSpPr>
          <p:grpSpPr>
            <a:xfrm>
              <a:off x="6292321" y="4505850"/>
              <a:ext cx="170702" cy="277903"/>
              <a:chOff x="7754112" y="4133088"/>
              <a:chExt cx="487680" cy="694944"/>
            </a:xfrm>
          </p:grpSpPr>
          <p:cxnSp>
            <p:nvCxnSpPr>
              <p:cNvPr id="39" name="直接连接符 38"/>
              <p:cNvCxnSpPr/>
              <p:nvPr/>
            </p:nvCxnSpPr>
            <p:spPr>
              <a:xfrm>
                <a:off x="7754112" y="4133088"/>
                <a:ext cx="487680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flipH="1">
                <a:off x="7754112" y="4133088"/>
                <a:ext cx="402336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5096172" y="3825662"/>
              <a:ext cx="317370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6688519" y="3801021"/>
              <a:ext cx="28801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04642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丢包检测和重传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5288"/>
            <a:ext cx="8579553" cy="204077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超时重传时间很难给定</a:t>
            </a:r>
            <a:endParaRPr lang="en-US" altLang="zh-CN" dirty="0"/>
          </a:p>
          <a:p>
            <a:pPr lvl="1"/>
            <a:r>
              <a:rPr lang="zh-CN" altLang="en-US" dirty="0"/>
              <a:t>很难给出任意</a:t>
            </a:r>
            <a:r>
              <a:rPr lang="en-US" altLang="zh-CN" dirty="0"/>
              <a:t>TCP</a:t>
            </a:r>
            <a:r>
              <a:rPr lang="zh-CN" altLang="en-US" dirty="0"/>
              <a:t>连接两端之间</a:t>
            </a:r>
            <a:r>
              <a:rPr lang="en-US" altLang="zh-CN" dirty="0"/>
              <a:t>RTT</a:t>
            </a:r>
            <a:r>
              <a:rPr lang="zh-CN" altLang="en-US" dirty="0"/>
              <a:t>的可能范围</a:t>
            </a:r>
            <a:endParaRPr lang="en-US" altLang="zh-CN" dirty="0"/>
          </a:p>
          <a:p>
            <a:pPr lvl="2"/>
            <a:r>
              <a:rPr lang="en-US" altLang="zh-CN" sz="1600" dirty="0"/>
              <a:t>TCP </a:t>
            </a:r>
            <a:r>
              <a:rPr lang="zh-CN" altLang="en-US" sz="1600" dirty="0"/>
              <a:t>的下层是互联网环境，</a:t>
            </a:r>
            <a:r>
              <a:rPr lang="en-US" altLang="zh-CN" sz="1600" dirty="0"/>
              <a:t>IP </a:t>
            </a:r>
            <a:r>
              <a:rPr lang="zh-CN" altLang="en-US" sz="1600" dirty="0"/>
              <a:t>数据报所选择的路由变化很大</a:t>
            </a:r>
            <a:endParaRPr lang="en-US" altLang="zh-CN" sz="1600" dirty="0"/>
          </a:p>
          <a:p>
            <a:pPr lvl="2"/>
            <a:r>
              <a:rPr lang="zh-CN" altLang="en-US" sz="1600" dirty="0"/>
              <a:t>同一结点的不同</a:t>
            </a:r>
            <a:r>
              <a:rPr lang="en-US" altLang="zh-CN" sz="1600" dirty="0"/>
              <a:t>TCP</a:t>
            </a:r>
            <a:r>
              <a:rPr lang="zh-CN" altLang="en-US" sz="1600" dirty="0"/>
              <a:t>连接的</a:t>
            </a:r>
            <a:r>
              <a:rPr lang="en-US" altLang="zh-CN" sz="1600" dirty="0"/>
              <a:t>RTT</a:t>
            </a:r>
            <a:r>
              <a:rPr lang="zh-CN" altLang="en-US" sz="1600" dirty="0"/>
              <a:t>可能差异很大</a:t>
            </a:r>
            <a:endParaRPr lang="en-US" altLang="zh-CN" sz="1600" dirty="0"/>
          </a:p>
          <a:p>
            <a:pPr lvl="2"/>
            <a:r>
              <a:rPr lang="zh-CN" altLang="en-US" sz="1600" dirty="0"/>
              <a:t>同一</a:t>
            </a:r>
            <a:r>
              <a:rPr lang="en-US" altLang="zh-CN" sz="1600" dirty="0"/>
              <a:t>TCP</a:t>
            </a:r>
            <a:r>
              <a:rPr lang="zh-CN" altLang="en-US" sz="1600" dirty="0"/>
              <a:t>连接在不同时间，甚至几分钟内，</a:t>
            </a:r>
            <a:r>
              <a:rPr lang="en-US" altLang="zh-CN" sz="1600" dirty="0"/>
              <a:t>RTT</a:t>
            </a:r>
            <a:r>
              <a:rPr lang="zh-CN" altLang="en-US" sz="1600" dirty="0"/>
              <a:t>值也有变化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grpSp>
        <p:nvGrpSpPr>
          <p:cNvPr id="45" name="组合 44"/>
          <p:cNvGrpSpPr/>
          <p:nvPr/>
        </p:nvGrpSpPr>
        <p:grpSpPr>
          <a:xfrm>
            <a:off x="1304670" y="3444311"/>
            <a:ext cx="2701424" cy="3232481"/>
            <a:chOff x="4561526" y="3775167"/>
            <a:chExt cx="2701424" cy="3232481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1526" y="3775167"/>
              <a:ext cx="2701424" cy="3232481"/>
            </a:xfrm>
            <a:prstGeom prst="rect">
              <a:avLst/>
            </a:prstGeom>
          </p:spPr>
        </p:pic>
        <p:sp>
          <p:nvSpPr>
            <p:cNvPr id="47" name="Line 7"/>
            <p:cNvSpPr>
              <a:spLocks noChangeShapeType="1"/>
            </p:cNvSpPr>
            <p:nvPr/>
          </p:nvSpPr>
          <p:spPr bwMode="auto">
            <a:xfrm flipH="1">
              <a:off x="5215757" y="4112054"/>
              <a:ext cx="12549" cy="2476303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6832529" y="4090228"/>
              <a:ext cx="0" cy="2498130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>
              <a:off x="5228308" y="4273443"/>
              <a:ext cx="1234715" cy="3998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 rot="10800000">
              <a:off x="4606557" y="4438497"/>
              <a:ext cx="430887" cy="569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Text Box 17"/>
            <p:cNvSpPr txBox="1">
              <a:spLocks noChangeArrowheads="1"/>
            </p:cNvSpPr>
            <p:nvPr/>
          </p:nvSpPr>
          <p:spPr bwMode="auto">
            <a:xfrm rot="1127169">
              <a:off x="5406950" y="4247277"/>
              <a:ext cx="105607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5035889" y="6617684"/>
              <a:ext cx="18839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（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）</a:t>
              </a:r>
              <a:r>
                <a:rPr kumimoji="1" lang="zh-CN" altLang="en-US" sz="1600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报文段丢失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左大括号 52"/>
            <p:cNvSpPr/>
            <p:nvPr/>
          </p:nvSpPr>
          <p:spPr>
            <a:xfrm>
              <a:off x="4985990" y="4269868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>
              <a:off x="5234404" y="5376819"/>
              <a:ext cx="1598125" cy="349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Line 10"/>
            <p:cNvSpPr>
              <a:spLocks noChangeShapeType="1"/>
            </p:cNvSpPr>
            <p:nvPr/>
          </p:nvSpPr>
          <p:spPr bwMode="auto">
            <a:xfrm flipH="1">
              <a:off x="5228308" y="5752153"/>
              <a:ext cx="1604220" cy="4137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Text Box 14"/>
            <p:cNvSpPr txBox="1">
              <a:spLocks noChangeArrowheads="1"/>
            </p:cNvSpPr>
            <p:nvPr/>
          </p:nvSpPr>
          <p:spPr bwMode="auto">
            <a:xfrm rot="10800000">
              <a:off x="4612653" y="5619859"/>
              <a:ext cx="430887" cy="48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17"/>
            <p:cNvSpPr txBox="1">
              <a:spLocks noChangeArrowheads="1"/>
            </p:cNvSpPr>
            <p:nvPr/>
          </p:nvSpPr>
          <p:spPr bwMode="auto">
            <a:xfrm rot="854023">
              <a:off x="5267211" y="5248117"/>
              <a:ext cx="14213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重传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18"/>
            <p:cNvSpPr txBox="1">
              <a:spLocks noChangeArrowheads="1"/>
            </p:cNvSpPr>
            <p:nvPr/>
          </p:nvSpPr>
          <p:spPr bwMode="auto">
            <a:xfrm>
              <a:off x="5621738" y="5731537"/>
              <a:ext cx="663816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</a:t>
              </a:r>
            </a:p>
          </p:txBody>
        </p:sp>
        <p:sp>
          <p:nvSpPr>
            <p:cNvPr id="59" name="左大括号 58"/>
            <p:cNvSpPr/>
            <p:nvPr/>
          </p:nvSpPr>
          <p:spPr>
            <a:xfrm>
              <a:off x="4992086" y="5373244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6292321" y="4505850"/>
              <a:ext cx="170702" cy="277903"/>
              <a:chOff x="7754112" y="4133088"/>
              <a:chExt cx="487680" cy="694944"/>
            </a:xfrm>
          </p:grpSpPr>
          <p:cxnSp>
            <p:nvCxnSpPr>
              <p:cNvPr id="63" name="直接连接符 62"/>
              <p:cNvCxnSpPr/>
              <p:nvPr/>
            </p:nvCxnSpPr>
            <p:spPr>
              <a:xfrm>
                <a:off x="7754112" y="4133088"/>
                <a:ext cx="487680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flipH="1">
                <a:off x="7754112" y="4133088"/>
                <a:ext cx="402336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 Box 15"/>
            <p:cNvSpPr txBox="1">
              <a:spLocks noChangeArrowheads="1"/>
            </p:cNvSpPr>
            <p:nvPr/>
          </p:nvSpPr>
          <p:spPr bwMode="auto">
            <a:xfrm>
              <a:off x="5096172" y="3825662"/>
              <a:ext cx="317370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6688519" y="3801021"/>
              <a:ext cx="28801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02A8371D-EF37-4D01-8E2C-33F9E583B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96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丢包检测和重传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55288"/>
            <a:ext cx="8579553" cy="2040779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zh-CN" altLang="en-US" dirty="0"/>
              <a:t>超时重传时间很难给定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设置过长，恢复丢包效率低</a:t>
            </a:r>
            <a:endParaRPr lang="en-US" altLang="zh-CN" dirty="0"/>
          </a:p>
          <a:p>
            <a:pPr lvl="1">
              <a:lnSpc>
                <a:spcPct val="150000"/>
              </a:lnSpc>
            </a:pPr>
            <a:r>
              <a:rPr lang="zh-CN" altLang="en-US" dirty="0"/>
              <a:t>设置过短，导致误重传 </a:t>
            </a:r>
            <a:r>
              <a:rPr lang="en-US" altLang="zh-CN" dirty="0"/>
              <a:t>(Spurious Retransmission)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grpSp>
        <p:nvGrpSpPr>
          <p:cNvPr id="26" name="组合 25"/>
          <p:cNvGrpSpPr/>
          <p:nvPr/>
        </p:nvGrpSpPr>
        <p:grpSpPr>
          <a:xfrm>
            <a:off x="4902124" y="3449903"/>
            <a:ext cx="2701424" cy="3232481"/>
            <a:chOff x="6276292" y="3436404"/>
            <a:chExt cx="2701424" cy="3232481"/>
          </a:xfrm>
        </p:grpSpPr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76292" y="3436404"/>
              <a:ext cx="2701424" cy="3232481"/>
            </a:xfrm>
            <a:prstGeom prst="rect">
              <a:avLst/>
            </a:prstGeom>
          </p:spPr>
        </p:pic>
        <p:sp>
          <p:nvSpPr>
            <p:cNvPr id="28" name="Line 7"/>
            <p:cNvSpPr>
              <a:spLocks noChangeShapeType="1"/>
            </p:cNvSpPr>
            <p:nvPr/>
          </p:nvSpPr>
          <p:spPr bwMode="auto">
            <a:xfrm flipH="1">
              <a:off x="6930523" y="3773291"/>
              <a:ext cx="12549" cy="2476303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Line 8"/>
            <p:cNvSpPr>
              <a:spLocks noChangeShapeType="1"/>
            </p:cNvSpPr>
            <p:nvPr/>
          </p:nvSpPr>
          <p:spPr bwMode="auto">
            <a:xfrm>
              <a:off x="8547295" y="3751465"/>
              <a:ext cx="0" cy="2498130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Line 9"/>
            <p:cNvSpPr>
              <a:spLocks noChangeShapeType="1"/>
            </p:cNvSpPr>
            <p:nvPr/>
          </p:nvSpPr>
          <p:spPr bwMode="auto">
            <a:xfrm>
              <a:off x="6943074" y="3934679"/>
              <a:ext cx="1604219" cy="5195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Text Box 14"/>
            <p:cNvSpPr txBox="1">
              <a:spLocks noChangeArrowheads="1"/>
            </p:cNvSpPr>
            <p:nvPr/>
          </p:nvSpPr>
          <p:spPr bwMode="auto">
            <a:xfrm rot="10800000">
              <a:off x="6321323" y="4138530"/>
              <a:ext cx="430887" cy="5249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Text Box 17"/>
            <p:cNvSpPr txBox="1">
              <a:spLocks noChangeArrowheads="1"/>
            </p:cNvSpPr>
            <p:nvPr/>
          </p:nvSpPr>
          <p:spPr bwMode="auto">
            <a:xfrm rot="1127169">
              <a:off x="7274277" y="3923569"/>
              <a:ext cx="105607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Text Box 39"/>
            <p:cNvSpPr txBox="1">
              <a:spLocks noChangeArrowheads="1"/>
            </p:cNvSpPr>
            <p:nvPr/>
          </p:nvSpPr>
          <p:spPr bwMode="auto">
            <a:xfrm>
              <a:off x="6810937" y="6278079"/>
              <a:ext cx="1736355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（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）</a:t>
              </a:r>
              <a:r>
                <a:rPr kumimoji="1" lang="zh-CN" altLang="en-US" sz="1600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超时误判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左大括号 33"/>
            <p:cNvSpPr/>
            <p:nvPr/>
          </p:nvSpPr>
          <p:spPr>
            <a:xfrm>
              <a:off x="6700756" y="3931105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Line 9"/>
            <p:cNvSpPr>
              <a:spLocks noChangeShapeType="1"/>
            </p:cNvSpPr>
            <p:nvPr/>
          </p:nvSpPr>
          <p:spPr bwMode="auto">
            <a:xfrm>
              <a:off x="6949170" y="5038056"/>
              <a:ext cx="1598125" cy="349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Line 10"/>
            <p:cNvSpPr>
              <a:spLocks noChangeShapeType="1"/>
            </p:cNvSpPr>
            <p:nvPr/>
          </p:nvSpPr>
          <p:spPr bwMode="auto">
            <a:xfrm flipH="1">
              <a:off x="6943074" y="5413390"/>
              <a:ext cx="1604220" cy="4137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7" name="Text Box 14"/>
            <p:cNvSpPr txBox="1">
              <a:spLocks noChangeArrowheads="1"/>
            </p:cNvSpPr>
            <p:nvPr/>
          </p:nvSpPr>
          <p:spPr bwMode="auto">
            <a:xfrm rot="10800000">
              <a:off x="6327419" y="5241907"/>
              <a:ext cx="430887" cy="5227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Text Box 17"/>
            <p:cNvSpPr txBox="1">
              <a:spLocks noChangeArrowheads="1"/>
            </p:cNvSpPr>
            <p:nvPr/>
          </p:nvSpPr>
          <p:spPr bwMode="auto">
            <a:xfrm rot="854023">
              <a:off x="6981977" y="4909354"/>
              <a:ext cx="14213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重传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Text Box 18"/>
            <p:cNvSpPr txBox="1">
              <a:spLocks noChangeArrowheads="1"/>
            </p:cNvSpPr>
            <p:nvPr/>
          </p:nvSpPr>
          <p:spPr bwMode="auto">
            <a:xfrm>
              <a:off x="7336504" y="5392774"/>
              <a:ext cx="663816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</a:t>
              </a:r>
            </a:p>
          </p:txBody>
        </p:sp>
        <p:sp>
          <p:nvSpPr>
            <p:cNvPr id="40" name="左大括号 39"/>
            <p:cNvSpPr/>
            <p:nvPr/>
          </p:nvSpPr>
          <p:spPr>
            <a:xfrm>
              <a:off x="6706852" y="5034481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6810938" y="3486899"/>
              <a:ext cx="317370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8403285" y="3462258"/>
              <a:ext cx="28801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Line 10"/>
            <p:cNvSpPr>
              <a:spLocks noChangeShapeType="1"/>
            </p:cNvSpPr>
            <p:nvPr/>
          </p:nvSpPr>
          <p:spPr bwMode="auto">
            <a:xfrm flipH="1">
              <a:off x="6902316" y="4468861"/>
              <a:ext cx="1635426" cy="92386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Text Box 18"/>
            <p:cNvSpPr txBox="1">
              <a:spLocks noChangeArrowheads="1"/>
            </p:cNvSpPr>
            <p:nvPr/>
          </p:nvSpPr>
          <p:spPr bwMode="auto">
            <a:xfrm>
              <a:off x="7551568" y="4551606"/>
              <a:ext cx="663816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</a:t>
              </a: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304670" y="3444311"/>
            <a:ext cx="2701424" cy="3232481"/>
            <a:chOff x="4561526" y="3775167"/>
            <a:chExt cx="2701424" cy="3232481"/>
          </a:xfrm>
        </p:grpSpPr>
        <p:pic>
          <p:nvPicPr>
            <p:cNvPr id="46" name="图片 45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61526" y="3775167"/>
              <a:ext cx="2701424" cy="3232481"/>
            </a:xfrm>
            <a:prstGeom prst="rect">
              <a:avLst/>
            </a:prstGeom>
          </p:spPr>
        </p:pic>
        <p:sp>
          <p:nvSpPr>
            <p:cNvPr id="47" name="Line 7"/>
            <p:cNvSpPr>
              <a:spLocks noChangeShapeType="1"/>
            </p:cNvSpPr>
            <p:nvPr/>
          </p:nvSpPr>
          <p:spPr bwMode="auto">
            <a:xfrm flipH="1">
              <a:off x="5215757" y="4112054"/>
              <a:ext cx="12549" cy="2476303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Line 8"/>
            <p:cNvSpPr>
              <a:spLocks noChangeShapeType="1"/>
            </p:cNvSpPr>
            <p:nvPr/>
          </p:nvSpPr>
          <p:spPr bwMode="auto">
            <a:xfrm>
              <a:off x="6832529" y="4090228"/>
              <a:ext cx="0" cy="2498130"/>
            </a:xfrm>
            <a:prstGeom prst="line">
              <a:avLst/>
            </a:prstGeom>
            <a:noFill/>
            <a:ln w="22225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 type="triangle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 bwMode="auto">
            <a:xfrm>
              <a:off x="5228308" y="4273443"/>
              <a:ext cx="1234715" cy="39987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 rot="10800000">
              <a:off x="4606557" y="4438497"/>
              <a:ext cx="430887" cy="569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Text Box 17"/>
            <p:cNvSpPr txBox="1">
              <a:spLocks noChangeArrowheads="1"/>
            </p:cNvSpPr>
            <p:nvPr/>
          </p:nvSpPr>
          <p:spPr bwMode="auto">
            <a:xfrm rot="1127169">
              <a:off x="5406950" y="4247277"/>
              <a:ext cx="1056073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Text Box 39"/>
            <p:cNvSpPr txBox="1">
              <a:spLocks noChangeArrowheads="1"/>
            </p:cNvSpPr>
            <p:nvPr/>
          </p:nvSpPr>
          <p:spPr bwMode="auto">
            <a:xfrm>
              <a:off x="5035889" y="6617684"/>
              <a:ext cx="18839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（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）</a:t>
              </a:r>
              <a:r>
                <a:rPr kumimoji="1" lang="zh-CN" altLang="en-US" sz="1600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报文段丢失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左大括号 52"/>
            <p:cNvSpPr/>
            <p:nvPr/>
          </p:nvSpPr>
          <p:spPr>
            <a:xfrm>
              <a:off x="4985990" y="4269868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Line 9"/>
            <p:cNvSpPr>
              <a:spLocks noChangeShapeType="1"/>
            </p:cNvSpPr>
            <p:nvPr/>
          </p:nvSpPr>
          <p:spPr bwMode="auto">
            <a:xfrm>
              <a:off x="5234404" y="5376819"/>
              <a:ext cx="1598125" cy="3491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Line 10"/>
            <p:cNvSpPr>
              <a:spLocks noChangeShapeType="1"/>
            </p:cNvSpPr>
            <p:nvPr/>
          </p:nvSpPr>
          <p:spPr bwMode="auto">
            <a:xfrm flipH="1">
              <a:off x="5228308" y="5752153"/>
              <a:ext cx="1604220" cy="4137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None/>
                <a:tabLst/>
                <a:defRPr/>
              </a:pPr>
              <a:endParaRPr kumimoji="0" lang="zh-CN" altLang="en-US" sz="2400" i="0" u="none" strike="noStrike" kern="0" cap="none" spc="0" normalizeH="0" noProof="0">
                <a:ln>
                  <a:noFill/>
                </a:ln>
                <a:solidFill>
                  <a:srgbClr val="2B0286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Text Box 14"/>
            <p:cNvSpPr txBox="1">
              <a:spLocks noChangeArrowheads="1"/>
            </p:cNvSpPr>
            <p:nvPr/>
          </p:nvSpPr>
          <p:spPr bwMode="auto">
            <a:xfrm rot="10800000">
              <a:off x="4612653" y="5619859"/>
              <a:ext cx="430887" cy="4891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17"/>
            <p:cNvSpPr txBox="1">
              <a:spLocks noChangeArrowheads="1"/>
            </p:cNvSpPr>
            <p:nvPr/>
          </p:nvSpPr>
          <p:spPr bwMode="auto">
            <a:xfrm rot="854023">
              <a:off x="5267211" y="5248117"/>
              <a:ext cx="142130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重传</a:t>
              </a: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segment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8" name="Text Box 18"/>
            <p:cNvSpPr txBox="1">
              <a:spLocks noChangeArrowheads="1"/>
            </p:cNvSpPr>
            <p:nvPr/>
          </p:nvSpPr>
          <p:spPr bwMode="auto">
            <a:xfrm>
              <a:off x="5621738" y="5731537"/>
              <a:ext cx="663816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ACK</a:t>
              </a:r>
            </a:p>
          </p:txBody>
        </p:sp>
        <p:sp>
          <p:nvSpPr>
            <p:cNvPr id="59" name="左大括号 58"/>
            <p:cNvSpPr/>
            <p:nvPr/>
          </p:nvSpPr>
          <p:spPr>
            <a:xfrm>
              <a:off x="4992086" y="5373244"/>
              <a:ext cx="229599" cy="1054840"/>
            </a:xfrm>
            <a:prstGeom prst="leftBrace">
              <a:avLst>
                <a:gd name="adj1" fmla="val 30026"/>
                <a:gd name="adj2" fmla="val 48844"/>
              </a:avLst>
            </a:prstGeom>
            <a:ln w="12700">
              <a:solidFill>
                <a:schemeClr val="accent5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6292321" y="4505850"/>
              <a:ext cx="170702" cy="277903"/>
              <a:chOff x="7754112" y="4133088"/>
              <a:chExt cx="487680" cy="694944"/>
            </a:xfrm>
          </p:grpSpPr>
          <p:cxnSp>
            <p:nvCxnSpPr>
              <p:cNvPr id="63" name="直接连接符 62"/>
              <p:cNvCxnSpPr/>
              <p:nvPr/>
            </p:nvCxnSpPr>
            <p:spPr>
              <a:xfrm>
                <a:off x="7754112" y="4133088"/>
                <a:ext cx="487680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/>
              <p:cNvCxnSpPr/>
              <p:nvPr/>
            </p:nvCxnSpPr>
            <p:spPr>
              <a:xfrm flipH="1">
                <a:off x="7754112" y="4133088"/>
                <a:ext cx="402336" cy="694944"/>
              </a:xfrm>
              <a:prstGeom prst="line">
                <a:avLst/>
              </a:prstGeom>
              <a:ln w="190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 Box 15"/>
            <p:cNvSpPr txBox="1">
              <a:spLocks noChangeArrowheads="1"/>
            </p:cNvSpPr>
            <p:nvPr/>
          </p:nvSpPr>
          <p:spPr bwMode="auto">
            <a:xfrm>
              <a:off x="5096172" y="3825662"/>
              <a:ext cx="317370" cy="3382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Text Box 16"/>
            <p:cNvSpPr txBox="1">
              <a:spLocks noChangeArrowheads="1"/>
            </p:cNvSpPr>
            <p:nvPr/>
          </p:nvSpPr>
          <p:spPr bwMode="auto">
            <a:xfrm>
              <a:off x="6688519" y="3801021"/>
              <a:ext cx="288017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5" name="文本框 64">
            <a:extLst>
              <a:ext uri="{FF2B5EF4-FFF2-40B4-BE49-F238E27FC236}">
                <a16:creationId xmlns:a16="http://schemas.microsoft.com/office/drawing/2014/main" id="{5AF8C402-D2D0-4396-A0BE-A5E60E37D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376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自适应重传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原始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RTT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均值法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维持一个</a:t>
                </a:r>
                <a:r>
                  <a:rPr lang="en-US" altLang="zh-CN" sz="1800" dirty="0"/>
                  <a:t>RTT</a:t>
                </a:r>
                <a:r>
                  <a:rPr lang="zh-CN" altLang="en-US" sz="1800" dirty="0"/>
                  <a:t>的平均运行值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endParaRPr lang="en-US" altLang="zh-CN" sz="1800" dirty="0"/>
              </a:p>
              <a:p>
                <a:pPr lvl="2">
                  <a:spcBef>
                    <a:spcPts val="1200"/>
                  </a:spcBef>
                </a:pPr>
                <a:r>
                  <a:rPr lang="zh-CN" altLang="en-US" dirty="0"/>
                  <a:t>每次发送报文段记录时间，收到其</a:t>
                </a:r>
                <a:r>
                  <a:rPr lang="en-US" altLang="zh-CN" dirty="0"/>
                  <a:t>ACK</a:t>
                </a:r>
                <a:r>
                  <a:rPr lang="zh-CN" altLang="en-US" dirty="0"/>
                  <a:t>再次读取时间，二者差值作为样本值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𝑅𝑇𝑇</m:t>
                    </m:r>
                  </m:oMath>
                </a14:m>
                <a:endParaRPr lang="en-US" altLang="zh-CN" dirty="0"/>
              </a:p>
              <a:p>
                <a:pPr lvl="2">
                  <a:spcBef>
                    <a:spcPts val="1200"/>
                  </a:spcBef>
                </a:pPr>
                <a:r>
                  <a:rPr lang="zh-CN" altLang="en-US" dirty="0"/>
                  <a:t>计算新的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zh-CN" altLang="en-US" dirty="0"/>
                  <a:t>：对旧的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zh-CN" altLang="en-US" dirty="0"/>
                  <a:t>值和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dirty="0"/>
                  <a:t>加权平均</a:t>
                </a:r>
                <a:endParaRPr lang="en-US" altLang="zh-CN" dirty="0"/>
              </a:p>
              <a:p>
                <a:pPr lvl="3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𝐸𝑠𝑡𝑖𝑚𝑎𝑡𝑒𝑑𝑅𝑇𝑇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18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𝐸𝑠𝑡𝑖𝑚𝑎𝑡𝑒𝑑𝑅𝑇𝑇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8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endParaRPr lang="en-US" altLang="zh-CN" sz="1800" dirty="0"/>
              </a:p>
              <a:p>
                <a:pPr lvl="3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zh-CN" altLang="en-US" sz="180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altLang="zh-CN" sz="1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zh-CN" altLang="en-US" sz="1800" dirty="0"/>
                  <a:t>，作为平滑系数</a:t>
                </a:r>
                <a:endParaRPr lang="en-US" altLang="zh-CN" sz="1800" dirty="0"/>
              </a:p>
              <a:p>
                <a:pPr lvl="4">
                  <a:spcBef>
                    <a:spcPts val="600"/>
                  </a:spcBef>
                </a:pPr>
                <a:r>
                  <a:rPr lang="zh-CN" altLang="en-US" dirty="0"/>
                  <a:t>取值较大：可跟踪</a:t>
                </a:r>
                <a:r>
                  <a:rPr lang="en-US" altLang="zh-CN" dirty="0"/>
                  <a:t>RTT</a:t>
                </a:r>
                <a:r>
                  <a:rPr lang="zh-CN" altLang="en-US" dirty="0"/>
                  <a:t>的变化，但受瞬时波动影响大</a:t>
                </a:r>
                <a:endParaRPr lang="en-US" altLang="zh-CN" dirty="0"/>
              </a:p>
              <a:p>
                <a:pPr lvl="4">
                  <a:spcBef>
                    <a:spcPts val="600"/>
                  </a:spcBef>
                </a:pPr>
                <a:r>
                  <a:rPr lang="zh-CN" altLang="en-US" dirty="0"/>
                  <a:t>取值较小：更稳定但不能迅速适应真正的变化</a:t>
                </a:r>
              </a:p>
              <a:p>
                <a:pPr lvl="4">
                  <a:spcBef>
                    <a:spcPts val="600"/>
                  </a:spcBef>
                </a:pPr>
                <a:r>
                  <a:rPr lang="zh-CN" altLang="en-US" sz="1800" dirty="0"/>
                  <a:t>原始</a:t>
                </a:r>
                <a:r>
                  <a:rPr lang="en-US" altLang="zh-CN" sz="1800" dirty="0"/>
                  <a:t>TCP</a:t>
                </a:r>
                <a:r>
                  <a:rPr lang="zh-CN" altLang="en-US" sz="1800" dirty="0"/>
                  <a:t>规范建议</a:t>
                </a:r>
                <a:r>
                  <a:rPr lang="en-US" altLang="zh-CN" sz="1800" dirty="0"/>
                  <a:t>0.8~0.9</a:t>
                </a:r>
                <a:endParaRPr lang="zh-CN" altLang="en-US" sz="1800" dirty="0"/>
              </a:p>
              <a:p>
                <a:pPr lvl="1">
                  <a:spcBef>
                    <a:spcPts val="3000"/>
                  </a:spcBef>
                </a:pPr>
                <a:r>
                  <a:rPr lang="zh-CN" altLang="en-US" sz="1800" dirty="0"/>
                  <a:t>在此基础上计算超时值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zh-CN" sz="1800" dirty="0"/>
              </a:p>
              <a:p>
                <a:pPr lvl="2"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𝑅𝑇𝑂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  <a:blipFill>
                <a:blip r:embed="rId4"/>
                <a:stretch>
                  <a:fillRect l="-426" r="-2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A659D03-3296-458B-86E3-7FAE6DFC2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6829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Box 14"/>
          <p:cNvSpPr txBox="1">
            <a:spLocks noChangeArrowheads="1"/>
          </p:cNvSpPr>
          <p:nvPr/>
        </p:nvSpPr>
        <p:spPr bwMode="auto">
          <a:xfrm>
            <a:off x="3297368" y="5657787"/>
            <a:ext cx="5150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t</a:t>
            </a:r>
            <a:r>
              <a:rPr kumimoji="1" lang="en-US" altLang="zh-CN" sz="1600" baseline="-25000" dirty="0"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自适应重传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6281"/>
                <a:ext cx="8579553" cy="2345938"/>
              </a:xfrm>
            </p:spPr>
            <p:txBody>
              <a:bodyPr/>
              <a:lstStyle/>
              <a:p>
                <a:r>
                  <a:rPr lang="zh-CN" altLang="en-US" dirty="0"/>
                  <a:t>原始算法的明显缺陷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en-US" altLang="zh-CN" sz="1800" dirty="0"/>
                  <a:t>ACK</a:t>
                </a:r>
                <a:r>
                  <a:rPr lang="zh-CN" altLang="en-US" sz="1800" dirty="0"/>
                  <a:t>是对接收数据（序号）进行确认，而不是对报文段进行确认</a:t>
                </a:r>
                <a:endParaRPr lang="en-US" altLang="zh-CN" sz="1800" dirty="0"/>
              </a:p>
              <a:p>
                <a:pPr lvl="2">
                  <a:spcBef>
                    <a:spcPts val="1200"/>
                  </a:spcBef>
                </a:pPr>
                <a:r>
                  <a:rPr lang="zh-CN" altLang="en-US" sz="1600" dirty="0"/>
                  <a:t>当报文段被重传过，无法确定接收到的</a:t>
                </a:r>
                <a:r>
                  <a:rPr lang="en-US" altLang="zh-CN" sz="1600" dirty="0"/>
                  <a:t>ACK</a:t>
                </a:r>
                <a:r>
                  <a:rPr lang="zh-CN" altLang="en-US" sz="1600" dirty="0"/>
                  <a:t>是针对原始报文段还是重传报文段回复的，因此无法正确计算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𝑅𝑇𝑇</m:t>
                    </m:r>
                  </m:oMath>
                </a14:m>
                <a:endParaRPr lang="en-US" altLang="zh-CN" sz="1600" dirty="0"/>
              </a:p>
              <a:p>
                <a:pPr lvl="3">
                  <a:spcBef>
                    <a:spcPts val="1200"/>
                  </a:spcBef>
                </a:pPr>
                <a:r>
                  <a:rPr lang="zh-CN" altLang="en-US" dirty="0"/>
                  <a:t>错把针对重传报文段的</a:t>
                </a:r>
                <a:r>
                  <a:rPr lang="en-US" altLang="zh-CN" dirty="0"/>
                  <a:t>ACK</a:t>
                </a:r>
                <a:r>
                  <a:rPr lang="zh-CN" altLang="en-US" dirty="0"/>
                  <a:t>当成针对第一个报文段的，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dirty="0"/>
                  <a:t>过大</a:t>
                </a:r>
                <a:endParaRPr lang="en-US" altLang="zh-CN" dirty="0"/>
              </a:p>
              <a:p>
                <a:pPr lvl="3">
                  <a:spcBef>
                    <a:spcPts val="1200"/>
                  </a:spcBef>
                </a:pPr>
                <a:r>
                  <a:rPr lang="zh-CN" altLang="en-US" dirty="0"/>
                  <a:t>相反，</a:t>
                </a:r>
                <a:r>
                  <a:rPr lang="en-US" altLang="zh-CN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dirty="0"/>
                  <a:t>过小</a:t>
                </a:r>
                <a:endParaRPr lang="en-US" altLang="zh-CN" dirty="0"/>
              </a:p>
              <a:p>
                <a:pPr marL="1067406" lvl="3" indent="0">
                  <a:spcBef>
                    <a:spcPts val="1200"/>
                  </a:spcBef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6281"/>
                <a:ext cx="8579553" cy="2345938"/>
              </a:xfrm>
              <a:blipFill>
                <a:blip r:embed="rId4"/>
                <a:stretch>
                  <a:fillRect l="-426" b="-59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grpSp>
        <p:nvGrpSpPr>
          <p:cNvPr id="30" name="组合 29"/>
          <p:cNvGrpSpPr/>
          <p:nvPr/>
        </p:nvGrpSpPr>
        <p:grpSpPr>
          <a:xfrm>
            <a:off x="3642113" y="5762431"/>
            <a:ext cx="3592601" cy="338554"/>
            <a:chOff x="3642113" y="6036754"/>
            <a:chExt cx="3592601" cy="338554"/>
          </a:xfrm>
        </p:grpSpPr>
        <p:sp>
          <p:nvSpPr>
            <p:cNvPr id="6" name="Line 2"/>
            <p:cNvSpPr>
              <a:spLocks noChangeShapeType="1"/>
            </p:cNvSpPr>
            <p:nvPr/>
          </p:nvSpPr>
          <p:spPr bwMode="auto">
            <a:xfrm>
              <a:off x="3642113" y="6226967"/>
              <a:ext cx="3592601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 Box 3"/>
                <p:cNvSpPr txBox="1">
                  <a:spLocks noChangeArrowheads="1"/>
                </p:cNvSpPr>
                <p:nvPr/>
              </p:nvSpPr>
              <p:spPr bwMode="auto">
                <a:xfrm>
                  <a:off x="4399589" y="6036754"/>
                  <a:ext cx="2247411" cy="338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zh-CN" altLang="en-US" sz="1600" dirty="0">
                      <a:solidFill>
                        <a:srgbClr val="0000FF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往返时间 </a:t>
                  </a:r>
                  <a14:m>
                    <m:oMath xmlns:m="http://schemas.openxmlformats.org/officeDocument/2006/math">
                      <m:r>
                        <a:rPr kumimoji="1" lang="en-US" altLang="zh-CN" sz="1600" b="0" i="1" dirty="0" smtClean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𝑆𝑎𝑚𝑝𝑙𝑒𝑅𝑇𝑇</m:t>
                      </m:r>
                    </m:oMath>
                  </a14:m>
                  <a:r>
                    <a:rPr kumimoji="1" lang="en-US" altLang="zh-CN" sz="1600" dirty="0">
                      <a:solidFill>
                        <a:srgbClr val="0000FF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?</a:t>
                  </a:r>
                </a:p>
              </p:txBody>
            </p:sp>
          </mc:Choice>
          <mc:Fallback xmlns="">
            <p:sp>
              <p:nvSpPr>
                <p:cNvPr id="7" name="Text Box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99589" y="6036754"/>
                  <a:ext cx="2247411" cy="338554"/>
                </a:xfrm>
                <a:prstGeom prst="rect">
                  <a:avLst/>
                </a:prstGeom>
                <a:blipFill rotWithShape="0">
                  <a:blip r:embed="rId7" cstate="print"/>
                  <a:stretch>
                    <a:fillRect l="-1087" t="-5357" r="-815" b="-23214"/>
                  </a:stretch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Line 7"/>
          <p:cNvSpPr>
            <a:spLocks noChangeShapeType="1"/>
          </p:cNvSpPr>
          <p:nvPr/>
        </p:nvSpPr>
        <p:spPr bwMode="auto">
          <a:xfrm rot="16200000">
            <a:off x="713047" y="5473898"/>
            <a:ext cx="471678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404832" y="4741754"/>
            <a:ext cx="1156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发送一个</a:t>
            </a:r>
          </a:p>
          <a:p>
            <a:pPr algn="ctr"/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TCP </a:t>
            </a: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报文段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rot="16200000">
            <a:off x="3406274" y="5473898"/>
            <a:ext cx="471678" cy="0"/>
          </a:xfrm>
          <a:prstGeom prst="line">
            <a:avLst/>
          </a:prstGeom>
          <a:noFill/>
          <a:ln w="76200">
            <a:solidFill>
              <a:srgbClr val="0000FF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029502" y="4741754"/>
            <a:ext cx="11566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超时重传</a:t>
            </a:r>
          </a:p>
          <a:p>
            <a:pPr algn="ctr"/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TCP </a:t>
            </a:r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报文段</a:t>
            </a: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rot="16200000">
            <a:off x="6998875" y="5473898"/>
            <a:ext cx="471678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747176" y="4990927"/>
            <a:ext cx="97507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dirty="0">
                <a:latin typeface="Calibri" panose="020F0502020204030204" pitchFamily="34" charset="0"/>
                <a:ea typeface="华文楷体" panose="02010600040101010101" pitchFamily="2" charset="-122"/>
              </a:rPr>
              <a:t>收到 </a:t>
            </a:r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ACK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648550" y="5709737"/>
            <a:ext cx="8166186" cy="351748"/>
            <a:chOff x="648550" y="5984060"/>
            <a:chExt cx="8166186" cy="351748"/>
          </a:xfrm>
        </p:grpSpPr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648550" y="5984060"/>
              <a:ext cx="8082946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non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Text Box 13"/>
            <p:cNvSpPr txBox="1">
              <a:spLocks noChangeArrowheads="1"/>
            </p:cNvSpPr>
            <p:nvPr/>
          </p:nvSpPr>
          <p:spPr bwMode="auto">
            <a:xfrm>
              <a:off x="8561140" y="5997254"/>
              <a:ext cx="253596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60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  <a:endParaRPr kumimoji="1" lang="zh-CN" altLang="en-US" sz="16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787623" y="5657787"/>
            <a:ext cx="32252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t</a:t>
            </a:r>
            <a:r>
              <a:rPr kumimoji="1" lang="en-US" altLang="zh-CN" sz="1600" baseline="-25000" dirty="0"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18" name="Line 16"/>
          <p:cNvSpPr>
            <a:spLocks noChangeShapeType="1"/>
          </p:cNvSpPr>
          <p:nvPr/>
        </p:nvSpPr>
        <p:spPr bwMode="auto">
          <a:xfrm>
            <a:off x="3642113" y="5776569"/>
            <a:ext cx="0" cy="20306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9" name="Line 17"/>
          <p:cNvSpPr>
            <a:spLocks noChangeShapeType="1"/>
          </p:cNvSpPr>
          <p:nvPr/>
        </p:nvSpPr>
        <p:spPr bwMode="auto">
          <a:xfrm>
            <a:off x="7234715" y="5776569"/>
            <a:ext cx="0" cy="5989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0" name="Line 18"/>
          <p:cNvSpPr>
            <a:spLocks noChangeShapeType="1"/>
          </p:cNvSpPr>
          <p:nvPr/>
        </p:nvSpPr>
        <p:spPr bwMode="auto">
          <a:xfrm>
            <a:off x="948885" y="5776569"/>
            <a:ext cx="0" cy="59891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948885" y="6054178"/>
            <a:ext cx="6285828" cy="338554"/>
            <a:chOff x="948885" y="6328501"/>
            <a:chExt cx="6285828" cy="338554"/>
          </a:xfrm>
        </p:grpSpPr>
        <p:sp>
          <p:nvSpPr>
            <p:cNvPr id="21" name="Line 19"/>
            <p:cNvSpPr>
              <a:spLocks noChangeShapeType="1"/>
            </p:cNvSpPr>
            <p:nvPr/>
          </p:nvSpPr>
          <p:spPr bwMode="auto">
            <a:xfrm>
              <a:off x="948885" y="6513572"/>
              <a:ext cx="628582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2822825" y="6328501"/>
                  <a:ext cx="2247411" cy="33855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kumimoji="1" lang="zh-CN" altLang="en-US" sz="1600" dirty="0">
                      <a:solidFill>
                        <a:srgbClr val="0000FF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往返时间 </a:t>
                  </a:r>
                  <a14:m>
                    <m:oMath xmlns:m="http://schemas.openxmlformats.org/officeDocument/2006/math">
                      <m:r>
                        <a:rPr kumimoji="1" lang="en-US" altLang="zh-CN" sz="1600" i="1" dirty="0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𝑆𝑎𝑚𝑝𝑙𝑒𝑅𝑇𝑇</m:t>
                      </m:r>
                    </m:oMath>
                  </a14:m>
                  <a:r>
                    <a:rPr kumimoji="1" lang="en-US" altLang="zh-CN" sz="1600" dirty="0">
                      <a:solidFill>
                        <a:srgbClr val="0000FF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?</a:t>
                  </a:r>
                </a:p>
              </p:txBody>
            </p:sp>
          </mc:Choice>
          <mc:Fallback xmlns="">
            <p:sp>
              <p:nvSpPr>
                <p:cNvPr id="22" name="Text 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2825" y="6328501"/>
                  <a:ext cx="2247411" cy="338554"/>
                </a:xfrm>
                <a:prstGeom prst="rect">
                  <a:avLst/>
                </a:prstGeom>
                <a:blipFill rotWithShape="0">
                  <a:blip r:embed="rId8" cstate="print"/>
                  <a:stretch>
                    <a:fillRect l="-813" t="-5357" r="-813" b="-23214"/>
                  </a:stretch>
                </a:blip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3" name="Freeform 21"/>
          <p:cNvSpPr>
            <a:spLocks/>
          </p:cNvSpPr>
          <p:nvPr/>
        </p:nvSpPr>
        <p:spPr bwMode="auto">
          <a:xfrm>
            <a:off x="4241152" y="4735536"/>
            <a:ext cx="2794427" cy="266041"/>
          </a:xfrm>
          <a:custGeom>
            <a:avLst/>
            <a:gdLst>
              <a:gd name="T0" fmla="*/ 1472 w 1472"/>
              <a:gd name="T1" fmla="*/ 189 h 189"/>
              <a:gd name="T2" fmla="*/ 1240 w 1472"/>
              <a:gd name="T3" fmla="*/ 85 h 189"/>
              <a:gd name="T4" fmla="*/ 948 w 1472"/>
              <a:gd name="T5" fmla="*/ 17 h 189"/>
              <a:gd name="T6" fmla="*/ 684 w 1472"/>
              <a:gd name="T7" fmla="*/ 1 h 189"/>
              <a:gd name="T8" fmla="*/ 480 w 1472"/>
              <a:gd name="T9" fmla="*/ 13 h 189"/>
              <a:gd name="T10" fmla="*/ 268 w 1472"/>
              <a:gd name="T11" fmla="*/ 61 h 189"/>
              <a:gd name="T12" fmla="*/ 96 w 1472"/>
              <a:gd name="T13" fmla="*/ 117 h 189"/>
              <a:gd name="T14" fmla="*/ 0 w 1472"/>
              <a:gd name="T15" fmla="*/ 165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72" h="189">
                <a:moveTo>
                  <a:pt x="1472" y="189"/>
                </a:moveTo>
                <a:cubicBezTo>
                  <a:pt x="1433" y="172"/>
                  <a:pt x="1327" y="114"/>
                  <a:pt x="1240" y="85"/>
                </a:cubicBezTo>
                <a:cubicBezTo>
                  <a:pt x="1153" y="56"/>
                  <a:pt x="1041" y="31"/>
                  <a:pt x="948" y="17"/>
                </a:cubicBezTo>
                <a:cubicBezTo>
                  <a:pt x="855" y="3"/>
                  <a:pt x="762" y="2"/>
                  <a:pt x="684" y="1"/>
                </a:cubicBezTo>
                <a:cubicBezTo>
                  <a:pt x="606" y="0"/>
                  <a:pt x="549" y="3"/>
                  <a:pt x="480" y="13"/>
                </a:cubicBezTo>
                <a:cubicBezTo>
                  <a:pt x="411" y="23"/>
                  <a:pt x="332" y="44"/>
                  <a:pt x="268" y="61"/>
                </a:cubicBezTo>
                <a:cubicBezTo>
                  <a:pt x="204" y="78"/>
                  <a:pt x="141" y="100"/>
                  <a:pt x="96" y="117"/>
                </a:cubicBezTo>
                <a:cubicBezTo>
                  <a:pt x="51" y="134"/>
                  <a:pt x="28" y="149"/>
                  <a:pt x="0" y="165"/>
                </a:cubicBezTo>
              </a:path>
            </a:pathLst>
          </a:custGeom>
          <a:noFill/>
          <a:ln w="41275" cap="flat" cmpd="sng">
            <a:solidFill>
              <a:srgbClr val="FF0000"/>
            </a:solidFill>
            <a:prstDash val="sys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4" name="Freeform 22"/>
          <p:cNvSpPr>
            <a:spLocks/>
          </p:cNvSpPr>
          <p:nvPr/>
        </p:nvSpPr>
        <p:spPr bwMode="auto">
          <a:xfrm>
            <a:off x="1547925" y="4500340"/>
            <a:ext cx="5487655" cy="467822"/>
          </a:xfrm>
          <a:custGeom>
            <a:avLst/>
            <a:gdLst>
              <a:gd name="T0" fmla="*/ 1472 w 1472"/>
              <a:gd name="T1" fmla="*/ 189 h 189"/>
              <a:gd name="T2" fmla="*/ 1240 w 1472"/>
              <a:gd name="T3" fmla="*/ 85 h 189"/>
              <a:gd name="T4" fmla="*/ 948 w 1472"/>
              <a:gd name="T5" fmla="*/ 17 h 189"/>
              <a:gd name="T6" fmla="*/ 684 w 1472"/>
              <a:gd name="T7" fmla="*/ 1 h 189"/>
              <a:gd name="T8" fmla="*/ 480 w 1472"/>
              <a:gd name="T9" fmla="*/ 13 h 189"/>
              <a:gd name="T10" fmla="*/ 268 w 1472"/>
              <a:gd name="T11" fmla="*/ 61 h 189"/>
              <a:gd name="T12" fmla="*/ 96 w 1472"/>
              <a:gd name="T13" fmla="*/ 117 h 189"/>
              <a:gd name="T14" fmla="*/ 0 w 1472"/>
              <a:gd name="T15" fmla="*/ 165 h 1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472" h="189">
                <a:moveTo>
                  <a:pt x="1472" y="189"/>
                </a:moveTo>
                <a:cubicBezTo>
                  <a:pt x="1433" y="172"/>
                  <a:pt x="1327" y="114"/>
                  <a:pt x="1240" y="85"/>
                </a:cubicBezTo>
                <a:cubicBezTo>
                  <a:pt x="1153" y="56"/>
                  <a:pt x="1041" y="31"/>
                  <a:pt x="948" y="17"/>
                </a:cubicBezTo>
                <a:cubicBezTo>
                  <a:pt x="855" y="3"/>
                  <a:pt x="762" y="2"/>
                  <a:pt x="684" y="1"/>
                </a:cubicBezTo>
                <a:cubicBezTo>
                  <a:pt x="606" y="0"/>
                  <a:pt x="549" y="3"/>
                  <a:pt x="480" y="13"/>
                </a:cubicBezTo>
                <a:cubicBezTo>
                  <a:pt x="411" y="23"/>
                  <a:pt x="332" y="44"/>
                  <a:pt x="268" y="61"/>
                </a:cubicBezTo>
                <a:cubicBezTo>
                  <a:pt x="204" y="78"/>
                  <a:pt x="141" y="100"/>
                  <a:pt x="96" y="117"/>
                </a:cubicBezTo>
                <a:cubicBezTo>
                  <a:pt x="51" y="134"/>
                  <a:pt x="28" y="149"/>
                  <a:pt x="0" y="165"/>
                </a:cubicBezTo>
              </a:path>
            </a:pathLst>
          </a:custGeom>
          <a:noFill/>
          <a:ln w="41275" cap="flat" cmpd="sng">
            <a:solidFill>
              <a:srgbClr val="FF0000"/>
            </a:solidFill>
            <a:prstDash val="sysDash"/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>
            <a:off x="6523201" y="4323803"/>
            <a:ext cx="1826141" cy="500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6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是对哪一个报文段</a:t>
            </a:r>
          </a:p>
          <a:p>
            <a:pPr algn="ctr"/>
            <a:r>
              <a:rPr kumimoji="1" lang="zh-CN" altLang="en-US" sz="16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的确认？</a:t>
            </a:r>
          </a:p>
        </p:txBody>
      </p: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6998324" y="5637754"/>
            <a:ext cx="5150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600" dirty="0">
                <a:latin typeface="Calibri" panose="020F0502020204030204" pitchFamily="34" charset="0"/>
                <a:ea typeface="华文楷体" panose="02010600040101010101" pitchFamily="2" charset="-122"/>
              </a:rPr>
              <a:t>t</a:t>
            </a:r>
            <a:r>
              <a:rPr kumimoji="1" lang="en-US" altLang="zh-CN" sz="1600" baseline="-25000" dirty="0"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ADC1A0A-CB33-454A-B4E7-51B36F25D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358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6" grpId="0"/>
      <p:bldP spid="18" grpId="0" animBg="1"/>
      <p:bldP spid="19" grpId="0" animBg="1"/>
      <p:bldP spid="20" grpId="0" animBg="1"/>
      <p:bldP spid="23" grpId="0" animBg="1"/>
      <p:bldP spid="24" grpId="0" animBg="1"/>
      <p:bldP spid="25" grpId="0"/>
      <p:bldP spid="28" grpId="0"/>
    </p:bldLst>
  </p:timing>
  <p:extLst mod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自适应重传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带重传的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RTT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均值法（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Karn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/Partridge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算法）</a:t>
                </a:r>
              </a:p>
              <a:p>
                <a:pPr lvl="1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800" dirty="0"/>
                  <a:t>每次超时重传一个报文段时，停止计算</a:t>
                </a:r>
                <a:r>
                  <a:rPr lang="en-US" altLang="zh-CN" sz="1800" dirty="0"/>
                  <a:t>RTT</a:t>
                </a:r>
                <a:r>
                  <a:rPr lang="zh-CN" altLang="en-US" sz="1800" dirty="0"/>
                  <a:t>样本值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/>
                  <a:t>得出的加权平均往返时间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en-US" altLang="zh-CN" sz="1600" dirty="0"/>
                  <a:t> </a:t>
                </a:r>
                <a:r>
                  <a:rPr lang="zh-CN" altLang="en-US" sz="1600" dirty="0"/>
                  <a:t>和超时重传时间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zh-CN" altLang="en-US" sz="1600" dirty="0"/>
                  <a:t> 就更准确</a:t>
                </a:r>
                <a:endParaRPr lang="en-US" altLang="zh-CN" sz="1600" dirty="0"/>
              </a:p>
              <a:p>
                <a:pPr lvl="1"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zh-CN" altLang="en-US" sz="1800" dirty="0"/>
                  <a:t>每次超时重传一个报文段后，把下次的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zh-CN" altLang="en-US" sz="1800" dirty="0"/>
                  <a:t>设置为上次的 </a:t>
                </a:r>
                <a14:m>
                  <m:oMath xmlns:m="http://schemas.openxmlformats.org/officeDocument/2006/math">
                    <m:r>
                      <a:rPr lang="zh-CN" altLang="en-US" sz="1800" i="1" dirty="0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zh-CN" altLang="en-US" sz="1800" dirty="0"/>
                  <a:t> </a:t>
                </a:r>
                <a:r>
                  <a:rPr lang="en-US" altLang="zh-CN" sz="1800" dirty="0"/>
                  <a:t>(</a:t>
                </a:r>
                <a:r>
                  <a:rPr lang="zh-CN" altLang="en-US" sz="1800" dirty="0"/>
                  <a:t>一般取值</a:t>
                </a:r>
                <a:r>
                  <a:rPr lang="en-US" altLang="zh-CN" sz="1800" dirty="0"/>
                  <a:t>2) </a:t>
                </a:r>
                <a:r>
                  <a:rPr lang="zh-CN" altLang="en-US" sz="1800" dirty="0"/>
                  <a:t>倍，不以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为基础</a:t>
                </a:r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/>
                  <a:t>指数回退算法：丢包最大原因是拥塞，基于该算法使得</a:t>
                </a:r>
                <a:r>
                  <a:rPr lang="en-US" altLang="zh-CN" sz="1600" dirty="0"/>
                  <a:t>TCP</a:t>
                </a:r>
                <a:r>
                  <a:rPr lang="zh-CN" altLang="en-US" sz="1600" dirty="0"/>
                  <a:t>对超时的反应别太主动</a:t>
                </a:r>
                <a:endParaRPr lang="en-US" altLang="zh-CN" sz="1600" dirty="0"/>
              </a:p>
              <a:p>
                <a:pPr lvl="1">
                  <a:lnSpc>
                    <a:spcPct val="150000"/>
                  </a:lnSpc>
                  <a:spcBef>
                    <a:spcPts val="1800"/>
                  </a:spcBef>
                </a:pPr>
                <a:r>
                  <a:rPr lang="zh-CN" altLang="en-US" sz="1800" dirty="0"/>
                  <a:t>当不再发生报文段的重传时，才根据报文段的 𝑆𝑎𝑚𝑝𝑙𝑒𝑅𝑇𝑇 更新平均往返时延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zh-CN" altLang="en-US" sz="1800" dirty="0"/>
                  <a:t> ，并基于此设置超时重传时间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zh-CN" altLang="en-US" sz="1800" dirty="0"/>
                  <a:t> </a:t>
                </a:r>
                <a:endParaRPr lang="en-US" altLang="zh-CN" sz="18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  <a:blipFill>
                <a:blip r:embed="rId4"/>
                <a:stretch>
                  <a:fillRect l="-426" r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65E5017-81B3-47C8-A8A1-F8101E212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51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自适应重传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</p:spPr>
            <p:txBody>
              <a:bodyPr/>
              <a:lstStyle/>
              <a:p>
                <a:r>
                  <a:rPr lang="zh-CN" altLang="en-US" sz="2000" dirty="0"/>
                  <a:t>超时值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zh-CN" altLang="en-US" sz="2000" dirty="0"/>
                  <a:t>的计算需要准确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基本原因：关系重传效率</a:t>
                </a:r>
                <a:endParaRPr lang="en-US" altLang="zh-CN" sz="18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关系网络拥塞问题</a:t>
                </a:r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600" dirty="0"/>
                  <a:t>超时太快，可能导致不必要的重传，增加网络负载</a:t>
                </a:r>
                <a:endParaRPr lang="en-US" altLang="zh-CN" sz="1600" dirty="0"/>
              </a:p>
              <a:p>
                <a:pPr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600" dirty="0"/>
                  <a:t>超时被用于隐式地指示 </a:t>
                </a:r>
                <a:r>
                  <a:rPr lang="en-US" altLang="zh-CN" sz="1600" dirty="0"/>
                  <a:t>(</a:t>
                </a:r>
                <a:r>
                  <a:rPr lang="zh-CN" altLang="en-US" sz="1600" dirty="0"/>
                  <a:t>暗示</a:t>
                </a:r>
                <a:r>
                  <a:rPr lang="en-US" altLang="zh-CN" sz="1600" dirty="0"/>
                  <a:t>) </a:t>
                </a:r>
                <a:r>
                  <a:rPr lang="zh-CN" altLang="en-US" sz="1600" dirty="0"/>
                  <a:t>发生了拥塞，会触发拥塞控制机制</a:t>
                </a:r>
                <a:endParaRPr lang="en-US" altLang="zh-CN" sz="1600" dirty="0"/>
              </a:p>
              <a:p>
                <a:pPr>
                  <a:spcBef>
                    <a:spcPts val="1800"/>
                  </a:spcBef>
                </a:pPr>
                <a:r>
                  <a:rPr lang="zh-CN" altLang="en-US" sz="2000" dirty="0"/>
                  <a:t>原始算法对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zh-CN" altLang="en-US" sz="2000" dirty="0"/>
                  <a:t>的计算过于简单，未考虑到</a:t>
                </a:r>
                <a:r>
                  <a:rPr lang="en-US" altLang="zh-CN" sz="2000" dirty="0"/>
                  <a:t>RTT</a:t>
                </a:r>
                <a:r>
                  <a:rPr lang="zh-CN" altLang="en-US" sz="2000" dirty="0"/>
                  <a:t>样本值的变化情况</a:t>
                </a:r>
                <a:endParaRPr lang="en-US" altLang="zh-CN" sz="20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sz="1800" dirty="0"/>
                  <a:t> 变化较小，则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zh-CN" altLang="en-US" sz="1800" dirty="0"/>
                  <a:t> 的值更可信，</a:t>
                </a:r>
                <a:r>
                  <a:rPr lang="en-US" altLang="zh-CN" sz="1800" dirty="0"/>
                  <a:t> </a:t>
                </a:r>
                <a:r>
                  <a:rPr lang="zh-CN" altLang="en-US" sz="1800" dirty="0"/>
                  <a:t>没必要把这个值乘以</a:t>
                </a:r>
                <a:r>
                  <a:rPr lang="en-US" altLang="zh-CN" sz="1800" dirty="0"/>
                  <a:t>2</a:t>
                </a:r>
                <a:r>
                  <a:rPr lang="zh-CN" altLang="en-US" sz="1800" dirty="0"/>
                  <a:t>来计算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endParaRPr lang="en-US" altLang="zh-CN" sz="18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800" dirty="0"/>
                  <a:t>若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sz="1800" dirty="0"/>
                  <a:t> 变化大，说明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应远不止 </a:t>
                </a: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en-US" altLang="zh-CN" sz="1800" dirty="0"/>
                  <a:t> </a:t>
                </a:r>
                <a:r>
                  <a:rPr lang="zh-CN" altLang="en-US" sz="1800" dirty="0"/>
                  <a:t>的 </a:t>
                </a:r>
                <a:r>
                  <a:rPr lang="en-US" altLang="zh-CN" sz="1800" dirty="0"/>
                  <a:t>2 </a:t>
                </a:r>
                <a:r>
                  <a:rPr lang="zh-CN" altLang="en-US" sz="1800" dirty="0"/>
                  <a:t>倍</a:t>
                </a:r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1600" dirty="0">
                    <a:solidFill>
                      <a:srgbClr val="FF0000"/>
                    </a:solidFill>
                  </a:rPr>
                  <a:t>旧的</a:t>
                </a:r>
                <a:r>
                  <a:rPr lang="en-US" altLang="zh-CN" sz="1600" dirty="0" err="1">
                    <a:solidFill>
                      <a:srgbClr val="FF0000"/>
                    </a:solidFill>
                  </a:rPr>
                  <a:t>EstimatedRTT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仍然影响计算，但实际</a:t>
                </a:r>
                <a:r>
                  <a:rPr lang="en-US" altLang="zh-CN" sz="1600" dirty="0">
                    <a:solidFill>
                      <a:srgbClr val="FF0000"/>
                    </a:solidFill>
                  </a:rPr>
                  <a:t>RTT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与</a:t>
                </a:r>
                <a:r>
                  <a:rPr lang="en-US" altLang="zh-CN" sz="1600" dirty="0" err="1">
                    <a:solidFill>
                      <a:srgbClr val="FF0000"/>
                    </a:solidFill>
                  </a:rPr>
                  <a:t>SampleRTT</a:t>
                </a:r>
                <a:r>
                  <a:rPr lang="zh-CN" altLang="en-US" sz="1600" dirty="0">
                    <a:solidFill>
                      <a:srgbClr val="FF0000"/>
                    </a:solidFill>
                  </a:rPr>
                  <a:t>更接近</a:t>
                </a:r>
                <a:endParaRPr lang="en-US" altLang="zh-CN" sz="16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6281"/>
                <a:ext cx="8579553" cy="5204336"/>
              </a:xfrm>
              <a:blipFill>
                <a:blip r:embed="rId6"/>
                <a:stretch>
                  <a:fillRect l="-2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B89432F-3015-4A60-8D2B-3D53CE3327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83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自适应重传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366281"/>
                <a:ext cx="8686800" cy="4302999"/>
              </a:xfrm>
            </p:spPr>
            <p:txBody>
              <a:bodyPr/>
              <a:lstStyle/>
              <a:p>
                <a:r>
                  <a:rPr lang="zh-CN" altLang="en-US" dirty="0">
                    <a:solidFill>
                      <a:srgbClr val="FF0000"/>
                    </a:solidFill>
                  </a:rPr>
                  <a:t>带抖动的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RTT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均值法（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Jacobson/</a:t>
                </a:r>
                <a:r>
                  <a:rPr lang="en-US" altLang="zh-CN" dirty="0" err="1">
                    <a:solidFill>
                      <a:srgbClr val="FF0000"/>
                    </a:solidFill>
                  </a:rPr>
                  <a:t>Karels</a:t>
                </a:r>
                <a:r>
                  <a:rPr lang="zh-CN" altLang="en-US" dirty="0">
                    <a:solidFill>
                      <a:srgbClr val="FF0000"/>
                    </a:solidFill>
                  </a:rPr>
                  <a:t>算法）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1800" dirty="0"/>
                  <a:t>RTO</a:t>
                </a:r>
                <a:r>
                  <a:rPr lang="zh-CN" altLang="en-US" sz="1800" dirty="0"/>
                  <a:t>同时反映出 </a:t>
                </a:r>
                <a:r>
                  <a:rPr lang="en-US" altLang="zh-CN" sz="1800" dirty="0"/>
                  <a:t>RTT </a:t>
                </a:r>
                <a:r>
                  <a:rPr lang="zh-CN" altLang="en-US" sz="1800" dirty="0"/>
                  <a:t>和 </a:t>
                </a:r>
                <a:r>
                  <a:rPr lang="en-US" altLang="zh-CN" sz="1800" dirty="0"/>
                  <a:t>RTT</a:t>
                </a:r>
                <a:r>
                  <a:rPr lang="zh-CN" altLang="en-US" sz="1800" dirty="0"/>
                  <a:t>的变化</a:t>
                </a:r>
                <a:endParaRPr lang="en-US" altLang="zh-CN" sz="18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</a:rPr>
                      <m:t>𝑅𝑇𝑂</m:t>
                    </m:r>
                    <m:r>
                      <a:rPr lang="en-US" altLang="zh-CN" sz="18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4×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𝑅𝑇𝑇𝐷𝑒𝑣𝑖𝑎𝑡𝑖𝑜𝑛</m:t>
                    </m:r>
                  </m:oMath>
                </a14:m>
                <a:endParaRPr lang="en-US" altLang="zh-CN" sz="1800" dirty="0"/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𝐸𝑠𝑡𝑖𝑚𝑎𝑡𝑒𝑑𝑅𝑇𝑇</m:t>
                    </m:r>
                  </m:oMath>
                </a14:m>
                <a:r>
                  <a:rPr lang="zh-CN" altLang="en-US" sz="1800" dirty="0"/>
                  <a:t>计算方法同原有方法</a:t>
                </a:r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𝐸𝑠𝑡𝑖𝑚𝑎𝑡𝑒𝑑𝑅𝑇𝑇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𝐸𝑠𝑡𝑖𝑚𝑎𝑡𝑒𝑑𝑅𝑇𝑇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𝑆𝑎𝑚𝑝𝑙𝑒𝑅𝑇𝑇</m:t>
                    </m:r>
                  </m:oMath>
                </a14:m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pPr lvl="3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dirty="0"/>
                  <a:t>推荐值为 </a:t>
                </a:r>
                <a:r>
                  <a:rPr lang="en-US" altLang="zh-CN" dirty="0"/>
                  <a:t>1/8 </a:t>
                </a:r>
              </a:p>
              <a:p>
                <a:pPr lvl="1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𝑅𝑇𝑇𝐷𝑒𝑣𝑖𝑎𝑡𝑖𝑜𝑛</m:t>
                    </m:r>
                  </m:oMath>
                </a14:m>
                <a:r>
                  <a:rPr lang="zh-CN" altLang="en-US" sz="1800" dirty="0"/>
                  <a:t>计算方法</a:t>
                </a:r>
                <a:endParaRPr lang="en-US" altLang="zh-CN" sz="1800" dirty="0"/>
              </a:p>
              <a:p>
                <a:pPr lvl="2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𝑅𝑇𝑇𝐷𝑒𝑣𝑖𝑎𝑡𝑖𝑜𝑛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𝑅𝑇𝑇𝐷𝑒𝑣𝑖𝑎𝑡𝑖𝑜𝑛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|"/>
                        <m:endChr m:val="|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𝐸𝑠𝑡𝑖𝑚𝑎𝑡𝑒𝑑𝑅𝑇𝑇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𝑆𝑎𝑚𝑝𝑙𝑒𝑅𝑇𝑇</m:t>
                        </m:r>
                      </m:e>
                    </m:d>
                  </m:oMath>
                </a14:m>
                <a:r>
                  <a:rPr lang="zh-CN" altLang="en-US" sz="1600" dirty="0"/>
                  <a:t> </a:t>
                </a:r>
                <a:endParaRPr lang="en-US" altLang="zh-CN" sz="1600" dirty="0"/>
              </a:p>
              <a:p>
                <a:pPr lvl="3">
                  <a:lnSpc>
                    <a:spcPct val="15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zh-CN" altLang="en-US" dirty="0"/>
                  <a:t>，推荐值 </a:t>
                </a:r>
                <a:r>
                  <a:rPr lang="en-US" altLang="zh-CN" dirty="0"/>
                  <a:t>1/4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366281"/>
                <a:ext cx="8686800" cy="4302999"/>
              </a:xfrm>
              <a:blipFill>
                <a:blip r:embed="rId4"/>
                <a:stretch>
                  <a:fillRect l="-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61257" y="5374915"/>
            <a:ext cx="8775496" cy="81156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tIns="0" bIns="0"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¥"/>
            </a:pP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变化小时，𝑅𝑇𝑂 更接近 𝐸𝑠𝑡𝑖𝑚𝑎𝑡𝑒𝑑𝑅𝑇𝑇；变化大时 𝑅𝑇𝑇𝐷𝑒𝑣𝑖𝑎𝑡𝑖𝑜𝑛决定计算结果</a:t>
            </a:r>
            <a:endParaRPr lang="en-US" altLang="zh-CN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706EA6-AE93-403D-8473-98F91D1030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455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  <p:extLst mod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304669" y="2830695"/>
            <a:ext cx="6363227" cy="40273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超时重传的效率问题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2158047"/>
          </a:xfrm>
        </p:spPr>
        <p:txBody>
          <a:bodyPr/>
          <a:lstStyle/>
          <a:p>
            <a:r>
              <a:rPr lang="zh-CN" altLang="en-US" sz="2000" dirty="0"/>
              <a:t>超时重传，作为</a:t>
            </a:r>
            <a:r>
              <a:rPr lang="en-US" altLang="zh-CN" sz="2000" dirty="0"/>
              <a:t>TCP</a:t>
            </a:r>
            <a:r>
              <a:rPr lang="zh-CN" altLang="en-US" sz="2000" dirty="0"/>
              <a:t>中最基本的重传机制，通常效率很低</a:t>
            </a:r>
          </a:p>
          <a:p>
            <a:pPr lvl="1">
              <a:spcBef>
                <a:spcPts val="600"/>
              </a:spcBef>
            </a:pPr>
            <a:r>
              <a:rPr lang="zh-CN" altLang="en-US" sz="1600" dirty="0"/>
              <a:t>超时的粗粒度实现方法导致连接在等待一个定时器超时时，很长一段时间连接无效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5979620" y="3748240"/>
            <a:ext cx="9463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6725" y="2830695"/>
            <a:ext cx="3499391" cy="4058479"/>
            <a:chOff x="2851358" y="2802385"/>
            <a:chExt cx="3499391" cy="4087008"/>
          </a:xfrm>
        </p:grpSpPr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2851358" y="2802385"/>
              <a:ext cx="3173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5949938" y="2830695"/>
              <a:ext cx="28801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9"/>
            <p:cNvSpPr txBox="1">
              <a:spLocks noChangeArrowheads="1"/>
            </p:cNvSpPr>
            <p:nvPr/>
          </p:nvSpPr>
          <p:spPr bwMode="auto">
            <a:xfrm>
              <a:off x="29697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  <p:grpSp>
          <p:nvGrpSpPr>
            <p:cNvPr id="64" name="Group 10"/>
            <p:cNvGrpSpPr>
              <a:grpSpLocks/>
            </p:cNvGrpSpPr>
            <p:nvPr/>
          </p:nvGrpSpPr>
          <p:grpSpPr bwMode="auto">
            <a:xfrm>
              <a:off x="2963886" y="3128941"/>
              <a:ext cx="3138854" cy="3678602"/>
              <a:chOff x="1607" y="677"/>
              <a:chExt cx="1640" cy="2728"/>
            </a:xfrm>
          </p:grpSpPr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60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324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60939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</p:grp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2046576" y="3040621"/>
            <a:ext cx="917239" cy="27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62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>
            <a:off x="2949253" y="3220663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" name="Line 7"/>
          <p:cNvSpPr>
            <a:spLocks noChangeShapeType="1"/>
          </p:cNvSpPr>
          <p:nvPr/>
        </p:nvSpPr>
        <p:spPr bwMode="auto">
          <a:xfrm flipH="1">
            <a:off x="2949253" y="3536026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2" name="Text Box 8"/>
          <p:cNvSpPr txBox="1">
            <a:spLocks noChangeArrowheads="1"/>
          </p:cNvSpPr>
          <p:nvPr/>
        </p:nvSpPr>
        <p:spPr bwMode="auto">
          <a:xfrm>
            <a:off x="5994322" y="3405293"/>
            <a:ext cx="931665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2949253" y="3914460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2046576" y="3404147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2046576" y="377226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2046576" y="4138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2949253" y="4365141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2046576" y="4533715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046576" y="4909856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</a:p>
        </p:txBody>
      </p:sp>
      <p:grpSp>
        <p:nvGrpSpPr>
          <p:cNvPr id="80" name="Group 26"/>
          <p:cNvGrpSpPr>
            <a:grpSpLocks/>
          </p:cNvGrpSpPr>
          <p:nvPr/>
        </p:nvGrpSpPr>
        <p:grpSpPr bwMode="auto">
          <a:xfrm>
            <a:off x="2949253" y="6256232"/>
            <a:ext cx="3138854" cy="411687"/>
            <a:chOff x="2471" y="3668"/>
            <a:chExt cx="2142" cy="359"/>
          </a:xfrm>
        </p:grpSpPr>
        <p:sp>
          <p:nvSpPr>
            <p:cNvPr id="81" name="Line 27"/>
            <p:cNvSpPr>
              <a:spLocks noChangeShapeType="1"/>
            </p:cNvSpPr>
            <p:nvPr/>
          </p:nvSpPr>
          <p:spPr bwMode="auto">
            <a:xfrm>
              <a:off x="2471" y="3828"/>
              <a:ext cx="2142" cy="199"/>
            </a:xfrm>
            <a:prstGeom prst="line">
              <a:avLst/>
            </a:prstGeom>
            <a:noFill/>
            <a:ln w="38100">
              <a:solidFill>
                <a:srgbClr val="3366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28"/>
            <p:cNvSpPr txBox="1">
              <a:spLocks noChangeArrowheads="1"/>
            </p:cNvSpPr>
            <p:nvPr/>
          </p:nvSpPr>
          <p:spPr bwMode="auto">
            <a:xfrm rot="275181">
              <a:off x="3231" y="3668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zh-CN" altLang="en-US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重传 </a:t>
              </a:r>
              <a:r>
                <a:rPr kumimoji="0" lang="en-US" altLang="zh-CN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</p:grpSp>
      <p:sp>
        <p:nvSpPr>
          <p:cNvPr id="86" name="Line 32"/>
          <p:cNvSpPr>
            <a:spLocks noChangeShapeType="1"/>
          </p:cNvSpPr>
          <p:nvPr/>
        </p:nvSpPr>
        <p:spPr bwMode="auto">
          <a:xfrm>
            <a:off x="2955114" y="5495857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2046576" y="5310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7</a:t>
            </a:r>
          </a:p>
        </p:txBody>
      </p:sp>
      <p:sp>
        <p:nvSpPr>
          <p:cNvPr id="90" name="Line 42"/>
          <p:cNvSpPr>
            <a:spLocks noChangeShapeType="1"/>
          </p:cNvSpPr>
          <p:nvPr/>
        </p:nvSpPr>
        <p:spPr bwMode="auto">
          <a:xfrm>
            <a:off x="2949253" y="3614006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>
            <a:off x="2949252" y="3989000"/>
            <a:ext cx="2300975" cy="1755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2955114" y="4741282"/>
            <a:ext cx="3137388" cy="22820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2955114" y="5118569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42741" y="4052251"/>
            <a:ext cx="170702" cy="237203"/>
            <a:chOff x="4904375" y="4292418"/>
            <a:chExt cx="170702" cy="277903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4904375" y="4292418"/>
              <a:ext cx="170702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4904375" y="4292418"/>
              <a:ext cx="140829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组合 11"/>
          <p:cNvGrpSpPr/>
          <p:nvPr/>
        </p:nvGrpSpPr>
        <p:grpSpPr>
          <a:xfrm>
            <a:off x="1391497" y="3944633"/>
            <a:ext cx="775634" cy="2596431"/>
            <a:chOff x="1391497" y="3944633"/>
            <a:chExt cx="775634" cy="2596431"/>
          </a:xfrm>
        </p:grpSpPr>
        <p:sp>
          <p:nvSpPr>
            <p:cNvPr id="11" name="左大括号 10"/>
            <p:cNvSpPr/>
            <p:nvPr/>
          </p:nvSpPr>
          <p:spPr>
            <a:xfrm>
              <a:off x="1740349" y="3944633"/>
              <a:ext cx="426782" cy="2596431"/>
            </a:xfrm>
            <a:prstGeom prst="leftBrace">
              <a:avLst/>
            </a:prstGeom>
            <a:ln w="22225">
              <a:solidFill>
                <a:srgbClr val="CC00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Text Box 14"/>
            <p:cNvSpPr txBox="1">
              <a:spLocks noChangeArrowheads="1"/>
            </p:cNvSpPr>
            <p:nvPr/>
          </p:nvSpPr>
          <p:spPr bwMode="auto">
            <a:xfrm rot="10800000">
              <a:off x="1391497" y="4881438"/>
              <a:ext cx="430887" cy="5693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eaVert"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600" i="0" u="none" strike="noStrike" kern="0" cap="none" spc="0" normalizeH="0" noProof="0" dirty="0">
                  <a:ln>
                    <a:noFill/>
                  </a:ln>
                  <a:solidFill>
                    <a:srgbClr val="3333CC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RTO</a:t>
              </a:r>
              <a:endParaRPr kumimoji="1" lang="zh-CN" altLang="en-US" sz="1600" i="0" u="none" strike="noStrike" kern="0" cap="none" spc="0" normalizeH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1661308E-54CC-489F-8163-85DD0BB83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8674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0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59" grpId="0"/>
      <p:bldP spid="60" grpId="0" animBg="1"/>
      <p:bldP spid="61" grpId="0" animBg="1"/>
      <p:bldP spid="62" grpId="0"/>
      <p:bldP spid="68" grpId="0" animBg="1"/>
      <p:bldP spid="72" grpId="0"/>
      <p:bldP spid="73" grpId="0"/>
      <p:bldP spid="74" grpId="0"/>
      <p:bldP spid="75" grpId="0" animBg="1"/>
      <p:bldP spid="77" grpId="0"/>
      <p:bldP spid="78" grpId="0"/>
      <p:bldP spid="86" grpId="0" animBg="1"/>
      <p:bldP spid="87" grpId="0"/>
      <p:bldP spid="90" grpId="0" animBg="1"/>
      <p:bldP spid="91" grpId="0" animBg="1"/>
      <p:bldP spid="92" grpId="0" animBg="1"/>
      <p:bldP spid="9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快速重传 </a:t>
            </a:r>
            <a:r>
              <a:rPr lang="en-US" altLang="zh-CN" dirty="0"/>
              <a:t>(fast retransmit)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3976428"/>
          </a:xfrm>
        </p:spPr>
        <p:txBody>
          <a:bodyPr/>
          <a:lstStyle/>
          <a:p>
            <a:r>
              <a:rPr lang="zh-CN" altLang="en-US" sz="2000" dirty="0"/>
              <a:t>基本思想：重复确认触发重传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/>
              <a:t>接收方：当报文段到达，立刻回复</a:t>
            </a:r>
            <a:r>
              <a:rPr lang="en-US" altLang="zh-CN" sz="1600" dirty="0"/>
              <a:t>ACK</a:t>
            </a:r>
            <a:r>
              <a:rPr lang="zh-CN" altLang="en-US" sz="1600" dirty="0"/>
              <a:t>，即使该序号已被确认过</a:t>
            </a:r>
            <a:endParaRPr lang="en-US" altLang="zh-CN" sz="1600" dirty="0"/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zh-CN" sz="1600" dirty="0"/>
              <a:t>要求接收方不要等待自己发送数据时才进行捎带确认，而是要立即发送</a:t>
            </a:r>
            <a:r>
              <a:rPr lang="en-US" altLang="zh-CN" sz="1600" dirty="0"/>
              <a:t>ACK</a:t>
            </a:r>
            <a:r>
              <a:rPr lang="zh-CN" altLang="zh-CN" sz="1600" dirty="0"/>
              <a:t>，即使收到了</a:t>
            </a:r>
            <a:r>
              <a:rPr lang="zh-CN" altLang="en-US" sz="1600" dirty="0"/>
              <a:t>乱序</a:t>
            </a:r>
            <a:r>
              <a:rPr lang="zh-CN" altLang="zh-CN" sz="1600" dirty="0"/>
              <a:t>的报文段也要立即发出对已收到的报文段的重复确认</a:t>
            </a:r>
            <a:endParaRPr lang="en-US" altLang="zh-CN" sz="1600" dirty="0"/>
          </a:p>
          <a:p>
            <a:pPr lvl="3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同一个确认的再一次重传称为重复确认 </a:t>
            </a:r>
            <a:r>
              <a:rPr lang="en-US" altLang="zh-CN" dirty="0"/>
              <a:t>(duplicate ACK)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/>
              <a:t>发送方：收到一个重复</a:t>
            </a:r>
            <a:r>
              <a:rPr lang="en-US" altLang="zh-CN" sz="1600" dirty="0"/>
              <a:t>ACK</a:t>
            </a:r>
            <a:r>
              <a:rPr lang="zh-CN" altLang="en-US" sz="1600" dirty="0"/>
              <a:t>，就知道接收方必定收到乱序到达的报文段，表明其前面的分组可能丢失</a:t>
            </a:r>
            <a:endParaRPr lang="en-US" altLang="zh-CN" sz="1600" dirty="0"/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/>
              <a:t>也可能只是延迟，未丢失</a:t>
            </a:r>
            <a:endParaRPr lang="en-US" altLang="zh-CN" sz="1600" dirty="0"/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/>
              <a:t>发送方等待，一旦收到一定数量 </a:t>
            </a:r>
            <a:r>
              <a:rPr lang="en-US" altLang="zh-CN" sz="1600" dirty="0"/>
              <a:t>(</a:t>
            </a:r>
            <a:r>
              <a:rPr lang="zh-CN" altLang="en-US" sz="1600" dirty="0"/>
              <a:t>实际应用中，</a:t>
            </a:r>
            <a:r>
              <a:rPr lang="en-US" altLang="zh-CN" sz="1600" dirty="0"/>
              <a:t>3) </a:t>
            </a:r>
            <a:r>
              <a:rPr lang="zh-CN" altLang="en-US" sz="1600" dirty="0"/>
              <a:t>的重复</a:t>
            </a:r>
            <a:r>
              <a:rPr lang="en-US" altLang="zh-CN" sz="1600" dirty="0"/>
              <a:t>ACK</a:t>
            </a:r>
            <a:r>
              <a:rPr lang="zh-CN" altLang="en-US" sz="1600" dirty="0"/>
              <a:t>，立即触发重传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C0B2E0-B83B-4C29-AFDC-09B5A8CCD9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82434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extLst mod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4503" y="2830695"/>
            <a:ext cx="8723408" cy="40273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快速重传 </a:t>
            </a:r>
            <a:r>
              <a:rPr lang="en-US" altLang="zh-CN" dirty="0"/>
              <a:t>(fast retransmit)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2158047"/>
          </a:xfrm>
        </p:spPr>
        <p:txBody>
          <a:bodyPr/>
          <a:lstStyle/>
          <a:p>
            <a:r>
              <a:rPr lang="zh-CN" altLang="en-US" sz="2000" dirty="0"/>
              <a:t>基本思想：重复确认触发重传</a:t>
            </a:r>
            <a:endParaRPr lang="en-US" altLang="zh-CN" sz="2000" dirty="0"/>
          </a:p>
          <a:p>
            <a:pPr lvl="1"/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5979620" y="3748240"/>
            <a:ext cx="9463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6725" y="2830695"/>
            <a:ext cx="3499391" cy="4058479"/>
            <a:chOff x="2851358" y="2802385"/>
            <a:chExt cx="3499391" cy="4087008"/>
          </a:xfrm>
        </p:grpSpPr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2851358" y="2802385"/>
              <a:ext cx="3173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5949938" y="2830695"/>
              <a:ext cx="28801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9"/>
            <p:cNvSpPr txBox="1">
              <a:spLocks noChangeArrowheads="1"/>
            </p:cNvSpPr>
            <p:nvPr/>
          </p:nvSpPr>
          <p:spPr bwMode="auto">
            <a:xfrm>
              <a:off x="29697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  <p:grpSp>
          <p:nvGrpSpPr>
            <p:cNvPr id="64" name="Group 10"/>
            <p:cNvGrpSpPr>
              <a:grpSpLocks/>
            </p:cNvGrpSpPr>
            <p:nvPr/>
          </p:nvGrpSpPr>
          <p:grpSpPr bwMode="auto">
            <a:xfrm>
              <a:off x="2963886" y="3128941"/>
              <a:ext cx="3138854" cy="3678602"/>
              <a:chOff x="1607" y="677"/>
              <a:chExt cx="1640" cy="2728"/>
            </a:xfrm>
          </p:grpSpPr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60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324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60939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</p:grp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2046576" y="3040621"/>
            <a:ext cx="917239" cy="27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62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>
            <a:off x="2949253" y="3220663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" name="Line 7"/>
          <p:cNvSpPr>
            <a:spLocks noChangeShapeType="1"/>
          </p:cNvSpPr>
          <p:nvPr/>
        </p:nvSpPr>
        <p:spPr bwMode="auto">
          <a:xfrm flipH="1">
            <a:off x="2949253" y="3536026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2" name="Text Box 8"/>
          <p:cNvSpPr txBox="1">
            <a:spLocks noChangeArrowheads="1"/>
          </p:cNvSpPr>
          <p:nvPr/>
        </p:nvSpPr>
        <p:spPr bwMode="auto">
          <a:xfrm>
            <a:off x="5994322" y="3405293"/>
            <a:ext cx="931665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2949253" y="3914460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2046576" y="3404147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2046576" y="377226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2046576" y="4138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2949253" y="4365141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2046576" y="4533715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046576" y="4909856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</a:p>
        </p:txBody>
      </p:sp>
      <p:grpSp>
        <p:nvGrpSpPr>
          <p:cNvPr id="80" name="Group 26"/>
          <p:cNvGrpSpPr>
            <a:grpSpLocks/>
          </p:cNvGrpSpPr>
          <p:nvPr/>
        </p:nvGrpSpPr>
        <p:grpSpPr bwMode="auto">
          <a:xfrm>
            <a:off x="2966896" y="5685233"/>
            <a:ext cx="3138854" cy="405954"/>
            <a:chOff x="2471" y="3673"/>
            <a:chExt cx="2142" cy="354"/>
          </a:xfrm>
        </p:grpSpPr>
        <p:sp>
          <p:nvSpPr>
            <p:cNvPr id="81" name="Line 27"/>
            <p:cNvSpPr>
              <a:spLocks noChangeShapeType="1"/>
            </p:cNvSpPr>
            <p:nvPr/>
          </p:nvSpPr>
          <p:spPr bwMode="auto">
            <a:xfrm>
              <a:off x="2471" y="3828"/>
              <a:ext cx="2142" cy="199"/>
            </a:xfrm>
            <a:prstGeom prst="line">
              <a:avLst/>
            </a:prstGeom>
            <a:noFill/>
            <a:ln w="38100">
              <a:solidFill>
                <a:srgbClr val="3366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28"/>
            <p:cNvSpPr txBox="1">
              <a:spLocks noChangeArrowheads="1"/>
            </p:cNvSpPr>
            <p:nvPr/>
          </p:nvSpPr>
          <p:spPr bwMode="auto">
            <a:xfrm rot="275181">
              <a:off x="3225" y="3673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zh-CN" altLang="en-US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重传 </a:t>
              </a:r>
              <a:r>
                <a:rPr kumimoji="0" lang="en-US" altLang="zh-CN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</p:grpSp>
      <p:sp>
        <p:nvSpPr>
          <p:cNvPr id="86" name="Line 32"/>
          <p:cNvSpPr>
            <a:spLocks noChangeShapeType="1"/>
          </p:cNvSpPr>
          <p:nvPr/>
        </p:nvSpPr>
        <p:spPr bwMode="auto">
          <a:xfrm>
            <a:off x="2955114" y="5495857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2046576" y="5310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7</a:t>
            </a:r>
          </a:p>
        </p:txBody>
      </p:sp>
      <p:sp>
        <p:nvSpPr>
          <p:cNvPr id="90" name="Line 42"/>
          <p:cNvSpPr>
            <a:spLocks noChangeShapeType="1"/>
          </p:cNvSpPr>
          <p:nvPr/>
        </p:nvSpPr>
        <p:spPr bwMode="auto">
          <a:xfrm>
            <a:off x="2949253" y="3614006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>
            <a:off x="2949252" y="3989000"/>
            <a:ext cx="2300975" cy="1755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2955114" y="4741282"/>
            <a:ext cx="3137388" cy="22820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2955114" y="5118569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42741" y="4052251"/>
            <a:ext cx="170702" cy="237203"/>
            <a:chOff x="4904375" y="4292418"/>
            <a:chExt cx="170702" cy="277903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4904375" y="4292418"/>
              <a:ext cx="170702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4904375" y="4292418"/>
              <a:ext cx="140829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5962122" y="4841178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 flipH="1">
            <a:off x="2931755" y="4628964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5976824" y="4498231"/>
            <a:ext cx="13420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 flipH="1">
            <a:off x="2931755" y="5007398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5994182" y="5201801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H="1">
            <a:off x="2963815" y="5368021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197554" y="4791847"/>
            <a:ext cx="2737138" cy="879786"/>
            <a:chOff x="279" y="2605"/>
            <a:chExt cx="2175" cy="739"/>
          </a:xfrm>
        </p:grpSpPr>
        <p:grpSp>
          <p:nvGrpSpPr>
            <p:cNvPr id="50" name="Group 35"/>
            <p:cNvGrpSpPr>
              <a:grpSpLocks/>
            </p:cNvGrpSpPr>
            <p:nvPr/>
          </p:nvGrpSpPr>
          <p:grpSpPr bwMode="auto">
            <a:xfrm>
              <a:off x="1729" y="2635"/>
              <a:ext cx="725" cy="666"/>
              <a:chOff x="1257" y="1749"/>
              <a:chExt cx="817" cy="460"/>
            </a:xfrm>
          </p:grpSpPr>
          <p:sp>
            <p:nvSpPr>
              <p:cNvPr id="52" name="Line 36"/>
              <p:cNvSpPr>
                <a:spLocks noChangeShapeType="1"/>
              </p:cNvSpPr>
              <p:nvPr/>
            </p:nvSpPr>
            <p:spPr bwMode="auto">
              <a:xfrm>
                <a:off x="1257" y="174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" name="Line 37"/>
              <p:cNvSpPr>
                <a:spLocks noChangeShapeType="1"/>
              </p:cNvSpPr>
              <p:nvPr/>
            </p:nvSpPr>
            <p:spPr bwMode="auto">
              <a:xfrm>
                <a:off x="1257" y="197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" name="Line 38"/>
              <p:cNvSpPr>
                <a:spLocks noChangeShapeType="1"/>
              </p:cNvSpPr>
              <p:nvPr/>
            </p:nvSpPr>
            <p:spPr bwMode="auto">
              <a:xfrm>
                <a:off x="1257" y="220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279" y="2605"/>
              <a:ext cx="1389" cy="739"/>
            </a:xfrm>
            <a:prstGeom prst="rect">
              <a:avLst/>
            </a:prstGeom>
            <a:solidFill>
              <a:srgbClr val="CC0099"/>
            </a:solidFill>
            <a:ln w="9525">
              <a:solidFill>
                <a:srgbClr val="CC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收到三个连续的</a:t>
              </a:r>
            </a:p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对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的重复确认</a:t>
              </a:r>
            </a:p>
            <a:p>
              <a:pPr algn="ctr" eaLnBrk="1" hangingPunct="1">
                <a:spcBef>
                  <a:spcPct val="20000"/>
                </a:spcBef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立即重传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0" lang="en-US" altLang="zh-CN" sz="1600" b="0" kern="0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6424" y="6347"/>
            <a:ext cx="3345548" cy="21855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47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2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59" grpId="0"/>
      <p:bldP spid="60" grpId="0" animBg="1"/>
      <p:bldP spid="61" grpId="0" animBg="1"/>
      <p:bldP spid="62" grpId="0"/>
      <p:bldP spid="68" grpId="0" animBg="1"/>
      <p:bldP spid="72" grpId="0"/>
      <p:bldP spid="73" grpId="0"/>
      <p:bldP spid="74" grpId="0"/>
      <p:bldP spid="75" grpId="0" animBg="1"/>
      <p:bldP spid="77" grpId="0"/>
      <p:bldP spid="78" grpId="0"/>
      <p:bldP spid="86" grpId="0" animBg="1"/>
      <p:bldP spid="87" grpId="0"/>
      <p:bldP spid="90" grpId="0" animBg="1"/>
      <p:bldP spid="91" grpId="0" animBg="1"/>
      <p:bldP spid="92" grpId="0" animBg="1"/>
      <p:bldP spid="93" grpId="0" animBg="1"/>
      <p:bldP spid="43" grpId="0"/>
      <p:bldP spid="44" grpId="0" animBg="1"/>
      <p:bldP spid="45" grpId="0"/>
      <p:bldP spid="46" grpId="0" animBg="1"/>
      <p:bldP spid="47" grpId="0"/>
      <p:bldP spid="4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04503" y="2830695"/>
            <a:ext cx="8723408" cy="40273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快速重传 </a:t>
            </a:r>
            <a:r>
              <a:rPr lang="en-US" altLang="zh-CN" dirty="0"/>
              <a:t>(fast retransmit)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1300539"/>
          </a:xfrm>
        </p:spPr>
        <p:txBody>
          <a:bodyPr/>
          <a:lstStyle/>
          <a:p>
            <a:r>
              <a:rPr lang="zh-CN" altLang="en-US" sz="2000" dirty="0"/>
              <a:t>快速重传通常可以在</a:t>
            </a:r>
            <a:r>
              <a:rPr lang="en-US" altLang="zh-CN" sz="2000" dirty="0"/>
              <a:t>1</a:t>
            </a:r>
            <a:r>
              <a:rPr lang="zh-CN" altLang="en-US" sz="2000" dirty="0"/>
              <a:t>个</a:t>
            </a:r>
            <a:r>
              <a:rPr lang="en-US" altLang="zh-CN" sz="2000" dirty="0"/>
              <a:t>RTT</a:t>
            </a:r>
            <a:r>
              <a:rPr lang="zh-CN" altLang="en-US" sz="2000" dirty="0"/>
              <a:t>内重传数据丢包</a:t>
            </a:r>
          </a:p>
          <a:p>
            <a:pPr lvl="1"/>
            <a:r>
              <a:rPr lang="zh-CN" altLang="en-US" sz="1600" dirty="0"/>
              <a:t>因为数据包通常都是连续发送的</a:t>
            </a:r>
            <a:endParaRPr lang="en-US" altLang="zh-CN" sz="1600" dirty="0"/>
          </a:p>
          <a:p>
            <a:r>
              <a:rPr lang="zh-CN" altLang="en-US" sz="2000" dirty="0"/>
              <a:t>网络的吞吐量提高约</a:t>
            </a:r>
            <a:r>
              <a:rPr lang="en-US" altLang="zh-CN" sz="2000" dirty="0"/>
              <a:t>20%</a:t>
            </a:r>
            <a:endParaRPr lang="zh-CN" altLang="en-US" sz="2000" dirty="0"/>
          </a:p>
          <a:p>
            <a:pPr lvl="1"/>
            <a:endParaRPr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5979620" y="3748240"/>
            <a:ext cx="9463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6725" y="2830695"/>
            <a:ext cx="3499391" cy="4058479"/>
            <a:chOff x="2851358" y="2802385"/>
            <a:chExt cx="3499391" cy="4087008"/>
          </a:xfrm>
        </p:grpSpPr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2851358" y="2802385"/>
              <a:ext cx="3173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5949938" y="2830695"/>
              <a:ext cx="28801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9"/>
            <p:cNvSpPr txBox="1">
              <a:spLocks noChangeArrowheads="1"/>
            </p:cNvSpPr>
            <p:nvPr/>
          </p:nvSpPr>
          <p:spPr bwMode="auto">
            <a:xfrm>
              <a:off x="29697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  <p:grpSp>
          <p:nvGrpSpPr>
            <p:cNvPr id="64" name="Group 10"/>
            <p:cNvGrpSpPr>
              <a:grpSpLocks/>
            </p:cNvGrpSpPr>
            <p:nvPr/>
          </p:nvGrpSpPr>
          <p:grpSpPr bwMode="auto">
            <a:xfrm>
              <a:off x="2963886" y="3128941"/>
              <a:ext cx="3138854" cy="3678602"/>
              <a:chOff x="1607" y="677"/>
              <a:chExt cx="1640" cy="2728"/>
            </a:xfrm>
          </p:grpSpPr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60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324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60939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</p:grp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2046576" y="3040621"/>
            <a:ext cx="917239" cy="27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62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>
            <a:off x="2949253" y="3220663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" name="Line 7"/>
          <p:cNvSpPr>
            <a:spLocks noChangeShapeType="1"/>
          </p:cNvSpPr>
          <p:nvPr/>
        </p:nvSpPr>
        <p:spPr bwMode="auto">
          <a:xfrm flipH="1">
            <a:off x="2949253" y="3536026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2" name="Text Box 8"/>
          <p:cNvSpPr txBox="1">
            <a:spLocks noChangeArrowheads="1"/>
          </p:cNvSpPr>
          <p:nvPr/>
        </p:nvSpPr>
        <p:spPr bwMode="auto">
          <a:xfrm>
            <a:off x="5994322" y="3405293"/>
            <a:ext cx="931665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2949253" y="3914460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2046576" y="3404147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2046576" y="377226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2046576" y="4138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2949253" y="4365141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2046576" y="4533715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046576" y="4909856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86" name="Line 32"/>
          <p:cNvSpPr>
            <a:spLocks noChangeShapeType="1"/>
          </p:cNvSpPr>
          <p:nvPr/>
        </p:nvSpPr>
        <p:spPr bwMode="auto">
          <a:xfrm>
            <a:off x="2955114" y="5495857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2046576" y="5310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7</a:t>
            </a:r>
          </a:p>
        </p:txBody>
      </p:sp>
      <p:sp>
        <p:nvSpPr>
          <p:cNvPr id="90" name="Line 42"/>
          <p:cNvSpPr>
            <a:spLocks noChangeShapeType="1"/>
          </p:cNvSpPr>
          <p:nvPr/>
        </p:nvSpPr>
        <p:spPr bwMode="auto">
          <a:xfrm>
            <a:off x="2949253" y="3614006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>
            <a:off x="2949252" y="3989000"/>
            <a:ext cx="2300975" cy="1755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2955114" y="4741282"/>
            <a:ext cx="3137388" cy="22820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2955114" y="5118569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42741" y="4052251"/>
            <a:ext cx="170702" cy="237203"/>
            <a:chOff x="4904375" y="4292418"/>
            <a:chExt cx="170702" cy="277903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4904375" y="4292418"/>
              <a:ext cx="170702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4904375" y="4292418"/>
              <a:ext cx="140829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5962122" y="4841178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 flipH="1">
            <a:off x="2931755" y="4628964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5976824" y="4498231"/>
            <a:ext cx="13420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 flipH="1">
            <a:off x="2931755" y="5007398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5994182" y="5201801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H="1">
            <a:off x="2963815" y="5368021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197554" y="4791847"/>
            <a:ext cx="2737138" cy="879786"/>
            <a:chOff x="279" y="2605"/>
            <a:chExt cx="2175" cy="739"/>
          </a:xfrm>
        </p:grpSpPr>
        <p:grpSp>
          <p:nvGrpSpPr>
            <p:cNvPr id="50" name="Group 35"/>
            <p:cNvGrpSpPr>
              <a:grpSpLocks/>
            </p:cNvGrpSpPr>
            <p:nvPr/>
          </p:nvGrpSpPr>
          <p:grpSpPr bwMode="auto">
            <a:xfrm>
              <a:off x="1729" y="2635"/>
              <a:ext cx="725" cy="666"/>
              <a:chOff x="1257" y="1749"/>
              <a:chExt cx="817" cy="460"/>
            </a:xfrm>
          </p:grpSpPr>
          <p:sp>
            <p:nvSpPr>
              <p:cNvPr id="52" name="Line 36"/>
              <p:cNvSpPr>
                <a:spLocks noChangeShapeType="1"/>
              </p:cNvSpPr>
              <p:nvPr/>
            </p:nvSpPr>
            <p:spPr bwMode="auto">
              <a:xfrm>
                <a:off x="1257" y="174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" name="Line 37"/>
              <p:cNvSpPr>
                <a:spLocks noChangeShapeType="1"/>
              </p:cNvSpPr>
              <p:nvPr/>
            </p:nvSpPr>
            <p:spPr bwMode="auto">
              <a:xfrm>
                <a:off x="1257" y="197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" name="Line 38"/>
              <p:cNvSpPr>
                <a:spLocks noChangeShapeType="1"/>
              </p:cNvSpPr>
              <p:nvPr/>
            </p:nvSpPr>
            <p:spPr bwMode="auto">
              <a:xfrm>
                <a:off x="1257" y="220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279" y="2605"/>
              <a:ext cx="1389" cy="739"/>
            </a:xfrm>
            <a:prstGeom prst="rect">
              <a:avLst/>
            </a:prstGeom>
            <a:solidFill>
              <a:srgbClr val="CC0099"/>
            </a:solidFill>
            <a:ln w="9525">
              <a:solidFill>
                <a:srgbClr val="CC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收到三个连续的</a:t>
              </a:r>
            </a:p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对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的重复确认</a:t>
              </a:r>
            </a:p>
            <a:p>
              <a:pPr algn="ctr" eaLnBrk="1" hangingPunct="1">
                <a:spcBef>
                  <a:spcPct val="20000"/>
                </a:spcBef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立即重传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0" lang="en-US" altLang="zh-CN" sz="1600" b="0" kern="0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5" name="Group 26"/>
          <p:cNvGrpSpPr>
            <a:grpSpLocks/>
          </p:cNvGrpSpPr>
          <p:nvPr/>
        </p:nvGrpSpPr>
        <p:grpSpPr bwMode="auto">
          <a:xfrm>
            <a:off x="2966896" y="5705871"/>
            <a:ext cx="3138854" cy="385312"/>
            <a:chOff x="2471" y="3691"/>
            <a:chExt cx="2142" cy="336"/>
          </a:xfrm>
        </p:grpSpPr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2471" y="3828"/>
              <a:ext cx="2142" cy="199"/>
            </a:xfrm>
            <a:prstGeom prst="line">
              <a:avLst/>
            </a:prstGeom>
            <a:noFill/>
            <a:ln w="38100">
              <a:solidFill>
                <a:srgbClr val="3366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 rot="275181">
              <a:off x="3225" y="3691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zh-CN" altLang="en-US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重传 </a:t>
              </a:r>
              <a:r>
                <a:rPr kumimoji="0" lang="en-US" altLang="zh-CN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A3B5DFA8-6086-4178-9747-B011DE5969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989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图片 9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4503" y="2830695"/>
            <a:ext cx="8723408" cy="402730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快速重传 </a:t>
            </a:r>
            <a:r>
              <a:rPr lang="en-US" altLang="zh-CN" dirty="0"/>
              <a:t>(fast retransmit)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1"/>
            <a:ext cx="8579553" cy="1262903"/>
          </a:xfrm>
        </p:spPr>
        <p:txBody>
          <a:bodyPr/>
          <a:lstStyle/>
          <a:p>
            <a:r>
              <a:rPr lang="zh-CN" altLang="en-US" sz="2000" dirty="0"/>
              <a:t>快速重传不能代替常规超时机制，仅是增强功能</a:t>
            </a:r>
          </a:p>
          <a:p>
            <a:pPr lvl="1">
              <a:lnSpc>
                <a:spcPct val="150000"/>
              </a:lnSpc>
            </a:pPr>
            <a:r>
              <a:rPr lang="zh-CN" altLang="en-US" sz="1600" dirty="0"/>
              <a:t>并非取消超时重传定时器，而是在某些情况下可更早地触发重传丢失的报文段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sp>
        <p:nvSpPr>
          <p:cNvPr id="67" name="Text Box 13"/>
          <p:cNvSpPr txBox="1">
            <a:spLocks noChangeArrowheads="1"/>
          </p:cNvSpPr>
          <p:nvPr/>
        </p:nvSpPr>
        <p:spPr bwMode="auto">
          <a:xfrm>
            <a:off x="5979620" y="3748240"/>
            <a:ext cx="94636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836725" y="2830695"/>
            <a:ext cx="3499391" cy="4058479"/>
            <a:chOff x="2851358" y="2802385"/>
            <a:chExt cx="3499391" cy="4087008"/>
          </a:xfrm>
        </p:grpSpPr>
        <p:sp>
          <p:nvSpPr>
            <p:cNvPr id="41" name="Text Box 15"/>
            <p:cNvSpPr txBox="1">
              <a:spLocks noChangeArrowheads="1"/>
            </p:cNvSpPr>
            <p:nvPr/>
          </p:nvSpPr>
          <p:spPr bwMode="auto">
            <a:xfrm>
              <a:off x="2851358" y="2802385"/>
              <a:ext cx="31737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S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Text Box 16"/>
            <p:cNvSpPr txBox="1">
              <a:spLocks noChangeArrowheads="1"/>
            </p:cNvSpPr>
            <p:nvPr/>
          </p:nvSpPr>
          <p:spPr bwMode="auto">
            <a:xfrm>
              <a:off x="5949938" y="2830695"/>
              <a:ext cx="288017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i="0" u="none" strike="noStrike" kern="0" cap="none" spc="0" normalizeH="0" noProof="0" dirty="0">
                  <a:ln>
                    <a:noFill/>
                  </a:ln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R</a:t>
              </a:r>
              <a:endParaRPr kumimoji="1" lang="zh-CN" altLang="en-US" i="0" u="none" strike="noStrike" kern="0" cap="none" spc="0" normalizeH="0" noProof="0" dirty="0">
                <a:ln>
                  <a:noFill/>
                </a:ln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Text Box 9"/>
            <p:cNvSpPr txBox="1">
              <a:spLocks noChangeArrowheads="1"/>
            </p:cNvSpPr>
            <p:nvPr/>
          </p:nvSpPr>
          <p:spPr bwMode="auto">
            <a:xfrm>
              <a:off x="29697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 dirty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  <p:grpSp>
          <p:nvGrpSpPr>
            <p:cNvPr id="64" name="Group 10"/>
            <p:cNvGrpSpPr>
              <a:grpSpLocks/>
            </p:cNvGrpSpPr>
            <p:nvPr/>
          </p:nvGrpSpPr>
          <p:grpSpPr bwMode="auto">
            <a:xfrm>
              <a:off x="2963886" y="3128941"/>
              <a:ext cx="3138854" cy="3678602"/>
              <a:chOff x="1607" y="677"/>
              <a:chExt cx="1640" cy="2728"/>
            </a:xfrm>
          </p:grpSpPr>
          <p:sp>
            <p:nvSpPr>
              <p:cNvPr id="65" name="Line 11"/>
              <p:cNvSpPr>
                <a:spLocks noChangeShapeType="1"/>
              </p:cNvSpPr>
              <p:nvPr/>
            </p:nvSpPr>
            <p:spPr bwMode="auto">
              <a:xfrm>
                <a:off x="160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66" name="Line 12"/>
              <p:cNvSpPr>
                <a:spLocks noChangeShapeType="1"/>
              </p:cNvSpPr>
              <p:nvPr/>
            </p:nvSpPr>
            <p:spPr bwMode="auto">
              <a:xfrm>
                <a:off x="3247" y="677"/>
                <a:ext cx="0" cy="2728"/>
              </a:xfrm>
              <a:prstGeom prst="line">
                <a:avLst/>
              </a:prstGeom>
              <a:noFill/>
              <a:ln w="22225">
                <a:solidFill>
                  <a:schemeClr val="tx1">
                    <a:lumMod val="75000"/>
                    <a:lumOff val="25000"/>
                  </a:schemeClr>
                </a:solidFill>
                <a:round/>
                <a:headEnd/>
                <a:tailEnd type="triangle" w="sm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62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85" name="Text Box 31"/>
            <p:cNvSpPr txBox="1">
              <a:spLocks noChangeArrowheads="1"/>
            </p:cNvSpPr>
            <p:nvPr/>
          </p:nvSpPr>
          <p:spPr bwMode="auto">
            <a:xfrm>
              <a:off x="6093947" y="6538837"/>
              <a:ext cx="256802" cy="3505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en-US" altLang="zh-CN" sz="1600" b="0" i="1" kern="0"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</a:p>
          </p:txBody>
        </p:sp>
      </p:grpSp>
      <p:sp>
        <p:nvSpPr>
          <p:cNvPr id="59" name="Text Box 5"/>
          <p:cNvSpPr txBox="1">
            <a:spLocks noChangeArrowheads="1"/>
          </p:cNvSpPr>
          <p:nvPr/>
        </p:nvSpPr>
        <p:spPr bwMode="auto">
          <a:xfrm>
            <a:off x="2046576" y="3040621"/>
            <a:ext cx="917239" cy="2724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62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62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>
            <a:off x="2949253" y="3220663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" name="Line 7"/>
          <p:cNvSpPr>
            <a:spLocks noChangeShapeType="1"/>
          </p:cNvSpPr>
          <p:nvPr/>
        </p:nvSpPr>
        <p:spPr bwMode="auto">
          <a:xfrm flipH="1">
            <a:off x="2949253" y="3536026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2" name="Text Box 8"/>
          <p:cNvSpPr txBox="1">
            <a:spLocks noChangeArrowheads="1"/>
          </p:cNvSpPr>
          <p:nvPr/>
        </p:nvSpPr>
        <p:spPr bwMode="auto">
          <a:xfrm>
            <a:off x="5994322" y="3405293"/>
            <a:ext cx="931665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1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Line 14"/>
          <p:cNvSpPr>
            <a:spLocks noChangeShapeType="1"/>
          </p:cNvSpPr>
          <p:nvPr/>
        </p:nvSpPr>
        <p:spPr bwMode="auto">
          <a:xfrm flipH="1">
            <a:off x="2949253" y="3914460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2" name="Text Box 18"/>
          <p:cNvSpPr txBox="1">
            <a:spLocks noChangeArrowheads="1"/>
          </p:cNvSpPr>
          <p:nvPr/>
        </p:nvSpPr>
        <p:spPr bwMode="auto">
          <a:xfrm>
            <a:off x="2046576" y="3404147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</a:p>
        </p:txBody>
      </p:sp>
      <p:sp>
        <p:nvSpPr>
          <p:cNvPr id="73" name="Text Box 19"/>
          <p:cNvSpPr txBox="1">
            <a:spLocks noChangeArrowheads="1"/>
          </p:cNvSpPr>
          <p:nvPr/>
        </p:nvSpPr>
        <p:spPr bwMode="auto">
          <a:xfrm>
            <a:off x="2046576" y="377226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3</a:t>
            </a:r>
          </a:p>
        </p:txBody>
      </p:sp>
      <p:sp>
        <p:nvSpPr>
          <p:cNvPr id="74" name="Text Box 20"/>
          <p:cNvSpPr txBox="1">
            <a:spLocks noChangeArrowheads="1"/>
          </p:cNvSpPr>
          <p:nvPr/>
        </p:nvSpPr>
        <p:spPr bwMode="auto">
          <a:xfrm>
            <a:off x="2046576" y="4138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4</a:t>
            </a:r>
          </a:p>
        </p:txBody>
      </p:sp>
      <p:sp>
        <p:nvSpPr>
          <p:cNvPr id="75" name="Line 21"/>
          <p:cNvSpPr>
            <a:spLocks noChangeShapeType="1"/>
          </p:cNvSpPr>
          <p:nvPr/>
        </p:nvSpPr>
        <p:spPr bwMode="auto">
          <a:xfrm>
            <a:off x="2949253" y="4365141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77" name="Text Box 23"/>
          <p:cNvSpPr txBox="1">
            <a:spLocks noChangeArrowheads="1"/>
          </p:cNvSpPr>
          <p:nvPr/>
        </p:nvSpPr>
        <p:spPr bwMode="auto">
          <a:xfrm>
            <a:off x="2046576" y="4533715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5</a:t>
            </a:r>
          </a:p>
        </p:txBody>
      </p:sp>
      <p:sp>
        <p:nvSpPr>
          <p:cNvPr id="78" name="Text Box 24"/>
          <p:cNvSpPr txBox="1">
            <a:spLocks noChangeArrowheads="1"/>
          </p:cNvSpPr>
          <p:nvPr/>
        </p:nvSpPr>
        <p:spPr bwMode="auto">
          <a:xfrm>
            <a:off x="2046576" y="4909856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</a:t>
            </a:r>
          </a:p>
        </p:txBody>
      </p:sp>
      <p:sp>
        <p:nvSpPr>
          <p:cNvPr id="86" name="Line 32"/>
          <p:cNvSpPr>
            <a:spLocks noChangeShapeType="1"/>
          </p:cNvSpPr>
          <p:nvPr/>
        </p:nvSpPr>
        <p:spPr bwMode="auto">
          <a:xfrm>
            <a:off x="2955114" y="5495857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87" name="Text Box 33"/>
          <p:cNvSpPr txBox="1">
            <a:spLocks noChangeArrowheads="1"/>
          </p:cNvSpPr>
          <p:nvPr/>
        </p:nvSpPr>
        <p:spPr bwMode="auto">
          <a:xfrm>
            <a:off x="2046576" y="5310080"/>
            <a:ext cx="885179" cy="288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zh-CN" altLang="en-US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发送 </a:t>
            </a:r>
            <a:r>
              <a:rPr kumimoji="0" lang="en-US" altLang="zh-CN" sz="1600" b="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7</a:t>
            </a:r>
          </a:p>
        </p:txBody>
      </p:sp>
      <p:sp>
        <p:nvSpPr>
          <p:cNvPr id="90" name="Line 42"/>
          <p:cNvSpPr>
            <a:spLocks noChangeShapeType="1"/>
          </p:cNvSpPr>
          <p:nvPr/>
        </p:nvSpPr>
        <p:spPr bwMode="auto">
          <a:xfrm>
            <a:off x="2949253" y="3614006"/>
            <a:ext cx="3138854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1" name="Line 43"/>
          <p:cNvSpPr>
            <a:spLocks noChangeShapeType="1"/>
          </p:cNvSpPr>
          <p:nvPr/>
        </p:nvSpPr>
        <p:spPr bwMode="auto">
          <a:xfrm>
            <a:off x="2949252" y="3989000"/>
            <a:ext cx="2300975" cy="175538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44"/>
          <p:cNvSpPr>
            <a:spLocks noChangeShapeType="1"/>
          </p:cNvSpPr>
          <p:nvPr/>
        </p:nvSpPr>
        <p:spPr bwMode="auto">
          <a:xfrm>
            <a:off x="2955114" y="4741282"/>
            <a:ext cx="3137388" cy="228207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3" name="Line 45"/>
          <p:cNvSpPr>
            <a:spLocks noChangeShapeType="1"/>
          </p:cNvSpPr>
          <p:nvPr/>
        </p:nvSpPr>
        <p:spPr bwMode="auto">
          <a:xfrm>
            <a:off x="2955114" y="5118569"/>
            <a:ext cx="3137388" cy="227061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842741" y="4052251"/>
            <a:ext cx="170702" cy="237203"/>
            <a:chOff x="4904375" y="4292418"/>
            <a:chExt cx="170702" cy="277903"/>
          </a:xfrm>
        </p:grpSpPr>
        <p:cxnSp>
          <p:nvCxnSpPr>
            <p:cNvPr id="95" name="直接连接符 94"/>
            <p:cNvCxnSpPr/>
            <p:nvPr/>
          </p:nvCxnSpPr>
          <p:spPr>
            <a:xfrm>
              <a:off x="4904375" y="4292418"/>
              <a:ext cx="170702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/>
            <p:cNvCxnSpPr/>
            <p:nvPr/>
          </p:nvCxnSpPr>
          <p:spPr>
            <a:xfrm flipH="1">
              <a:off x="4904375" y="4292418"/>
              <a:ext cx="140829" cy="277903"/>
            </a:xfrm>
            <a:prstGeom prst="line">
              <a:avLst/>
            </a:prstGeom>
            <a:ln w="25400">
              <a:solidFill>
                <a:srgbClr val="FF33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 Box 13"/>
          <p:cNvSpPr txBox="1">
            <a:spLocks noChangeArrowheads="1"/>
          </p:cNvSpPr>
          <p:nvPr/>
        </p:nvSpPr>
        <p:spPr bwMode="auto">
          <a:xfrm>
            <a:off x="5962122" y="4841178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4" name="Line 7"/>
          <p:cNvSpPr>
            <a:spLocks noChangeShapeType="1"/>
          </p:cNvSpPr>
          <p:nvPr/>
        </p:nvSpPr>
        <p:spPr bwMode="auto">
          <a:xfrm flipH="1">
            <a:off x="2931755" y="4628964"/>
            <a:ext cx="3138854" cy="227061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5" name="Text Box 8"/>
          <p:cNvSpPr txBox="1">
            <a:spLocks noChangeArrowheads="1"/>
          </p:cNvSpPr>
          <p:nvPr/>
        </p:nvSpPr>
        <p:spPr bwMode="auto">
          <a:xfrm>
            <a:off x="5976824" y="4498231"/>
            <a:ext cx="1342034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6" name="Line 14"/>
          <p:cNvSpPr>
            <a:spLocks noChangeShapeType="1"/>
          </p:cNvSpPr>
          <p:nvPr/>
        </p:nvSpPr>
        <p:spPr bwMode="auto">
          <a:xfrm flipH="1">
            <a:off x="2931755" y="5007398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7" name="Text Box 13"/>
          <p:cNvSpPr txBox="1">
            <a:spLocks noChangeArrowheads="1"/>
          </p:cNvSpPr>
          <p:nvPr/>
        </p:nvSpPr>
        <p:spPr bwMode="auto">
          <a:xfrm>
            <a:off x="5994182" y="5201801"/>
            <a:ext cx="135673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ahoma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kumimoji="0" lang="zh-CN" altLang="en-US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重复确认 </a:t>
            </a:r>
            <a:r>
              <a:rPr kumimoji="0" lang="en-US" altLang="zh-CN" sz="1600" b="0" kern="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M</a:t>
            </a:r>
            <a:r>
              <a:rPr kumimoji="0" lang="en-US" altLang="zh-CN" sz="1600" b="0" kern="0" baseline="-25000" dirty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2 </a:t>
            </a:r>
            <a:endParaRPr kumimoji="0" lang="en-US" altLang="zh-CN" sz="1600" b="0" kern="0" dirty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H="1">
            <a:off x="2963815" y="5368021"/>
            <a:ext cx="3138854" cy="225914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600" kern="0">
              <a:solidFill>
                <a:srgbClr val="000099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49" name="Group 34"/>
          <p:cNvGrpSpPr>
            <a:grpSpLocks/>
          </p:cNvGrpSpPr>
          <p:nvPr/>
        </p:nvGrpSpPr>
        <p:grpSpPr bwMode="auto">
          <a:xfrm>
            <a:off x="197554" y="4791847"/>
            <a:ext cx="2737138" cy="879786"/>
            <a:chOff x="279" y="2605"/>
            <a:chExt cx="2175" cy="739"/>
          </a:xfrm>
        </p:grpSpPr>
        <p:grpSp>
          <p:nvGrpSpPr>
            <p:cNvPr id="50" name="Group 35"/>
            <p:cNvGrpSpPr>
              <a:grpSpLocks/>
            </p:cNvGrpSpPr>
            <p:nvPr/>
          </p:nvGrpSpPr>
          <p:grpSpPr bwMode="auto">
            <a:xfrm>
              <a:off x="1729" y="2635"/>
              <a:ext cx="725" cy="666"/>
              <a:chOff x="1257" y="1749"/>
              <a:chExt cx="817" cy="460"/>
            </a:xfrm>
          </p:grpSpPr>
          <p:sp>
            <p:nvSpPr>
              <p:cNvPr id="52" name="Line 36"/>
              <p:cNvSpPr>
                <a:spLocks noChangeShapeType="1"/>
              </p:cNvSpPr>
              <p:nvPr/>
            </p:nvSpPr>
            <p:spPr bwMode="auto">
              <a:xfrm>
                <a:off x="1257" y="174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3" name="Line 37"/>
              <p:cNvSpPr>
                <a:spLocks noChangeShapeType="1"/>
              </p:cNvSpPr>
              <p:nvPr/>
            </p:nvSpPr>
            <p:spPr bwMode="auto">
              <a:xfrm>
                <a:off x="1257" y="197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4" name="Line 38"/>
              <p:cNvSpPr>
                <a:spLocks noChangeShapeType="1"/>
              </p:cNvSpPr>
              <p:nvPr/>
            </p:nvSpPr>
            <p:spPr bwMode="auto">
              <a:xfrm>
                <a:off x="1257" y="2209"/>
                <a:ext cx="817" cy="0"/>
              </a:xfrm>
              <a:prstGeom prst="line">
                <a:avLst/>
              </a:prstGeom>
              <a:noFill/>
              <a:ln w="28575">
                <a:solidFill>
                  <a:srgbClr val="CC0099"/>
                </a:solidFill>
                <a:prstDash val="dash"/>
                <a:round/>
                <a:headEnd type="triangle" w="med" len="lg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>
                  <a:defRPr/>
                </a:pPr>
                <a:endParaRPr lang="zh-CN" altLang="en-US" sz="1600" kern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51" name="Text Box 39"/>
            <p:cNvSpPr txBox="1">
              <a:spLocks noChangeArrowheads="1"/>
            </p:cNvSpPr>
            <p:nvPr/>
          </p:nvSpPr>
          <p:spPr bwMode="auto">
            <a:xfrm>
              <a:off x="279" y="2605"/>
              <a:ext cx="1389" cy="739"/>
            </a:xfrm>
            <a:prstGeom prst="rect">
              <a:avLst/>
            </a:prstGeom>
            <a:solidFill>
              <a:srgbClr val="CC0099"/>
            </a:solidFill>
            <a:ln w="9525">
              <a:solidFill>
                <a:srgbClr val="CC0099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收到三个连续的</a:t>
              </a:r>
            </a:p>
            <a:p>
              <a:pPr algn="ctr" eaLnBrk="1" hangingPunct="1"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对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的重复确认</a:t>
              </a:r>
            </a:p>
            <a:p>
              <a:pPr algn="ctr" eaLnBrk="1" hangingPunct="1">
                <a:spcBef>
                  <a:spcPct val="20000"/>
                </a:spcBef>
                <a:defRPr/>
              </a:pPr>
              <a:r>
                <a:rPr kumimoji="0" lang="zh-CN" altLang="en-US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立即重传 </a:t>
              </a:r>
              <a:r>
                <a:rPr kumimoji="0" lang="en-US" altLang="zh-CN" sz="1600" b="0" kern="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0" lang="en-US" altLang="zh-CN" sz="1600" b="0" kern="0" dirty="0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55" name="Group 26"/>
          <p:cNvGrpSpPr>
            <a:grpSpLocks/>
          </p:cNvGrpSpPr>
          <p:nvPr/>
        </p:nvGrpSpPr>
        <p:grpSpPr bwMode="auto">
          <a:xfrm>
            <a:off x="2966896" y="5705871"/>
            <a:ext cx="3138854" cy="385312"/>
            <a:chOff x="2471" y="3691"/>
            <a:chExt cx="2142" cy="336"/>
          </a:xfrm>
        </p:grpSpPr>
        <p:sp>
          <p:nvSpPr>
            <p:cNvPr id="56" name="Line 27"/>
            <p:cNvSpPr>
              <a:spLocks noChangeShapeType="1"/>
            </p:cNvSpPr>
            <p:nvPr/>
          </p:nvSpPr>
          <p:spPr bwMode="auto">
            <a:xfrm>
              <a:off x="2471" y="3828"/>
              <a:ext cx="2142" cy="199"/>
            </a:xfrm>
            <a:prstGeom prst="line">
              <a:avLst/>
            </a:prstGeom>
            <a:noFill/>
            <a:ln w="38100">
              <a:solidFill>
                <a:srgbClr val="3366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zh-CN" altLang="en-US" sz="1600" kern="0">
                <a:solidFill>
                  <a:srgbClr val="0000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Text Box 28"/>
            <p:cNvSpPr txBox="1">
              <a:spLocks noChangeArrowheads="1"/>
            </p:cNvSpPr>
            <p:nvPr/>
          </p:nvSpPr>
          <p:spPr bwMode="auto">
            <a:xfrm rot="275181">
              <a:off x="3225" y="3691"/>
              <a:ext cx="604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ahoma" pitchFamily="34" charset="0"/>
                  <a:ea typeface="宋体" pitchFamily="2" charset="-122"/>
                </a:defRPr>
              </a:lvl9pPr>
            </a:lstStyle>
            <a:p>
              <a:pPr eaLnBrk="1" hangingPunct="1">
                <a:defRPr/>
              </a:pPr>
              <a:r>
                <a:rPr kumimoji="0" lang="zh-CN" altLang="en-US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重传 </a:t>
              </a:r>
              <a:r>
                <a:rPr kumimoji="0" lang="en-US" altLang="zh-CN" sz="1600" b="0" kern="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M</a:t>
              </a:r>
              <a:r>
                <a:rPr kumimoji="0" lang="en-US" altLang="zh-CN" sz="1600" b="0" kern="0" baseline="-25000" dirty="0">
                  <a:solidFill>
                    <a:srgbClr val="0000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1D6941D1-3155-4ED3-97D0-AC8EC9730D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006" y="87868"/>
            <a:ext cx="196974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5.3.7   </a:t>
            </a:r>
            <a:r>
              <a:rPr lang="zh-CN" altLang="en-US" sz="1800" dirty="0">
                <a:solidFill>
                  <a:schemeClr val="bg2">
                    <a:lumMod val="75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丢失恢复</a:t>
            </a:r>
          </a:p>
        </p:txBody>
      </p:sp>
    </p:spTree>
    <p:extLst>
      <p:ext uri="{BB962C8B-B14F-4D97-AF65-F5344CB8AC3E}">
        <p14:creationId xmlns:p14="http://schemas.microsoft.com/office/powerpoint/2010/main" val="2098684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时间戳</a:t>
            </a:r>
            <a:r>
              <a:rPr lang="en-US" altLang="zh-CN" dirty="0"/>
              <a:t>(timestamp)</a:t>
            </a:r>
            <a:r>
              <a:rPr lang="zh-CN" altLang="en-US" dirty="0"/>
              <a:t>选项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0"/>
            <a:ext cx="8579553" cy="2644017"/>
          </a:xfrm>
        </p:spPr>
        <p:txBody>
          <a:bodyPr/>
          <a:lstStyle/>
          <a:p>
            <a:r>
              <a:rPr lang="zh-CN" altLang="en-US" sz="2000" dirty="0"/>
              <a:t>选项格式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/>
              <a:t>TS value</a:t>
            </a:r>
          </a:p>
          <a:p>
            <a:pPr lvl="2">
              <a:spcBef>
                <a:spcPts val="600"/>
              </a:spcBef>
            </a:pPr>
            <a:r>
              <a:rPr lang="zh-CN" altLang="en-US" sz="1600" dirty="0"/>
              <a:t>发送方在发送报文段时，读取系统时钟，将当前时钟值放入该字段</a:t>
            </a:r>
            <a:endParaRPr lang="en-US" altLang="zh-CN" sz="1600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sz="1600" dirty="0"/>
              <a:t>TS Echo Reply</a:t>
            </a:r>
          </a:p>
          <a:p>
            <a:pPr lvl="2">
              <a:spcBef>
                <a:spcPts val="600"/>
              </a:spcBef>
            </a:pPr>
            <a:r>
              <a:rPr lang="zh-CN" altLang="en-US" sz="1600" dirty="0"/>
              <a:t>接收方收到一个报文段时，读出该报文段时间戳选项中的“</a:t>
            </a:r>
            <a:r>
              <a:rPr lang="en-US" altLang="zh-CN" sz="1600" dirty="0"/>
              <a:t>TS value</a:t>
            </a:r>
            <a:r>
              <a:rPr lang="zh-CN" altLang="en-US" sz="1600" dirty="0"/>
              <a:t>”，当回复相应</a:t>
            </a:r>
            <a:r>
              <a:rPr lang="en-US" altLang="zh-CN" sz="1600" dirty="0"/>
              <a:t>ACK</a:t>
            </a:r>
            <a:r>
              <a:rPr lang="zh-CN" altLang="en-US" sz="1600" dirty="0"/>
              <a:t>时，将该值写入</a:t>
            </a:r>
            <a:r>
              <a:rPr lang="en-US" altLang="zh-CN" sz="1600" dirty="0"/>
              <a:t>ACK</a:t>
            </a:r>
            <a:r>
              <a:rPr lang="zh-CN" altLang="en-US" sz="1600" dirty="0"/>
              <a:t>的“</a:t>
            </a:r>
            <a:r>
              <a:rPr lang="en-US" altLang="zh-CN" sz="1600" dirty="0"/>
              <a:t>TS Echo Reply</a:t>
            </a:r>
            <a:r>
              <a:rPr lang="zh-CN" altLang="en-US" sz="1600" dirty="0"/>
              <a:t>”字段，回送给发送方</a:t>
            </a: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/>
          </p:nvPr>
        </p:nvGraphicFramePr>
        <p:xfrm>
          <a:off x="1052453" y="4424722"/>
          <a:ext cx="7333901" cy="51784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67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58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98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7846">
                <a:tc>
                  <a:txBody>
                    <a:bodyPr/>
                    <a:lstStyle/>
                    <a:p>
                      <a:pPr marL="0" algn="ctr" defTabSz="914377" rtl="0" eaLnBrk="1" latinLnBrk="0" hangingPunct="1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Kind (8)</a:t>
                      </a:r>
                      <a:endParaRPr lang="zh-CN" altLang="en-US" sz="1600" kern="1200" dirty="0">
                        <a:solidFill>
                          <a:schemeClr val="dk1"/>
                        </a:solidFill>
                        <a:latin typeface="Calibri" panose="020F0502020204030204" pitchFamily="34" charset="0"/>
                        <a:ea typeface="华文楷体" panose="02010600040101010101" pitchFamily="2" charset="-122"/>
                        <a:cs typeface="+mn-cs"/>
                      </a:endParaRPr>
                    </a:p>
                  </a:txBody>
                  <a:tcPr marT="72000" marB="7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华文楷体" panose="02010600040101010101" pitchFamily="2" charset="-122"/>
                          <a:cs typeface="+mn-cs"/>
                        </a:rPr>
                        <a:t>Length</a:t>
                      </a:r>
                      <a:r>
                        <a:rPr lang="en-US" altLang="zh-CN" sz="1600" dirty="0">
                          <a:latin typeface="Calibri" panose="020F0502020204030204" pitchFamily="34" charset="0"/>
                        </a:rPr>
                        <a:t> (10</a:t>
                      </a:r>
                      <a:r>
                        <a:rPr lang="en-US" altLang="zh-CN" sz="1600" baseline="0" dirty="0">
                          <a:latin typeface="Calibri" panose="020F0502020204030204" pitchFamily="34" charset="0"/>
                        </a:rPr>
                        <a:t>)</a:t>
                      </a:r>
                      <a:endParaRPr lang="zh-CN" altLang="en-US" sz="1600" dirty="0">
                        <a:latin typeface="Calibri" panose="020F0502020204030204" pitchFamily="34" charset="0"/>
                      </a:endParaRPr>
                    </a:p>
                  </a:txBody>
                  <a:tcPr marT="72000" marB="72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Calibri" panose="020F0502020204030204" pitchFamily="34" charset="0"/>
                        </a:rPr>
                        <a:t>TS Value </a:t>
                      </a:r>
                      <a:endParaRPr lang="zh-CN" altLang="en-US" sz="1600" dirty="0">
                        <a:latin typeface="Calibri" panose="020F0502020204030204" pitchFamily="34" charset="0"/>
                      </a:endParaRPr>
                    </a:p>
                  </a:txBody>
                  <a:tcPr marT="72000" marB="72000" anchor="ctr">
                    <a:solidFill>
                      <a:srgbClr val="EFE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200" dirty="0">
                          <a:solidFill>
                            <a:schemeClr val="dk1"/>
                          </a:solidFill>
                          <a:latin typeface="Calibri" panose="020F0502020204030204" pitchFamily="34" charset="0"/>
                          <a:ea typeface="+mn-ea"/>
                          <a:cs typeface="+mn-cs"/>
                        </a:rPr>
                        <a:t>TS Echo Reply</a:t>
                      </a:r>
                    </a:p>
                  </a:txBody>
                  <a:tcPr marT="72000" marB="72000" anchor="ctr">
                    <a:solidFill>
                      <a:srgbClr val="EFE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" name="组合 6"/>
          <p:cNvGrpSpPr/>
          <p:nvPr/>
        </p:nvGrpSpPr>
        <p:grpSpPr>
          <a:xfrm>
            <a:off x="822960" y="4111808"/>
            <a:ext cx="6754237" cy="383015"/>
            <a:chOff x="457200" y="2302873"/>
            <a:chExt cx="6754237" cy="383015"/>
          </a:xfrm>
        </p:grpSpPr>
        <p:sp>
          <p:nvSpPr>
            <p:cNvPr id="8" name="矩形 7"/>
            <p:cNvSpPr/>
            <p:nvPr/>
          </p:nvSpPr>
          <p:spPr>
            <a:xfrm>
              <a:off x="1118280" y="2328512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</a:rPr>
                <a:t>1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2533154" y="2342899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</a:rPr>
                <a:t>1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602545" y="2302873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</a:rPr>
                <a:t>4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6922575" y="2328512"/>
              <a:ext cx="2888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</a:rPr>
                <a:t>4</a:t>
              </a:r>
              <a:endPara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457200" y="2347334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字节</a:t>
              </a:r>
            </a:p>
          </p:txBody>
        </p:sp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-8684"/>
            <a:ext cx="3505200" cy="18048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99647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时间戳</a:t>
            </a:r>
            <a:r>
              <a:rPr lang="en-US" altLang="zh-CN" dirty="0"/>
              <a:t>(timestamp)</a:t>
            </a:r>
            <a:r>
              <a:rPr lang="zh-CN" altLang="en-US" dirty="0"/>
              <a:t>选项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366280"/>
            <a:ext cx="8579553" cy="4786326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zh-CN" altLang="en-US" sz="2200" dirty="0"/>
              <a:t>更细粒度地测量</a:t>
            </a:r>
            <a:r>
              <a:rPr lang="en-US" altLang="zh-CN" sz="2200" dirty="0"/>
              <a:t>RTT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发送方在发送报文段时，写入发送时刻的时钟值，并能从接收到的</a:t>
            </a:r>
            <a:r>
              <a:rPr lang="en-US" altLang="zh-CN" dirty="0"/>
              <a:t>ACK</a:t>
            </a:r>
            <a:r>
              <a:rPr lang="zh-CN" altLang="en-US" dirty="0"/>
              <a:t>读取该值</a:t>
            </a:r>
            <a:endParaRPr lang="en-US" altLang="zh-CN" dirty="0"/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发送方接收到</a:t>
            </a:r>
            <a:r>
              <a:rPr lang="en-US" altLang="zh-CN" dirty="0"/>
              <a:t>ACK</a:t>
            </a:r>
            <a:r>
              <a:rPr lang="zh-CN" altLang="en-US" dirty="0"/>
              <a:t>后，用当前时钟值减去这个值，即可测出</a:t>
            </a:r>
            <a:r>
              <a:rPr lang="en-US" altLang="zh-CN" dirty="0"/>
              <a:t>RTT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不需要两端时钟同步，因为读写都是同一端</a:t>
            </a:r>
            <a:r>
              <a:rPr lang="zh-CN" altLang="en-US"/>
              <a:t>在操作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-8684"/>
            <a:ext cx="3505200" cy="180482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100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7" name="图片 1" descr="问号11.jpg"/>
          <p:cNvPicPr>
            <a:picLocks noGrp="1" noChangeAspect="1"/>
          </p:cNvPicPr>
          <p:nvPr isPhoto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25" y="1763112"/>
            <a:ext cx="3742509" cy="3742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4345576" y="2187817"/>
            <a:ext cx="2590798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0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0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0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936374" y="2187817"/>
            <a:ext cx="1127761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8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？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168533" y="4432349"/>
            <a:ext cx="176784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2683744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5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5|69.7|7.6|24.9|61.3|68.7|34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2|34.7|16.1|11.8|28.4|11.8|44.8|32.4|6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9.6|2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4.5|12.6|16.8|13.2|46.3|59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4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4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7|8.5|37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1.9|2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8|43.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7|23.1|13.7|32|70|15.5|20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|4.9|39.9|41.5|3.8|12.5|9.1|16.5|16.3|27.4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3|15.5|7.9|12.6|57.7|4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6.4|7|5.7|4.9|34.9|9.4|38.2|9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9.2|21.5|25.4|18.5|56|7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4.5|20.6|58.9|5.6|12.2|28.1|4.3|14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8|56.4|34.9|101|50|36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3.2|8.1|38.4|8.2|15.2|26.7|52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2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1.7|1.5|32.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6.2|21.3|85.7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4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5.xml><?xml version="1.0" encoding="utf-8"?>
<a:theme xmlns:a="http://schemas.openxmlformats.org/drawingml/2006/main" name="9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空白模板.potx" id="{563CA164-D7A1-4BB3-9BDB-FB2F4C870887}" vid="{D6B7F712-D9DF-4153-BA90-1234198DF289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37606</TotalTime>
  <Words>2391</Words>
  <Application>Microsoft Office PowerPoint</Application>
  <PresentationFormat>全屏显示(4:3)</PresentationFormat>
  <Paragraphs>384</Paragraphs>
  <Slides>25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25</vt:i4>
      </vt:variant>
    </vt:vector>
  </HeadingPairs>
  <TitlesOfParts>
    <vt:vector size="45" baseType="lpstr">
      <vt:lpstr>方正舒体</vt:lpstr>
      <vt:lpstr>黑体</vt:lpstr>
      <vt:lpstr>华文楷体</vt:lpstr>
      <vt:lpstr>华文新魏</vt:lpstr>
      <vt:lpstr>宋体</vt:lpstr>
      <vt:lpstr>微软雅黑</vt:lpstr>
      <vt:lpstr>Arial</vt:lpstr>
      <vt:lpstr>Arial Black</vt:lpstr>
      <vt:lpstr>Calibri</vt:lpstr>
      <vt:lpstr>Cambria Math</vt:lpstr>
      <vt:lpstr>Comic Sans MS</vt:lpstr>
      <vt:lpstr>Times New Roman</vt:lpstr>
      <vt:lpstr>Wingdings</vt:lpstr>
      <vt:lpstr>Wingdings 2</vt:lpstr>
      <vt:lpstr>Wingdings 3</vt:lpstr>
      <vt:lpstr>Pixel</vt:lpstr>
      <vt:lpstr>自定义设计方案</vt:lpstr>
      <vt:lpstr>3_自定义设计方案</vt:lpstr>
      <vt:lpstr>4_自定义设计方案</vt:lpstr>
      <vt:lpstr>9_自定义设计方案</vt:lpstr>
      <vt:lpstr>第五章 端到端传输(4)   </vt:lpstr>
      <vt:lpstr>提纲</vt:lpstr>
      <vt:lpstr>触发传输</vt:lpstr>
      <vt:lpstr>触发传输</vt:lpstr>
      <vt:lpstr>触发传输</vt:lpstr>
      <vt:lpstr>触发传输</vt:lpstr>
      <vt:lpstr>触发传输</vt:lpstr>
      <vt:lpstr>触发传输</vt:lpstr>
      <vt:lpstr>提纲</vt:lpstr>
      <vt:lpstr>丢包检测和重传</vt:lpstr>
      <vt:lpstr>丢包检测和重传</vt:lpstr>
      <vt:lpstr>丢包检测和重传</vt:lpstr>
      <vt:lpstr>自适应重传</vt:lpstr>
      <vt:lpstr>自适应重传</vt:lpstr>
      <vt:lpstr>自适应重传</vt:lpstr>
      <vt:lpstr>自适应重传</vt:lpstr>
      <vt:lpstr>自适应重传</vt:lpstr>
      <vt:lpstr>超时重传的效率问题</vt:lpstr>
      <vt:lpstr>快速重传 (fast retransmit)</vt:lpstr>
      <vt:lpstr>快速重传 (fast retransmit)</vt:lpstr>
      <vt:lpstr>快速重传 (fast retransmit)</vt:lpstr>
      <vt:lpstr>快速重传 (fast retransmit)</vt:lpstr>
      <vt:lpstr>时间戳(timestamp)选项</vt:lpstr>
      <vt:lpstr>时间戳(timestamp)选项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</cp:lastModifiedBy>
  <cp:revision>1686</cp:revision>
  <cp:lastPrinted>2022-11-08T14:39:28Z</cp:lastPrinted>
  <dcterms:created xsi:type="dcterms:W3CDTF">2017-02-02T15:53:23Z</dcterms:created>
  <dcterms:modified xsi:type="dcterms:W3CDTF">2026-05-19T09:41:59Z</dcterms:modified>
</cp:coreProperties>
</file>